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7"/>
  </p:notesMasterIdLst>
  <p:sldIdLst>
    <p:sldId id="270" r:id="rId5"/>
    <p:sldId id="431" r:id="rId6"/>
    <p:sldId id="271" r:id="rId7"/>
    <p:sldId id="422" r:id="rId8"/>
    <p:sldId id="272" r:id="rId9"/>
    <p:sldId id="432" r:id="rId10"/>
    <p:sldId id="420" r:id="rId11"/>
    <p:sldId id="421" r:id="rId12"/>
    <p:sldId id="423" r:id="rId13"/>
    <p:sldId id="430" r:id="rId14"/>
    <p:sldId id="424" r:id="rId15"/>
    <p:sldId id="275" r:id="rId16"/>
    <p:sldId id="433" r:id="rId17"/>
    <p:sldId id="446" r:id="rId18"/>
    <p:sldId id="459" r:id="rId19"/>
    <p:sldId id="460" r:id="rId20"/>
    <p:sldId id="444" r:id="rId21"/>
    <p:sldId id="452" r:id="rId22"/>
    <p:sldId id="453" r:id="rId23"/>
    <p:sldId id="448" r:id="rId24"/>
    <p:sldId id="454" r:id="rId25"/>
    <p:sldId id="428" r:id="rId26"/>
    <p:sldId id="429" r:id="rId27"/>
    <p:sldId id="334" r:id="rId28"/>
    <p:sldId id="455" r:id="rId29"/>
    <p:sldId id="456" r:id="rId30"/>
    <p:sldId id="450" r:id="rId31"/>
    <p:sldId id="451" r:id="rId32"/>
    <p:sldId id="434" r:id="rId33"/>
    <p:sldId id="457" r:id="rId34"/>
    <p:sldId id="435" r:id="rId35"/>
    <p:sldId id="458" r:id="rId36"/>
    <p:sldId id="441" r:id="rId37"/>
    <p:sldId id="436" r:id="rId38"/>
    <p:sldId id="277" r:id="rId39"/>
    <p:sldId id="274" r:id="rId40"/>
    <p:sldId id="443" r:id="rId41"/>
    <p:sldId id="440" r:id="rId42"/>
    <p:sldId id="279" r:id="rId43"/>
    <p:sldId id="280" r:id="rId44"/>
    <p:sldId id="442" r:id="rId45"/>
    <p:sldId id="27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658"/>
  </p:normalViewPr>
  <p:slideViewPr>
    <p:cSldViewPr snapToGrid="0">
      <p:cViewPr varScale="1">
        <p:scale>
          <a:sx n="120" d="100"/>
          <a:sy n="120" d="100"/>
        </p:scale>
        <p:origin x="6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07T10:11:40.056"/>
    </inkml:context>
    <inkml:brush xml:id="br0">
      <inkml:brushProperty name="width" value="0.05" units="cm"/>
      <inkml:brushProperty name="height" value="0.05" units="cm"/>
      <inkml:brushProperty name="color" value="#FF4E00"/>
      <inkml:brushProperty name="inkEffects" value="rainbow"/>
      <inkml:brushProperty name="anchorX" value="-150056.15625"/>
      <inkml:brushProperty name="anchorY" value="-140039.65625"/>
      <inkml:brushProperty name="scaleFactor" value="0.5"/>
    </inkml:brush>
  </inkml:definitions>
  <inkml:trace contextRef="#ctx0" brushRef="#br0">0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07T10:11:50.129"/>
    </inkml:context>
    <inkml:brush xml:id="br0">
      <inkml:brushProperty name="width" value="0.05" units="cm"/>
      <inkml:brushProperty name="height" value="0.05" units="cm"/>
      <inkml:brushProperty name="color" value="#FF4E00"/>
      <inkml:brushProperty name="inkEffects" value="rainbow"/>
      <inkml:brushProperty name="anchorX" value="-167842.45313"/>
      <inkml:brushProperty name="anchorY" value="-150662.95313"/>
      <inkml:brushProperty name="scaleFactor" value="0.5"/>
    </inkml:brush>
  </inkml:definitions>
  <inkml:trace contextRef="#ctx0" brushRef="#br0">0 0 24575,'0'0'0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2:27:31.668"/>
    </inkml:context>
    <inkml:brush xml:id="br0">
      <inkml:brushProperty name="width" value="0.1" units="cm"/>
      <inkml:brushProperty name="height" value="0.6" units="cm"/>
      <inkml:brushProperty name="color" value="#E71224"/>
      <inkml:brushProperty name="inkEffects" value="pencil"/>
    </inkml:brush>
  </inkml:definitions>
  <inkml:trace contextRef="#ctx0" brushRef="#br0">51 149 16383,'0'-13'0,"0"2"0,0 2 0,0 1 0,0 7 0,0 9 0,4 2 0,-3 5 0,6-7 0,-6 0 0,2 0 0,1 0 0,-3 0 0,2 0 0,-3 0 0,4 0 0,-3-7 0,2-6 0,-3-4 0,0-2 0,0 2 0,0 1 0,0 0 0,0 0 0,0 0 0,0 0 0,0 0 0,0 0 0,0 0 0,0 0 0,-3-1 0,2 1 0,-3 0 0,1 0 0,2 0 0,-7 3 0,8-2 0,-4 3 0,0-4 0,3 0 0,-6 3 0,6-2 0,-6 6 0,6-6 0,-6 2 0,6 4 0,-2 2 0,3 7 0,0 0 0,0 0 0,0 0 0,0 0 0,0 0 0,0 0 0,0 0 0,0 0 0,3-4 0,-2 4 0,3-4 0,-4 4 0,3 0 0,-2 0 0,6-4 0,-6 3 0,6-6 0,-6 6 0,6-6 0,-6 6 0,2-2 0,1 3 0,-3 0 0,2 0 0,-3-7 0,0-10 0,0 0 0,0-7 0,0 8 0,0 0 0,0 0 0,0 0 0,0 0 0,0 0 0,0 0 0,-3 3 0,2-2 0,-3 2 0,4 4 0,0 6 0,0 4 0,0 2 0,0-3 0,0 0 0,0 0 0,0 0 0,0 0 0,4-3 0,-3 2 0,6-7 0,-6 8 0,2-4 0,1 0 0,0 0 0,4-4 0,0 0 0,0-4 0,-3 0 0,-2-4 0,-3 0 0,0 0 0,0-1 0,0 1 0,-3 4 0,-2 0 0,1 1 0,-4 2 0,4-3 0,-1 1 0,-2 2 0,3-3 0,-4 4 0,-1 0 0,1 0 0,0 0 0,0 0 0,0 0 0,0 0 0,0 0 0,3 4 0,2 0 0,-1 0 0,3 4 0,-2-4 0,6 0 0,2 0 0,3-4 0,0 4 0,0-4 0,0 4 0,0-4 0,-4 4 0,3-4 0,-6 8 0,3-4 0,-1 0 0,2 0 0,2-4 0,1 0 0,0 0 0,-3-4 0,-5 3 0,-5-2 0,-3 3 0,0 0 0,0 0 0,0 0 0,0 0 0,3 3 0,2 2 0,3 3 0,0 0 0,0 0 0,0 0 0,0-4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2:28:03.508"/>
    </inkml:context>
    <inkml:brush xml:id="br0">
      <inkml:brushProperty name="width" value="0.2" units="cm"/>
      <inkml:brushProperty name="height" value="1.2" units="cm"/>
      <inkml:brushProperty name="color" value="#E71224"/>
      <inkml:brushProperty name="inkEffects" value="pencil"/>
    </inkml:brush>
  </inkml:definitions>
  <inkml:trace contextRef="#ctx0" brushRef="#br0">67 131 16383,'-18'0'0,"2"0"0,8 0 0,0 0 0,0 0 0,0 0 0,25 0 0,-12 0 0,21 0 0,-18 0 0,0 0 0,0-3 0,0 2 0,0-3 0,0 4 0,0-3 0,0 2 0,-4-6 0,3 6 0,-10-7 0,9 4 0,-5-1 0,7-2 0,0 6 0,0-2 0,0 3 0,0-4 0,0 3 0,-4 1 0,0 8 0,-4 1 0,-4-1 0,4-1 0,-8-3 0,7 4 0,-6-3 0,3 2 0,-1-3 0,-2 1 0,2-2 0,1 1 0,-3-3 0,2 2 0,-3-3 0,0 0 0,4-3 0,-4 2 0,7-6 0,-2 2 0,3-3 0,0 0 0,0 0 0,0 0 0,0 0 0,0-1 0,0 1 0,0 0 0,0 0 0,0 0 0,0 0 0,0 0 0,3 3 0,-2-2 0,6 6 0,-6-6 0,6 6 0,-6-6 0,6 6 0,-2-3 0,-1 1 0,3 2 0,-2-3 0,-1 11 0,0-1 0,-4 5 0,0-3 0,0 0 0,0 0 0,0 0 0,0 0 0,0 0 0,0 0 0,-4-3 0,3 2 0,-6-6 0,6 6 0,-6-6 0,2 6 0,-3-3 0,0 1 0,4 2 0,-4-6 0,4 2 0,-4-3 0,0 0 0,0 0 0,0 0 0,-1 0 0,23-7 0,-13 1 0,16-5 0,-13 6 0,0-2 0,1 3 0,-2-5 0,-3 5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2:34:14.059"/>
    </inkml:context>
    <inkml:brush xml:id="br0">
      <inkml:brushProperty name="width" value="0.2" units="cm"/>
      <inkml:brushProperty name="height" value="1.2" units="cm"/>
      <inkml:brushProperty name="color" value="#E71224"/>
      <inkml:brushProperty name="inkEffects" value="pencil"/>
    </inkml:brush>
  </inkml:definitions>
  <inkml:trace contextRef="#ctx0" brushRef="#br0">58 23 16383,'3'13'0,"-12"-6"0,9-4 0,-10-2 0,10 7 0,10-4 0,-4 0 0,6-8 0,-9-1 0,-3-3 0,0 0 0,-3 4 0,-2 0 0,-3 4 0,0 0 0,0 0 0,0 0 0,0 0 0,3-8 0,2 3 0,3-8 0,-4 12 0,0-1 0,-1 12 0,2-5 0,3 7 0,0-8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2:34:50.632"/>
    </inkml:context>
    <inkml:brush xml:id="br0">
      <inkml:brushProperty name="width" value="0.2" units="cm"/>
      <inkml:brushProperty name="height" value="1.2" units="cm"/>
      <inkml:brushProperty name="color" value="#E71224"/>
      <inkml:brushProperty name="inkEffects" value="pencil"/>
    </inkml:brush>
  </inkml:definitions>
  <inkml:trace contextRef="#ctx0" brushRef="#br0">135 84 16383,'0'-17'0,"0"2"0,0 7 0,0 0 0,0 0 0,0-1 0,0 1 0,-8 22 0,6-10 0,-9 19 0,6-15 0,-3 0 0,3 0 0,-2-4 0,3 4 0,-4-4 0,0 0 0,3 4 0,19-18 0,-6 7 0,14-12 0,-17 6 0,-2 1 0,-3 0 0,0 0 0,0 0 0,-3 3 0,-2 2 0,-3 3 0,0 0 0,0 0 0,0 0 0,3 3 0,-2 2 0,6 3 0,-2 0 0,3 0 0,0 0 0,0 0 0,0 0 0,0 0 0,0 0 0,3 0 0,2 0 0,3-4 0,0 0 0,0-4 0,0 0 0,-4-4 0,0 0 0,-4-5 0,0 1 0,0 0 0,0 0 0,0 0 0,0 0 0,0 0 0,0 0 0,-4 0 0,-1 3 0,-3-2 0,0 2 0,0 1 0,-4-4 0,2 7 0,-2-6 0,4 6 0,0-3 0,0 4 0,0 0 0,3 4 0,2 0 0,3 4 0,0 0 0,0 0 0,0 0 0,0 0 0,0 0 0,0 0 0,0 0 0,0 0 0,0 0 0,0 0 0,0 0 0,0 0 0,0 0 0,3-4 0,2 0 0,3 0 0,0-4 0,-1 4 0,1-4 0,0 0 0,0 0 0,0 0 0,0 0 0,0 0 0,-3-4 0,2 4 0,-6-8 0,2 4 0,-3-4 0,0 0 0,0-1 0,0 1 0,0 0 0,-3 4 0,-2 0 0,-3 4 0,0 0 0,0 0 0,3 4 0,2 0 0,3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2:35:08.773"/>
    </inkml:context>
    <inkml:brush xml:id="br0">
      <inkml:brushProperty name="width" value="0.2" units="cm"/>
      <inkml:brushProperty name="height" value="1.2" units="cm"/>
      <inkml:brushProperty name="color" value="#E71224"/>
      <inkml:brushProperty name="inkEffects" value="pencil"/>
    </inkml:brush>
  </inkml:definitions>
  <inkml:trace contextRef="#ctx0" brushRef="#br0">17 100 16383,'0'17'0,"0"-2"0,0-7 0,0 0 0,0 0 0,4 0 0,-3 0 0,2 0 0,-3 0 0,0-1 0,4 1 0,-3 0 0,2 0 0,-3 0 0,0 0 0,4-3 0,-3-20 0,2 7 0,-3-14 0,0 14 0,0 0 0,0-1 0,0 1 0,0 0 0,0 0 0,0 0 0,0 0 0,0 0 0,0 0 0,0 0 0,0-1 0,0 1 0,0 0 0,0 0 0,0 0 0,0 0 0,0 0 0,0 0 0,0 0 0,-3 3 0,2-2 0,-3 2 0,4-3 0,0 0 0,-4 25 0,4-12 0,-4 21 0,4-18 0,-4-4 0,3 4 0,-2-4 0,-1 4 0,3 0 0,-6-4 0,6 3 0,-2-2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3:26:22.497"/>
    </inkml:context>
    <inkml:brush xml:id="br0">
      <inkml:brushProperty name="width" value="0.025" units="cm"/>
      <inkml:brushProperty name="height" value="0.025" units="cm"/>
      <inkml:brushProperty name="color" value="#004F8B"/>
    </inkml:brush>
  </inkml:definitions>
  <inkml:trace contextRef="#ctx0" brushRef="#br0">1 0 24575,'0'8'0,"0"0"0,0 0 0,0 0 0,0 0 0,0 0 0,0 0 0,0 0 0,0 0 0,0 0 0,0 0 0,0 0 0,0 0 0,0 0 0,0 0 0,0 0 0,0 0 0,0 0 0,0-4 0,0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07T13:26:26.704"/>
    </inkml:context>
    <inkml:brush xml:id="br0">
      <inkml:brushProperty name="width" value="0.025" units="cm"/>
      <inkml:brushProperty name="height" value="0.025" units="cm"/>
      <inkml:brushProperty name="color" value="#004F8B"/>
    </inkml:brush>
  </inkml:definitions>
  <inkml:trace contextRef="#ctx0" brushRef="#br0">0 25 24575,'8'0'0,"0"0"0,0 0 0,0-3 0,0 2 0,0-3 0,0 4 0,0 0 0,0 0 0,0 0 0,0 0 0,0 0 0,0 0 0,-3-3 0,2 2 0,-3-3 0,4 4 0,0 0 0,0 0 0,0 0 0,-3-4 0,2 4 0,-3-4 0,4 4 0,0 0 0,0 0 0,0 0 0,0 0 0,-7 0 0,2 0 0,-7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04.044"/>
    </inkml:context>
    <inkml:brush xml:id="br0">
      <inkml:brushProperty name="width" value="0.05" units="cm"/>
      <inkml:brushProperty name="height" value="0.05" units="cm"/>
      <inkml:brushProperty name="color" value="#E71224"/>
    </inkml:brush>
  </inkml:definitions>
  <inkml:trace contextRef="#ctx0" brushRef="#br0">35 46 24575,'-1'-8'0,"1"-1"0,6 18 0,-6-8 0,-6-1 0,0-6 0,-8-10 0,11 9 0,-7-3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10.053"/>
    </inkml:context>
    <inkml:brush xml:id="br0">
      <inkml:brushProperty name="width" value="0.05" units="cm"/>
      <inkml:brushProperty name="height" value="0.05" units="cm"/>
      <inkml:brushProperty name="color" value="#E71224"/>
    </inkml:brush>
  </inkml:definitions>
  <inkml:trace contextRef="#ctx0" brushRef="#br0">1 36 24575,'0'-10'0,"0"-1"0,0 1 0,0 9 0,0-3 0,0 9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15.697"/>
    </inkml:context>
    <inkml:brush xml:id="br0">
      <inkml:brushProperty name="width" value="0.05" units="cm"/>
      <inkml:brushProperty name="height" value="0.05" units="cm"/>
      <inkml:brushProperty name="color" value="#E71224"/>
    </inkml:brush>
  </inkml:definitions>
  <inkml:trace contextRef="#ctx0" brushRef="#br0">15 43 24575,'-10'0'0,"9"0"0,-3 5 0,9 0 0,-1 1 0,-3 3 0,4-3 0,-5-5 0,0-2 0,0-10 0,0 1 0,5 0 0,0 4 0,1 6 0,-2 5 0,-8 1 0,3-6 0,-9-1 0,9-8 0,-3 3 0,4-4 0,0-1 0,4 5 0,2 2 0,4 4 0,-4 4 0,-2 2 0,-4 4 0,0 0 0,-4-4 0,3-1 0,-4-5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22.536"/>
    </inkml:context>
    <inkml:brush xml:id="br0">
      <inkml:brushProperty name="width" value="0.05" units="cm"/>
      <inkml:brushProperty name="height" value="0.05" units="cm"/>
      <inkml:brushProperty name="color" value="#E71224"/>
    </inkml:brush>
  </inkml:definitions>
  <inkml:trace contextRef="#ctx0" brushRef="#br0">11 0 24575,'5'1'0,"-4"7"0,3-7 0,1 5 0,1-2 0,4-4 0,-5 5 0,0 1 0,-10-1 0,0 0 0,-1-10 0,1 0 0,5-6 0,0 10 0,-4 2 0,-2 5 0,-5-2 0,6-8 0,0 7 0,14-6 0,-7 7 0,8-4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25.976"/>
    </inkml:context>
    <inkml:brush xml:id="br0">
      <inkml:brushProperty name="width" value="0.05" units="cm"/>
      <inkml:brushProperty name="height" value="0.05" units="cm"/>
      <inkml:brushProperty name="color" value="#E71224"/>
    </inkml:brush>
  </inkml:definitions>
  <inkml:trace contextRef="#ctx0" brushRef="#br0">1 378 24575,'0'-11'0,"0"1"0,0 0 0,0-1 0,0 1 0,0-1 0,0 1 0,0 0 0,0-1 0,0 1 0,0 0 0,0-1 0,0 1 0,0-6 0,0 4 0,0-4 0,0 6 0,0-1 0,0 1 0,0 0 0,0-1 0,0 1 0,0-1 0,0 1 0,0 0 0,0-1 0,0 1 0,0 0 0,0-1 0,0 1 0,4 4 0,-2-3 0,2 3 0,-4-4 0,5 4 0,-4-3 0,3 3 0,-4 5 0,0 2 0,5 9 0,1 6 0,0-5 0,3 5 0,-7-6 0,7 0 0,-8 1 0,8-1 0,-8 0 0,8 0 0,-8 1 0,4-1 0,-1 0 0,-3 0 0,4 1 0,0-1 0,-4 0 0,3 0 0,1 1 0,-4-1 0,4 0 0,-5 0 0,4-4 0,-3 3 0,4-3 0,-5 4 0,0 0 0,4 0 0,-3 1 0,4-1 0,-5 0 0,5-4 0,-4 3 0,8-8 0,-8 8 0,3-3 0,1 4 0,-4 0 0,-1-4 0,-1-2 0,-4-4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7:38.987"/>
    </inkml:context>
    <inkml:brush xml:id="br0">
      <inkml:brushProperty name="width" value="0.05" units="cm"/>
      <inkml:brushProperty name="height" value="0.05" units="cm"/>
      <inkml:brushProperty name="color" value="#E71224"/>
    </inkml:brush>
  </inkml:definitions>
  <inkml:trace contextRef="#ctx0" brushRef="#br0">1 84 24575,'0'-10'0,"0"-1"0,0 1 0,0-1 0,0 1 0,4 4 0,-3-3 0,9 8 0,-5-8 0,5 7 0,1-2 0,-1 4 0,0 0 0,0 0 0,1 0 0,-1 0 0,0 0 0,0 0 0,1 0 0,-1 0 0,0 0 0,0 0 0,0 0 0,1 0 0,-1 4 0,-4 2 0,-2 4 0,-4 1 0,0-1 0,0 0 0,0 0 0,0 0 0,5-4 0,-4 3 0,3-3 0,-4 4 0,0 0 0,0 1 0,0-1 0,0 0 0,0 0 0,0 1 0,0-1 0,0 0 0,0 0 0,0 0 0,0 1 0,0-1 0,0 0 0,0 0 0,0 1 0,0-1 0,0 0 0,0 0 0,0 1 0,0-1 0,0 0 0,-4-4 0,3 3 0,-4-4 0,0 1 0,4 3 0,-3-3 0,4 4 0,-5-4 0,4 3 0,-4-13 0,5 3 0,0-9 0,5 4 0,-4-3 0,3 3 0,1 0 0,1 2 0,4 4 0,-4-5 0,3 4 0,-4-4 0,1 1 0,3 3 0,-3-4 0,0 0 0,3 4 0,-4-3 0,6 4 0,-1 0 0,0 0 0,0-5 0,0 4 0,1-4 0,-1 5 0,0 0 0,0 0 0,1 0 0,-6-4 0,4 2 0,-3-2 0,4 4 0,1 0 0,-1 0 0,0 0 0,0 0 0,-4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8:03.709"/>
    </inkml:context>
    <inkml:brush xml:id="br0">
      <inkml:brushProperty name="width" value="0.05" units="cm"/>
      <inkml:brushProperty name="height" value="0.05" units="cm"/>
      <inkml:brushProperty name="color" value="#E71224"/>
    </inkml:brush>
  </inkml:definitions>
  <inkml:trace contextRef="#ctx0" brushRef="#br0">0 127 24575,'0'-17'0,"0"1"0,0 5 0,0 1 0,0 0 0,5-1 0,0 1 0,6 4 0,-1-3 0,0 8 0,0-9 0,1 9 0,-1-3 0,0 4 0,0 0 0,0 0 0,-4-5 0,3 4 0,-3-4 0,4 5 0,0 0 0,1 0 0,-1 0 0,0 0 0,0 0 0,1 0 0,-1 0 0,-5 5 0,0 1 0,-5 4 0,0 0 0,0 0 0,0 0 0,0 1 0,0-1 0,0 0 0,0 0 0,0 1 0,0-1 0,0 0 0,0 0 0,0 1 0,0-1 0,0 0 0,0 0 0,-5-4 0,4 3 0,-3-3 0,-1-1 0,4 5 0,-8-9 0,7 8 0,-2-4 0,-1 1 0,9-6 0,-3-6 0,9-4 0,0 4 0,0 2 0,1 4 0,-1 0 0,0 0 0,-4 4 0,3-3 0,-8 8 0,8-8 0,-3 9 0,4-9 0,-4 8 0,3-8 0,-8 8 0,8-8 0,-8 8 0,4-3 0,-5 4 0,0 0 0,0 1 0,0-1 0,0 0 0,0 0 0,0 1 0,0-1 0,0 0 0,0 0 0,0 0 0,0 1 0,0-1 0,0 0 0,0 0 0,0 1 0,0-1 0,-5-4 0,4 3 0,-4-4 0,1 1 0,-2 3 0,-4-8 0,-1 4 0,1-5 0,-1 0 0,1 0 0,0 0 0,4-5 0,6 4 0,1-4 0,3 5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8:10.043"/>
    </inkml:context>
    <inkml:brush xml:id="br0">
      <inkml:brushProperty name="width" value="0.05" units="cm"/>
      <inkml:brushProperty name="height" value="0.05" units="cm"/>
      <inkml:brushProperty name="color" value="#E71224"/>
    </inkml:brush>
  </inkml:definitions>
  <inkml:trace contextRef="#ctx0" brushRef="#br0">37 0 24575,'0'11'0,"5"-6"0,-4 4 0,8-3 0,-3 4 0,-1-9 0,-5 3 0,-5-9 0,-6 5 0,10 0 0,2-4 0,9 2 0,-4-7 0,-1 13 0,-5-3 0,0 9 0,-5-4 0,-1-2 0,-4-4 0,-1 0 0,6 5 0,-5-4 0,5 3 0,-6-4 0,10 0 0,-2 5 0,7 1 0,-4 4 0,0 0 0,-5-4 0,9-2 0,-8-13 0,13 7 0,-3-8 0,4 10 0,-4-4 0,-1-2 0,-5 0 0,0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8:17.648"/>
    </inkml:context>
    <inkml:brush xml:id="br0">
      <inkml:brushProperty name="width" value="0.05" units="cm"/>
      <inkml:brushProperty name="height" value="0.05" units="cm"/>
      <inkml:brushProperty name="color" value="#E71224"/>
    </inkml:brush>
  </inkml:definitions>
  <inkml:trace contextRef="#ctx0" brushRef="#br0">0 34 24575,'11'0'0,"-10"0"0,-7 0 0,3 0 0,4 0 0,11 0 0,3 0 0,-5 0 0,-9 0 0,7 0 0,-7 0 0,9 0 0,-4-5 0,-6 4 0,-6-4 0,-4 5 0,-1 0 0,1 0 0,4-10 0,-3 8 0,12-9 0,-6 11 0,7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18:23.044"/>
    </inkml:context>
    <inkml:brush xml:id="br0">
      <inkml:brushProperty name="width" value="0.05" units="cm"/>
      <inkml:brushProperty name="height" value="0.05" units="cm"/>
      <inkml:brushProperty name="color" value="#E71224"/>
    </inkml:brush>
  </inkml:definitions>
  <inkml:trace contextRef="#ctx0" brushRef="#br0">11 45 24575,'0'-16'0,"0"14"0,0-3 0,0 15 0,0 1 0,0-1 0,0 0 0,0 0 0,0 1 0,0-10 0,0-7 0,0-6 0,0-3 0,0 5 0,0 0 0,0-1 0,0 1 0,-5 4 0,4 1 0,-4 5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21:31.523"/>
    </inkml:context>
    <inkml:brush xml:id="br0">
      <inkml:brushProperty name="width" value="0.05" units="cm"/>
      <inkml:brushProperty name="height" value="0.05" units="cm"/>
      <inkml:brushProperty name="color" value="#E71224"/>
    </inkml:brush>
  </inkml:definitions>
  <inkml:trace contextRef="#ctx0" brushRef="#br0">9 100 24575,'8'0'0,"0"0"0,0 0 0,0 0 0,-3-3 0,2 2 0,-6-6 0,6 6 0,-6-7 0,2 4 0,-3 3 0,-3-2 0,2 10 0,-7-6 0,8 6 0,-4-2 0,4 3 0,-4-4 0,3 3 0,-2-2 0,3-4 0,0-2 0,0-7 0,0-1 0,0 1 0,0 0 0,-4 4 0,0 0 0,-4 4 0,-1 0 0,1 0 0,4 4 0,0 0 0,4 4 0,0 0 0,0-7 0,0-6 0,0-4 0,4 1 0,-3 1 0,6 6 0,-6-6 0,2 2 0,1 1 0,-3-3 0,2 2 0,1 1 0,-3-4 0,2 4 0,-3-4 0,0 0 0,0 0 0,0 7 0,-3 2 0,2 7 0,-3 0 0,4-1 0,0 1 0,0-3 0,0-2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21:41.531"/>
    </inkml:context>
    <inkml:brush xml:id="br0">
      <inkml:brushProperty name="width" value="0.05" units="cm"/>
      <inkml:brushProperty name="height" value="0.05" units="cm"/>
      <inkml:brushProperty name="color" value="#E71224"/>
    </inkml:brush>
  </inkml:definitions>
  <inkml:trace contextRef="#ctx0" brushRef="#br0">74 27 24575,'-8'0'0,"0"0"0,4 3 0,3-2 0,6 3 0,3-4 0,-4-4 0,3 0 0,-6-5 0,3 1 0,-4 7 0,0 6 0,0 4 0,0 2 0,0-3 0,0 0 0,3-3 0,2-2 0,3-3 0,-4-3 0,0-2 0,-4-3 0,-4 3 0,0-2 0,-4 6 0,0-2 0,-1 3 0,1 0 0,0 0 0,0 0 0,0 0 0,0 0 0,0 0 0,0 0 0,0 0 0,3-4 0,1 0 0,4 3 0,4 1 0,0 5 0,4-2 0,0-3 0,0 0 0,0 0 0,0 0 0,-3-3 0,2 2 0,-6-6 0,2 2 0,-3-3 0,0 7 0,0 6 0,0 3 0,0 4 0,0-4 0,0 0 0,0 0 0,0 0 0,4-4 0,0 0 0,4-4 0,-3 3 0,2-2 0,-6 3 0,2-4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21:49.996"/>
    </inkml:context>
    <inkml:brush xml:id="br0">
      <inkml:brushProperty name="width" value="0.05" units="cm"/>
      <inkml:brushProperty name="height" value="0.05" units="cm"/>
      <inkml:brushProperty name="color" value="#E71224"/>
    </inkml:brush>
  </inkml:definitions>
  <inkml:trace contextRef="#ctx0" brushRef="#br0">49 27 24575,'0'-8'0,"0"0"0,0-1 0,0 9 0,0 4 0,0 5 0,0 2 0,0-3 0,0 0 0,0 0 0,-3-3 0,-2-2 0,-3-3 0,0 0 0,0 0 0,3-3 0,-2 2 0,6-6 0,-2 2 0,3-3 0,0 0 0,0 0 0,0 0 0,0 0 0,3 7 0,-2 1 0,3 8 0,-4 0 0,3-3 0,-2 2 0,3-3 0,-4 4 0,0-7 0,0-5 0,-4-2 0,3-5 0,1 10 0,4-2 0,4 3 0,0 0 0,0 0 0,-3 3 0,-2-2 0,-3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7-21T11:21:57.636"/>
    </inkml:context>
    <inkml:brush xml:id="br0">
      <inkml:brushProperty name="width" value="0.05" units="cm"/>
      <inkml:brushProperty name="height" value="0.05" units="cm"/>
      <inkml:brushProperty name="color" value="#E71224"/>
    </inkml:brush>
  </inkml:definitions>
  <inkml:trace contextRef="#ctx0" brushRef="#br0">1 34 24575,'0'-12'0,"0"3"0,3 0 0,2 5 0,3 4 0,0 0 0,0 0 0,0 0 0,-4 4 0,0 0 0,-4 4 0,0 0 0,0 0 0,0 0 0,3-4 0,-2-4 0,3-4 0,-4-4 0,-4 3 0,0 2 0,-4 3 0,0 0 0,-1 0 0,-3 0 0,6 3 0,2-2 0,8 3 0,4-4 0,0 0 0,0 0 0,-3 0 0,-2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AAC39-58BE-CC47-9AAD-42E9F3F1E92E}" type="datetimeFigureOut">
              <a:rPr lang="en-US" smtClean="0"/>
              <a:t>10/16/26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1E123-F235-C54D-B34D-A703E49B8224}" type="slidenum">
              <a:rPr lang="en-US" smtClean="0"/>
              <a:t>‹#›</a:t>
            </a:fld>
            <a:endParaRPr lang="en-US"/>
          </a:p>
        </p:txBody>
      </p:sp>
    </p:spTree>
    <p:extLst>
      <p:ext uri="{BB962C8B-B14F-4D97-AF65-F5344CB8AC3E}">
        <p14:creationId xmlns:p14="http://schemas.microsoft.com/office/powerpoint/2010/main" val="104691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image" Target="../media/image14.emf"/></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BC3380C-7BE8-4A4C-87AF-85617DB262CA}" type="slidenum">
              <a:rPr lang="en-US" smtClean="0"/>
              <a:t>6</a:t>
            </a:fld>
            <a:endParaRPr lang="en-US"/>
          </a:p>
        </p:txBody>
      </p:sp>
    </p:spTree>
    <p:extLst>
      <p:ext uri="{BB962C8B-B14F-4D97-AF65-F5344CB8AC3E}">
        <p14:creationId xmlns:p14="http://schemas.microsoft.com/office/powerpoint/2010/main" val="1985266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DD3A10A-E064-024A-BFC7-EF135A9FE5D8}"/>
              </a:ext>
            </a:extLst>
          </p:cNvPr>
          <p:cNvSpPr>
            <a:spLocks noGrp="1" noChangeArrowheads="1"/>
          </p:cNvSpPr>
          <p:nvPr>
            <p:ph type="sldNum" sz="quarter" idx="5"/>
          </p:nvPr>
        </p:nvSpPr>
        <p:spPr>
          <a:ln/>
        </p:spPr>
        <p:txBody>
          <a:bodyPr/>
          <a:lstStyle/>
          <a:p>
            <a:fld id="{27F34F04-7381-934C-A371-207561D2D628}" type="slidenum">
              <a:rPr lang="en-GB" altLang="en-US"/>
              <a:pPr/>
              <a:t>20</a:t>
            </a:fld>
            <a:endParaRPr lang="en-GB" altLang="en-US"/>
          </a:p>
        </p:txBody>
      </p:sp>
      <p:sp>
        <p:nvSpPr>
          <p:cNvPr id="79874" name="Rectangle 2">
            <a:extLst>
              <a:ext uri="{FF2B5EF4-FFF2-40B4-BE49-F238E27FC236}">
                <a16:creationId xmlns:a16="http://schemas.microsoft.com/office/drawing/2014/main" id="{08BCD55D-703D-E340-B670-F7E9E719BA9D}"/>
              </a:ext>
            </a:extLst>
          </p:cNvPr>
          <p:cNvSpPr>
            <a:spLocks noGrp="1" noRot="1" noChangeAspect="1" noChangeArrowheads="1" noTextEdit="1"/>
          </p:cNvSpPr>
          <p:nvPr>
            <p:ph type="sldImg"/>
          </p:nvPr>
        </p:nvSpPr>
        <p:spPr>
          <a:xfrm>
            <a:off x="568325" y="569913"/>
            <a:ext cx="5708650" cy="3211512"/>
          </a:xfrm>
          <a:ln w="12700" cap="flat">
            <a:solidFill>
              <a:schemeClr val="tx1"/>
            </a:solidFill>
          </a:ln>
          <a:extLst>
            <a:ext uri="{909E8E84-426E-40DD-AFC4-6F175D3DCCD1}">
              <a14:hiddenFill xmlns:a14="http://schemas.microsoft.com/office/drawing/2010/main">
                <a:noFill/>
              </a14:hiddenFill>
            </a:ext>
          </a:extLst>
        </p:spPr>
      </p:sp>
      <p:sp>
        <p:nvSpPr>
          <p:cNvPr id="79875" name="Rectangle 3">
            <a:extLst>
              <a:ext uri="{FF2B5EF4-FFF2-40B4-BE49-F238E27FC236}">
                <a16:creationId xmlns:a16="http://schemas.microsoft.com/office/drawing/2014/main" id="{EC044679-1128-A743-BFB2-9784338B0A2F}"/>
              </a:ext>
            </a:extLst>
          </p:cNvPr>
          <p:cNvSpPr>
            <a:spLocks noGrp="1" noChangeArrowheads="1"/>
          </p:cNvSpPr>
          <p:nvPr>
            <p:ph type="body" idx="1"/>
          </p:nvPr>
        </p:nvSpPr>
        <p:spPr>
          <a:xfrm>
            <a:off x="439738" y="4049713"/>
            <a:ext cx="6223000" cy="4525962"/>
          </a:xfrm>
          <a:noFill/>
          <a:ln/>
        </p:spPr>
        <p:txBody>
          <a:bodyPr lIns="91357" tIns="45679" rIns="91357" bIns="45679"/>
          <a:lstStyle/>
          <a:p>
            <a:r>
              <a:rPr lang="en-GB" altLang="en-US"/>
              <a:t>To use the Markowitz model one needs data for the returns and standard deviations of each individual security under consideration as well as the correlation coefficients for each pair of securities. Deriving efficient frontiers using a large universe of securities is quite complicated because of the large number of data inputs. Generating inputs for correlation coefficient is a very demanding for the fund manager. The heavy input requirements make it a demanding computational problem. Computer memory requirements are heavy and and a few years was almost impossible to solve the problem when a large number was involved.</a:t>
            </a:r>
          </a:p>
          <a:p>
            <a:endParaRPr lang="en-GB" altLang="en-US"/>
          </a:p>
        </p:txBody>
      </p:sp>
      <p:graphicFrame>
        <p:nvGraphicFramePr>
          <p:cNvPr id="79876" name="Object 4">
            <a:extLst>
              <a:ext uri="{FF2B5EF4-FFF2-40B4-BE49-F238E27FC236}">
                <a16:creationId xmlns:a16="http://schemas.microsoft.com/office/drawing/2014/main" id="{ED079354-7B81-DA4D-9713-60F30835D71C}"/>
              </a:ext>
            </a:extLst>
          </p:cNvPr>
          <p:cNvGraphicFramePr>
            <a:graphicFrameLocks/>
          </p:cNvGraphicFramePr>
          <p:nvPr/>
        </p:nvGraphicFramePr>
        <p:xfrm>
          <a:off x="622300" y="5203825"/>
          <a:ext cx="5702300" cy="1984375"/>
        </p:xfrm>
        <a:graphic>
          <a:graphicData uri="http://schemas.openxmlformats.org/presentationml/2006/ole">
            <mc:AlternateContent xmlns:mc="http://schemas.openxmlformats.org/markup-compatibility/2006">
              <mc:Choice xmlns:v="urn:schemas-microsoft-com:vml" Requires="v">
                <p:oleObj name="Document" r:id="rId3" imgW="44805600" imgH="16738600" progId="Word.Document.8">
                  <p:embed/>
                </p:oleObj>
              </mc:Choice>
              <mc:Fallback>
                <p:oleObj name="Document" r:id="rId3" imgW="44805600" imgH="16738600" progId="Word.Document.8">
                  <p:embed/>
                  <p:pic>
                    <p:nvPicPr>
                      <p:cNvPr id="79876" name="Object 4">
                        <a:extLst>
                          <a:ext uri="{FF2B5EF4-FFF2-40B4-BE49-F238E27FC236}">
                            <a16:creationId xmlns:a16="http://schemas.microsoft.com/office/drawing/2014/main" id="{ED079354-7B81-DA4D-9713-60F30835D71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2300" y="5203825"/>
                        <a:ext cx="5702300" cy="198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891044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7142205" y="2331889"/>
            <a:ext cx="4707924"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1)</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7141393" y="3988073"/>
            <a:ext cx="4707924" cy="485073"/>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63132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296561" y="2331889"/>
            <a:ext cx="4707924"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2)</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295749" y="3988073"/>
            <a:ext cx="4707924" cy="485073"/>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49405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0DDA1CF-CC3B-52BE-93DB-F49F04C33559}"/>
              </a:ext>
            </a:extLst>
          </p:cNvPr>
          <p:cNvSpPr>
            <a:spLocks noGrp="1"/>
          </p:cNvSpPr>
          <p:nvPr>
            <p:ph type="title" hasCustomPrompt="1"/>
          </p:nvPr>
        </p:nvSpPr>
        <p:spPr>
          <a:xfrm>
            <a:off x="2681415" y="428948"/>
            <a:ext cx="9156358" cy="1296144"/>
          </a:xfrm>
        </p:spPr>
        <p:txBody>
          <a:bodyPr/>
          <a:lstStyle>
            <a:lvl1pPr algn="l">
              <a:defRPr sz="4000" b="1" i="0">
                <a:solidFill>
                  <a:schemeClr val="bg1"/>
                </a:solidFill>
                <a:latin typeface="Arial" charset="0"/>
                <a:ea typeface="Arial" charset="0"/>
                <a:cs typeface="Arial" charset="0"/>
              </a:defRPr>
            </a:lvl1pPr>
          </a:lstStyle>
          <a:p>
            <a:r>
              <a:rPr lang="en-US" dirty="0"/>
              <a:t>Title here </a:t>
            </a:r>
            <a:br>
              <a:rPr lang="en-US" dirty="0"/>
            </a:br>
            <a:r>
              <a:rPr lang="en-US" dirty="0"/>
              <a:t>(Cover option 2)</a:t>
            </a:r>
          </a:p>
        </p:txBody>
      </p:sp>
      <p:sp>
        <p:nvSpPr>
          <p:cNvPr id="8" name="Content Placeholder 2">
            <a:extLst>
              <a:ext uri="{FF2B5EF4-FFF2-40B4-BE49-F238E27FC236}">
                <a16:creationId xmlns:a16="http://schemas.microsoft.com/office/drawing/2014/main" id="{E4F37063-BEEF-7D62-9408-D095FAB10455}"/>
              </a:ext>
            </a:extLst>
          </p:cNvPr>
          <p:cNvSpPr>
            <a:spLocks noGrp="1"/>
          </p:cNvSpPr>
          <p:nvPr>
            <p:ph idx="1" hasCustomPrompt="1"/>
          </p:nvPr>
        </p:nvSpPr>
        <p:spPr>
          <a:xfrm>
            <a:off x="2680603" y="2085132"/>
            <a:ext cx="9156358" cy="4343920"/>
          </a:xfrm>
        </p:spPr>
        <p:txBody>
          <a:bodyPr/>
          <a:lstStyle>
            <a:lvl1pPr marL="0" indent="0" algn="l">
              <a:buClr>
                <a:srgbClr val="C9122B"/>
              </a:buClr>
              <a:buFont typeface="Lucida Grande"/>
              <a:buNone/>
              <a:defRPr sz="2800">
                <a:solidFill>
                  <a:schemeClr val="bg1"/>
                </a:solidFill>
              </a:defRPr>
            </a:lvl1pPr>
            <a:lvl2pPr marL="347659" indent="-166686">
              <a:buClr>
                <a:srgbClr val="C9122B"/>
              </a:buClr>
              <a:buFont typeface="Lucida Grande"/>
              <a:buChar char="■"/>
              <a:defRPr/>
            </a:lvl2pPr>
            <a:lvl3pPr marL="538158" indent="-188911">
              <a:buClr>
                <a:srgbClr val="C9122B"/>
              </a:buClr>
              <a:buFont typeface="Lucida Grande"/>
              <a:buChar char="■"/>
              <a:defRPr/>
            </a:lvl3pPr>
            <a:lvl4pPr marL="712781" indent="-173037">
              <a:buClr>
                <a:srgbClr val="C9122B"/>
              </a:buClr>
              <a:buFont typeface="Lucida Grande"/>
              <a:buChar char="■"/>
              <a:defRPr sz="1800"/>
            </a:lvl4pPr>
            <a:lvl5pPr marL="898516" indent="-184148">
              <a:buClr>
                <a:srgbClr val="C9122B"/>
              </a:buClr>
              <a:buFont typeface="Lucida Grande"/>
              <a:buChar char="■"/>
              <a:defRPr sz="1800"/>
            </a:lvl5pPr>
          </a:lstStyle>
          <a:p>
            <a:pPr lvl="0"/>
            <a:r>
              <a:rPr lang="en-US" dirty="0"/>
              <a:t>Subtitle here</a:t>
            </a:r>
          </a:p>
        </p:txBody>
      </p:sp>
    </p:spTree>
    <p:extLst>
      <p:ext uri="{BB962C8B-B14F-4D97-AF65-F5344CB8AC3E}">
        <p14:creationId xmlns:p14="http://schemas.microsoft.com/office/powerpoint/2010/main" val="2125316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548" y="335268"/>
            <a:ext cx="9324290" cy="785542"/>
          </a:xfrm>
          <a:noFill/>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437548" y="1309816"/>
            <a:ext cx="9324290"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05315998"/>
      </p:ext>
    </p:extLst>
  </p:cSld>
  <p:clrMapOvr>
    <a:masterClrMapping/>
  </p:clrMapOvr>
  <p:extLst>
    <p:ext uri="{DCECCB84-F9BA-43D5-87BE-67443E8EF086}">
      <p15:sldGuideLst xmlns:p15="http://schemas.microsoft.com/office/powerpoint/2012/main">
        <p15:guide id="1" orient="horz" pos="799">
          <p15:clr>
            <a:srgbClr val="FBAE40"/>
          </p15:clr>
        </p15:guide>
        <p15:guide id="2" pos="301">
          <p15:clr>
            <a:srgbClr val="FBAE40"/>
          </p15:clr>
        </p15:guide>
        <p15:guide id="3" pos="73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7547" y="332258"/>
            <a:ext cx="9200723" cy="785542"/>
          </a:xfrm>
          <a:noFill/>
        </p:spPr>
        <p:txBody>
          <a:bodyPr/>
          <a:lstStyle>
            <a:lvl1pPr>
              <a:defRPr>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437547" y="1309817"/>
            <a:ext cx="10399329"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27822158"/>
      </p:ext>
    </p:extLst>
  </p:cSld>
  <p:clrMapOvr>
    <a:masterClrMapping/>
  </p:clrMapOvr>
  <p:extLst>
    <p:ext uri="{DCECCB84-F9BA-43D5-87BE-67443E8EF086}">
      <p15:sldGuideLst xmlns:p15="http://schemas.microsoft.com/office/powerpoint/2012/main">
        <p15:guide id="1" orient="horz" pos="799">
          <p15:clr>
            <a:srgbClr val="FBAE40"/>
          </p15:clr>
        </p15:guide>
        <p15:guide id="2" pos="301">
          <p15:clr>
            <a:srgbClr val="FBAE40"/>
          </p15:clr>
        </p15:guide>
        <p15:guide id="3" pos="737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C6F6B355-92FE-8F40-AFC6-7F97430F3C44}"/>
              </a:ext>
            </a:extLst>
          </p:cNvPr>
          <p:cNvSpPr>
            <a:spLocks noGrp="1"/>
          </p:cNvSpPr>
          <p:nvPr>
            <p:ph sz="half" idx="2"/>
          </p:nvPr>
        </p:nvSpPr>
        <p:spPr>
          <a:xfrm>
            <a:off x="6301154" y="1458097"/>
            <a:ext cx="3831387" cy="5141784"/>
          </a:xfrm>
        </p:spPr>
        <p:txBody>
          <a:bodyPr/>
          <a:lstStyle>
            <a:lvl1pPr marL="134541" indent="-134541">
              <a:buClr>
                <a:srgbClr val="C9122B"/>
              </a:buClr>
              <a:buFont typeface="Lucida Grande"/>
              <a:buChar char="■"/>
              <a:defRPr sz="1800"/>
            </a:lvl1pPr>
            <a:lvl2pPr marL="260747" indent="-125016">
              <a:buClr>
                <a:srgbClr val="C9122B"/>
              </a:buClr>
              <a:buFont typeface="Lucida Grande"/>
              <a:buChar char="■"/>
              <a:defRPr sz="1650"/>
            </a:lvl2pPr>
            <a:lvl3pPr marL="403622" indent="-141685">
              <a:buClr>
                <a:srgbClr val="C9122B"/>
              </a:buClr>
              <a:buFont typeface="Lucida Grande"/>
              <a:buChar char="■"/>
              <a:defRPr sz="1500"/>
            </a:lvl3pPr>
            <a:lvl4pPr marL="534591" indent="-129779">
              <a:buClr>
                <a:srgbClr val="C9122B"/>
              </a:buClr>
              <a:buFont typeface="Lucida Grande"/>
              <a:buChar char="■"/>
              <a:defRPr sz="1350"/>
            </a:lvl4pPr>
            <a:lvl5pPr marL="673894" indent="-138113">
              <a:buClr>
                <a:srgbClr val="C9122B"/>
              </a:buClr>
              <a:buFont typeface="Lucida Grande"/>
              <a:buChar cha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6B37A479-2A14-1544-9DFD-0E49B60F4DD8}"/>
              </a:ext>
            </a:extLst>
          </p:cNvPr>
          <p:cNvSpPr>
            <a:spLocks noGrp="1"/>
          </p:cNvSpPr>
          <p:nvPr>
            <p:ph type="title"/>
          </p:nvPr>
        </p:nvSpPr>
        <p:spPr>
          <a:xfrm>
            <a:off x="438376" y="344415"/>
            <a:ext cx="9088683" cy="785542"/>
          </a:xfrm>
          <a:noFill/>
        </p:spPr>
        <p:txBody>
          <a:bodyPr/>
          <a:lstStyle>
            <a:lvl1pPr>
              <a:defRPr>
                <a:solidFill>
                  <a:schemeClr val="tx1"/>
                </a:solidFill>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23517C1E-EE6F-E246-8DCE-66C8D904C87E}"/>
              </a:ext>
            </a:extLst>
          </p:cNvPr>
          <p:cNvSpPr>
            <a:spLocks noGrp="1"/>
          </p:cNvSpPr>
          <p:nvPr>
            <p:ph idx="1"/>
          </p:nvPr>
        </p:nvSpPr>
        <p:spPr>
          <a:xfrm>
            <a:off x="437547" y="1458097"/>
            <a:ext cx="5658453" cy="5141784"/>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31070946"/>
      </p:ext>
    </p:extLst>
  </p:cSld>
  <p:clrMapOvr>
    <a:masterClrMapping/>
  </p:clrMapOvr>
  <p:extLst>
    <p:ext uri="{DCECCB84-F9BA-43D5-87BE-67443E8EF086}">
      <p15:sldGuideLst xmlns:p15="http://schemas.microsoft.com/office/powerpoint/2012/main">
        <p15:guide id="1" orient="horz" pos="4133">
          <p15:clr>
            <a:srgbClr val="FBAE40"/>
          </p15:clr>
        </p15:guide>
        <p15:guide id="2" pos="7379">
          <p15:clr>
            <a:srgbClr val="FBAE40"/>
          </p15:clr>
        </p15:guide>
        <p15:guide id="3" pos="3719">
          <p15:clr>
            <a:srgbClr val="FBAE40"/>
          </p15:clr>
        </p15:guide>
        <p15:guide id="4" pos="3961">
          <p15:clr>
            <a:srgbClr val="FBAE40"/>
          </p15:clr>
        </p15:guide>
        <p15:guide id="5" orient="horz" pos="324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Content Placeholder 3">
            <a:extLst>
              <a:ext uri="{FF2B5EF4-FFF2-40B4-BE49-F238E27FC236}">
                <a16:creationId xmlns:a16="http://schemas.microsoft.com/office/drawing/2014/main" id="{C6F6B355-92FE-8F40-AFC6-7F97430F3C44}"/>
              </a:ext>
            </a:extLst>
          </p:cNvPr>
          <p:cNvSpPr>
            <a:spLocks noGrp="1"/>
          </p:cNvSpPr>
          <p:nvPr>
            <p:ph sz="half" idx="2"/>
          </p:nvPr>
        </p:nvSpPr>
        <p:spPr>
          <a:xfrm>
            <a:off x="6299497" y="1285103"/>
            <a:ext cx="4537379" cy="5166497"/>
          </a:xfrm>
        </p:spPr>
        <p:txBody>
          <a:bodyPr/>
          <a:lstStyle>
            <a:lvl1pPr marL="134541" indent="-134541">
              <a:buClr>
                <a:srgbClr val="C9122B"/>
              </a:buClr>
              <a:buFont typeface="Lucida Grande"/>
              <a:buChar char="■"/>
              <a:defRPr sz="1800"/>
            </a:lvl1pPr>
            <a:lvl2pPr marL="260747" indent="-125016">
              <a:buClr>
                <a:srgbClr val="C9122B"/>
              </a:buClr>
              <a:buFont typeface="Lucida Grande"/>
              <a:buChar char="■"/>
              <a:defRPr sz="1650"/>
            </a:lvl2pPr>
            <a:lvl3pPr marL="403622" indent="-141685">
              <a:buClr>
                <a:srgbClr val="C9122B"/>
              </a:buClr>
              <a:buFont typeface="Lucida Grande"/>
              <a:buChar char="■"/>
              <a:defRPr sz="1500"/>
            </a:lvl3pPr>
            <a:lvl4pPr marL="534591" indent="-129779">
              <a:buClr>
                <a:srgbClr val="C9122B"/>
              </a:buClr>
              <a:buFont typeface="Lucida Grande"/>
              <a:buChar char="■"/>
              <a:defRPr sz="1350"/>
            </a:lvl4pPr>
            <a:lvl5pPr marL="673894" indent="-138113">
              <a:buClr>
                <a:srgbClr val="C9122B"/>
              </a:buClr>
              <a:buFont typeface="Lucida Grande"/>
              <a:buChar char="■"/>
              <a:defRPr sz="120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a:extLst>
              <a:ext uri="{FF2B5EF4-FFF2-40B4-BE49-F238E27FC236}">
                <a16:creationId xmlns:a16="http://schemas.microsoft.com/office/drawing/2014/main" id="{6B37A479-2A14-1544-9DFD-0E49B60F4DD8}"/>
              </a:ext>
            </a:extLst>
          </p:cNvPr>
          <p:cNvSpPr>
            <a:spLocks noGrp="1"/>
          </p:cNvSpPr>
          <p:nvPr>
            <p:ph type="title"/>
          </p:nvPr>
        </p:nvSpPr>
        <p:spPr>
          <a:xfrm>
            <a:off x="437547" y="298197"/>
            <a:ext cx="9250149" cy="785542"/>
          </a:xfrm>
          <a:noFill/>
        </p:spPr>
        <p:txBody>
          <a:bodyPr/>
          <a:lstStyle>
            <a:lvl1pPr>
              <a:defRPr>
                <a:solidFill>
                  <a:schemeClr val="tx1"/>
                </a:solidFill>
              </a:defRPr>
            </a:lvl1p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23517C1E-EE6F-E246-8DCE-66C8D904C87E}"/>
              </a:ext>
            </a:extLst>
          </p:cNvPr>
          <p:cNvSpPr>
            <a:spLocks noGrp="1"/>
          </p:cNvSpPr>
          <p:nvPr>
            <p:ph idx="1"/>
          </p:nvPr>
        </p:nvSpPr>
        <p:spPr>
          <a:xfrm>
            <a:off x="437547" y="1285103"/>
            <a:ext cx="5658453" cy="5166497"/>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6286898"/>
      </p:ext>
    </p:extLst>
  </p:cSld>
  <p:clrMapOvr>
    <a:masterClrMapping/>
  </p:clrMapOvr>
  <p:extLst>
    <p:ext uri="{DCECCB84-F9BA-43D5-87BE-67443E8EF086}">
      <p15:sldGuideLst xmlns:p15="http://schemas.microsoft.com/office/powerpoint/2012/main">
        <p15:guide id="1" orient="horz" pos="4133">
          <p15:clr>
            <a:srgbClr val="FBAE40"/>
          </p15:clr>
        </p15:guide>
        <p15:guide id="2" pos="7379">
          <p15:clr>
            <a:srgbClr val="FBAE40"/>
          </p15:clr>
        </p15:guide>
        <p15:guide id="3" pos="3719">
          <p15:clr>
            <a:srgbClr val="FBAE40"/>
          </p15:clr>
        </p15:guide>
        <p15:guide id="4" pos="3961">
          <p15:clr>
            <a:srgbClr val="FBAE40"/>
          </p15:clr>
        </p15:guide>
        <p15:guide id="5" orient="horz" pos="324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08345D86-D420-FF49-8849-9F3A0AD28E56}"/>
              </a:ext>
            </a:extLst>
          </p:cNvPr>
          <p:cNvSpPr>
            <a:spLocks noGrp="1"/>
          </p:cNvSpPr>
          <p:nvPr>
            <p:ph type="pic" idx="10"/>
          </p:nvPr>
        </p:nvSpPr>
        <p:spPr>
          <a:xfrm>
            <a:off x="6299497" y="1334530"/>
            <a:ext cx="3462341" cy="5117069"/>
          </a:xfrm>
        </p:spPr>
        <p:txBody>
          <a:bodyPr/>
          <a:lstStyle>
            <a:lvl1pPr marL="0" indent="0">
              <a:buNone/>
              <a:defRPr sz="18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10" name="Title 1">
            <a:extLst>
              <a:ext uri="{FF2B5EF4-FFF2-40B4-BE49-F238E27FC236}">
                <a16:creationId xmlns:a16="http://schemas.microsoft.com/office/drawing/2014/main" id="{97496A52-D758-0B4A-89BF-3CD4F59966FA}"/>
              </a:ext>
            </a:extLst>
          </p:cNvPr>
          <p:cNvSpPr>
            <a:spLocks noGrp="1"/>
          </p:cNvSpPr>
          <p:nvPr>
            <p:ph type="title"/>
          </p:nvPr>
        </p:nvSpPr>
        <p:spPr>
          <a:xfrm>
            <a:off x="438376" y="319903"/>
            <a:ext cx="9323462" cy="785542"/>
          </a:xfrm>
          <a:noFill/>
        </p:spPr>
        <p:txBody>
          <a:bodyPr/>
          <a:lstStyle>
            <a:lvl1pPr>
              <a:defRPr>
                <a:solidFill>
                  <a:schemeClr val="tx1"/>
                </a:solidFill>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0D1ADA29-50F7-A347-969E-20006A64FA7F}"/>
              </a:ext>
            </a:extLst>
          </p:cNvPr>
          <p:cNvSpPr>
            <a:spLocks noGrp="1"/>
          </p:cNvSpPr>
          <p:nvPr>
            <p:ph idx="1"/>
          </p:nvPr>
        </p:nvSpPr>
        <p:spPr>
          <a:xfrm>
            <a:off x="437547" y="1334530"/>
            <a:ext cx="5658453" cy="5117070"/>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6600878"/>
      </p:ext>
    </p:extLst>
  </p:cSld>
  <p:clrMapOvr>
    <a:masterClrMapping/>
  </p:clrMapOvr>
  <p:extLst>
    <p:ext uri="{DCECCB84-F9BA-43D5-87BE-67443E8EF086}">
      <p15:sldGuideLst xmlns:p15="http://schemas.microsoft.com/office/powerpoint/2012/main">
        <p15:guide id="1" orient="horz" pos="3249">
          <p15:clr>
            <a:srgbClr val="FBAE40"/>
          </p15:clr>
        </p15:guide>
        <p15:guide id="2" pos="301">
          <p15:clr>
            <a:srgbClr val="FBAE40"/>
          </p15:clr>
        </p15:guide>
        <p15:guide id="3" pos="737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08345D86-D420-FF49-8849-9F3A0AD28E56}"/>
              </a:ext>
            </a:extLst>
          </p:cNvPr>
          <p:cNvSpPr>
            <a:spLocks noGrp="1"/>
          </p:cNvSpPr>
          <p:nvPr>
            <p:ph type="pic" idx="10"/>
          </p:nvPr>
        </p:nvSpPr>
        <p:spPr>
          <a:xfrm>
            <a:off x="6299497" y="1322173"/>
            <a:ext cx="4549735" cy="5129425"/>
          </a:xfrm>
        </p:spPr>
        <p:txBody>
          <a:bodyPr/>
          <a:lstStyle>
            <a:lvl1pPr marL="0" indent="0">
              <a:buNone/>
              <a:defRPr sz="1800">
                <a:solidFill>
                  <a:schemeClr val="tx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10" name="Title 1">
            <a:extLst>
              <a:ext uri="{FF2B5EF4-FFF2-40B4-BE49-F238E27FC236}">
                <a16:creationId xmlns:a16="http://schemas.microsoft.com/office/drawing/2014/main" id="{97496A52-D758-0B4A-89BF-3CD4F59966FA}"/>
              </a:ext>
            </a:extLst>
          </p:cNvPr>
          <p:cNvSpPr>
            <a:spLocks noGrp="1"/>
          </p:cNvSpPr>
          <p:nvPr>
            <p:ph type="title"/>
          </p:nvPr>
        </p:nvSpPr>
        <p:spPr>
          <a:xfrm>
            <a:off x="437547" y="310554"/>
            <a:ext cx="9237794" cy="785542"/>
          </a:xfrm>
          <a:noFill/>
        </p:spPr>
        <p:txBody>
          <a:bodyPr/>
          <a:lstStyle>
            <a:lvl1pPr>
              <a:defRPr>
                <a:solidFill>
                  <a:schemeClr val="tx1"/>
                </a:solidFill>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0D1ADA29-50F7-A347-969E-20006A64FA7F}"/>
              </a:ext>
            </a:extLst>
          </p:cNvPr>
          <p:cNvSpPr>
            <a:spLocks noGrp="1"/>
          </p:cNvSpPr>
          <p:nvPr>
            <p:ph idx="1"/>
          </p:nvPr>
        </p:nvSpPr>
        <p:spPr>
          <a:xfrm>
            <a:off x="437547" y="1322174"/>
            <a:ext cx="5658453" cy="5129426"/>
          </a:xfrm>
        </p:spPr>
        <p:txBody>
          <a:bodyPr/>
          <a:lstStyle>
            <a:lvl1pPr marL="134541" indent="-134541">
              <a:buClr>
                <a:srgbClr val="C9122B"/>
              </a:buClr>
              <a:buFont typeface="Lucida Grande"/>
              <a:buChar char="■"/>
              <a:defRPr>
                <a:solidFill>
                  <a:schemeClr val="tx1"/>
                </a:solidFill>
              </a:defRPr>
            </a:lvl1pPr>
            <a:lvl2pPr marL="260747" indent="-125016">
              <a:buClr>
                <a:srgbClr val="C9122B"/>
              </a:buClr>
              <a:buFont typeface="Lucida Grande"/>
              <a:buChar char="■"/>
              <a:defRPr>
                <a:solidFill>
                  <a:schemeClr val="tx1"/>
                </a:solidFill>
              </a:defRPr>
            </a:lvl2pPr>
            <a:lvl3pPr marL="403622" indent="-141685">
              <a:buClr>
                <a:srgbClr val="C9122B"/>
              </a:buClr>
              <a:buFont typeface="Lucida Grande"/>
              <a:buChar char="■"/>
              <a:defRPr>
                <a:solidFill>
                  <a:schemeClr val="tx1"/>
                </a:solidFill>
              </a:defRPr>
            </a:lvl3pPr>
            <a:lvl4pPr marL="534591" indent="-129779">
              <a:buClr>
                <a:srgbClr val="C9122B"/>
              </a:buClr>
              <a:buFont typeface="Lucida Grande"/>
              <a:buChar char="■"/>
              <a:defRPr sz="1350">
                <a:solidFill>
                  <a:schemeClr val="tx1"/>
                </a:solidFill>
              </a:defRPr>
            </a:lvl4pPr>
            <a:lvl5pPr marL="673894" indent="-138113">
              <a:buClr>
                <a:srgbClr val="C9122B"/>
              </a:buClr>
              <a:buFont typeface="Lucida Grande"/>
              <a:buChar char="■"/>
              <a:defRPr sz="13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6573843"/>
      </p:ext>
    </p:extLst>
  </p:cSld>
  <p:clrMapOvr>
    <a:masterClrMapping/>
  </p:clrMapOvr>
  <p:extLst>
    <p:ext uri="{DCECCB84-F9BA-43D5-87BE-67443E8EF086}">
      <p15:sldGuideLst xmlns:p15="http://schemas.microsoft.com/office/powerpoint/2012/main">
        <p15:guide id="1" orient="horz" pos="3249">
          <p15:clr>
            <a:srgbClr val="FBAE40"/>
          </p15:clr>
        </p15:guide>
        <p15:guide id="2" pos="301">
          <p15:clr>
            <a:srgbClr val="FBAE40"/>
          </p15:clr>
        </p15:guide>
        <p15:guide id="3" pos="737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09B93E9-946F-6845-8402-931426E912D4}"/>
              </a:ext>
            </a:extLst>
          </p:cNvPr>
          <p:cNvSpPr>
            <a:spLocks noGrp="1"/>
          </p:cNvSpPr>
          <p:nvPr>
            <p:ph type="title"/>
          </p:nvPr>
        </p:nvSpPr>
        <p:spPr>
          <a:xfrm>
            <a:off x="437547" y="5107276"/>
            <a:ext cx="9064798" cy="515216"/>
          </a:xfrm>
        </p:spPr>
        <p:txBody>
          <a:bodyPr anchor="b"/>
          <a:lstStyle>
            <a:lvl1pPr algn="l">
              <a:defRPr sz="1500" b="1">
                <a:solidFill>
                  <a:schemeClr val="tx1"/>
                </a:solidFill>
              </a:defRPr>
            </a:lvl1pPr>
          </a:lstStyle>
          <a:p>
            <a:r>
              <a:rPr lang="en-US"/>
              <a:t>Click to edit Master title style</a:t>
            </a:r>
            <a:endParaRPr lang="en-US" dirty="0"/>
          </a:p>
        </p:txBody>
      </p:sp>
      <p:sp>
        <p:nvSpPr>
          <p:cNvPr id="7" name="Picture Placeholder 2">
            <a:extLst>
              <a:ext uri="{FF2B5EF4-FFF2-40B4-BE49-F238E27FC236}">
                <a16:creationId xmlns:a16="http://schemas.microsoft.com/office/drawing/2014/main" id="{1B72CCB6-2CD4-EF46-AEC6-D480E2696D88}"/>
              </a:ext>
            </a:extLst>
          </p:cNvPr>
          <p:cNvSpPr>
            <a:spLocks noGrp="1"/>
          </p:cNvSpPr>
          <p:nvPr>
            <p:ph type="pic" idx="1"/>
          </p:nvPr>
        </p:nvSpPr>
        <p:spPr>
          <a:xfrm>
            <a:off x="437547" y="441470"/>
            <a:ext cx="9064799" cy="447053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8" name="Text Placeholder 3">
            <a:extLst>
              <a:ext uri="{FF2B5EF4-FFF2-40B4-BE49-F238E27FC236}">
                <a16:creationId xmlns:a16="http://schemas.microsoft.com/office/drawing/2014/main" id="{6E0B6D0F-76A7-FD4E-9B91-21EA5661FEF8}"/>
              </a:ext>
            </a:extLst>
          </p:cNvPr>
          <p:cNvSpPr>
            <a:spLocks noGrp="1"/>
          </p:cNvSpPr>
          <p:nvPr>
            <p:ph type="body" sz="half" idx="2"/>
          </p:nvPr>
        </p:nvSpPr>
        <p:spPr>
          <a:xfrm>
            <a:off x="437547" y="5684838"/>
            <a:ext cx="9064798" cy="73169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45511158"/>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23D9-ECCD-2741-5F1F-90F7C7A3996A}"/>
              </a:ext>
            </a:extLst>
          </p:cNvPr>
          <p:cNvSpPr>
            <a:spLocks noGrp="1"/>
          </p:cNvSpPr>
          <p:nvPr>
            <p:ph type="title"/>
          </p:nvPr>
        </p:nvSpPr>
        <p:spPr>
          <a:xfrm>
            <a:off x="437547" y="5107276"/>
            <a:ext cx="9126582" cy="515216"/>
          </a:xfrm>
        </p:spPr>
        <p:txBody>
          <a:bodyPr anchor="b"/>
          <a:lstStyle>
            <a:lvl1pPr algn="l">
              <a:defRPr sz="1500" b="1">
                <a:solidFill>
                  <a:schemeClr val="tx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93B10B7-EAC8-B183-F77B-44B41CA2355D}"/>
              </a:ext>
            </a:extLst>
          </p:cNvPr>
          <p:cNvSpPr>
            <a:spLocks noGrp="1"/>
          </p:cNvSpPr>
          <p:nvPr>
            <p:ph type="pic" idx="1"/>
          </p:nvPr>
        </p:nvSpPr>
        <p:spPr>
          <a:xfrm>
            <a:off x="437547" y="441470"/>
            <a:ext cx="9126583" cy="447053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a:extLst>
              <a:ext uri="{FF2B5EF4-FFF2-40B4-BE49-F238E27FC236}">
                <a16:creationId xmlns:a16="http://schemas.microsoft.com/office/drawing/2014/main" id="{F69A1F4D-EF2D-BC5D-CB36-AFC71E0ECD51}"/>
              </a:ext>
            </a:extLst>
          </p:cNvPr>
          <p:cNvSpPr>
            <a:spLocks noGrp="1"/>
          </p:cNvSpPr>
          <p:nvPr>
            <p:ph type="body" sz="half" idx="2"/>
          </p:nvPr>
        </p:nvSpPr>
        <p:spPr>
          <a:xfrm>
            <a:off x="437547" y="5684838"/>
            <a:ext cx="9126582" cy="73169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Tree>
    <p:extLst>
      <p:ext uri="{BB962C8B-B14F-4D97-AF65-F5344CB8AC3E}">
        <p14:creationId xmlns:p14="http://schemas.microsoft.com/office/powerpoint/2010/main" val="1987048773"/>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4C9520-5175-3E3C-D440-C1C59A067B82}"/>
              </a:ext>
            </a:extLst>
          </p:cNvPr>
          <p:cNvSpPr txBox="1"/>
          <p:nvPr userDrawn="1"/>
        </p:nvSpPr>
        <p:spPr>
          <a:xfrm>
            <a:off x="491182" y="4961405"/>
            <a:ext cx="2981067" cy="1477328"/>
          </a:xfrm>
          <a:prstGeom prst="rect">
            <a:avLst/>
          </a:prstGeom>
          <a:noFill/>
        </p:spPr>
        <p:txBody>
          <a:bodyPr wrap="square">
            <a:spAutoFit/>
          </a:bodyPr>
          <a:lstStyle/>
          <a:p>
            <a:pPr lvl="0"/>
            <a:r>
              <a:rPr lang="en-US" dirty="0">
                <a:solidFill>
                  <a:schemeClr val="bg1"/>
                </a:solidFill>
              </a:rPr>
              <a:t>Bayes Business School</a:t>
            </a:r>
          </a:p>
          <a:p>
            <a:pPr lvl="0"/>
            <a:r>
              <a:rPr lang="en-US" dirty="0">
                <a:solidFill>
                  <a:schemeClr val="bg1"/>
                </a:solidFill>
              </a:rPr>
              <a:t>106 Bunhill Row</a:t>
            </a:r>
          </a:p>
          <a:p>
            <a:pPr lvl="0"/>
            <a:r>
              <a:rPr lang="en-US" dirty="0">
                <a:solidFill>
                  <a:schemeClr val="bg1"/>
                </a:solidFill>
              </a:rPr>
              <a:t>London EC1Y 8TZ</a:t>
            </a:r>
          </a:p>
          <a:p>
            <a:pPr lvl="0"/>
            <a:r>
              <a:rPr lang="en-US" dirty="0">
                <a:solidFill>
                  <a:schemeClr val="bg1"/>
                </a:solidFill>
              </a:rPr>
              <a:t>Tel + 44 (0)20 7040 8600</a:t>
            </a:r>
          </a:p>
          <a:p>
            <a:pPr lvl="0"/>
            <a:r>
              <a:rPr lang="en-US" dirty="0" err="1">
                <a:solidFill>
                  <a:schemeClr val="bg1"/>
                </a:solidFill>
              </a:rPr>
              <a:t>bayes.city.ac.uk</a:t>
            </a:r>
            <a:endParaRPr lang="en-US" dirty="0">
              <a:solidFill>
                <a:schemeClr val="bg1"/>
              </a:solidFill>
            </a:endParaRPr>
          </a:p>
        </p:txBody>
      </p:sp>
    </p:spTree>
    <p:extLst>
      <p:ext uri="{BB962C8B-B14F-4D97-AF65-F5344CB8AC3E}">
        <p14:creationId xmlns:p14="http://schemas.microsoft.com/office/powerpoint/2010/main" val="99760891"/>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4C9520-5175-3E3C-D440-C1C59A067B82}"/>
              </a:ext>
            </a:extLst>
          </p:cNvPr>
          <p:cNvSpPr txBox="1"/>
          <p:nvPr userDrawn="1"/>
        </p:nvSpPr>
        <p:spPr>
          <a:xfrm>
            <a:off x="491182" y="4961405"/>
            <a:ext cx="2981067" cy="1477328"/>
          </a:xfrm>
          <a:prstGeom prst="rect">
            <a:avLst/>
          </a:prstGeom>
          <a:noFill/>
        </p:spPr>
        <p:txBody>
          <a:bodyPr wrap="square">
            <a:spAutoFit/>
          </a:bodyPr>
          <a:lstStyle/>
          <a:p>
            <a:pPr lvl="0"/>
            <a:r>
              <a:rPr lang="en-US" dirty="0">
                <a:solidFill>
                  <a:schemeClr val="bg1"/>
                </a:solidFill>
              </a:rPr>
              <a:t>Bayes Business School</a:t>
            </a:r>
          </a:p>
          <a:p>
            <a:pPr lvl="0"/>
            <a:r>
              <a:rPr lang="en-US" dirty="0">
                <a:solidFill>
                  <a:schemeClr val="bg1"/>
                </a:solidFill>
              </a:rPr>
              <a:t>33 Finsbury Square</a:t>
            </a:r>
          </a:p>
          <a:p>
            <a:pPr lvl="0"/>
            <a:r>
              <a:rPr lang="en-US" dirty="0">
                <a:solidFill>
                  <a:schemeClr val="bg1"/>
                </a:solidFill>
              </a:rPr>
              <a:t>London EC2A 1AG</a:t>
            </a:r>
          </a:p>
          <a:p>
            <a:pPr lvl="0"/>
            <a:r>
              <a:rPr lang="en-US" dirty="0">
                <a:solidFill>
                  <a:schemeClr val="bg1"/>
                </a:solidFill>
              </a:rPr>
              <a:t>Tel + 44 (0)20 7040 8600</a:t>
            </a:r>
          </a:p>
          <a:p>
            <a:pPr lvl="0"/>
            <a:r>
              <a:rPr lang="en-US" dirty="0" err="1">
                <a:solidFill>
                  <a:schemeClr val="bg1"/>
                </a:solidFill>
              </a:rPr>
              <a:t>bayes.city.ac.uk</a:t>
            </a:r>
            <a:endParaRPr lang="en-US" dirty="0">
              <a:solidFill>
                <a:schemeClr val="bg1"/>
              </a:solidFill>
            </a:endParaRPr>
          </a:p>
        </p:txBody>
      </p:sp>
    </p:spTree>
    <p:extLst>
      <p:ext uri="{BB962C8B-B14F-4D97-AF65-F5344CB8AC3E}">
        <p14:creationId xmlns:p14="http://schemas.microsoft.com/office/powerpoint/2010/main" val="1231917724"/>
      </p:ext>
    </p:extLst>
  </p:cSld>
  <p:clrMapOvr>
    <a:masterClrMapping/>
  </p:clrMapOvr>
  <p:extLst>
    <p:ext uri="{DCECCB84-F9BA-43D5-87BE-67443E8EF086}">
      <p15:sldGuideLst xmlns:p15="http://schemas.microsoft.com/office/powerpoint/2012/main">
        <p15:guide id="1" orient="horz" pos="2160">
          <p15:clr>
            <a:srgbClr val="FBAE40"/>
          </p15:clr>
        </p15:guide>
        <p15:guide id="2" pos="7379">
          <p15:clr>
            <a:srgbClr val="FBAE40"/>
          </p15:clr>
        </p15:guide>
        <p15:guide id="3" pos="3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D89DF3B3-CB51-0841-9988-2C74B62B9263}"/>
              </a:ext>
            </a:extLst>
          </p:cNvPr>
          <p:cNvSpPr>
            <a:spLocks noGrp="1"/>
          </p:cNvSpPr>
          <p:nvPr>
            <p:ph type="body" sz="half" idx="2"/>
          </p:nvPr>
        </p:nvSpPr>
        <p:spPr>
          <a:xfrm>
            <a:off x="0" y="4398154"/>
            <a:ext cx="5758543" cy="483150"/>
          </a:xfrm>
        </p:spPr>
        <p:txBody>
          <a:bodyPr anchor="ctr"/>
          <a:lstStyle>
            <a:lvl1pPr marL="0" indent="0" algn="ctr">
              <a:buNone/>
              <a:defRPr sz="200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8" name="Rectangle 2">
            <a:extLst>
              <a:ext uri="{FF2B5EF4-FFF2-40B4-BE49-F238E27FC236}">
                <a16:creationId xmlns:a16="http://schemas.microsoft.com/office/drawing/2014/main" id="{26AA18C7-22AE-6F47-9EF7-4EA3DA141F54}"/>
              </a:ext>
            </a:extLst>
          </p:cNvPr>
          <p:cNvSpPr>
            <a:spLocks noGrp="1" noChangeArrowheads="1"/>
          </p:cNvSpPr>
          <p:nvPr>
            <p:ph type="title"/>
          </p:nvPr>
        </p:nvSpPr>
        <p:spPr bwMode="auto">
          <a:xfrm>
            <a:off x="0" y="3307814"/>
            <a:ext cx="5758543" cy="864096"/>
          </a:xfrm>
          <a:prstGeom prst="rect">
            <a:avLst/>
          </a:prstGeom>
          <a:noFill/>
          <a:ln w="9525">
            <a:noFill/>
            <a:miter lim="800000"/>
            <a:headEnd/>
            <a:tailEnd/>
          </a:ln>
        </p:spPr>
        <p:txBody>
          <a:bodyPr anchor="ctr"/>
          <a:lstStyle>
            <a:lvl1pPr algn="ctr">
              <a:defRPr sz="2800">
                <a:solidFill>
                  <a:schemeClr val="tx1"/>
                </a:solidFill>
              </a:defRPr>
            </a:lvl1pPr>
          </a:lstStyle>
          <a:p>
            <a:pPr lvl="0"/>
            <a:r>
              <a:rPr lang="en-GB"/>
              <a:t>Click to edit Master title style</a:t>
            </a:r>
            <a:endParaRPr lang="en-GB" dirty="0"/>
          </a:p>
        </p:txBody>
      </p:sp>
    </p:spTree>
    <p:extLst>
      <p:ext uri="{BB962C8B-B14F-4D97-AF65-F5344CB8AC3E}">
        <p14:creationId xmlns:p14="http://schemas.microsoft.com/office/powerpoint/2010/main" val="2505959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Divider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2870EF4-331B-1641-B431-8906530116AF}"/>
              </a:ext>
            </a:extLst>
          </p:cNvPr>
          <p:cNvSpPr>
            <a:spLocks noGrp="1"/>
          </p:cNvSpPr>
          <p:nvPr>
            <p:ph type="title"/>
          </p:nvPr>
        </p:nvSpPr>
        <p:spPr>
          <a:xfrm>
            <a:off x="0" y="2420888"/>
            <a:ext cx="5769429" cy="1008112"/>
          </a:xfrm>
          <a:noFill/>
        </p:spPr>
        <p:txBody>
          <a:bodyPr anchor="ctr"/>
          <a:lstStyle>
            <a:lvl1pPr algn="ctr">
              <a:defRPr sz="2800">
                <a:solidFill>
                  <a:schemeClr val="tx1"/>
                </a:solidFill>
              </a:defRPr>
            </a:lvl1pPr>
          </a:lstStyle>
          <a:p>
            <a:r>
              <a:rPr lang="en-GB"/>
              <a:t>Click to edit Master title style</a:t>
            </a:r>
            <a:endParaRPr lang="en-US" dirty="0"/>
          </a:p>
        </p:txBody>
      </p:sp>
      <p:sp>
        <p:nvSpPr>
          <p:cNvPr id="10" name="Text Placeholder 3">
            <a:extLst>
              <a:ext uri="{FF2B5EF4-FFF2-40B4-BE49-F238E27FC236}">
                <a16:creationId xmlns:a16="http://schemas.microsoft.com/office/drawing/2014/main" id="{7889D59F-9699-EC45-9CCC-C83B922D854F}"/>
              </a:ext>
            </a:extLst>
          </p:cNvPr>
          <p:cNvSpPr>
            <a:spLocks noGrp="1"/>
          </p:cNvSpPr>
          <p:nvPr>
            <p:ph type="body" sz="half" idx="2"/>
          </p:nvPr>
        </p:nvSpPr>
        <p:spPr>
          <a:xfrm>
            <a:off x="0" y="3556049"/>
            <a:ext cx="5769429" cy="881062"/>
          </a:xfrm>
          <a:noFill/>
        </p:spPr>
        <p:txBody>
          <a:bodyPr anchor="ctr"/>
          <a:lstStyle>
            <a:lvl1pPr marL="0" indent="0" algn="ctr">
              <a:buNone/>
              <a:defRPr sz="200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4" name="Text Placeholder 3">
            <a:extLst>
              <a:ext uri="{FF2B5EF4-FFF2-40B4-BE49-F238E27FC236}">
                <a16:creationId xmlns:a16="http://schemas.microsoft.com/office/drawing/2014/main" id="{5E2D951E-9554-8F4A-A8DB-C0A96A57E94A}"/>
              </a:ext>
            </a:extLst>
          </p:cNvPr>
          <p:cNvSpPr>
            <a:spLocks noGrp="1"/>
          </p:cNvSpPr>
          <p:nvPr>
            <p:ph type="body" sz="half" idx="10" hasCustomPrompt="1"/>
          </p:nvPr>
        </p:nvSpPr>
        <p:spPr>
          <a:xfrm>
            <a:off x="0" y="6381549"/>
            <a:ext cx="5769430" cy="311082"/>
          </a:xfrm>
          <a:noFill/>
        </p:spPr>
        <p:txBody>
          <a:bodyPr anchor="ctr"/>
          <a:lstStyle>
            <a:lvl1pPr marL="0" indent="0" algn="ctr">
              <a:buNone/>
              <a:defRPr sz="1200">
                <a:solidFill>
                  <a:srgbClr val="999999"/>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dirty="0"/>
              <a:t>Bayes Business School (formerly Cass)</a:t>
            </a:r>
          </a:p>
        </p:txBody>
      </p:sp>
    </p:spTree>
    <p:extLst>
      <p:ext uri="{BB962C8B-B14F-4D97-AF65-F5344CB8AC3E}">
        <p14:creationId xmlns:p14="http://schemas.microsoft.com/office/powerpoint/2010/main" val="953982326"/>
      </p:ext>
    </p:extLst>
  </p:cSld>
  <p:clrMapOvr>
    <a:masterClrMapping/>
  </p:clrMapOvr>
  <p:extLst>
    <p:ext uri="{DCECCB84-F9BA-43D5-87BE-67443E8EF086}">
      <p15:sldGuideLst xmlns:p15="http://schemas.microsoft.com/office/powerpoint/2012/main">
        <p15:guide id="1" orient="horz" pos="2160">
          <p15:clr>
            <a:srgbClr val="FBAE40"/>
          </p15:clr>
        </p15:guide>
        <p15:guide id="2" pos="604">
          <p15:clr>
            <a:srgbClr val="FBAE40"/>
          </p15:clr>
        </p15:guide>
        <p15:guide id="3" pos="7076">
          <p15:clr>
            <a:srgbClr val="FBAE40"/>
          </p15:clr>
        </p15:guide>
        <p15:guide id="4" pos="907">
          <p15:clr>
            <a:srgbClr val="FBAE40"/>
          </p15:clr>
        </p15:guide>
        <p15:guide id="5" pos="677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1_Final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3"/>
          <p:cNvSpPr>
            <a:spLocks noGrp="1"/>
          </p:cNvSpPr>
          <p:nvPr>
            <p:ph type="body" sz="half" idx="2" hasCustomPrompt="1"/>
          </p:nvPr>
        </p:nvSpPr>
        <p:spPr>
          <a:xfrm>
            <a:off x="4909458" y="2547717"/>
            <a:ext cx="6498772" cy="1762566"/>
          </a:xfrm>
        </p:spPr>
        <p:txBody>
          <a:bodyPr anchor="ctr" anchorCtr="0"/>
          <a:lstStyle>
            <a:lvl1pPr marL="0" indent="0" algn="ctr">
              <a:buNone/>
              <a:defRPr lang="en-US" sz="2000" smtClean="0">
                <a:solidFill>
                  <a:schemeClr val="tx1"/>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Bayes Business School</a:t>
            </a:r>
          </a:p>
          <a:p>
            <a:pPr lvl="0"/>
            <a:r>
              <a:rPr lang="en-US" dirty="0"/>
              <a:t>(formerly Cass)</a:t>
            </a:r>
          </a:p>
          <a:p>
            <a:pPr lvl="0"/>
            <a:r>
              <a:rPr lang="en-US" dirty="0"/>
              <a:t>106 </a:t>
            </a:r>
            <a:r>
              <a:rPr lang="en-US" dirty="0" err="1"/>
              <a:t>Bunhill</a:t>
            </a:r>
            <a:r>
              <a:rPr lang="en-US" dirty="0"/>
              <a:t> Row</a:t>
            </a:r>
          </a:p>
          <a:p>
            <a:pPr lvl="0"/>
            <a:r>
              <a:rPr lang="en-US" dirty="0"/>
              <a:t>London EC1Y 8TZ</a:t>
            </a:r>
          </a:p>
          <a:p>
            <a:pPr lvl="0"/>
            <a:r>
              <a:rPr lang="en-US" dirty="0"/>
              <a:t>Tel + 44 (0)20 7040 8600</a:t>
            </a:r>
          </a:p>
          <a:p>
            <a:pPr lvl="0"/>
            <a:r>
              <a:rPr lang="en-US" dirty="0" err="1"/>
              <a:t>bayes.city.ac.uk</a:t>
            </a:r>
            <a:endParaRPr lang="en-US" dirty="0"/>
          </a:p>
        </p:txBody>
      </p:sp>
      <p:sp>
        <p:nvSpPr>
          <p:cNvPr id="25" name="AutoShape 3"/>
          <p:cNvSpPr>
            <a:spLocks noChangeAspect="1" noChangeArrowheads="1" noTextEdit="1"/>
          </p:cNvSpPr>
          <p:nvPr/>
        </p:nvSpPr>
        <p:spPr bwMode="auto">
          <a:xfrm>
            <a:off x="4271798" y="3249095"/>
            <a:ext cx="3936572" cy="2215091"/>
          </a:xfrm>
          <a:prstGeom prst="rect">
            <a:avLst/>
          </a:prstGeom>
          <a:noFill/>
          <a:ln w="9525">
            <a:noFill/>
            <a:miter lim="800000"/>
            <a:headEnd/>
            <a:tailEnd/>
          </a:ln>
        </p:spPr>
        <p:txBody>
          <a:bodyPr vert="horz" wrap="square" lIns="68580" tIns="34290" rIns="68580" bIns="34290" numCol="1" anchor="t" anchorCtr="0" compatLnSpc="1">
            <a:prstTxWarp prst="textNoShape">
              <a:avLst/>
            </a:prstTxWarp>
          </a:bodyPr>
          <a:lstStyle/>
          <a:p>
            <a:endParaRPr lang="en-GB"/>
          </a:p>
        </p:txBody>
      </p:sp>
    </p:spTree>
    <p:extLst>
      <p:ext uri="{BB962C8B-B14F-4D97-AF65-F5344CB8AC3E}">
        <p14:creationId xmlns:p14="http://schemas.microsoft.com/office/powerpoint/2010/main" val="1169756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51B41B-EB64-6F4C-ACD1-CC17C0BEB578}"/>
              </a:ext>
            </a:extLst>
          </p:cNvPr>
          <p:cNvSpPr>
            <a:spLocks noGrp="1"/>
          </p:cNvSpPr>
          <p:nvPr>
            <p:ph type="dt" sz="half" idx="10"/>
          </p:nvPr>
        </p:nvSpPr>
        <p:spPr/>
        <p:txBody>
          <a:bodyPr/>
          <a:lstStyle/>
          <a:p>
            <a:fld id="{61B7EB08-5FDB-7F4B-AE04-8CAD71C9CCB0}" type="datetimeFigureOut">
              <a:rPr lang="en-US" smtClean="0"/>
              <a:t>10/16/26</a:t>
            </a:fld>
            <a:endParaRPr lang="en-US"/>
          </a:p>
        </p:txBody>
      </p:sp>
      <p:sp>
        <p:nvSpPr>
          <p:cNvPr id="3" name="Footer Placeholder 2">
            <a:extLst>
              <a:ext uri="{FF2B5EF4-FFF2-40B4-BE49-F238E27FC236}">
                <a16:creationId xmlns:a16="http://schemas.microsoft.com/office/drawing/2014/main" id="{D53A0742-C913-B844-B458-23E1F0397D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80A391-3BD1-574D-912A-3B80779B79D4}"/>
              </a:ext>
            </a:extLst>
          </p:cNvPr>
          <p:cNvSpPr>
            <a:spLocks noGrp="1"/>
          </p:cNvSpPr>
          <p:nvPr>
            <p:ph type="sldNum" sz="quarter" idx="12"/>
          </p:nvPr>
        </p:nvSpPr>
        <p:spPr/>
        <p:txBody>
          <a:bodyPr/>
          <a:lstStyle/>
          <a:p>
            <a:fld id="{6A9E8932-FF03-624E-B54D-7E141950C704}" type="slidenum">
              <a:rPr lang="en-US" smtClean="0"/>
              <a:t>‹#›</a:t>
            </a:fld>
            <a:endParaRPr lang="en-US"/>
          </a:p>
        </p:txBody>
      </p:sp>
    </p:spTree>
    <p:extLst>
      <p:ext uri="{BB962C8B-B14F-4D97-AF65-F5344CB8AC3E}">
        <p14:creationId xmlns:p14="http://schemas.microsoft.com/office/powerpoint/2010/main" val="1804384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13E482-9D17-6A0D-5713-3FD61DD39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D7EB61-A9F0-7F83-B9F8-7B0A406045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AFB5F4-4E75-D9CC-24E0-8FE2595AF7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211DD3-7A43-854F-A3AE-657852C1518D}" type="datetimeFigureOut">
              <a:rPr lang="en-US" smtClean="0"/>
              <a:t>10/16/26</a:t>
            </a:fld>
            <a:endParaRPr lang="en-US"/>
          </a:p>
        </p:txBody>
      </p:sp>
      <p:sp>
        <p:nvSpPr>
          <p:cNvPr id="5" name="Footer Placeholder 4">
            <a:extLst>
              <a:ext uri="{FF2B5EF4-FFF2-40B4-BE49-F238E27FC236}">
                <a16:creationId xmlns:a16="http://schemas.microsoft.com/office/drawing/2014/main" id="{FF3900EE-6D9D-CB75-733D-D6D88B811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FCD2BF-2CD7-399E-1E2B-243F98A29F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87B854-0E4A-2F4C-B2C1-C1C4D37D9A20}" type="slidenum">
              <a:rPr lang="en-US" smtClean="0"/>
              <a:t>‹#›</a:t>
            </a:fld>
            <a:endParaRPr lang="en-US"/>
          </a:p>
        </p:txBody>
      </p:sp>
    </p:spTree>
    <p:extLst>
      <p:ext uri="{BB962C8B-B14F-4D97-AF65-F5344CB8AC3E}">
        <p14:creationId xmlns:p14="http://schemas.microsoft.com/office/powerpoint/2010/main" val="3650762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D61726"/>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D61726"/>
        </a:buClr>
        <a:buFont typeface="Wingdings" pitchFamily="2"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D61726"/>
        </a:buClr>
        <a:buFont typeface="Wingdings"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D61726"/>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D61726"/>
        </a:buClr>
        <a:buFont typeface="Wingdings" pitchFamily="2" charset="2"/>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customXml" Target="../ink/ink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Word_Document.docx"/><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1.emf"/><Relationship Id="rId7" Type="http://schemas.openxmlformats.org/officeDocument/2006/relationships/customXml" Target="../ink/ink4.xml"/><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image" Target="../media/image290.png"/><Relationship Id="rId4" Type="http://schemas.openxmlformats.org/officeDocument/2006/relationships/customXml" Target="../ink/ink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2.emf"/><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customXml" Target="../ink/ink5.xml"/><Relationship Id="rId5" Type="http://schemas.openxmlformats.org/officeDocument/2006/relationships/image" Target="../media/image23.e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4.e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25.emf"/><Relationship Id="rId10" Type="http://schemas.openxmlformats.org/officeDocument/2006/relationships/image" Target="../media/image44.png"/><Relationship Id="rId4" Type="http://schemas.openxmlformats.org/officeDocument/2006/relationships/oleObject" Target="../embeddings/oleObject10.bin"/><Relationship Id="rId9" Type="http://schemas.openxmlformats.org/officeDocument/2006/relationships/customXml" Target="../ink/ink7.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customXml" Target="../ink/ink8.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50.png"/><Relationship Id="rId4" Type="http://schemas.openxmlformats.org/officeDocument/2006/relationships/customXml" Target="../ink/ink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340.png"/><Relationship Id="rId13" Type="http://schemas.openxmlformats.org/officeDocument/2006/relationships/customXml" Target="../ink/ink15.xml"/><Relationship Id="rId18" Type="http://schemas.openxmlformats.org/officeDocument/2006/relationships/image" Target="../media/image390.png"/><Relationship Id="rId26" Type="http://schemas.openxmlformats.org/officeDocument/2006/relationships/image" Target="../media/image430.png"/><Relationship Id="rId3" Type="http://schemas.openxmlformats.org/officeDocument/2006/relationships/customXml" Target="../ink/ink10.xml"/><Relationship Id="rId21" Type="http://schemas.openxmlformats.org/officeDocument/2006/relationships/customXml" Target="../ink/ink19.xml"/><Relationship Id="rId7" Type="http://schemas.openxmlformats.org/officeDocument/2006/relationships/customXml" Target="../ink/ink12.xml"/><Relationship Id="rId12" Type="http://schemas.openxmlformats.org/officeDocument/2006/relationships/image" Target="../media/image360.png"/><Relationship Id="rId17" Type="http://schemas.openxmlformats.org/officeDocument/2006/relationships/customXml" Target="../ink/ink17.xml"/><Relationship Id="rId25" Type="http://schemas.openxmlformats.org/officeDocument/2006/relationships/customXml" Target="../ink/ink21.xml"/><Relationship Id="rId2" Type="http://schemas.openxmlformats.org/officeDocument/2006/relationships/image" Target="../media/image31.png"/><Relationship Id="rId16" Type="http://schemas.openxmlformats.org/officeDocument/2006/relationships/image" Target="../media/image380.png"/><Relationship Id="rId20" Type="http://schemas.openxmlformats.org/officeDocument/2006/relationships/image" Target="../media/image400.png"/><Relationship Id="rId29" Type="http://schemas.openxmlformats.org/officeDocument/2006/relationships/customXml" Target="../ink/ink23.xml"/><Relationship Id="rId1" Type="http://schemas.openxmlformats.org/officeDocument/2006/relationships/slideLayout" Target="../slideLayouts/slideLayout6.xml"/><Relationship Id="rId6" Type="http://schemas.openxmlformats.org/officeDocument/2006/relationships/image" Target="../media/image330.png"/><Relationship Id="rId11" Type="http://schemas.openxmlformats.org/officeDocument/2006/relationships/customXml" Target="../ink/ink14.xml"/><Relationship Id="rId24" Type="http://schemas.openxmlformats.org/officeDocument/2006/relationships/image" Target="../media/image420.png"/><Relationship Id="rId5" Type="http://schemas.openxmlformats.org/officeDocument/2006/relationships/customXml" Target="../ink/ink11.xml"/><Relationship Id="rId15" Type="http://schemas.openxmlformats.org/officeDocument/2006/relationships/customXml" Target="../ink/ink16.xml"/><Relationship Id="rId23" Type="http://schemas.openxmlformats.org/officeDocument/2006/relationships/customXml" Target="../ink/ink20.xml"/><Relationship Id="rId28" Type="http://schemas.openxmlformats.org/officeDocument/2006/relationships/image" Target="../media/image440.png"/><Relationship Id="rId10" Type="http://schemas.openxmlformats.org/officeDocument/2006/relationships/image" Target="../media/image350.png"/><Relationship Id="rId19" Type="http://schemas.openxmlformats.org/officeDocument/2006/relationships/customXml" Target="../ink/ink18.xml"/><Relationship Id="rId4" Type="http://schemas.openxmlformats.org/officeDocument/2006/relationships/image" Target="../media/image320.png"/><Relationship Id="rId9" Type="http://schemas.openxmlformats.org/officeDocument/2006/relationships/customXml" Target="../ink/ink13.xml"/><Relationship Id="rId14" Type="http://schemas.openxmlformats.org/officeDocument/2006/relationships/image" Target="../media/image370.png"/><Relationship Id="rId22" Type="http://schemas.openxmlformats.org/officeDocument/2006/relationships/image" Target="../media/image410.png"/><Relationship Id="rId27" Type="http://schemas.openxmlformats.org/officeDocument/2006/relationships/customXml" Target="../ink/ink22.xml"/><Relationship Id="rId30" Type="http://schemas.openxmlformats.org/officeDocument/2006/relationships/image" Target="../media/image450.png"/></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hyperlink" Target="mailto:natasha.todorovic.1@city.ac.uk"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wrap="square" anchor="ctr">
            <a:noAutofit/>
          </a:bodyPr>
          <a:lstStyle/>
          <a:p>
            <a:r>
              <a:rPr lang="en-GB" sz="2400" dirty="0">
                <a:effectLst/>
                <a:latin typeface="Arial" panose="020B0604020202020204" pitchFamily="34" charset="0"/>
                <a:ea typeface="Times New Roman" panose="02020603050405020304" pitchFamily="18" charset="0"/>
              </a:rPr>
              <a:t>Portfolio Theory I: Diversification and Characteristics of Portfolios of Risky </a:t>
            </a:r>
            <a:r>
              <a:rPr lang="en-GB" sz="2400" dirty="0">
                <a:latin typeface="Arial" panose="020B0604020202020204" pitchFamily="34" charset="0"/>
                <a:ea typeface="Times New Roman" panose="02020603050405020304" pitchFamily="18" charset="0"/>
              </a:rPr>
              <a:t>A</a:t>
            </a:r>
            <a:r>
              <a:rPr lang="en-GB" sz="2400" dirty="0">
                <a:effectLst/>
                <a:latin typeface="Arial" panose="020B0604020202020204" pitchFamily="34" charset="0"/>
                <a:ea typeface="Times New Roman" panose="02020603050405020304" pitchFamily="18" charset="0"/>
              </a:rPr>
              <a:t>ssets</a:t>
            </a:r>
            <a:endParaRPr lang="en-US" sz="2400" dirty="0"/>
          </a:p>
        </p:txBody>
      </p:sp>
      <p:sp>
        <p:nvSpPr>
          <p:cNvPr id="5" name="Text Placeholder 4">
            <a:extLst>
              <a:ext uri="{FF2B5EF4-FFF2-40B4-BE49-F238E27FC236}">
                <a16:creationId xmlns:a16="http://schemas.microsoft.com/office/drawing/2014/main" id="{3DF8431A-E5CA-1E47-9940-1B7A9FEA05DD}"/>
              </a:ext>
            </a:extLst>
          </p:cNvPr>
          <p:cNvSpPr>
            <a:spLocks noGrp="1"/>
          </p:cNvSpPr>
          <p:nvPr>
            <p:ph idx="1"/>
          </p:nvPr>
        </p:nvSpPr>
        <p:spPr/>
        <p:txBody>
          <a:bodyPr>
            <a:normAutofit/>
          </a:bodyPr>
          <a:lstStyle/>
          <a:p>
            <a:r>
              <a:rPr lang="en-US" dirty="0"/>
              <a:t>Dr. Natasha Todorovic</a:t>
            </a:r>
          </a:p>
          <a:p>
            <a:endParaRPr lang="en-US" dirty="0"/>
          </a:p>
          <a:p>
            <a:endParaRPr lang="en-US" dirty="0"/>
          </a:p>
        </p:txBody>
      </p:sp>
    </p:spTree>
    <p:extLst>
      <p:ext uri="{BB962C8B-B14F-4D97-AF65-F5344CB8AC3E}">
        <p14:creationId xmlns:p14="http://schemas.microsoft.com/office/powerpoint/2010/main" val="3765931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073329-5DE3-0E46-8B5B-FC301A9D703C}"/>
              </a:ext>
            </a:extLst>
          </p:cNvPr>
          <p:cNvSpPr>
            <a:spLocks noGrp="1"/>
          </p:cNvSpPr>
          <p:nvPr>
            <p:ph type="title"/>
          </p:nvPr>
        </p:nvSpPr>
        <p:spPr>
          <a:xfrm>
            <a:off x="0" y="2420888"/>
            <a:ext cx="5769429" cy="1008112"/>
          </a:xfrm>
        </p:spPr>
        <p:txBody>
          <a:bodyPr wrap="square" anchor="ctr">
            <a:normAutofit/>
          </a:bodyPr>
          <a:lstStyle/>
          <a:p>
            <a:r>
              <a:rPr lang="en-US" dirty="0"/>
              <a:t>Two-asset Portfolio Return and Risk</a:t>
            </a:r>
          </a:p>
        </p:txBody>
      </p:sp>
    </p:spTree>
    <p:extLst>
      <p:ext uri="{BB962C8B-B14F-4D97-AF65-F5344CB8AC3E}">
        <p14:creationId xmlns:p14="http://schemas.microsoft.com/office/powerpoint/2010/main" val="3951695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FC6760E-27FB-3F47-8446-12CEEAE8CA32}"/>
              </a:ext>
            </a:extLst>
          </p:cNvPr>
          <p:cNvSpPr>
            <a:spLocks noGrp="1" noChangeArrowheads="1"/>
          </p:cNvSpPr>
          <p:nvPr>
            <p:ph type="title"/>
          </p:nvPr>
        </p:nvSpPr>
        <p:spPr>
          <a:xfrm>
            <a:off x="700438" y="268217"/>
            <a:ext cx="11315248" cy="785542"/>
          </a:xfrm>
        </p:spPr>
        <p:txBody>
          <a:bodyPr/>
          <a:lstStyle/>
          <a:p>
            <a:r>
              <a:rPr lang="en-US" altLang="en-US" sz="3200" dirty="0">
                <a:sym typeface="Symbol" pitchFamily="2" charset="2"/>
              </a:rPr>
              <a:t>Calculating the Expected Return of a Portfolio</a:t>
            </a:r>
            <a:endParaRPr lang="en-GB" altLang="en-US" sz="3200" dirty="0">
              <a:sym typeface="Symbol" pitchFamily="2" charset="2"/>
            </a:endParaRPr>
          </a:p>
        </p:txBody>
      </p:sp>
      <p:graphicFrame>
        <p:nvGraphicFramePr>
          <p:cNvPr id="23556" name="Object 4">
            <a:extLst>
              <a:ext uri="{FF2B5EF4-FFF2-40B4-BE49-F238E27FC236}">
                <a16:creationId xmlns:a16="http://schemas.microsoft.com/office/drawing/2014/main" id="{042AA368-A633-1940-A017-44323B4E5BBD}"/>
              </a:ext>
            </a:extLst>
          </p:cNvPr>
          <p:cNvGraphicFramePr>
            <a:graphicFrameLocks noGrp="1" noChangeAspect="1"/>
          </p:cNvGraphicFramePr>
          <p:nvPr>
            <p:ph idx="1"/>
          </p:nvPr>
        </p:nvGraphicFramePr>
        <p:xfrm>
          <a:off x="4133850" y="2922588"/>
          <a:ext cx="2921000" cy="1012825"/>
        </p:xfrm>
        <a:graphic>
          <a:graphicData uri="http://schemas.openxmlformats.org/presentationml/2006/ole">
            <mc:AlternateContent xmlns:mc="http://schemas.openxmlformats.org/markup-compatibility/2006">
              <mc:Choice xmlns:v="urn:schemas-microsoft-com:vml" Requires="v">
                <p:oleObj name="Equation" r:id="rId2" imgW="28676600" imgH="9944100" progId="Equation.3">
                  <p:embed/>
                </p:oleObj>
              </mc:Choice>
              <mc:Fallback>
                <p:oleObj name="Equation" r:id="rId2" imgW="28676600" imgH="9944100" progId="Equation.3">
                  <p:embed/>
                  <p:pic>
                    <p:nvPicPr>
                      <p:cNvPr id="23556" name="Object 4">
                        <a:extLst>
                          <a:ext uri="{FF2B5EF4-FFF2-40B4-BE49-F238E27FC236}">
                            <a16:creationId xmlns:a16="http://schemas.microsoft.com/office/drawing/2014/main" id="{042AA368-A633-1940-A017-44323B4E5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3850" y="2922588"/>
                        <a:ext cx="2921000" cy="1012825"/>
                      </a:xfrm>
                      <a:prstGeom prst="rect">
                        <a:avLst/>
                      </a:prstGeom>
                      <a:noFill/>
                      <a:ln>
                        <a:noFill/>
                      </a:ln>
                      <a:effectLst/>
                    </p:spPr>
                  </p:pic>
                </p:oleObj>
              </mc:Fallback>
            </mc:AlternateContent>
          </a:graphicData>
        </a:graphic>
      </p:graphicFrame>
      <p:sp>
        <p:nvSpPr>
          <p:cNvPr id="23555" name="Rectangle 3">
            <a:extLst>
              <a:ext uri="{FF2B5EF4-FFF2-40B4-BE49-F238E27FC236}">
                <a16:creationId xmlns:a16="http://schemas.microsoft.com/office/drawing/2014/main" id="{D9E9EC04-9113-2B40-AED2-107B9225E5A4}"/>
              </a:ext>
            </a:extLst>
          </p:cNvPr>
          <p:cNvSpPr>
            <a:spLocks noGrp="1" noChangeArrowheads="1"/>
          </p:cNvSpPr>
          <p:nvPr>
            <p:ph type="body" sz="half" idx="4294967295"/>
          </p:nvPr>
        </p:nvSpPr>
        <p:spPr>
          <a:xfrm>
            <a:off x="541337" y="1201150"/>
            <a:ext cx="9640888" cy="4745037"/>
          </a:xfrm>
        </p:spPr>
        <p:txBody>
          <a:bodyPr>
            <a:normAutofit lnSpcReduction="10000"/>
          </a:bodyPr>
          <a:lstStyle/>
          <a:p>
            <a:pPr>
              <a:lnSpc>
                <a:spcPct val="150000"/>
              </a:lnSpc>
              <a:spcAft>
                <a:spcPts val="600"/>
              </a:spcAft>
            </a:pPr>
            <a:r>
              <a:rPr lang="en-US" altLang="en-US" sz="2000" dirty="0">
                <a:cs typeface="Arial" panose="020B0604020202020204" pitchFamily="34" charset="0"/>
                <a:sym typeface="Symbol" pitchFamily="2" charset="2"/>
              </a:rPr>
              <a:t>Amount invested in each security is of importance, i.e. the percentage of the total portfolio value invested in each asset in the portfolio - portfolio weights</a:t>
            </a:r>
          </a:p>
          <a:p>
            <a:pPr>
              <a:lnSpc>
                <a:spcPct val="150000"/>
              </a:lnSpc>
              <a:spcAft>
                <a:spcPts val="600"/>
              </a:spcAft>
            </a:pPr>
            <a:r>
              <a:rPr lang="en-US" altLang="en-US" sz="2000" dirty="0">
                <a:cs typeface="Arial" panose="020B0604020202020204" pitchFamily="34" charset="0"/>
                <a:sym typeface="Symbol" pitchFamily="2" charset="2"/>
              </a:rPr>
              <a:t>Expected return of the portfolio is calculated as follows:</a:t>
            </a:r>
          </a:p>
          <a:p>
            <a:pPr>
              <a:lnSpc>
                <a:spcPct val="150000"/>
              </a:lnSpc>
              <a:spcAft>
                <a:spcPts val="600"/>
              </a:spcAft>
              <a:buFontTx/>
              <a:buNone/>
            </a:pPr>
            <a:endParaRPr lang="en-US" altLang="en-US" sz="2000" dirty="0">
              <a:cs typeface="Arial" panose="020B0604020202020204" pitchFamily="34" charset="0"/>
              <a:sym typeface="Symbol" pitchFamily="2" charset="2"/>
            </a:endParaRPr>
          </a:p>
          <a:p>
            <a:pPr>
              <a:lnSpc>
                <a:spcPct val="150000"/>
              </a:lnSpc>
              <a:spcAft>
                <a:spcPts val="600"/>
              </a:spcAft>
              <a:buFontTx/>
              <a:buNone/>
            </a:pPr>
            <a:endParaRPr lang="en-US" altLang="en-US" sz="2000" dirty="0">
              <a:cs typeface="Arial" panose="020B0604020202020204" pitchFamily="34" charset="0"/>
              <a:sym typeface="Symbol" pitchFamily="2" charset="2"/>
            </a:endParaRPr>
          </a:p>
          <a:p>
            <a:pPr>
              <a:lnSpc>
                <a:spcPct val="150000"/>
              </a:lnSpc>
              <a:spcAft>
                <a:spcPts val="600"/>
              </a:spcAft>
              <a:buFontTx/>
              <a:buNone/>
            </a:pPr>
            <a:r>
              <a:rPr lang="en-US" altLang="en-US" sz="2000" dirty="0">
                <a:cs typeface="Arial" panose="020B0604020202020204" pitchFamily="34" charset="0"/>
                <a:sym typeface="Symbol" pitchFamily="2" charset="2"/>
              </a:rPr>
              <a:t>	Where, E(</a:t>
            </a:r>
            <a:r>
              <a:rPr lang="en-US" altLang="en-US" sz="2000" dirty="0" err="1">
                <a:cs typeface="Arial" panose="020B0604020202020204" pitchFamily="34" charset="0"/>
                <a:sym typeface="Symbol" pitchFamily="2" charset="2"/>
              </a:rPr>
              <a:t>R</a:t>
            </a:r>
            <a:r>
              <a:rPr lang="en-US" altLang="en-US" sz="2000" baseline="-25000" dirty="0" err="1">
                <a:cs typeface="Arial" panose="020B0604020202020204" pitchFamily="34" charset="0"/>
                <a:sym typeface="Symbol" pitchFamily="2" charset="2"/>
              </a:rPr>
              <a:t>p</a:t>
            </a:r>
            <a:r>
              <a:rPr lang="en-US" altLang="en-US" sz="2000" dirty="0">
                <a:cs typeface="Arial" panose="020B0604020202020204" pitchFamily="34" charset="0"/>
                <a:sym typeface="Symbol" pitchFamily="2" charset="2"/>
              </a:rPr>
              <a:t>) is the expected return of the portfolio, </a:t>
            </a:r>
            <a:r>
              <a:rPr lang="en-US" altLang="en-US" sz="2000" i="1" dirty="0" err="1">
                <a:cs typeface="Arial" panose="020B0604020202020204" pitchFamily="34" charset="0"/>
                <a:sym typeface="Symbol" pitchFamily="2" charset="2"/>
              </a:rPr>
              <a:t>w</a:t>
            </a:r>
            <a:r>
              <a:rPr lang="en-US" altLang="en-US" sz="2000" baseline="-25000" dirty="0" err="1">
                <a:cs typeface="Arial" panose="020B0604020202020204" pitchFamily="34" charset="0"/>
                <a:sym typeface="Symbol" pitchFamily="2" charset="2"/>
              </a:rPr>
              <a:t>i</a:t>
            </a:r>
            <a:r>
              <a:rPr lang="en-US" altLang="en-US" sz="2000" baseline="-25000" dirty="0">
                <a:cs typeface="Arial" panose="020B0604020202020204" pitchFamily="34" charset="0"/>
                <a:sym typeface="Symbol" pitchFamily="2" charset="2"/>
              </a:rPr>
              <a:t> </a:t>
            </a:r>
            <a:r>
              <a:rPr lang="en-US" altLang="en-US" sz="2000" dirty="0">
                <a:cs typeface="Arial" panose="020B0604020202020204" pitchFamily="34" charset="0"/>
                <a:sym typeface="Symbol" pitchFamily="2" charset="2"/>
              </a:rPr>
              <a:t>is portfolio weight of the </a:t>
            </a:r>
            <a:r>
              <a:rPr lang="en-US" altLang="en-US" sz="2000" dirty="0" err="1">
                <a:cs typeface="Arial" panose="020B0604020202020204" pitchFamily="34" charset="0"/>
                <a:sym typeface="Symbol" pitchFamily="2" charset="2"/>
              </a:rPr>
              <a:t>i-th</a:t>
            </a:r>
            <a:r>
              <a:rPr lang="en-US" altLang="en-US" sz="2000" dirty="0">
                <a:cs typeface="Arial" panose="020B0604020202020204" pitchFamily="34" charset="0"/>
                <a:sym typeface="Symbol" pitchFamily="2" charset="2"/>
              </a:rPr>
              <a:t> security and E(R</a:t>
            </a:r>
            <a:r>
              <a:rPr lang="en-US" altLang="en-US" sz="2000" baseline="-25000" dirty="0">
                <a:cs typeface="Arial" panose="020B0604020202020204" pitchFamily="34" charset="0"/>
                <a:sym typeface="Symbol" pitchFamily="2" charset="2"/>
              </a:rPr>
              <a:t>i</a:t>
            </a:r>
            <a:r>
              <a:rPr lang="en-US" altLang="en-US" sz="2000" dirty="0">
                <a:cs typeface="Arial" panose="020B0604020202020204" pitchFamily="34" charset="0"/>
                <a:sym typeface="Symbol" pitchFamily="2" charset="2"/>
              </a:rPr>
              <a:t>) is the expected return of the </a:t>
            </a:r>
            <a:r>
              <a:rPr lang="en-US" altLang="en-US" sz="2000" dirty="0" err="1">
                <a:cs typeface="Arial" panose="020B0604020202020204" pitchFamily="34" charset="0"/>
                <a:sym typeface="Symbol" pitchFamily="2" charset="2"/>
              </a:rPr>
              <a:t>i-th</a:t>
            </a:r>
            <a:r>
              <a:rPr lang="en-US" altLang="en-US" sz="2000" dirty="0">
                <a:cs typeface="Arial" panose="020B0604020202020204" pitchFamily="34" charset="0"/>
                <a:sym typeface="Symbol" pitchFamily="2" charset="2"/>
              </a:rPr>
              <a:t> security in the portfolio</a:t>
            </a:r>
          </a:p>
          <a:p>
            <a:pPr>
              <a:lnSpc>
                <a:spcPct val="150000"/>
              </a:lnSpc>
              <a:spcAft>
                <a:spcPts val="600"/>
              </a:spcAft>
            </a:pPr>
            <a:r>
              <a:rPr lang="en-US" altLang="en-US" sz="2000" dirty="0">
                <a:cs typeface="Arial" panose="020B0604020202020204" pitchFamily="34" charset="0"/>
                <a:sym typeface="Symbol" pitchFamily="2" charset="2"/>
              </a:rPr>
              <a:t>Also, the sum of weights in a portfolio should be equal to 1 (=100%):</a:t>
            </a:r>
          </a:p>
          <a:p>
            <a:pPr marL="0" indent="0">
              <a:buNone/>
            </a:pPr>
            <a:endParaRPr lang="en-GB" altLang="en-US" sz="2400" dirty="0"/>
          </a:p>
        </p:txBody>
      </p:sp>
      <p:graphicFrame>
        <p:nvGraphicFramePr>
          <p:cNvPr id="23558" name="Object 6">
            <a:extLst>
              <a:ext uri="{FF2B5EF4-FFF2-40B4-BE49-F238E27FC236}">
                <a16:creationId xmlns:a16="http://schemas.microsoft.com/office/drawing/2014/main" id="{FA6D5102-7FF6-C649-90A3-9BA111833241}"/>
              </a:ext>
            </a:extLst>
          </p:cNvPr>
          <p:cNvGraphicFramePr>
            <a:graphicFrameLocks noGrp="1" noChangeAspect="1"/>
          </p:cNvGraphicFramePr>
          <p:nvPr>
            <p:ph sz="quarter" idx="4294967295"/>
            <p:extLst>
              <p:ext uri="{D42A27DB-BD31-4B8C-83A1-F6EECF244321}">
                <p14:modId xmlns:p14="http://schemas.microsoft.com/office/powerpoint/2010/main" val="682266031"/>
              </p:ext>
            </p:extLst>
          </p:nvPr>
        </p:nvGraphicFramePr>
        <p:xfrm>
          <a:off x="4799012" y="5656850"/>
          <a:ext cx="1125538" cy="850900"/>
        </p:xfrm>
        <a:graphic>
          <a:graphicData uri="http://schemas.openxmlformats.org/presentationml/2006/ole">
            <mc:AlternateContent xmlns:mc="http://schemas.openxmlformats.org/markup-compatibility/2006">
              <mc:Choice xmlns:v="urn:schemas-microsoft-com:vml" Requires="v">
                <p:oleObj name="Equation" r:id="rId4" imgW="13169900" imgH="9944100" progId="Equation.3">
                  <p:embed/>
                </p:oleObj>
              </mc:Choice>
              <mc:Fallback>
                <p:oleObj name="Equation" r:id="rId4" imgW="13169900" imgH="9944100" progId="Equation.3">
                  <p:embed/>
                  <p:pic>
                    <p:nvPicPr>
                      <p:cNvPr id="23558" name="Object 6">
                        <a:extLst>
                          <a:ext uri="{FF2B5EF4-FFF2-40B4-BE49-F238E27FC236}">
                            <a16:creationId xmlns:a16="http://schemas.microsoft.com/office/drawing/2014/main" id="{FA6D5102-7FF6-C649-90A3-9BA111833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9012" y="5656850"/>
                        <a:ext cx="1125538" cy="85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67085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34098-D39E-D64F-AD33-4A7E03CB5F1C}"/>
              </a:ext>
            </a:extLst>
          </p:cNvPr>
          <p:cNvSpPr>
            <a:spLocks noGrp="1"/>
          </p:cNvSpPr>
          <p:nvPr>
            <p:ph type="title"/>
          </p:nvPr>
        </p:nvSpPr>
        <p:spPr>
          <a:xfrm>
            <a:off x="689008" y="406400"/>
            <a:ext cx="11315248" cy="785542"/>
          </a:xfrm>
        </p:spPr>
        <p:txBody>
          <a:bodyPr>
            <a:normAutofit/>
          </a:bodyPr>
          <a:lstStyle/>
          <a:p>
            <a:r>
              <a:rPr lang="en-US" sz="3600" dirty="0"/>
              <a:t>Expected return of a two-asset portfolio</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00206AC-23E6-FA48-B1C8-572C3C13D65F}"/>
                  </a:ext>
                </a:extLst>
              </p:cNvPr>
              <p:cNvSpPr>
                <a:spLocks noGrp="1"/>
              </p:cNvSpPr>
              <p:nvPr>
                <p:ph idx="1"/>
              </p:nvPr>
            </p:nvSpPr>
            <p:spPr>
              <a:xfrm>
                <a:off x="689008" y="1311910"/>
                <a:ext cx="9497367" cy="4417200"/>
              </a:xfrm>
            </p:spPr>
            <p:txBody>
              <a:bodyPr>
                <a:normAutofit fontScale="92500" lnSpcReduction="10000"/>
              </a:bodyPr>
              <a:lstStyle/>
              <a:p>
                <a:pPr marL="0" indent="0">
                  <a:lnSpc>
                    <a:spcPct val="150000"/>
                  </a:lnSpc>
                  <a:buNone/>
                </a:pPr>
                <a:r>
                  <a:rPr lang="en-US" sz="2000" dirty="0"/>
                  <a:t>The expected return of a two-asset portfolio is the weighted average of the expected returns of the two assets in that portfolio: </a:t>
                </a: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GB" sz="2000" b="0" i="1" smtClean="0">
                              <a:solidFill>
                                <a:srgbClr val="0070C0"/>
                              </a:solidFill>
                              <a:latin typeface="Cambria Math" panose="02040503050406030204" pitchFamily="18" charset="0"/>
                            </a:rPr>
                          </m:ctrlPr>
                        </m:sSubPr>
                        <m:e>
                          <m:r>
                            <a:rPr lang="en-GB" sz="2000" b="0" i="1" smtClean="0">
                              <a:solidFill>
                                <a:srgbClr val="0070C0"/>
                              </a:solidFill>
                              <a:latin typeface="Cambria Math" panose="02040503050406030204" pitchFamily="18" charset="0"/>
                            </a:rPr>
                            <m:t>𝐸</m:t>
                          </m:r>
                          <m:r>
                            <a:rPr lang="en-GB" sz="2000" b="0" i="1" smtClean="0">
                              <a:solidFill>
                                <a:srgbClr val="0070C0"/>
                              </a:solidFill>
                              <a:latin typeface="Cambria Math" panose="02040503050406030204" pitchFamily="18" charset="0"/>
                            </a:rPr>
                            <m:t>(</m:t>
                          </m:r>
                          <m:r>
                            <a:rPr lang="en-GB" sz="2000" b="0" i="1" smtClean="0">
                              <a:solidFill>
                                <a:srgbClr val="0070C0"/>
                              </a:solidFill>
                              <a:latin typeface="Cambria Math" panose="02040503050406030204" pitchFamily="18" charset="0"/>
                            </a:rPr>
                            <m:t>𝑅</m:t>
                          </m:r>
                        </m:e>
                        <m:sub>
                          <m:r>
                            <a:rPr lang="en-GB" sz="2000" b="0" i="1" smtClean="0">
                              <a:solidFill>
                                <a:srgbClr val="0070C0"/>
                              </a:solidFill>
                              <a:latin typeface="Cambria Math" panose="02040503050406030204" pitchFamily="18" charset="0"/>
                            </a:rPr>
                            <m:t>𝑝</m:t>
                          </m:r>
                        </m:sub>
                      </m:sSub>
                      <m:r>
                        <a:rPr lang="en-GB" sz="2000" b="0" i="1" smtClean="0">
                          <a:solidFill>
                            <a:srgbClr val="0070C0"/>
                          </a:solidFill>
                          <a:latin typeface="Cambria Math" panose="02040503050406030204" pitchFamily="18" charset="0"/>
                        </a:rPr>
                        <m:t>)= </m:t>
                      </m:r>
                      <m:sSub>
                        <m:sSubPr>
                          <m:ctrlPr>
                            <a:rPr lang="en-GB" sz="2000" b="0" i="1" smtClean="0">
                              <a:solidFill>
                                <a:srgbClr val="0070C0"/>
                              </a:solidFill>
                              <a:latin typeface="Cambria Math" panose="02040503050406030204" pitchFamily="18" charset="0"/>
                            </a:rPr>
                          </m:ctrlPr>
                        </m:sSubPr>
                        <m:e>
                          <m:r>
                            <a:rPr lang="en-GB" sz="2000" b="0" i="1" smtClean="0">
                              <a:solidFill>
                                <a:srgbClr val="0070C0"/>
                              </a:solidFill>
                              <a:latin typeface="Cambria Math" panose="02040503050406030204" pitchFamily="18" charset="0"/>
                            </a:rPr>
                            <m:t>𝑤</m:t>
                          </m:r>
                        </m:e>
                        <m:sub>
                          <m:r>
                            <a:rPr lang="en-GB" sz="2000" b="0" i="1" smtClean="0">
                              <a:solidFill>
                                <a:srgbClr val="0070C0"/>
                              </a:solidFill>
                              <a:latin typeface="Cambria Math" panose="02040503050406030204" pitchFamily="18" charset="0"/>
                            </a:rPr>
                            <m:t>1</m:t>
                          </m:r>
                        </m:sub>
                      </m:sSub>
                      <m:r>
                        <a:rPr lang="en-GB" sz="2000" b="0" i="1" smtClean="0">
                          <a:solidFill>
                            <a:srgbClr val="0070C0"/>
                          </a:solidFill>
                          <a:latin typeface="Cambria Math" panose="02040503050406030204" pitchFamily="18" charset="0"/>
                        </a:rPr>
                        <m:t>𝐸</m:t>
                      </m:r>
                      <m:d>
                        <m:dPr>
                          <m:ctrlPr>
                            <a:rPr lang="en-GB" sz="2000" b="0" i="1" smtClean="0">
                              <a:solidFill>
                                <a:srgbClr val="0070C0"/>
                              </a:solidFill>
                              <a:latin typeface="Cambria Math" panose="02040503050406030204" pitchFamily="18" charset="0"/>
                            </a:rPr>
                          </m:ctrlPr>
                        </m:dPr>
                        <m:e>
                          <m:sSub>
                            <m:sSubPr>
                              <m:ctrlPr>
                                <a:rPr lang="en-GB" sz="2000" b="0" i="1" smtClean="0">
                                  <a:solidFill>
                                    <a:srgbClr val="0070C0"/>
                                  </a:solidFill>
                                  <a:latin typeface="Cambria Math" panose="02040503050406030204" pitchFamily="18" charset="0"/>
                                </a:rPr>
                              </m:ctrlPr>
                            </m:sSubPr>
                            <m:e>
                              <m:r>
                                <a:rPr lang="en-GB" sz="2000" b="0" i="1" smtClean="0">
                                  <a:solidFill>
                                    <a:srgbClr val="0070C0"/>
                                  </a:solidFill>
                                  <a:latin typeface="Cambria Math" panose="02040503050406030204" pitchFamily="18" charset="0"/>
                                </a:rPr>
                                <m:t>𝑅</m:t>
                              </m:r>
                            </m:e>
                            <m:sub>
                              <m:r>
                                <a:rPr lang="en-GB" sz="2000" b="0" i="1" smtClean="0">
                                  <a:solidFill>
                                    <a:srgbClr val="0070C0"/>
                                  </a:solidFill>
                                  <a:latin typeface="Cambria Math" panose="02040503050406030204" pitchFamily="18" charset="0"/>
                                </a:rPr>
                                <m:t>1</m:t>
                              </m:r>
                            </m:sub>
                          </m:sSub>
                        </m:e>
                      </m:d>
                      <m:r>
                        <a:rPr lang="en-GB" sz="2000" b="0" i="1" smtClean="0">
                          <a:solidFill>
                            <a:srgbClr val="0070C0"/>
                          </a:solidFill>
                          <a:latin typeface="Cambria Math" panose="02040503050406030204" pitchFamily="18" charset="0"/>
                        </a:rPr>
                        <m:t>+</m:t>
                      </m:r>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𝑤</m:t>
                          </m:r>
                        </m:e>
                        <m:sub>
                          <m:r>
                            <a:rPr lang="en-GB" sz="2000" b="0" i="1" smtClean="0">
                              <a:solidFill>
                                <a:srgbClr val="0070C0"/>
                              </a:solidFill>
                              <a:latin typeface="Cambria Math" panose="02040503050406030204" pitchFamily="18" charset="0"/>
                            </a:rPr>
                            <m:t>2</m:t>
                          </m:r>
                        </m:sub>
                      </m:sSub>
                      <m:r>
                        <a:rPr lang="en-GB" sz="2000" i="1">
                          <a:solidFill>
                            <a:srgbClr val="0070C0"/>
                          </a:solidFill>
                          <a:latin typeface="Cambria Math" panose="02040503050406030204" pitchFamily="18" charset="0"/>
                        </a:rPr>
                        <m:t>𝐸</m:t>
                      </m:r>
                      <m:d>
                        <m:dPr>
                          <m:ctrlPr>
                            <a:rPr lang="en-GB" sz="2000" i="1">
                              <a:solidFill>
                                <a:srgbClr val="0070C0"/>
                              </a:solidFill>
                              <a:latin typeface="Cambria Math" panose="02040503050406030204" pitchFamily="18" charset="0"/>
                            </a:rPr>
                          </m:ctrlPr>
                        </m:dPr>
                        <m:e>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𝑅</m:t>
                              </m:r>
                            </m:e>
                            <m:sub>
                              <m:r>
                                <a:rPr lang="en-GB" sz="2000" b="0" i="1" smtClean="0">
                                  <a:solidFill>
                                    <a:srgbClr val="0070C0"/>
                                  </a:solidFill>
                                  <a:latin typeface="Cambria Math" panose="02040503050406030204" pitchFamily="18" charset="0"/>
                                </a:rPr>
                                <m:t>2</m:t>
                              </m:r>
                            </m:sub>
                          </m:sSub>
                        </m:e>
                      </m:d>
                    </m:oMath>
                  </m:oMathPara>
                </a14:m>
                <a:endParaRPr lang="en-GB" sz="2000" dirty="0"/>
              </a:p>
              <a:p>
                <a:pPr marL="0" indent="0">
                  <a:lnSpc>
                    <a:spcPct val="150000"/>
                  </a:lnSpc>
                  <a:buNone/>
                </a:pPr>
                <a:r>
                  <a:rPr lang="en-US" sz="2000" dirty="0"/>
                  <a:t>Since</a:t>
                </a:r>
              </a:p>
              <a:p>
                <a:pPr marL="0" indent="0">
                  <a:lnSpc>
                    <a:spcPct val="150000"/>
                  </a:lnSpc>
                  <a:buNone/>
                </a:pPr>
                <a:r>
                  <a:rPr lang="en-US" sz="2000" dirty="0"/>
                  <a:t> </a:t>
                </a:r>
                <a14:m>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𝑤</m:t>
                        </m:r>
                      </m:e>
                      <m:sub>
                        <m:r>
                          <a:rPr lang="en-GB" sz="2000" i="1">
                            <a:latin typeface="Cambria Math" panose="02040503050406030204" pitchFamily="18" charset="0"/>
                          </a:rPr>
                          <m:t>1</m:t>
                        </m:r>
                      </m:sub>
                    </m:sSub>
                  </m:oMath>
                </a14:m>
                <a:r>
                  <a:rPr lang="en-US" sz="2000" dirty="0"/>
                  <a:t>+</a:t>
                </a:r>
                <a:r>
                  <a:rPr lang="en-GB" sz="2000" dirty="0"/>
                  <a:t>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𝑤</m:t>
                        </m:r>
                      </m:e>
                      <m:sub>
                        <m:r>
                          <a:rPr lang="en-GB" sz="2000" b="0" i="1" smtClean="0">
                            <a:latin typeface="Cambria Math" panose="02040503050406030204" pitchFamily="18" charset="0"/>
                          </a:rPr>
                          <m:t>2</m:t>
                        </m:r>
                      </m:sub>
                    </m:sSub>
                    <m:r>
                      <a:rPr lang="en-GB" sz="2000" b="0" i="1" smtClean="0">
                        <a:latin typeface="Cambria Math" panose="02040503050406030204" pitchFamily="18" charset="0"/>
                      </a:rPr>
                      <m:t>=1</m:t>
                    </m:r>
                  </m:oMath>
                </a14:m>
                <a:endParaRPr lang="en-US" sz="2000" dirty="0"/>
              </a:p>
              <a:p>
                <a:pPr marL="0" indent="0">
                  <a:lnSpc>
                    <a:spcPct val="150000"/>
                  </a:lnSpc>
                  <a:buNone/>
                </a:pPr>
                <a:r>
                  <a:rPr lang="en-US" sz="2000" dirty="0"/>
                  <a:t>and</a:t>
                </a: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 </m:t>
                          </m:r>
                          <m:r>
                            <a:rPr lang="en-GB" sz="2000" i="1">
                              <a:latin typeface="Cambria Math" panose="02040503050406030204" pitchFamily="18" charset="0"/>
                            </a:rPr>
                            <m:t>𝑤</m:t>
                          </m:r>
                        </m:e>
                        <m:sub>
                          <m:r>
                            <a:rPr lang="en-GB" sz="2000" i="1">
                              <a:latin typeface="Cambria Math" panose="02040503050406030204" pitchFamily="18" charset="0"/>
                            </a:rPr>
                            <m:t>2</m:t>
                          </m:r>
                        </m:sub>
                      </m:sSub>
                      <m:r>
                        <a:rPr lang="en-GB" sz="2000" b="0" i="0" smtClean="0">
                          <a:latin typeface="Cambria Math" panose="02040503050406030204" pitchFamily="18" charset="0"/>
                        </a:rPr>
                        <m:t> =1−</m:t>
                      </m:r>
                      <m:sSub>
                        <m:sSubPr>
                          <m:ctrlPr>
                            <a:rPr lang="en-GB" sz="2000" i="1">
                              <a:latin typeface="Cambria Math" panose="02040503050406030204" pitchFamily="18" charset="0"/>
                            </a:rPr>
                          </m:ctrlPr>
                        </m:sSubPr>
                        <m:e>
                          <m:r>
                            <a:rPr lang="en-GB" sz="2000" i="1">
                              <a:latin typeface="Cambria Math" panose="02040503050406030204" pitchFamily="18" charset="0"/>
                            </a:rPr>
                            <m:t>𝑤</m:t>
                          </m:r>
                        </m:e>
                        <m:sub>
                          <m:r>
                            <a:rPr lang="en-GB" sz="2000" b="0" i="1" smtClean="0">
                              <a:latin typeface="Cambria Math" panose="02040503050406030204" pitchFamily="18" charset="0"/>
                            </a:rPr>
                            <m:t>1</m:t>
                          </m:r>
                        </m:sub>
                      </m:sSub>
                    </m:oMath>
                  </m:oMathPara>
                </a14:m>
                <a:endParaRPr lang="en-US" sz="2000" dirty="0"/>
              </a:p>
              <a:p>
                <a:pPr marL="0" indent="0">
                  <a:lnSpc>
                    <a:spcPct val="150000"/>
                  </a:lnSpc>
                  <a:buNone/>
                </a:pPr>
                <a:r>
                  <a:rPr lang="en-US" sz="2000" dirty="0"/>
                  <a:t>Then, expected return of a two-asset portfolio can be expressed as:</a:t>
                </a:r>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𝐸</m:t>
                          </m:r>
                          <m:r>
                            <a:rPr lang="en-GB" sz="2000" i="1">
                              <a:solidFill>
                                <a:srgbClr val="0070C0"/>
                              </a:solidFill>
                              <a:latin typeface="Cambria Math" panose="02040503050406030204" pitchFamily="18" charset="0"/>
                            </a:rPr>
                            <m:t>(</m:t>
                          </m:r>
                          <m:r>
                            <a:rPr lang="en-GB" sz="2000" i="1">
                              <a:solidFill>
                                <a:srgbClr val="0070C0"/>
                              </a:solidFill>
                              <a:latin typeface="Cambria Math" panose="02040503050406030204" pitchFamily="18" charset="0"/>
                            </a:rPr>
                            <m:t>𝑅</m:t>
                          </m:r>
                        </m:e>
                        <m:sub>
                          <m:r>
                            <a:rPr lang="en-GB" sz="2000" i="1">
                              <a:solidFill>
                                <a:srgbClr val="0070C0"/>
                              </a:solidFill>
                              <a:latin typeface="Cambria Math" panose="02040503050406030204" pitchFamily="18" charset="0"/>
                            </a:rPr>
                            <m:t>𝑝</m:t>
                          </m:r>
                        </m:sub>
                      </m:sSub>
                      <m:r>
                        <a:rPr lang="en-GB" sz="2000" i="1">
                          <a:solidFill>
                            <a:srgbClr val="0070C0"/>
                          </a:solidFill>
                          <a:latin typeface="Cambria Math" panose="02040503050406030204" pitchFamily="18" charset="0"/>
                        </a:rPr>
                        <m:t>)= </m:t>
                      </m:r>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𝑤</m:t>
                          </m:r>
                        </m:e>
                        <m:sub>
                          <m:r>
                            <a:rPr lang="en-GB" sz="2000" i="1">
                              <a:solidFill>
                                <a:srgbClr val="0070C0"/>
                              </a:solidFill>
                              <a:latin typeface="Cambria Math" panose="02040503050406030204" pitchFamily="18" charset="0"/>
                            </a:rPr>
                            <m:t>1</m:t>
                          </m:r>
                        </m:sub>
                      </m:sSub>
                      <m:r>
                        <a:rPr lang="en-GB" sz="2000" i="1">
                          <a:solidFill>
                            <a:srgbClr val="0070C0"/>
                          </a:solidFill>
                          <a:latin typeface="Cambria Math" panose="02040503050406030204" pitchFamily="18" charset="0"/>
                        </a:rPr>
                        <m:t>𝐸</m:t>
                      </m:r>
                      <m:d>
                        <m:dPr>
                          <m:ctrlPr>
                            <a:rPr lang="en-GB" sz="2000" i="1">
                              <a:solidFill>
                                <a:srgbClr val="0070C0"/>
                              </a:solidFill>
                              <a:latin typeface="Cambria Math" panose="02040503050406030204" pitchFamily="18" charset="0"/>
                            </a:rPr>
                          </m:ctrlPr>
                        </m:dPr>
                        <m:e>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𝑅</m:t>
                              </m:r>
                            </m:e>
                            <m:sub>
                              <m:r>
                                <a:rPr lang="en-GB" sz="2000" i="1">
                                  <a:solidFill>
                                    <a:srgbClr val="0070C0"/>
                                  </a:solidFill>
                                  <a:latin typeface="Cambria Math" panose="02040503050406030204" pitchFamily="18" charset="0"/>
                                </a:rPr>
                                <m:t>1</m:t>
                              </m:r>
                            </m:sub>
                          </m:sSub>
                        </m:e>
                      </m:d>
                      <m:r>
                        <a:rPr lang="en-GB" sz="2000" i="1">
                          <a:solidFill>
                            <a:srgbClr val="0070C0"/>
                          </a:solidFill>
                          <a:latin typeface="Cambria Math" panose="02040503050406030204" pitchFamily="18" charset="0"/>
                        </a:rPr>
                        <m:t>+</m:t>
                      </m:r>
                      <m:sSub>
                        <m:sSubPr>
                          <m:ctrlPr>
                            <a:rPr lang="en-GB" sz="2000" b="0" i="1" smtClean="0">
                              <a:solidFill>
                                <a:srgbClr val="0070C0"/>
                              </a:solidFill>
                              <a:latin typeface="Cambria Math" panose="02040503050406030204" pitchFamily="18" charset="0"/>
                            </a:rPr>
                          </m:ctrlPr>
                        </m:sSubPr>
                        <m:e>
                          <m:r>
                            <a:rPr lang="en-GB" sz="2000" b="0" i="1" smtClean="0">
                              <a:solidFill>
                                <a:srgbClr val="0070C0"/>
                              </a:solidFill>
                              <a:latin typeface="Cambria Math" panose="02040503050406030204" pitchFamily="18" charset="0"/>
                            </a:rPr>
                            <m:t>(1−</m:t>
                          </m:r>
                          <m:r>
                            <a:rPr lang="en-GB" sz="2000" i="1">
                              <a:solidFill>
                                <a:srgbClr val="0070C0"/>
                              </a:solidFill>
                              <a:latin typeface="Cambria Math" panose="02040503050406030204" pitchFamily="18" charset="0"/>
                            </a:rPr>
                            <m:t>𝑤</m:t>
                          </m:r>
                        </m:e>
                        <m:sub>
                          <m:r>
                            <a:rPr lang="en-GB" sz="2000" b="0" i="1" smtClean="0">
                              <a:solidFill>
                                <a:srgbClr val="0070C0"/>
                              </a:solidFill>
                              <a:latin typeface="Cambria Math" panose="02040503050406030204" pitchFamily="18" charset="0"/>
                            </a:rPr>
                            <m:t>1</m:t>
                          </m:r>
                        </m:sub>
                      </m:sSub>
                      <m:r>
                        <a:rPr lang="en-GB" sz="2000" b="0" i="1" smtClean="0">
                          <a:solidFill>
                            <a:srgbClr val="0070C0"/>
                          </a:solidFill>
                          <a:latin typeface="Cambria Math" panose="02040503050406030204" pitchFamily="18" charset="0"/>
                        </a:rPr>
                        <m:t>)</m:t>
                      </m:r>
                      <m:r>
                        <a:rPr lang="en-GB" sz="2000" i="1">
                          <a:solidFill>
                            <a:srgbClr val="0070C0"/>
                          </a:solidFill>
                          <a:latin typeface="Cambria Math" panose="02040503050406030204" pitchFamily="18" charset="0"/>
                        </a:rPr>
                        <m:t>𝐸</m:t>
                      </m:r>
                      <m:d>
                        <m:dPr>
                          <m:ctrlPr>
                            <a:rPr lang="en-GB" sz="2000" i="1">
                              <a:solidFill>
                                <a:srgbClr val="0070C0"/>
                              </a:solidFill>
                              <a:latin typeface="Cambria Math" panose="02040503050406030204" pitchFamily="18" charset="0"/>
                            </a:rPr>
                          </m:ctrlPr>
                        </m:dPr>
                        <m:e>
                          <m:sSub>
                            <m:sSubPr>
                              <m:ctrlPr>
                                <a:rPr lang="en-GB" sz="2000" i="1">
                                  <a:solidFill>
                                    <a:srgbClr val="0070C0"/>
                                  </a:solidFill>
                                  <a:latin typeface="Cambria Math" panose="02040503050406030204" pitchFamily="18" charset="0"/>
                                </a:rPr>
                              </m:ctrlPr>
                            </m:sSubPr>
                            <m:e>
                              <m:r>
                                <a:rPr lang="en-GB" sz="2000" i="1">
                                  <a:solidFill>
                                    <a:srgbClr val="0070C0"/>
                                  </a:solidFill>
                                  <a:latin typeface="Cambria Math" panose="02040503050406030204" pitchFamily="18" charset="0"/>
                                </a:rPr>
                                <m:t>𝑅</m:t>
                              </m:r>
                            </m:e>
                            <m:sub>
                              <m:r>
                                <a:rPr lang="en-GB" sz="2000" i="1">
                                  <a:solidFill>
                                    <a:srgbClr val="0070C0"/>
                                  </a:solidFill>
                                  <a:latin typeface="Cambria Math" panose="02040503050406030204" pitchFamily="18" charset="0"/>
                                </a:rPr>
                                <m:t>2</m:t>
                              </m:r>
                            </m:sub>
                          </m:sSub>
                        </m:e>
                      </m:d>
                    </m:oMath>
                  </m:oMathPara>
                </a14:m>
                <a:endParaRPr lang="en-US" sz="2000" dirty="0">
                  <a:solidFill>
                    <a:srgbClr val="0070C0"/>
                  </a:solidFill>
                </a:endParaRPr>
              </a:p>
              <a:p>
                <a:pPr marL="0" indent="0">
                  <a:lnSpc>
                    <a:spcPct val="150000"/>
                  </a:lnSpc>
                  <a:buNone/>
                </a:pPr>
                <a:endParaRPr lang="en-US" sz="2000" dirty="0">
                  <a:solidFill>
                    <a:srgbClr val="0070C0"/>
                  </a:solidFill>
                </a:endParaRPr>
              </a:p>
              <a:p>
                <a:pPr marL="0" indent="0">
                  <a:lnSpc>
                    <a:spcPct val="150000"/>
                  </a:lnSpc>
                  <a:buNone/>
                </a:pPr>
                <a:endParaRPr lang="en-US" sz="2000" dirty="0"/>
              </a:p>
            </p:txBody>
          </p:sp>
        </mc:Choice>
        <mc:Fallback xmlns="">
          <p:sp>
            <p:nvSpPr>
              <p:cNvPr id="4" name="Content Placeholder 3">
                <a:extLst>
                  <a:ext uri="{FF2B5EF4-FFF2-40B4-BE49-F238E27FC236}">
                    <a16:creationId xmlns:a16="http://schemas.microsoft.com/office/drawing/2014/main" id="{200206AC-23E6-FA48-B1C8-572C3C13D65F}"/>
                  </a:ext>
                </a:extLst>
              </p:cNvPr>
              <p:cNvSpPr>
                <a:spLocks noGrp="1" noRot="1" noChangeAspect="1" noMove="1" noResize="1" noEditPoints="1" noAdjustHandles="1" noChangeArrowheads="1" noChangeShapeType="1" noTextEdit="1"/>
              </p:cNvSpPr>
              <p:nvPr>
                <p:ph idx="1"/>
              </p:nvPr>
            </p:nvSpPr>
            <p:spPr>
              <a:xfrm>
                <a:off x="689008" y="1311910"/>
                <a:ext cx="9497367" cy="4417200"/>
              </a:xfrm>
              <a:blipFill>
                <a:blip r:embed="rId2"/>
                <a:stretch>
                  <a:fillRect l="-668"/>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4D359261-2762-C64D-9935-3708D088C18C}"/>
              </a:ext>
            </a:extLst>
          </p:cNvPr>
          <p:cNvSpPr>
            <a:spLocks noChangeArrowheads="1"/>
          </p:cNvSpPr>
          <p:nvPr/>
        </p:nvSpPr>
        <p:spPr bwMode="auto">
          <a:xfrm>
            <a:off x="3331274" y="-197708"/>
            <a:ext cx="3100481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557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A40A2B5-D38F-CD4F-8423-5C84A4678BB0}"/>
              </a:ext>
            </a:extLst>
          </p:cNvPr>
          <p:cNvSpPr>
            <a:spLocks noGrp="1" noChangeArrowheads="1"/>
          </p:cNvSpPr>
          <p:nvPr>
            <p:ph type="title"/>
          </p:nvPr>
        </p:nvSpPr>
        <p:spPr>
          <a:xfrm>
            <a:off x="194661" y="300308"/>
            <a:ext cx="11315248" cy="785542"/>
          </a:xfrm>
        </p:spPr>
        <p:txBody>
          <a:bodyPr/>
          <a:lstStyle/>
          <a:p>
            <a:r>
              <a:rPr lang="en-US" altLang="en-US" sz="3200" dirty="0">
                <a:sym typeface="Symbol" pitchFamily="2" charset="2"/>
              </a:rPr>
              <a:t>Calculating the Expected Return of a Portfolio, cont.</a:t>
            </a:r>
          </a:p>
        </p:txBody>
      </p:sp>
      <mc:AlternateContent xmlns:mc="http://schemas.openxmlformats.org/markup-compatibility/2006" xmlns:a14="http://schemas.microsoft.com/office/drawing/2010/main">
        <mc:Choice Requires="a14">
          <p:sp>
            <p:nvSpPr>
              <p:cNvPr id="24579" name="Rectangle 3">
                <a:extLst>
                  <a:ext uri="{FF2B5EF4-FFF2-40B4-BE49-F238E27FC236}">
                    <a16:creationId xmlns:a16="http://schemas.microsoft.com/office/drawing/2014/main" id="{F366A174-FAB3-854A-99ED-BA1891D90E4A}"/>
                  </a:ext>
                </a:extLst>
              </p:cNvPr>
              <p:cNvSpPr>
                <a:spLocks noGrp="1" noChangeArrowheads="1"/>
              </p:cNvSpPr>
              <p:nvPr>
                <p:ph type="body" sz="half" idx="4294967295"/>
              </p:nvPr>
            </p:nvSpPr>
            <p:spPr>
              <a:xfrm>
                <a:off x="411830" y="1408748"/>
                <a:ext cx="9392252" cy="4549140"/>
              </a:xfrm>
            </p:spPr>
            <p:txBody>
              <a:bodyPr>
                <a:normAutofit fontScale="25000" lnSpcReduction="20000"/>
              </a:bodyPr>
              <a:lstStyle/>
              <a:p>
                <a:pPr algn="just">
                  <a:lnSpc>
                    <a:spcPct val="150000"/>
                  </a:lnSpc>
                  <a:spcAft>
                    <a:spcPts val="1200"/>
                  </a:spcAft>
                </a:pPr>
                <a:r>
                  <a:rPr lang="en-US" altLang="en-US" sz="8000" dirty="0">
                    <a:cs typeface="Arial" panose="020B0604020202020204" pitchFamily="34" charset="0"/>
                    <a:sym typeface="Symbol" pitchFamily="2" charset="2"/>
                  </a:rPr>
                  <a:t>Example of calculation of expected return of a </a:t>
                </a:r>
                <a:r>
                  <a:rPr lang="en-US" altLang="en-US" sz="8000" b="1" dirty="0">
                    <a:cs typeface="Arial" panose="020B0604020202020204" pitchFamily="34" charset="0"/>
                    <a:sym typeface="Symbol" pitchFamily="2" charset="2"/>
                  </a:rPr>
                  <a:t>2-asset portfolio</a:t>
                </a:r>
                <a:r>
                  <a:rPr lang="en-US" altLang="en-US" sz="8000" dirty="0">
                    <a:cs typeface="Arial" panose="020B0604020202020204" pitchFamily="34" charset="0"/>
                    <a:sym typeface="Symbol" pitchFamily="2" charset="2"/>
                  </a:rPr>
                  <a:t>: </a:t>
                </a:r>
              </a:p>
              <a:p>
                <a:pPr marL="0" indent="0" algn="just">
                  <a:lnSpc>
                    <a:spcPct val="150000"/>
                  </a:lnSpc>
                  <a:spcAft>
                    <a:spcPts val="1200"/>
                  </a:spcAft>
                  <a:buNone/>
                </a:pPr>
                <a:r>
                  <a:rPr lang="en-US" altLang="en-US" sz="8000" dirty="0">
                    <a:cs typeface="Arial" panose="020B0604020202020204" pitchFamily="34" charset="0"/>
                    <a:sym typeface="Symbol" pitchFamily="2" charset="2"/>
                  </a:rPr>
                  <a:t>Consider an investor who has a total wealth of £10,000 and buys a portfolio of two securities. He invests £7000 in security A which will provide him with an expected return of 18%. The remaining £3000 is invested in security B to produce a 12% return. Therefore, the expected return of this portfolio is:</a:t>
                </a:r>
              </a:p>
              <a:p>
                <a:pPr lvl="1">
                  <a:lnSpc>
                    <a:spcPct val="150000"/>
                  </a:lnSpc>
                  <a:spcAft>
                    <a:spcPts val="1200"/>
                  </a:spcAft>
                  <a:buFontTx/>
                  <a:buNone/>
                </a:pPr>
                <a:r>
                  <a:rPr lang="en-US" altLang="en-US" sz="8000" dirty="0">
                    <a:cs typeface="Arial" panose="020B0604020202020204" pitchFamily="34" charset="0"/>
                    <a:sym typeface="Symbol" pitchFamily="2" charset="2"/>
                  </a:rPr>
                  <a:t>(£7000 / £10000) * 18%) + (£3000 / £10000 * 12%) = 16.2%</a:t>
                </a:r>
              </a:p>
              <a:p>
                <a:pPr>
                  <a:lnSpc>
                    <a:spcPct val="150000"/>
                  </a:lnSpc>
                  <a:spcAft>
                    <a:spcPts val="1200"/>
                  </a:spcAft>
                </a:pPr>
                <a:r>
                  <a:rPr lang="en-US" altLang="en-US" sz="8000" dirty="0">
                    <a:cs typeface="Arial" panose="020B0604020202020204" pitchFamily="34" charset="0"/>
                    <a:sym typeface="Symbol" pitchFamily="2" charset="2"/>
                  </a:rPr>
                  <a:t>Portfolio expected return when there is more than two assets (say, n), also represents the weighted average of returns of individual assets in the portfolio:</a:t>
                </a:r>
              </a:p>
              <a:p>
                <a:pPr marL="0" indent="0">
                  <a:lnSpc>
                    <a:spcPct val="150000"/>
                  </a:lnSpc>
                  <a:spcAft>
                    <a:spcPts val="1200"/>
                  </a:spcAft>
                  <a:buNone/>
                </a:pPr>
                <a14:m>
                  <m:oMath xmlns:m="http://schemas.openxmlformats.org/officeDocument/2006/math">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𝐸</m:t>
                        </m:r>
                        <m:r>
                          <a:rPr lang="en-GB" sz="8000" i="1">
                            <a:solidFill>
                              <a:srgbClr val="0070C0"/>
                            </a:solidFill>
                            <a:latin typeface="Cambria Math" panose="02040503050406030204" pitchFamily="18" charset="0"/>
                          </a:rPr>
                          <m:t>(</m:t>
                        </m:r>
                        <m:r>
                          <a:rPr lang="en-GB" sz="8000" i="1">
                            <a:solidFill>
                              <a:srgbClr val="0070C0"/>
                            </a:solidFill>
                            <a:latin typeface="Cambria Math" panose="02040503050406030204" pitchFamily="18" charset="0"/>
                          </a:rPr>
                          <m:t>𝑅</m:t>
                        </m:r>
                      </m:e>
                      <m:sub>
                        <m:r>
                          <a:rPr lang="en-GB" sz="8000" i="1">
                            <a:solidFill>
                              <a:srgbClr val="0070C0"/>
                            </a:solidFill>
                            <a:latin typeface="Cambria Math" panose="02040503050406030204" pitchFamily="18" charset="0"/>
                          </a:rPr>
                          <m:t>𝑝</m:t>
                        </m:r>
                      </m:sub>
                    </m:sSub>
                    <m:r>
                      <a:rPr lang="en-GB" sz="8000" i="1">
                        <a:solidFill>
                          <a:srgbClr val="0070C0"/>
                        </a:solidFill>
                        <a:latin typeface="Cambria Math" panose="02040503050406030204" pitchFamily="18" charset="0"/>
                      </a:rPr>
                      <m:t>)= </m:t>
                    </m:r>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𝑤</m:t>
                        </m:r>
                      </m:e>
                      <m:sub>
                        <m:r>
                          <a:rPr lang="en-GB" sz="8000" i="1">
                            <a:solidFill>
                              <a:srgbClr val="0070C0"/>
                            </a:solidFill>
                            <a:latin typeface="Cambria Math" panose="02040503050406030204" pitchFamily="18" charset="0"/>
                          </a:rPr>
                          <m:t>1</m:t>
                        </m:r>
                      </m:sub>
                    </m:sSub>
                    <m:r>
                      <a:rPr lang="en-GB" sz="8000" i="1">
                        <a:solidFill>
                          <a:srgbClr val="0070C0"/>
                        </a:solidFill>
                        <a:latin typeface="Cambria Math" panose="02040503050406030204" pitchFamily="18" charset="0"/>
                      </a:rPr>
                      <m:t>𝐸</m:t>
                    </m:r>
                    <m:d>
                      <m:dPr>
                        <m:ctrlPr>
                          <a:rPr lang="en-GB" sz="8000" i="1">
                            <a:solidFill>
                              <a:srgbClr val="0070C0"/>
                            </a:solidFill>
                            <a:latin typeface="Cambria Math" panose="02040503050406030204" pitchFamily="18" charset="0"/>
                          </a:rPr>
                        </m:ctrlPr>
                      </m:dPr>
                      <m:e>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𝑅</m:t>
                            </m:r>
                          </m:e>
                          <m:sub>
                            <m:r>
                              <a:rPr lang="en-GB" sz="8000" i="1">
                                <a:solidFill>
                                  <a:srgbClr val="0070C0"/>
                                </a:solidFill>
                                <a:latin typeface="Cambria Math" panose="02040503050406030204" pitchFamily="18" charset="0"/>
                              </a:rPr>
                              <m:t>1</m:t>
                            </m:r>
                          </m:sub>
                        </m:sSub>
                      </m:e>
                    </m:d>
                    <m:r>
                      <a:rPr lang="en-GB" sz="8000" i="1">
                        <a:solidFill>
                          <a:srgbClr val="0070C0"/>
                        </a:solidFill>
                        <a:latin typeface="Cambria Math" panose="02040503050406030204" pitchFamily="18" charset="0"/>
                      </a:rPr>
                      <m:t>+</m:t>
                    </m:r>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𝑤</m:t>
                        </m:r>
                      </m:e>
                      <m:sub>
                        <m:r>
                          <a:rPr lang="en-GB" sz="8000" i="1">
                            <a:solidFill>
                              <a:srgbClr val="0070C0"/>
                            </a:solidFill>
                            <a:latin typeface="Cambria Math" panose="02040503050406030204" pitchFamily="18" charset="0"/>
                          </a:rPr>
                          <m:t>2</m:t>
                        </m:r>
                      </m:sub>
                    </m:sSub>
                    <m:r>
                      <a:rPr lang="en-GB" sz="8000" i="1">
                        <a:solidFill>
                          <a:srgbClr val="0070C0"/>
                        </a:solidFill>
                        <a:latin typeface="Cambria Math" panose="02040503050406030204" pitchFamily="18" charset="0"/>
                      </a:rPr>
                      <m:t>𝐸</m:t>
                    </m:r>
                    <m:d>
                      <m:dPr>
                        <m:ctrlPr>
                          <a:rPr lang="en-GB" sz="8000" i="1">
                            <a:solidFill>
                              <a:srgbClr val="0070C0"/>
                            </a:solidFill>
                            <a:latin typeface="Cambria Math" panose="02040503050406030204" pitchFamily="18" charset="0"/>
                          </a:rPr>
                        </m:ctrlPr>
                      </m:dPr>
                      <m:e>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𝑅</m:t>
                            </m:r>
                          </m:e>
                          <m:sub>
                            <m:r>
                              <a:rPr lang="en-GB" sz="8000" i="1">
                                <a:solidFill>
                                  <a:srgbClr val="0070C0"/>
                                </a:solidFill>
                                <a:latin typeface="Cambria Math" panose="02040503050406030204" pitchFamily="18" charset="0"/>
                              </a:rPr>
                              <m:t>2</m:t>
                            </m:r>
                          </m:sub>
                        </m:sSub>
                      </m:e>
                    </m:d>
                  </m:oMath>
                </a14:m>
                <a:r>
                  <a:rPr lang="en-GB" sz="8000" dirty="0">
                    <a:solidFill>
                      <a:srgbClr val="0070C0"/>
                    </a:solidFill>
                  </a:rPr>
                  <a:t> </a:t>
                </a:r>
                <a14:m>
                  <m:oMath xmlns:m="http://schemas.openxmlformats.org/officeDocument/2006/math">
                    <m:r>
                      <a:rPr lang="en-GB" sz="8000" i="1">
                        <a:solidFill>
                          <a:srgbClr val="0070C0"/>
                        </a:solidFill>
                        <a:latin typeface="Cambria Math" panose="02040503050406030204" pitchFamily="18" charset="0"/>
                      </a:rPr>
                      <m:t>+</m:t>
                    </m:r>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𝑤</m:t>
                        </m:r>
                      </m:e>
                      <m:sub>
                        <m:r>
                          <a:rPr lang="en-GB" sz="8000" b="0" i="1" smtClean="0">
                            <a:solidFill>
                              <a:srgbClr val="0070C0"/>
                            </a:solidFill>
                            <a:latin typeface="Cambria Math" panose="02040503050406030204" pitchFamily="18" charset="0"/>
                          </a:rPr>
                          <m:t>3</m:t>
                        </m:r>
                      </m:sub>
                    </m:sSub>
                    <m:r>
                      <a:rPr lang="en-GB" sz="8000" i="1">
                        <a:solidFill>
                          <a:srgbClr val="0070C0"/>
                        </a:solidFill>
                        <a:latin typeface="Cambria Math" panose="02040503050406030204" pitchFamily="18" charset="0"/>
                      </a:rPr>
                      <m:t>𝐸</m:t>
                    </m:r>
                    <m:d>
                      <m:dPr>
                        <m:ctrlPr>
                          <a:rPr lang="en-GB" sz="8000" i="1">
                            <a:solidFill>
                              <a:srgbClr val="0070C0"/>
                            </a:solidFill>
                            <a:latin typeface="Cambria Math" panose="02040503050406030204" pitchFamily="18" charset="0"/>
                          </a:rPr>
                        </m:ctrlPr>
                      </m:dPr>
                      <m:e>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𝑅</m:t>
                            </m:r>
                          </m:e>
                          <m:sub>
                            <m:r>
                              <a:rPr lang="en-GB" sz="8000" b="0" i="1" smtClean="0">
                                <a:solidFill>
                                  <a:srgbClr val="0070C0"/>
                                </a:solidFill>
                                <a:latin typeface="Cambria Math" panose="02040503050406030204" pitchFamily="18" charset="0"/>
                              </a:rPr>
                              <m:t>3</m:t>
                            </m:r>
                          </m:sub>
                        </m:sSub>
                      </m:e>
                    </m:d>
                    <m:r>
                      <a:rPr lang="en-GB" sz="8000" i="1">
                        <a:solidFill>
                          <a:srgbClr val="0070C0"/>
                        </a:solidFill>
                        <a:latin typeface="Cambria Math" panose="02040503050406030204" pitchFamily="18" charset="0"/>
                      </a:rPr>
                      <m:t>+</m:t>
                    </m:r>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𝑤</m:t>
                        </m:r>
                      </m:e>
                      <m:sub>
                        <m:r>
                          <a:rPr lang="en-GB" sz="8000" b="0" i="1" smtClean="0">
                            <a:solidFill>
                              <a:srgbClr val="0070C0"/>
                            </a:solidFill>
                            <a:latin typeface="Cambria Math" panose="02040503050406030204" pitchFamily="18" charset="0"/>
                          </a:rPr>
                          <m:t>4</m:t>
                        </m:r>
                      </m:sub>
                    </m:sSub>
                    <m:r>
                      <a:rPr lang="en-GB" sz="8000" i="1">
                        <a:solidFill>
                          <a:srgbClr val="0070C0"/>
                        </a:solidFill>
                        <a:latin typeface="Cambria Math" panose="02040503050406030204" pitchFamily="18" charset="0"/>
                      </a:rPr>
                      <m:t>𝐸</m:t>
                    </m:r>
                    <m:d>
                      <m:dPr>
                        <m:ctrlPr>
                          <a:rPr lang="en-GB" sz="8000" i="1">
                            <a:solidFill>
                              <a:srgbClr val="0070C0"/>
                            </a:solidFill>
                            <a:latin typeface="Cambria Math" panose="02040503050406030204" pitchFamily="18" charset="0"/>
                          </a:rPr>
                        </m:ctrlPr>
                      </m:dPr>
                      <m:e>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𝑅</m:t>
                            </m:r>
                          </m:e>
                          <m:sub>
                            <m:r>
                              <a:rPr lang="en-GB" sz="8000" b="0" i="1" smtClean="0">
                                <a:solidFill>
                                  <a:srgbClr val="0070C0"/>
                                </a:solidFill>
                                <a:latin typeface="Cambria Math" panose="02040503050406030204" pitchFamily="18" charset="0"/>
                              </a:rPr>
                              <m:t>4</m:t>
                            </m:r>
                          </m:sub>
                        </m:sSub>
                      </m:e>
                    </m:d>
                    <m:r>
                      <a:rPr lang="en-GB" sz="8000" b="0" i="1" smtClean="0">
                        <a:solidFill>
                          <a:srgbClr val="0070C0"/>
                        </a:solidFill>
                        <a:latin typeface="Cambria Math" panose="02040503050406030204" pitchFamily="18" charset="0"/>
                      </a:rPr>
                      <m:t>+…+</m:t>
                    </m:r>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𝑤</m:t>
                        </m:r>
                      </m:e>
                      <m:sub>
                        <m:r>
                          <a:rPr lang="en-GB" sz="8000" b="0" i="1" smtClean="0">
                            <a:solidFill>
                              <a:srgbClr val="0070C0"/>
                            </a:solidFill>
                            <a:latin typeface="Cambria Math" panose="02040503050406030204" pitchFamily="18" charset="0"/>
                          </a:rPr>
                          <m:t>𝑛</m:t>
                        </m:r>
                      </m:sub>
                    </m:sSub>
                    <m:r>
                      <a:rPr lang="en-GB" sz="8000" i="1">
                        <a:solidFill>
                          <a:srgbClr val="0070C0"/>
                        </a:solidFill>
                        <a:latin typeface="Cambria Math" panose="02040503050406030204" pitchFamily="18" charset="0"/>
                      </a:rPr>
                      <m:t>𝐸</m:t>
                    </m:r>
                    <m:d>
                      <m:dPr>
                        <m:ctrlPr>
                          <a:rPr lang="en-GB" sz="8000" i="1">
                            <a:solidFill>
                              <a:srgbClr val="0070C0"/>
                            </a:solidFill>
                            <a:latin typeface="Cambria Math" panose="02040503050406030204" pitchFamily="18" charset="0"/>
                          </a:rPr>
                        </m:ctrlPr>
                      </m:dPr>
                      <m:e>
                        <m:sSub>
                          <m:sSubPr>
                            <m:ctrlPr>
                              <a:rPr lang="en-GB" sz="8000" i="1">
                                <a:solidFill>
                                  <a:srgbClr val="0070C0"/>
                                </a:solidFill>
                                <a:latin typeface="Cambria Math" panose="02040503050406030204" pitchFamily="18" charset="0"/>
                              </a:rPr>
                            </m:ctrlPr>
                          </m:sSubPr>
                          <m:e>
                            <m:r>
                              <a:rPr lang="en-GB" sz="8000" i="1">
                                <a:solidFill>
                                  <a:srgbClr val="0070C0"/>
                                </a:solidFill>
                                <a:latin typeface="Cambria Math" panose="02040503050406030204" pitchFamily="18" charset="0"/>
                              </a:rPr>
                              <m:t>𝑅</m:t>
                            </m:r>
                          </m:e>
                          <m:sub>
                            <m:r>
                              <a:rPr lang="en-GB" sz="8000" b="0" i="1" smtClean="0">
                                <a:solidFill>
                                  <a:srgbClr val="0070C0"/>
                                </a:solidFill>
                                <a:latin typeface="Cambria Math" panose="02040503050406030204" pitchFamily="18" charset="0"/>
                              </a:rPr>
                              <m:t>𝑛</m:t>
                            </m:r>
                          </m:sub>
                        </m:sSub>
                      </m:e>
                    </m:d>
                  </m:oMath>
                </a14:m>
                <a:endParaRPr lang="en-US" altLang="en-US" sz="8000" dirty="0">
                  <a:cs typeface="Arial" panose="020B0604020202020204" pitchFamily="34" charset="0"/>
                  <a:sym typeface="Symbol" pitchFamily="2" charset="2"/>
                </a:endParaRPr>
              </a:p>
              <a:p>
                <a:pPr marL="0" indent="0">
                  <a:lnSpc>
                    <a:spcPct val="150000"/>
                  </a:lnSpc>
                  <a:spcAft>
                    <a:spcPts val="600"/>
                  </a:spcAft>
                  <a:buNone/>
                </a:pPr>
                <a:endParaRPr lang="en-US" altLang="en-US" sz="8000" dirty="0">
                  <a:cs typeface="Arial" panose="020B0604020202020204" pitchFamily="34" charset="0"/>
                  <a:sym typeface="Symbol" pitchFamily="2" charset="2"/>
                </a:endParaRPr>
              </a:p>
              <a:p>
                <a:pPr>
                  <a:lnSpc>
                    <a:spcPct val="150000"/>
                  </a:lnSpc>
                  <a:spcAft>
                    <a:spcPts val="600"/>
                  </a:spcAft>
                </a:pPr>
                <a:endParaRPr lang="en-US" altLang="en-US" sz="2000" dirty="0">
                  <a:latin typeface="+mj-lt"/>
                  <a:cs typeface="Arial" panose="020B0604020202020204" pitchFamily="34" charset="0"/>
                  <a:sym typeface="Symbol" pitchFamily="2" charset="2"/>
                </a:endParaRPr>
              </a:p>
              <a:p>
                <a:pPr>
                  <a:lnSpc>
                    <a:spcPct val="150000"/>
                  </a:lnSpc>
                  <a:spcAft>
                    <a:spcPts val="600"/>
                  </a:spcAft>
                </a:pPr>
                <a:endParaRPr lang="en-US" altLang="en-US" sz="2000" dirty="0">
                  <a:latin typeface="+mj-lt"/>
                  <a:cs typeface="Arial" panose="020B0604020202020204" pitchFamily="34" charset="0"/>
                  <a:sym typeface="Symbol" pitchFamily="2" charset="2"/>
                </a:endParaRPr>
              </a:p>
              <a:p>
                <a:pPr lvl="1">
                  <a:lnSpc>
                    <a:spcPct val="90000"/>
                  </a:lnSpc>
                  <a:buFontTx/>
                  <a:buNone/>
                </a:pPr>
                <a:endParaRPr lang="en-US" altLang="en-US" sz="2000" dirty="0">
                  <a:sym typeface="Symbol" pitchFamily="2" charset="2"/>
                </a:endParaRPr>
              </a:p>
            </p:txBody>
          </p:sp>
        </mc:Choice>
        <mc:Fallback xmlns="">
          <p:sp>
            <p:nvSpPr>
              <p:cNvPr id="24579" name="Rectangle 3">
                <a:extLst>
                  <a:ext uri="{FF2B5EF4-FFF2-40B4-BE49-F238E27FC236}">
                    <a16:creationId xmlns:a16="http://schemas.microsoft.com/office/drawing/2014/main" id="{F366A174-FAB3-854A-99ED-BA1891D90E4A}"/>
                  </a:ext>
                </a:extLst>
              </p:cNvPr>
              <p:cNvSpPr>
                <a:spLocks noGrp="1" noRot="1" noChangeAspect="1" noMove="1" noResize="1" noEditPoints="1" noAdjustHandles="1" noChangeArrowheads="1" noChangeShapeType="1" noTextEdit="1"/>
              </p:cNvSpPr>
              <p:nvPr>
                <p:ph type="body" sz="half" idx="4294967295"/>
              </p:nvPr>
            </p:nvSpPr>
            <p:spPr>
              <a:xfrm>
                <a:off x="411830" y="1408748"/>
                <a:ext cx="9392252" cy="4549140"/>
              </a:xfrm>
              <a:blipFill>
                <a:blip r:embed="rId2"/>
                <a:stretch>
                  <a:fillRect l="-676" r="-811" b="-5292"/>
                </a:stretch>
              </a:blipFill>
            </p:spPr>
            <p:txBody>
              <a:bodyPr/>
              <a:lstStyle/>
              <a:p>
                <a:r>
                  <a:rPr lang="en-US">
                    <a:noFill/>
                  </a:rPr>
                  <a:t> </a:t>
                </a:r>
              </a:p>
            </p:txBody>
          </p:sp>
        </mc:Fallback>
      </mc:AlternateContent>
    </p:spTree>
    <p:extLst>
      <p:ext uri="{BB962C8B-B14F-4D97-AF65-F5344CB8AC3E}">
        <p14:creationId xmlns:p14="http://schemas.microsoft.com/office/powerpoint/2010/main" val="369618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28D1722-7D84-7E4E-9C31-1ACD75DDA56F}"/>
              </a:ext>
            </a:extLst>
          </p:cNvPr>
          <p:cNvSpPr>
            <a:spLocks noGrp="1" noChangeArrowheads="1"/>
          </p:cNvSpPr>
          <p:nvPr>
            <p:ph type="title"/>
          </p:nvPr>
        </p:nvSpPr>
        <p:spPr>
          <a:xfrm>
            <a:off x="689008" y="352812"/>
            <a:ext cx="11315248" cy="785542"/>
          </a:xfrm>
        </p:spPr>
        <p:txBody>
          <a:bodyPr/>
          <a:lstStyle/>
          <a:p>
            <a:r>
              <a:rPr lang="en-GB" altLang="en-US" sz="3200" dirty="0"/>
              <a:t>Portfolio Return With Short-selling</a:t>
            </a:r>
          </a:p>
        </p:txBody>
      </p:sp>
      <p:sp>
        <p:nvSpPr>
          <p:cNvPr id="25603" name="Rectangle 3">
            <a:extLst>
              <a:ext uri="{FF2B5EF4-FFF2-40B4-BE49-F238E27FC236}">
                <a16:creationId xmlns:a16="http://schemas.microsoft.com/office/drawing/2014/main" id="{75B1799B-6AF9-FB49-9D69-7A9A44933B74}"/>
              </a:ext>
            </a:extLst>
          </p:cNvPr>
          <p:cNvSpPr>
            <a:spLocks noGrp="1" noChangeArrowheads="1"/>
          </p:cNvSpPr>
          <p:nvPr>
            <p:ph idx="1"/>
          </p:nvPr>
        </p:nvSpPr>
        <p:spPr>
          <a:xfrm>
            <a:off x="689008" y="1122556"/>
            <a:ext cx="9497367" cy="5189344"/>
          </a:xfrm>
        </p:spPr>
        <p:txBody>
          <a:bodyPr>
            <a:normAutofit fontScale="77500" lnSpcReduction="20000"/>
          </a:bodyPr>
          <a:lstStyle/>
          <a:p>
            <a:pPr>
              <a:lnSpc>
                <a:spcPct val="150000"/>
              </a:lnSpc>
              <a:spcAft>
                <a:spcPts val="600"/>
              </a:spcAft>
            </a:pPr>
            <a:r>
              <a:rPr lang="en-US" altLang="en-US" sz="2300" dirty="0">
                <a:cs typeface="Arial" panose="020B0604020202020204" pitchFamily="34" charset="0"/>
                <a:sym typeface="Symbol" pitchFamily="2" charset="2"/>
              </a:rPr>
              <a:t>In the previous example, the two weights are positive because we assume a long position in both assets</a:t>
            </a:r>
          </a:p>
          <a:p>
            <a:pPr>
              <a:lnSpc>
                <a:spcPct val="150000"/>
              </a:lnSpc>
              <a:spcAft>
                <a:spcPts val="600"/>
              </a:spcAft>
            </a:pPr>
            <a:r>
              <a:rPr lang="en-US" altLang="en-US" sz="2300" dirty="0">
                <a:cs typeface="Arial" panose="020B0604020202020204" pitchFamily="34" charset="0"/>
                <a:sym typeface="Symbol" pitchFamily="2" charset="2"/>
              </a:rPr>
              <a:t>Negative weights would represent the opposite strategy - short selling or short position</a:t>
            </a:r>
          </a:p>
          <a:p>
            <a:pPr lvl="1">
              <a:lnSpc>
                <a:spcPct val="150000"/>
              </a:lnSpc>
              <a:spcAft>
                <a:spcPts val="600"/>
              </a:spcAft>
            </a:pPr>
            <a:r>
              <a:rPr lang="en-US" altLang="en-US" sz="2300" dirty="0">
                <a:cs typeface="Arial" panose="020B0604020202020204" pitchFamily="34" charset="0"/>
                <a:sym typeface="Symbol" pitchFamily="2" charset="2"/>
              </a:rPr>
              <a:t>investor borrows shares from a broker, sells them at the current market price and buys back the shares later (hopefully) at the lower price</a:t>
            </a:r>
          </a:p>
          <a:p>
            <a:pPr>
              <a:lnSpc>
                <a:spcPct val="150000"/>
              </a:lnSpc>
              <a:spcAft>
                <a:spcPts val="600"/>
              </a:spcAft>
            </a:pPr>
            <a:r>
              <a:rPr lang="en-US" altLang="en-US" sz="2300" dirty="0">
                <a:cs typeface="Arial" panose="020B0604020202020204" pitchFamily="34" charset="0"/>
                <a:sym typeface="Symbol" pitchFamily="2" charset="2"/>
              </a:rPr>
              <a:t>Short selling incurs unlimited losses</a:t>
            </a:r>
          </a:p>
          <a:p>
            <a:pPr>
              <a:lnSpc>
                <a:spcPct val="150000"/>
              </a:lnSpc>
              <a:spcAft>
                <a:spcPts val="600"/>
              </a:spcAft>
            </a:pPr>
            <a:r>
              <a:rPr lang="en-GB" altLang="en-US" sz="2300" dirty="0">
                <a:cs typeface="Arial" panose="020B0604020202020204" pitchFamily="34" charset="0"/>
              </a:rPr>
              <a:t>Note: the sum of weights is still equal to 1!</a:t>
            </a:r>
          </a:p>
          <a:p>
            <a:pPr>
              <a:lnSpc>
                <a:spcPct val="150000"/>
              </a:lnSpc>
              <a:spcAft>
                <a:spcPts val="600"/>
              </a:spcAft>
            </a:pPr>
            <a:r>
              <a:rPr lang="en-GB" altLang="en-US" sz="2300" dirty="0">
                <a:cs typeface="Arial" panose="020B0604020202020204" pitchFamily="34" charset="0"/>
              </a:rPr>
              <a:t>If in the example from the previous slide you short £2000 worth of security B and invest proceeds in security A, the return of such a two-asset portfolio is: </a:t>
            </a:r>
          </a:p>
          <a:p>
            <a:pPr marL="0" indent="0">
              <a:buNone/>
            </a:pPr>
            <a:r>
              <a:rPr lang="en-US" altLang="en-US" sz="2400" dirty="0">
                <a:cs typeface="Arial" panose="020B0604020202020204" pitchFamily="34" charset="0"/>
                <a:sym typeface="Symbol" pitchFamily="2" charset="2"/>
              </a:rPr>
              <a:t>	</a:t>
            </a:r>
          </a:p>
          <a:p>
            <a:pPr marL="0" indent="0">
              <a:buNone/>
            </a:pPr>
            <a:r>
              <a:rPr lang="en-US" altLang="en-US" sz="2400" dirty="0">
                <a:cs typeface="Arial" panose="020B0604020202020204" pitchFamily="34" charset="0"/>
                <a:sym typeface="Symbol" pitchFamily="2" charset="2"/>
              </a:rPr>
              <a:t>           (£12000 / £10000) * 18%) + (- £2000 / £10000 * 12%) = 19.2%</a:t>
            </a:r>
          </a:p>
          <a:p>
            <a:pPr marL="0" indent="0">
              <a:lnSpc>
                <a:spcPct val="90000"/>
              </a:lnSpc>
              <a:buNone/>
            </a:pPr>
            <a:endParaRPr lang="en-GB" altLang="en-US" sz="2400" dirty="0">
              <a:latin typeface="Arial" panose="020B0604020202020204" pitchFamily="34" charset="0"/>
              <a:cs typeface="Arial" panose="020B0604020202020204" pitchFamily="34" charset="0"/>
            </a:endParaRPr>
          </a:p>
          <a:p>
            <a:pPr marL="0" indent="0">
              <a:lnSpc>
                <a:spcPct val="90000"/>
              </a:lnSpc>
              <a:buNone/>
            </a:pPr>
            <a:endParaRPr lang="en-GB" altLang="en-US"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14" name="Ink 13">
                <a:extLst>
                  <a:ext uri="{FF2B5EF4-FFF2-40B4-BE49-F238E27FC236}">
                    <a16:creationId xmlns:a16="http://schemas.microsoft.com/office/drawing/2014/main" id="{F2542EA9-1618-8C4A-BDA3-6A6A62CE726D}"/>
                  </a:ext>
                </a:extLst>
              </p14:cNvPr>
              <p14:cNvContentPartPr/>
              <p14:nvPr/>
            </p14:nvContentPartPr>
            <p14:xfrm>
              <a:off x="5287838" y="3110602"/>
              <a:ext cx="360" cy="360"/>
            </p14:xfrm>
          </p:contentPart>
        </mc:Choice>
        <mc:Fallback xmlns="">
          <p:pic>
            <p:nvPicPr>
              <p:cNvPr id="14" name="Ink 13">
                <a:extLst>
                  <a:ext uri="{FF2B5EF4-FFF2-40B4-BE49-F238E27FC236}">
                    <a16:creationId xmlns:a16="http://schemas.microsoft.com/office/drawing/2014/main" id="{F2542EA9-1618-8C4A-BDA3-6A6A62CE726D}"/>
                  </a:ext>
                </a:extLst>
              </p:cNvPr>
              <p:cNvPicPr/>
              <p:nvPr/>
            </p:nvPicPr>
            <p:blipFill>
              <a:blip r:embed="rId4"/>
              <a:stretch>
                <a:fillRect/>
              </a:stretch>
            </p:blipFill>
            <p:spPr>
              <a:xfrm>
                <a:off x="5278838" y="3101602"/>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15" name="Ink 14">
                <a:extLst>
                  <a:ext uri="{FF2B5EF4-FFF2-40B4-BE49-F238E27FC236}">
                    <a16:creationId xmlns:a16="http://schemas.microsoft.com/office/drawing/2014/main" id="{417E25EE-A135-8A41-96B9-4942CC18BF95}"/>
                  </a:ext>
                </a:extLst>
              </p14:cNvPr>
              <p14:cNvContentPartPr/>
              <p14:nvPr/>
            </p14:nvContentPartPr>
            <p14:xfrm>
              <a:off x="2513318" y="2348482"/>
              <a:ext cx="360" cy="360"/>
            </p14:xfrm>
          </p:contentPart>
        </mc:Choice>
        <mc:Fallback xmlns="">
          <p:pic>
            <p:nvPicPr>
              <p:cNvPr id="15" name="Ink 14">
                <a:extLst>
                  <a:ext uri="{FF2B5EF4-FFF2-40B4-BE49-F238E27FC236}">
                    <a16:creationId xmlns:a16="http://schemas.microsoft.com/office/drawing/2014/main" id="{417E25EE-A135-8A41-96B9-4942CC18BF95}"/>
                  </a:ext>
                </a:extLst>
              </p:cNvPr>
              <p:cNvPicPr/>
              <p:nvPr/>
            </p:nvPicPr>
            <p:blipFill>
              <a:blip r:embed="rId6"/>
              <a:stretch>
                <a:fillRect/>
              </a:stretch>
            </p:blipFill>
            <p:spPr>
              <a:xfrm>
                <a:off x="2504318" y="2339482"/>
                <a:ext cx="18000" cy="18000"/>
              </a:xfrm>
              <a:prstGeom prst="rect">
                <a:avLst/>
              </a:prstGeom>
            </p:spPr>
          </p:pic>
        </mc:Fallback>
      </mc:AlternateContent>
      <p:sp>
        <p:nvSpPr>
          <p:cNvPr id="20" name="Doughnut 19">
            <a:extLst>
              <a:ext uri="{FF2B5EF4-FFF2-40B4-BE49-F238E27FC236}">
                <a16:creationId xmlns:a16="http://schemas.microsoft.com/office/drawing/2014/main" id="{49ED4106-5154-874D-82F6-A46E4A43F797}"/>
              </a:ext>
            </a:extLst>
          </p:cNvPr>
          <p:cNvSpPr>
            <a:spLocks/>
          </p:cNvSpPr>
          <p:nvPr/>
        </p:nvSpPr>
        <p:spPr>
          <a:xfrm>
            <a:off x="4613280" y="5542156"/>
            <a:ext cx="144966" cy="769744"/>
          </a:xfrm>
          <a:prstGeom prst="donut">
            <a:avLst>
              <a:gd name="adj" fmla="val 0"/>
            </a:avLst>
          </a:prstGeom>
          <a:ln w="19050">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250282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1A82E-16C9-2B42-8790-BD6A2AAEACB6}"/>
              </a:ext>
            </a:extLst>
          </p:cNvPr>
          <p:cNvSpPr>
            <a:spLocks noGrp="1"/>
          </p:cNvSpPr>
          <p:nvPr>
            <p:ph type="title"/>
          </p:nvPr>
        </p:nvSpPr>
        <p:spPr>
          <a:xfrm>
            <a:off x="772674" y="358001"/>
            <a:ext cx="11315248" cy="785542"/>
          </a:xfrm>
        </p:spPr>
        <p:txBody>
          <a:bodyPr>
            <a:normAutofit/>
          </a:bodyPr>
          <a:lstStyle/>
          <a:p>
            <a:r>
              <a:rPr lang="en-US" sz="3200" dirty="0"/>
              <a:t>Variance and standard deviation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1DDD66-F53E-5646-B4B1-F25CAC273531}"/>
                  </a:ext>
                </a:extLst>
              </p:cNvPr>
              <p:cNvSpPr>
                <a:spLocks noGrp="1"/>
              </p:cNvSpPr>
              <p:nvPr>
                <p:ph idx="1"/>
              </p:nvPr>
            </p:nvSpPr>
            <p:spPr>
              <a:xfrm>
                <a:off x="838200" y="1501543"/>
                <a:ext cx="10515600" cy="4351338"/>
              </a:xfrm>
            </p:spPr>
            <p:txBody>
              <a:bodyPr>
                <a:normAutofit fontScale="92500" lnSpcReduction="10000"/>
              </a:bodyPr>
              <a:lstStyle/>
              <a:p>
                <a:pPr>
                  <a:lnSpc>
                    <a:spcPct val="150000"/>
                  </a:lnSpc>
                </a:pPr>
                <a:r>
                  <a:rPr lang="en-US" sz="2000" dirty="0"/>
                  <a:t>Variance (</a:t>
                </a:r>
                <a14:m>
                  <m:oMath xmlns:m="http://schemas.openxmlformats.org/officeDocument/2006/math">
                    <m:sSubSup>
                      <m:sSubSupPr>
                        <m:ctrlPr>
                          <a:rPr lang="en-US" sz="2000" i="1" smtClean="0">
                            <a:latin typeface="Cambria Math" panose="02040503050406030204" pitchFamily="18" charset="0"/>
                            <a:ea typeface="Cambria Math" panose="02040503050406030204" pitchFamily="18" charset="0"/>
                          </a:rPr>
                        </m:ctrlPr>
                      </m:sSubSup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2</m:t>
                        </m:r>
                      </m:sup>
                    </m:sSubSup>
                  </m:oMath>
                </a14:m>
                <a:r>
                  <a:rPr lang="en-US" sz="2000" dirty="0"/>
                  <a:t>) of an asset is the expected (average) value of the squared deviations of actual return of an asset from the mean return of that asset:</a:t>
                </a:r>
              </a:p>
              <a:p>
                <a:pPr>
                  <a:lnSpc>
                    <a:spcPct val="150000"/>
                  </a:lnSpc>
                </a:pPr>
                <a:endParaRPr lang="en-US" sz="2000" dirty="0"/>
              </a:p>
              <a:p>
                <a:pPr>
                  <a:lnSpc>
                    <a:spcPct val="150000"/>
                  </a:lnSpc>
                </a:pPr>
                <a:endParaRPr lang="en-US" sz="2000" dirty="0"/>
              </a:p>
              <a:p>
                <a:pPr>
                  <a:lnSpc>
                    <a:spcPct val="150000"/>
                  </a:lnSpc>
                </a:pPr>
                <a:r>
                  <a:rPr lang="en-US" sz="2000" dirty="0"/>
                  <a:t>Note that:		 	</a:t>
                </a:r>
                <a14:m>
                  <m:oMath xmlns:m="http://schemas.openxmlformats.org/officeDocument/2006/math">
                    <m:r>
                      <a:rPr lang="en-US" sz="2400" b="0" i="1" smtClean="0">
                        <a:latin typeface="Cambria Math" panose="02040503050406030204" pitchFamily="18" charset="0"/>
                      </a:rPr>
                      <m:t>𝐸</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m:t>
                    </m:r>
                    <m:acc>
                      <m:accPr>
                        <m:chr m:val="̅"/>
                        <m:ctrlPr>
                          <a:rPr lang="en-US" sz="2400" b="0" i="1" smtClean="0">
                            <a:latin typeface="Cambria Math" panose="02040503050406030204" pitchFamily="18" charset="0"/>
                          </a:rPr>
                        </m:ctrlPr>
                      </m:acc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𝑖</m:t>
                            </m:r>
                          </m:sub>
                        </m:sSub>
                      </m:e>
                    </m:acc>
                  </m:oMath>
                </a14:m>
                <a:endParaRPr lang="en-US" sz="2400" dirty="0"/>
              </a:p>
              <a:p>
                <a:pPr>
                  <a:lnSpc>
                    <a:spcPct val="150000"/>
                  </a:lnSpc>
                </a:pPr>
                <a:endParaRPr lang="en-US" sz="2000" dirty="0"/>
              </a:p>
              <a:p>
                <a:pPr>
                  <a:lnSpc>
                    <a:spcPct val="150000"/>
                  </a:lnSpc>
                </a:pPr>
                <a:r>
                  <a:rPr lang="en-US" sz="2000" dirty="0"/>
                  <a:t>Standard deviation (</a:t>
                </a:r>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oMath>
                </a14:m>
                <a:r>
                  <a:rPr lang="en-US" sz="2000" dirty="0"/>
                  <a:t>is the square-root of variance:</a:t>
                </a:r>
              </a:p>
              <a:p>
                <a:pPr marL="457200" lvl="1" indent="0">
                  <a:buNone/>
                </a:pPr>
                <a:r>
                  <a:rPr lang="en-US" dirty="0"/>
                  <a:t>				</a:t>
                </a:r>
                <a14:m>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ad>
                      <m:radPr>
                        <m:degHide m:val="on"/>
                        <m:ctrlPr>
                          <a:rPr lang="en-US" sz="2400" i="1" smtClean="0">
                            <a:latin typeface="Cambria Math" panose="02040503050406030204" pitchFamily="18" charset="0"/>
                          </a:rPr>
                        </m:ctrlPr>
                      </m:radPr>
                      <m:deg/>
                      <m:e>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2</m:t>
                            </m:r>
                          </m:sup>
                        </m:sSubSup>
                      </m:e>
                    </m:rad>
                  </m:oMath>
                </a14:m>
                <a:endParaRPr lang="en-US" sz="2400" dirty="0"/>
              </a:p>
            </p:txBody>
          </p:sp>
        </mc:Choice>
        <mc:Fallback xmlns="">
          <p:sp>
            <p:nvSpPr>
              <p:cNvPr id="3" name="Content Placeholder 2">
                <a:extLst>
                  <a:ext uri="{FF2B5EF4-FFF2-40B4-BE49-F238E27FC236}">
                    <a16:creationId xmlns:a16="http://schemas.microsoft.com/office/drawing/2014/main" id="{341DDD66-F53E-5646-B4B1-F25CAC273531}"/>
                  </a:ext>
                </a:extLst>
              </p:cNvPr>
              <p:cNvSpPr>
                <a:spLocks noGrp="1" noRot="1" noChangeAspect="1" noMove="1" noResize="1" noEditPoints="1" noAdjustHandles="1" noChangeArrowheads="1" noChangeShapeType="1" noTextEdit="1"/>
              </p:cNvSpPr>
              <p:nvPr>
                <p:ph idx="1"/>
              </p:nvPr>
            </p:nvSpPr>
            <p:spPr>
              <a:xfrm>
                <a:off x="838200" y="1501543"/>
                <a:ext cx="10515600" cy="4351338"/>
              </a:xfrm>
              <a:blipFill>
                <a:blip r:embed="rId2"/>
                <a:stretch>
                  <a:fillRect l="-603"/>
                </a:stretch>
              </a:blipFill>
            </p:spPr>
            <p:txBody>
              <a:bodyPr/>
              <a:lstStyle/>
              <a:p>
                <a:r>
                  <a:rPr lang="en-US">
                    <a:noFill/>
                  </a:rPr>
                  <a:t> </a:t>
                </a:r>
              </a:p>
            </p:txBody>
          </p:sp>
        </mc:Fallback>
      </mc:AlternateContent>
      <p:sp>
        <p:nvSpPr>
          <p:cNvPr id="4" name="Rectangle 2">
            <a:extLst>
              <a:ext uri="{FF2B5EF4-FFF2-40B4-BE49-F238E27FC236}">
                <a16:creationId xmlns:a16="http://schemas.microsoft.com/office/drawing/2014/main" id="{684E9E64-D39A-744B-B702-C3A1360ECC7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839398E6-F8E9-FB41-8932-8A54F0226ADF}"/>
              </a:ext>
            </a:extLst>
          </p:cNvPr>
          <p:cNvGraphicFramePr>
            <a:graphicFrameLocks noChangeAspect="1"/>
          </p:cNvGraphicFramePr>
          <p:nvPr/>
        </p:nvGraphicFramePr>
        <p:xfrm>
          <a:off x="3702933" y="2457318"/>
          <a:ext cx="3022568" cy="557561"/>
        </p:xfrm>
        <a:graphic>
          <a:graphicData uri="http://schemas.openxmlformats.org/presentationml/2006/ole">
            <mc:AlternateContent xmlns:mc="http://schemas.openxmlformats.org/markup-compatibility/2006">
              <mc:Choice xmlns:v="urn:schemas-microsoft-com:vml" Requires="v">
                <p:oleObj r:id="rId3" imgW="1308100" imgH="241300" progId="Equation.3">
                  <p:embed/>
                </p:oleObj>
              </mc:Choice>
              <mc:Fallback>
                <p:oleObj r:id="rId3" imgW="1308100" imgH="241300" progId="Equation.3">
                  <p:embed/>
                  <p:pic>
                    <p:nvPicPr>
                      <p:cNvPr id="5" name="Object 4">
                        <a:extLst>
                          <a:ext uri="{FF2B5EF4-FFF2-40B4-BE49-F238E27FC236}">
                            <a16:creationId xmlns:a16="http://schemas.microsoft.com/office/drawing/2014/main" id="{839398E6-F8E9-FB41-8932-8A54F0226A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2933" y="2457318"/>
                        <a:ext cx="3022568" cy="557561"/>
                      </a:xfrm>
                      <a:prstGeom prst="rect">
                        <a:avLst/>
                      </a:prstGeom>
                      <a:noFill/>
                    </p:spPr>
                  </p:pic>
                </p:oleObj>
              </mc:Fallback>
            </mc:AlternateContent>
          </a:graphicData>
        </a:graphic>
      </p:graphicFrame>
      <p:sp>
        <p:nvSpPr>
          <p:cNvPr id="6" name="Rectangle 4">
            <a:extLst>
              <a:ext uri="{FF2B5EF4-FFF2-40B4-BE49-F238E27FC236}">
                <a16:creationId xmlns:a16="http://schemas.microsoft.com/office/drawing/2014/main" id="{BCFAAC5C-7E90-EF4E-AEC1-3A5AAAEEDCDD}"/>
              </a:ext>
            </a:extLst>
          </p:cNvPr>
          <p:cNvSpPr>
            <a:spLocks noChangeArrowheads="1"/>
          </p:cNvSpPr>
          <p:nvPr/>
        </p:nvSpPr>
        <p:spPr bwMode="auto">
          <a:xfrm>
            <a:off x="-104078" y="4754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9822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5F0C1-E4BC-FE40-BF1F-18E7B445F85B}"/>
              </a:ext>
            </a:extLst>
          </p:cNvPr>
          <p:cNvSpPr>
            <a:spLocks noGrp="1"/>
          </p:cNvSpPr>
          <p:nvPr>
            <p:ph type="title"/>
          </p:nvPr>
        </p:nvSpPr>
        <p:spPr>
          <a:xfrm>
            <a:off x="248652" y="122779"/>
            <a:ext cx="9845843" cy="1325563"/>
          </a:xfrm>
        </p:spPr>
        <p:txBody>
          <a:bodyPr>
            <a:normAutofit/>
          </a:bodyPr>
          <a:lstStyle/>
          <a:p>
            <a:r>
              <a:rPr lang="en-US" sz="3000" dirty="0"/>
              <a:t>Variance and standard deviation of a two-asset portfolio</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725034BA-3217-9240-9D70-7511910E4E27}"/>
                  </a:ext>
                </a:extLst>
              </p:cNvPr>
              <p:cNvSpPr>
                <a:spLocks noGrp="1"/>
              </p:cNvSpPr>
              <p:nvPr>
                <p:ph idx="1"/>
              </p:nvPr>
            </p:nvSpPr>
            <p:spPr>
              <a:xfrm>
                <a:off x="332874" y="1448342"/>
                <a:ext cx="10515600" cy="4854790"/>
              </a:xfrm>
            </p:spPr>
            <p:txBody>
              <a:bodyPr>
                <a:normAutofit fontScale="62500" lnSpcReduction="20000"/>
              </a:bodyPr>
              <a:lstStyle/>
              <a:p>
                <a:pPr>
                  <a:lnSpc>
                    <a:spcPct val="120000"/>
                  </a:lnSpc>
                  <a:spcAft>
                    <a:spcPts val="600"/>
                  </a:spcAft>
                </a:pPr>
                <a:r>
                  <a:rPr lang="en-US" dirty="0">
                    <a:cs typeface="Arial" panose="020B0604020202020204" pitchFamily="34" charset="0"/>
                  </a:rPr>
                  <a:t>Consider a portfolio P in which we invest w</a:t>
                </a:r>
                <a:r>
                  <a:rPr lang="en-US" baseline="-25000" dirty="0">
                    <a:cs typeface="Arial" panose="020B0604020202020204" pitchFamily="34" charset="0"/>
                  </a:rPr>
                  <a:t>1 </a:t>
                </a:r>
                <a:r>
                  <a:rPr lang="en-US" dirty="0">
                    <a:cs typeface="Arial" panose="020B0604020202020204" pitchFamily="34" charset="0"/>
                  </a:rPr>
                  <a:t> in asset 1 with return R</a:t>
                </a:r>
                <a:r>
                  <a:rPr lang="en-US" baseline="-25000" dirty="0">
                    <a:cs typeface="Arial" panose="020B0604020202020204" pitchFamily="34" charset="0"/>
                  </a:rPr>
                  <a:t>1</a:t>
                </a:r>
                <a:r>
                  <a:rPr lang="en-US" dirty="0">
                    <a:cs typeface="Arial" panose="020B0604020202020204" pitchFamily="34" charset="0"/>
                  </a:rPr>
                  <a:t> and w</a:t>
                </a:r>
                <a:r>
                  <a:rPr lang="en-US" baseline="-25000" dirty="0">
                    <a:cs typeface="Arial" panose="020B0604020202020204" pitchFamily="34" charset="0"/>
                  </a:rPr>
                  <a:t>2</a:t>
                </a:r>
                <a:r>
                  <a:rPr lang="en-US" dirty="0">
                    <a:cs typeface="Arial" panose="020B0604020202020204" pitchFamily="34" charset="0"/>
                  </a:rPr>
                  <a:t> in asset 2 with return: R</a:t>
                </a:r>
                <a:r>
                  <a:rPr lang="en-US" baseline="-25000" dirty="0">
                    <a:cs typeface="Arial" panose="020B0604020202020204" pitchFamily="34" charset="0"/>
                  </a:rPr>
                  <a:t>2, </a:t>
                </a:r>
                <a:r>
                  <a:rPr lang="en-US" dirty="0">
                    <a:cs typeface="Arial" panose="020B0604020202020204" pitchFamily="34" charset="0"/>
                  </a:rPr>
                  <a:t>so portfolio return is denoted as R</a:t>
                </a:r>
                <a:r>
                  <a:rPr lang="en-US" baseline="-25000" dirty="0">
                    <a:cs typeface="Arial" panose="020B0604020202020204" pitchFamily="34" charset="0"/>
                  </a:rPr>
                  <a:t>p</a:t>
                </a:r>
                <a:r>
                  <a:rPr lang="en-US" dirty="0">
                    <a:cs typeface="Arial" panose="020B0604020202020204" pitchFamily="34" charset="0"/>
                  </a:rPr>
                  <a:t>. </a:t>
                </a:r>
              </a:p>
              <a:p>
                <a:pPr>
                  <a:lnSpc>
                    <a:spcPct val="120000"/>
                  </a:lnSpc>
                  <a:spcAft>
                    <a:spcPts val="600"/>
                  </a:spcAft>
                </a:pPr>
                <a:r>
                  <a:rPr lang="en-US" dirty="0">
                    <a:cs typeface="Arial" panose="020B0604020202020204" pitchFamily="34" charset="0"/>
                  </a:rPr>
                  <a:t>The variance of that portfolio P is given as:</a:t>
                </a:r>
              </a:p>
              <a:p>
                <a:pPr marL="0" indent="0">
                  <a:lnSpc>
                    <a:spcPct val="120000"/>
                  </a:lnSpc>
                  <a:spcAft>
                    <a:spcPts val="600"/>
                  </a:spcAft>
                  <a:buNone/>
                </a:pPr>
                <a:r>
                  <a:rPr lang="en-US" dirty="0">
                    <a:cs typeface="Arial" panose="020B0604020202020204" pitchFamily="34" charset="0"/>
                  </a:rPr>
                  <a:t>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𝑝</m:t>
                        </m:r>
                      </m:sub>
                      <m:sup>
                        <m:r>
                          <a:rPr lang="en-US" i="1">
                            <a:latin typeface="Cambria Math" panose="02040503050406030204" pitchFamily="18" charset="0"/>
                          </a:rPr>
                          <m:t>2</m:t>
                        </m:r>
                      </m:sup>
                    </m:sSub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𝐸</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𝑝</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𝑝</m:t>
                                </m:r>
                              </m:sub>
                            </m:sSub>
                          </m:e>
                        </m:bar>
                        <m:r>
                          <a:rPr lang="en-US" i="1">
                            <a:latin typeface="Cambria Math" panose="02040503050406030204" pitchFamily="18" charset="0"/>
                          </a:rPr>
                          <m:t>)</m:t>
                        </m:r>
                      </m:e>
                      <m:sup>
                        <m:r>
                          <a:rPr lang="en-US" b="0" i="1" smtClean="0">
                            <a:latin typeface="Cambria Math" panose="02040503050406030204" pitchFamily="18" charset="0"/>
                          </a:rPr>
                          <m:t>2</m:t>
                        </m:r>
                      </m:sup>
                    </m:sSup>
                  </m:oMath>
                </a14:m>
                <a:r>
                  <a:rPr lang="en-US" dirty="0">
                    <a:cs typeface="Arial" panose="020B0604020202020204" pitchFamily="34" charset="0"/>
                  </a:rPr>
                  <a:t> = </a:t>
                </a:r>
                <a14:m>
                  <m:oMath xmlns:m="http://schemas.openxmlformats.org/officeDocument/2006/math">
                    <m:r>
                      <m:rPr>
                        <m:sty m:val="p"/>
                      </m:rPr>
                      <a:rPr lang="en-US" b="0" i="0" smtClean="0">
                        <a:latin typeface="Cambria Math" panose="02040503050406030204" pitchFamily="18" charset="0"/>
                      </a:rPr>
                      <m:t>E</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𝑅</m:t>
                                </m:r>
                              </m:e>
                              <m:sub>
                                <m:r>
                                  <a:rPr lang="en-US" i="1">
                                    <a:latin typeface="Cambria Math" panose="02040503050406030204" pitchFamily="18" charset="0"/>
                                  </a:rPr>
                                  <m:t>1</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e>
                            </m:ba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𝑅</m:t>
                                </m:r>
                              </m:e>
                              <m:sub>
                                <m:r>
                                  <a:rPr lang="en-US" i="1">
                                    <a:latin typeface="Cambria Math" panose="02040503050406030204" pitchFamily="18" charset="0"/>
                                  </a:rPr>
                                  <m:t>2</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e>
                            </m:bar>
                            <m:r>
                              <a:rPr lang="en-US" i="1">
                                <a:latin typeface="Cambria Math" panose="02040503050406030204" pitchFamily="18" charset="0"/>
                              </a:rPr>
                              <m:t>)</m:t>
                            </m:r>
                          </m:e>
                        </m:d>
                      </m:e>
                      <m:sup>
                        <m:r>
                          <a:rPr lang="en-US" b="0" i="1" smtClean="0">
                            <a:latin typeface="Cambria Math" panose="02040503050406030204" pitchFamily="18" charset="0"/>
                          </a:rPr>
                          <m:t>2</m:t>
                        </m:r>
                      </m:sup>
                    </m:sSup>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𝑎𝑏</m:t>
                    </m:r>
                    <m:r>
                      <a:rPr lang="en-US" b="0" i="1" smtClean="0">
                        <a:latin typeface="Cambria Math" panose="02040503050406030204" pitchFamily="18" charset="0"/>
                      </a:rPr>
                      <m:t>)</m:t>
                    </m:r>
                  </m:oMath>
                </a14:m>
                <a:endParaRPr lang="en-US" b="0" dirty="0">
                  <a:cs typeface="Arial" panose="020B0604020202020204" pitchFamily="34" charset="0"/>
                </a:endParaRPr>
              </a:p>
              <a:p>
                <a:pPr marL="0" indent="0">
                  <a:spcAft>
                    <a:spcPts val="600"/>
                  </a:spcAft>
                  <a:buNone/>
                </a:pPr>
                <a:endParaRPr lang="en-US" dirty="0">
                  <a:cs typeface="Arial" panose="020B0604020202020204" pitchFamily="34" charset="0"/>
                </a:endParaRPr>
              </a:p>
              <a:p>
                <a:pPr marL="0" indent="0">
                  <a:lnSpc>
                    <a:spcPct val="120000"/>
                  </a:lnSpc>
                  <a:spcAft>
                    <a:spcPts val="600"/>
                  </a:spcAft>
                  <a:buNone/>
                </a:pPr>
                <a:r>
                  <a:rPr lang="en-US" dirty="0">
                    <a:cs typeface="Arial" panose="020B0604020202020204" pitchFamily="34" charset="0"/>
                  </a:rPr>
                  <a:t>So,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𝑝</m:t>
                        </m:r>
                      </m:sub>
                      <m:sup>
                        <m:r>
                          <a:rPr lang="en-US" i="1">
                            <a:latin typeface="Cambria Math" panose="02040503050406030204" pitchFamily="18" charset="0"/>
                          </a:rPr>
                          <m:t>2</m:t>
                        </m:r>
                      </m:sup>
                    </m:sSubSup>
                    <m:r>
                      <a:rPr lang="en-US" b="0" i="0" smtClean="0">
                        <a:latin typeface="Cambria Math" panose="02040503050406030204" pitchFamily="18" charset="0"/>
                      </a:rPr>
                      <m:t>=</m:t>
                    </m:r>
                    <m:r>
                      <m:rPr>
                        <m:sty m:val="p"/>
                      </m:rPr>
                      <a:rPr lang="en-US" b="0" i="0" smtClean="0">
                        <a:latin typeface="Cambria Math" panose="02040503050406030204" pitchFamily="18" charset="0"/>
                      </a:rPr>
                      <m:t>E</m:t>
                    </m:r>
                    <m:sSup>
                      <m:sSupPr>
                        <m:ctrlPr>
                          <a:rPr lang="en-US" i="1">
                            <a:latin typeface="Cambria Math" panose="02040503050406030204" pitchFamily="18" charset="0"/>
                          </a:rPr>
                        </m:ctrlPr>
                      </m:sSupPr>
                      <m:e>
                        <m:sSup>
                          <m:sSupPr>
                            <m:ctrlPr>
                              <a:rPr lang="en-US" i="1">
                                <a:latin typeface="Cambria Math" panose="02040503050406030204" pitchFamily="18" charset="0"/>
                              </a:rPr>
                            </m:ctrlPr>
                          </m:sSup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m:t>
                                </m:r>
                                <m:r>
                                  <a:rPr lang="en-US" i="1">
                                    <a:latin typeface="Cambria Math" panose="02040503050406030204" pitchFamily="18" charset="0"/>
                                  </a:rPr>
                                  <m:t>𝑤</m:t>
                                </m:r>
                              </m:e>
                              <m:sub>
                                <m:r>
                                  <a:rPr lang="en-US" i="1">
                                    <a:latin typeface="Cambria Math" panose="02040503050406030204" pitchFamily="18" charset="0"/>
                                  </a:rPr>
                                  <m:t>1</m:t>
                                </m:r>
                              </m:sub>
                              <m:sup>
                                <m:r>
                                  <a:rPr lang="en-US" i="1">
                                    <a:latin typeface="Cambria Math" panose="02040503050406030204" pitchFamily="18" charset="0"/>
                                  </a:rPr>
                                  <m:t>2</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e>
                                </m:bar>
                              </m:e>
                            </m:d>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sub>
                              <m:sup>
                                <m:r>
                                  <a:rPr lang="en-US" i="1">
                                    <a:latin typeface="Cambria Math" panose="02040503050406030204" pitchFamily="18" charset="0"/>
                                  </a:rPr>
                                  <m:t>2</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e>
                                </m:bar>
                              </m:e>
                            </m:d>
                          </m:e>
                          <m:sup>
                            <m:r>
                              <a:rPr lang="en-US" i="1">
                                <a:latin typeface="Cambria Math" panose="02040503050406030204" pitchFamily="18" charset="0"/>
                              </a:rPr>
                              <m:t>2</m:t>
                            </m:r>
                          </m:sup>
                        </m:sSup>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𝑅</m:t>
                            </m:r>
                          </m:e>
                          <m:sub>
                            <m:r>
                              <a:rPr lang="en-US" i="1">
                                <a:latin typeface="Cambria Math" panose="02040503050406030204" pitchFamily="18" charset="0"/>
                              </a:rPr>
                              <m:t>1</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1</m:t>
                                </m:r>
                              </m:sub>
                            </m:sSub>
                          </m:e>
                        </m:ba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𝑅</m:t>
                            </m:r>
                          </m:e>
                          <m:sub>
                            <m:r>
                              <a:rPr lang="en-US" i="1">
                                <a:latin typeface="Cambria Math" panose="02040503050406030204" pitchFamily="18" charset="0"/>
                              </a:rPr>
                              <m:t>2</m:t>
                            </m:r>
                          </m:sub>
                        </m:sSub>
                        <m:r>
                          <a:rPr lang="en-US" i="1">
                            <a:latin typeface="Cambria Math" panose="02040503050406030204" pitchFamily="18" charset="0"/>
                          </a:rPr>
                          <m:t>−</m:t>
                        </m:r>
                        <m:bar>
                          <m:barPr>
                            <m:pos m:val="top"/>
                            <m:ctrlPr>
                              <a:rPr lang="en-US" i="1">
                                <a:latin typeface="Cambria Math" panose="02040503050406030204" pitchFamily="18" charset="0"/>
                              </a:rPr>
                            </m:ctrlPr>
                          </m:bar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2</m:t>
                                </m:r>
                              </m:sub>
                            </m:sSub>
                          </m:e>
                        </m:bar>
                        <m:r>
                          <a:rPr lang="en-US" i="1">
                            <a:latin typeface="Cambria Math" panose="02040503050406030204" pitchFamily="18" charset="0"/>
                          </a:rPr>
                          <m:t>)</m:t>
                        </m:r>
                        <m:r>
                          <a:rPr lang="en-US" b="0" i="1" smtClean="0">
                            <a:latin typeface="Cambria Math" panose="02040503050406030204" pitchFamily="18" charset="0"/>
                          </a:rPr>
                          <m:t>)</m:t>
                        </m:r>
                      </m:e>
                      <m:sup/>
                    </m:sSup>
                  </m:oMath>
                </a14:m>
                <a:endParaRPr lang="en-GB" b="0" i="1" dirty="0"/>
              </a:p>
              <a:p>
                <a:pPr marL="0" indent="0">
                  <a:lnSpc>
                    <a:spcPct val="120000"/>
                  </a:lnSpc>
                  <a:spcAft>
                    <a:spcPts val="600"/>
                  </a:spcAft>
                  <a:buNone/>
                </a:pPr>
                <a:r>
                  <a:rPr lang="en-US" dirty="0"/>
                  <a:t>		</a:t>
                </a:r>
                <a14:m>
                  <m:oMath xmlns:m="http://schemas.openxmlformats.org/officeDocument/2006/math">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𝑝</m:t>
                        </m:r>
                      </m:sub>
                      <m:sup>
                        <m:r>
                          <a:rPr lang="en-US" i="1">
                            <a:latin typeface="Cambria Math" panose="02040503050406030204" pitchFamily="18" charset="0"/>
                          </a:rPr>
                          <m:t>2</m:t>
                        </m:r>
                      </m:sup>
                    </m:sSubSup>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m:t>
                        </m:r>
                        <m:r>
                          <a:rPr lang="en-US" i="1">
                            <a:latin typeface="Cambria Math" panose="02040503050406030204" pitchFamily="18" charset="0"/>
                          </a:rPr>
                          <m:t>𝑤</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smtClean="0">
                        <a:solidFill>
                          <a:srgbClr val="0070C0"/>
                        </a:solidFill>
                        <a:latin typeface="Cambria Math" panose="02040503050406030204" pitchFamily="18" charset="0"/>
                      </a:rPr>
                      <m:t>𝐸</m:t>
                    </m:r>
                    <m:sSup>
                      <m:sSupPr>
                        <m:ctrlPr>
                          <a:rPr lang="en-US" i="1" smtClean="0">
                            <a:solidFill>
                              <a:srgbClr val="0070C0"/>
                            </a:solidFill>
                            <a:latin typeface="Cambria Math" panose="02040503050406030204" pitchFamily="18" charset="0"/>
                          </a:rPr>
                        </m:ctrlPr>
                      </m:sSupPr>
                      <m:e>
                        <m:sSup>
                          <m:sSupPr>
                            <m:ctrlPr>
                              <a:rPr lang="en-US" i="1">
                                <a:solidFill>
                                  <a:srgbClr val="0070C0"/>
                                </a:solidFill>
                                <a:latin typeface="Cambria Math" panose="02040503050406030204" pitchFamily="18" charset="0"/>
                              </a:rPr>
                            </m:ctrlPr>
                          </m:sSupPr>
                          <m:e>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𝑅</m:t>
                                    </m:r>
                                  </m:e>
                                  <m:sub>
                                    <m:r>
                                      <a:rPr lang="en-US" i="1">
                                        <a:solidFill>
                                          <a:srgbClr val="0070C0"/>
                                        </a:solidFill>
                                        <a:latin typeface="Cambria Math" panose="02040503050406030204" pitchFamily="18" charset="0"/>
                                      </a:rPr>
                                      <m:t>1</m:t>
                                    </m:r>
                                  </m:sub>
                                </m:sSub>
                                <m:r>
                                  <a:rPr lang="en-US" i="1">
                                    <a:solidFill>
                                      <a:srgbClr val="0070C0"/>
                                    </a:solidFill>
                                    <a:latin typeface="Cambria Math" panose="02040503050406030204" pitchFamily="18" charset="0"/>
                                  </a:rPr>
                                  <m:t>−</m:t>
                                </m:r>
                                <m:bar>
                                  <m:barPr>
                                    <m:pos m:val="top"/>
                                    <m:ctrlPr>
                                      <a:rPr lang="en-US" i="1">
                                        <a:solidFill>
                                          <a:srgbClr val="0070C0"/>
                                        </a:solidFill>
                                        <a:latin typeface="Cambria Math" panose="02040503050406030204" pitchFamily="18" charset="0"/>
                                      </a:rPr>
                                    </m:ctrlPr>
                                  </m:bar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𝑅</m:t>
                                        </m:r>
                                      </m:e>
                                      <m:sub>
                                        <m:r>
                                          <a:rPr lang="en-US" i="1">
                                            <a:solidFill>
                                              <a:srgbClr val="0070C0"/>
                                            </a:solidFill>
                                            <a:latin typeface="Cambria Math" panose="02040503050406030204" pitchFamily="18" charset="0"/>
                                          </a:rPr>
                                          <m:t>1</m:t>
                                        </m:r>
                                      </m:sub>
                                    </m:sSub>
                                  </m:e>
                                </m:bar>
                              </m:e>
                            </m:d>
                          </m:e>
                          <m:sup>
                            <m:r>
                              <a:rPr lang="en-US" i="1">
                                <a:solidFill>
                                  <a:srgbClr val="0070C0"/>
                                </a:solidFill>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2</m:t>
                                </m:r>
                              </m:sub>
                              <m:sup>
                                <m:r>
                                  <a:rPr lang="en-US" i="1">
                                    <a:latin typeface="Cambria Math" panose="02040503050406030204" pitchFamily="18" charset="0"/>
                                  </a:rPr>
                                  <m:t>2</m:t>
                                </m:r>
                              </m:sup>
                            </m:sSubSup>
                            <m:r>
                              <a:rPr lang="en-US" b="0" i="1" smtClean="0">
                                <a:solidFill>
                                  <a:srgbClr val="FF0000"/>
                                </a:solidFill>
                                <a:latin typeface="Cambria Math" panose="02040503050406030204" pitchFamily="18" charset="0"/>
                              </a:rPr>
                              <m:t>𝐸</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i="1">
                                        <a:solidFill>
                                          <a:srgbClr val="FF0000"/>
                                        </a:solidFill>
                                        <a:latin typeface="Cambria Math" panose="02040503050406030204" pitchFamily="18" charset="0"/>
                                      </a:rPr>
                                      <m:t>2</m:t>
                                    </m:r>
                                  </m:sub>
                                </m:sSub>
                                <m:r>
                                  <a:rPr lang="en-US" i="1">
                                    <a:solidFill>
                                      <a:srgbClr val="FF0000"/>
                                    </a:solidFill>
                                    <a:latin typeface="Cambria Math" panose="02040503050406030204" pitchFamily="18" charset="0"/>
                                  </a:rPr>
                                  <m:t>−</m:t>
                                </m:r>
                                <m:bar>
                                  <m:barPr>
                                    <m:pos m:val="top"/>
                                    <m:ctrlPr>
                                      <a:rPr lang="en-US" i="1">
                                        <a:solidFill>
                                          <a:srgbClr val="FF0000"/>
                                        </a:solidFill>
                                        <a:latin typeface="Cambria Math" panose="02040503050406030204" pitchFamily="18" charset="0"/>
                                      </a:rPr>
                                    </m:ctrlPr>
                                  </m:bar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i="1">
                                            <a:solidFill>
                                              <a:srgbClr val="FF0000"/>
                                            </a:solidFill>
                                            <a:latin typeface="Cambria Math" panose="02040503050406030204" pitchFamily="18" charset="0"/>
                                          </a:rPr>
                                          <m:t>2</m:t>
                                        </m:r>
                                      </m:sub>
                                    </m:sSub>
                                  </m:e>
                                </m:bar>
                              </m:e>
                            </m:d>
                          </m:e>
                          <m:sup>
                            <m:r>
                              <a:rPr lang="en-US" i="1" smtClean="0">
                                <a:solidFill>
                                  <a:srgbClr val="FF0000"/>
                                </a:solidFill>
                                <a:latin typeface="Cambria Math" panose="02040503050406030204" pitchFamily="18" charset="0"/>
                              </a:rPr>
                              <m:t>2</m:t>
                            </m:r>
                          </m:sup>
                        </m:sSup>
                        <m:r>
                          <a:rPr lang="en-US" i="1">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r>
                          <a:rPr lang="en-US" b="0" i="1" smtClean="0">
                            <a:solidFill>
                              <a:srgbClr val="00B050"/>
                            </a:solidFill>
                            <a:latin typeface="Cambria Math" panose="02040503050406030204" pitchFamily="18" charset="0"/>
                          </a:rPr>
                          <m:t>𝐸</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m:t>
                            </m:r>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1</m:t>
                            </m:r>
                          </m:sub>
                        </m:sSub>
                        <m:r>
                          <a:rPr lang="en-US" i="1">
                            <a:solidFill>
                              <a:srgbClr val="00B050"/>
                            </a:solidFill>
                            <a:latin typeface="Cambria Math" panose="02040503050406030204" pitchFamily="18" charset="0"/>
                          </a:rPr>
                          <m:t>−</m:t>
                        </m:r>
                        <m:bar>
                          <m:barPr>
                            <m:pos m:val="top"/>
                            <m:ctrlPr>
                              <a:rPr lang="en-US" i="1">
                                <a:solidFill>
                                  <a:srgbClr val="00B050"/>
                                </a:solidFill>
                                <a:latin typeface="Cambria Math" panose="02040503050406030204" pitchFamily="18" charset="0"/>
                              </a:rPr>
                            </m:ctrlPr>
                          </m:barPr>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1</m:t>
                                </m:r>
                              </m:sub>
                            </m:sSub>
                          </m:e>
                        </m:bar>
                        <m:r>
                          <a:rPr lang="en-US" i="1">
                            <a:solidFill>
                              <a:srgbClr val="00B050"/>
                            </a:solidFill>
                            <a:latin typeface="Cambria Math" panose="02040503050406030204" pitchFamily="18" charset="0"/>
                          </a:rPr>
                          <m:t>)</m:t>
                        </m:r>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2</m:t>
                            </m:r>
                          </m:sub>
                        </m:sSub>
                        <m:r>
                          <a:rPr lang="en-US" i="1">
                            <a:solidFill>
                              <a:srgbClr val="00B050"/>
                            </a:solidFill>
                            <a:latin typeface="Cambria Math" panose="02040503050406030204" pitchFamily="18" charset="0"/>
                          </a:rPr>
                          <m:t>−</m:t>
                        </m:r>
                        <m:bar>
                          <m:barPr>
                            <m:pos m:val="top"/>
                            <m:ctrlPr>
                              <a:rPr lang="en-US" i="1">
                                <a:solidFill>
                                  <a:srgbClr val="00B050"/>
                                </a:solidFill>
                                <a:latin typeface="Cambria Math" panose="02040503050406030204" pitchFamily="18" charset="0"/>
                              </a:rPr>
                            </m:ctrlPr>
                          </m:barPr>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2</m:t>
                                </m:r>
                              </m:sub>
                            </m:sSub>
                          </m:e>
                        </m:bar>
                        <m:r>
                          <a:rPr lang="en-US" i="1">
                            <a:solidFill>
                              <a:srgbClr val="00B050"/>
                            </a:solidFill>
                            <a:latin typeface="Cambria Math" panose="02040503050406030204" pitchFamily="18" charset="0"/>
                          </a:rPr>
                          <m:t>))</m:t>
                        </m:r>
                        <m:r>
                          <m:rPr>
                            <m:nor/>
                          </m:rPr>
                          <a:rPr lang="en-US" i="0" dirty="0">
                            <a:solidFill>
                              <a:srgbClr val="00B050"/>
                            </a:solidFill>
                            <a:cs typeface="Arial" panose="020B0604020202020204" pitchFamily="34" charset="0"/>
                          </a:rPr>
                          <m:t> </m:t>
                        </m:r>
                      </m:e>
                      <m:sup/>
                    </m:sSup>
                  </m:oMath>
                </a14:m>
                <a:endParaRPr lang="en-US" b="0" dirty="0">
                  <a:cs typeface="Arial" panose="020B0604020202020204" pitchFamily="34" charset="0"/>
                </a:endParaRPr>
              </a:p>
              <a:p>
                <a:pPr marL="0" indent="0">
                  <a:lnSpc>
                    <a:spcPct val="120000"/>
                  </a:lnSpc>
                  <a:spcAft>
                    <a:spcPts val="600"/>
                  </a:spcAft>
                  <a:buNone/>
                </a:pPr>
                <a:r>
                  <a:rPr lang="en-US" dirty="0">
                    <a:cs typeface="Arial" panose="020B0604020202020204" pitchFamily="34" charset="0"/>
                  </a:rPr>
                  <a:t>where                	</a:t>
                </a:r>
                <a14:m>
                  <m:oMath xmlns:m="http://schemas.openxmlformats.org/officeDocument/2006/math">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𝐸</m:t>
                        </m:r>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𝑅</m:t>
                                </m:r>
                              </m:e>
                              <m:sub>
                                <m:r>
                                  <a:rPr lang="en-US" i="1">
                                    <a:solidFill>
                                      <a:srgbClr val="0070C0"/>
                                    </a:solidFill>
                                    <a:latin typeface="Cambria Math" panose="02040503050406030204" pitchFamily="18" charset="0"/>
                                  </a:rPr>
                                  <m:t>1</m:t>
                                </m:r>
                              </m:sub>
                            </m:sSub>
                            <m:r>
                              <a:rPr lang="en-US" i="1">
                                <a:solidFill>
                                  <a:srgbClr val="0070C0"/>
                                </a:solidFill>
                                <a:latin typeface="Cambria Math" panose="02040503050406030204" pitchFamily="18" charset="0"/>
                              </a:rPr>
                              <m:t>−</m:t>
                            </m:r>
                            <m:bar>
                              <m:barPr>
                                <m:pos m:val="top"/>
                                <m:ctrlPr>
                                  <a:rPr lang="en-US" i="1">
                                    <a:solidFill>
                                      <a:srgbClr val="0070C0"/>
                                    </a:solidFill>
                                    <a:latin typeface="Cambria Math" panose="02040503050406030204" pitchFamily="18" charset="0"/>
                                  </a:rPr>
                                </m:ctrlPr>
                              </m:bar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𝑅</m:t>
                                    </m:r>
                                  </m:e>
                                  <m:sub>
                                    <m:r>
                                      <a:rPr lang="en-US" i="1">
                                        <a:solidFill>
                                          <a:srgbClr val="0070C0"/>
                                        </a:solidFill>
                                        <a:latin typeface="Cambria Math" panose="02040503050406030204" pitchFamily="18" charset="0"/>
                                      </a:rPr>
                                      <m:t>1</m:t>
                                    </m:r>
                                  </m:sub>
                                </m:sSub>
                              </m:e>
                            </m:bar>
                          </m:e>
                        </m:d>
                      </m:e>
                      <m:sup>
                        <m:r>
                          <a:rPr lang="en-US" i="1">
                            <a:solidFill>
                              <a:srgbClr val="0070C0"/>
                            </a:solidFill>
                            <a:latin typeface="Cambria Math" panose="02040503050406030204" pitchFamily="18" charset="0"/>
                          </a:rPr>
                          <m:t>2</m:t>
                        </m:r>
                      </m:sup>
                    </m:sSup>
                    <m:r>
                      <a:rPr lang="en-US" b="0" i="1" smtClean="0">
                        <a:solidFill>
                          <a:srgbClr val="0070C0"/>
                        </a:solidFill>
                        <a:latin typeface="Cambria Math" panose="02040503050406030204" pitchFamily="18" charset="0"/>
                      </a:rPr>
                      <m:t>=</m:t>
                    </m:r>
                  </m:oMath>
                </a14:m>
                <a:r>
                  <a:rPr lang="en-US" dirty="0">
                    <a:solidFill>
                      <a:srgbClr val="0070C0"/>
                    </a:solidFill>
                    <a:cs typeface="Arial" panose="020B0604020202020204" pitchFamily="34" charset="0"/>
                  </a:rPr>
                  <a:t> </a:t>
                </a:r>
                <a14:m>
                  <m:oMath xmlns:m="http://schemas.openxmlformats.org/officeDocument/2006/math">
                    <m:sSubSup>
                      <m:sSubSupPr>
                        <m:ctrlPr>
                          <a:rPr lang="en-US" i="1">
                            <a:solidFill>
                              <a:srgbClr val="0070C0"/>
                            </a:solidFill>
                            <a:latin typeface="Cambria Math" panose="02040503050406030204" pitchFamily="18" charset="0"/>
                            <a:ea typeface="Cambria Math" panose="02040503050406030204" pitchFamily="18" charset="0"/>
                          </a:rPr>
                        </m:ctrlPr>
                      </m:sSubSupPr>
                      <m:e>
                        <m:r>
                          <a:rPr lang="en-US" i="1">
                            <a:solidFill>
                              <a:srgbClr val="0070C0"/>
                            </a:solidFill>
                            <a:latin typeface="Cambria Math" panose="02040503050406030204" pitchFamily="18" charset="0"/>
                            <a:ea typeface="Cambria Math" panose="02040503050406030204" pitchFamily="18" charset="0"/>
                          </a:rPr>
                          <m:t>𝜎</m:t>
                        </m:r>
                      </m:e>
                      <m:sub>
                        <m:r>
                          <a:rPr lang="en-US" b="0" i="1" smtClean="0">
                            <a:solidFill>
                              <a:srgbClr val="0070C0"/>
                            </a:solidFill>
                            <a:latin typeface="Cambria Math" panose="02040503050406030204" pitchFamily="18" charset="0"/>
                            <a:ea typeface="Cambria Math" panose="02040503050406030204" pitchFamily="18" charset="0"/>
                          </a:rPr>
                          <m:t>1</m:t>
                        </m:r>
                      </m:sub>
                      <m:sup>
                        <m:r>
                          <a:rPr lang="en-US" i="1">
                            <a:solidFill>
                              <a:srgbClr val="0070C0"/>
                            </a:solidFill>
                            <a:latin typeface="Cambria Math" panose="02040503050406030204" pitchFamily="18" charset="0"/>
                          </a:rPr>
                          <m:t>2</m:t>
                        </m:r>
                      </m:sup>
                    </m:sSubSup>
                  </m:oMath>
                </a14:m>
                <a:r>
                  <a:rPr lang="en-US" dirty="0">
                    <a:solidFill>
                      <a:srgbClr val="0070C0"/>
                    </a:solidFill>
                    <a:cs typeface="Arial" panose="020B0604020202020204" pitchFamily="34" charset="0"/>
                  </a:rPr>
                  <a:t> , </a:t>
                </a:r>
                <a14:m>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𝐸</m:t>
                        </m:r>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2</m:t>
                                </m:r>
                              </m:sub>
                            </m:sSub>
                            <m:r>
                              <a:rPr lang="en-US" i="1">
                                <a:solidFill>
                                  <a:srgbClr val="FF0000"/>
                                </a:solidFill>
                                <a:latin typeface="Cambria Math" panose="02040503050406030204" pitchFamily="18" charset="0"/>
                              </a:rPr>
                              <m:t>−</m:t>
                            </m:r>
                            <m:bar>
                              <m:barPr>
                                <m:pos m:val="top"/>
                                <m:ctrlPr>
                                  <a:rPr lang="en-US" i="1">
                                    <a:solidFill>
                                      <a:srgbClr val="FF0000"/>
                                    </a:solidFill>
                                    <a:latin typeface="Cambria Math" panose="02040503050406030204" pitchFamily="18" charset="0"/>
                                  </a:rPr>
                                </m:ctrlPr>
                              </m:bar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𝑅</m:t>
                                    </m:r>
                                  </m:e>
                                  <m:sub>
                                    <m:r>
                                      <a:rPr lang="en-US" b="0" i="1" smtClean="0">
                                        <a:solidFill>
                                          <a:srgbClr val="FF0000"/>
                                        </a:solidFill>
                                        <a:latin typeface="Cambria Math" panose="02040503050406030204" pitchFamily="18" charset="0"/>
                                      </a:rPr>
                                      <m:t>2</m:t>
                                    </m:r>
                                  </m:sub>
                                </m:sSub>
                              </m:e>
                            </m:bar>
                          </m:e>
                        </m:d>
                      </m:e>
                      <m:sup>
                        <m:r>
                          <a:rPr lang="en-US" i="1">
                            <a:solidFill>
                              <a:srgbClr val="FF0000"/>
                            </a:solidFill>
                            <a:latin typeface="Cambria Math" panose="02040503050406030204" pitchFamily="18" charset="0"/>
                          </a:rPr>
                          <m:t>2</m:t>
                        </m:r>
                      </m:sup>
                    </m:sSup>
                    <m:r>
                      <a:rPr lang="en-US" i="1" smtClean="0">
                        <a:solidFill>
                          <a:srgbClr val="FF0000"/>
                        </a:solidFill>
                        <a:latin typeface="Cambria Math" panose="02040503050406030204" pitchFamily="18" charset="0"/>
                      </a:rPr>
                      <m:t>=</m:t>
                    </m:r>
                  </m:oMath>
                </a14:m>
                <a:r>
                  <a:rPr lang="en-US" dirty="0">
                    <a:solidFill>
                      <a:srgbClr val="FF0000"/>
                    </a:solidFill>
                    <a:cs typeface="Arial" panose="020B0604020202020204" pitchFamily="34" charset="0"/>
                  </a:rPr>
                  <a:t> </a:t>
                </a:r>
                <a14:m>
                  <m:oMath xmlns:m="http://schemas.openxmlformats.org/officeDocument/2006/math">
                    <m:sSubSup>
                      <m:sSubSupPr>
                        <m:ctrlPr>
                          <a:rPr lang="en-US" i="1">
                            <a:solidFill>
                              <a:srgbClr val="FF0000"/>
                            </a:solidFill>
                            <a:latin typeface="Cambria Math" panose="02040503050406030204" pitchFamily="18" charset="0"/>
                            <a:ea typeface="Cambria Math" panose="02040503050406030204" pitchFamily="18" charset="0"/>
                          </a:rPr>
                        </m:ctrlPr>
                      </m:sSubSupPr>
                      <m:e>
                        <m:r>
                          <a:rPr lang="en-US" i="1">
                            <a:solidFill>
                              <a:srgbClr val="FF0000"/>
                            </a:solidFill>
                            <a:latin typeface="Cambria Math" panose="02040503050406030204" pitchFamily="18" charset="0"/>
                            <a:ea typeface="Cambria Math" panose="02040503050406030204" pitchFamily="18" charset="0"/>
                          </a:rPr>
                          <m:t>𝜎</m:t>
                        </m:r>
                      </m:e>
                      <m:sub>
                        <m:r>
                          <a:rPr lang="en-US" b="0" i="1" smtClean="0">
                            <a:solidFill>
                              <a:srgbClr val="FF0000"/>
                            </a:solidFill>
                            <a:latin typeface="Cambria Math" panose="02040503050406030204" pitchFamily="18" charset="0"/>
                            <a:ea typeface="Cambria Math" panose="02040503050406030204" pitchFamily="18" charset="0"/>
                          </a:rPr>
                          <m:t>2</m:t>
                        </m:r>
                      </m:sub>
                      <m:sup>
                        <m:r>
                          <a:rPr lang="en-US" i="1">
                            <a:solidFill>
                              <a:srgbClr val="FF0000"/>
                            </a:solidFill>
                            <a:latin typeface="Cambria Math" panose="02040503050406030204" pitchFamily="18" charset="0"/>
                          </a:rPr>
                          <m:t>2</m:t>
                        </m:r>
                      </m:sup>
                    </m:sSubSup>
                  </m:oMath>
                </a14:m>
                <a:endParaRPr lang="en-US" dirty="0">
                  <a:solidFill>
                    <a:srgbClr val="0070C0"/>
                  </a:solidFill>
                  <a:cs typeface="Arial" panose="020B0604020202020204" pitchFamily="34" charset="0"/>
                </a:endParaRPr>
              </a:p>
              <a:p>
                <a:pPr marL="0" indent="0">
                  <a:lnSpc>
                    <a:spcPct val="120000"/>
                  </a:lnSpc>
                  <a:spcAft>
                    <a:spcPts val="600"/>
                  </a:spcAft>
                  <a:buNone/>
                </a:pPr>
                <a:r>
                  <a:rPr lang="en-US" dirty="0">
                    <a:cs typeface="Arial" panose="020B0604020202020204" pitchFamily="34" charset="0"/>
                  </a:rPr>
                  <a:t>and</a:t>
                </a:r>
                <a:r>
                  <a:rPr lang="en-US" dirty="0">
                    <a:solidFill>
                      <a:srgbClr val="0070C0"/>
                    </a:solidFill>
                    <a:cs typeface="Arial" panose="020B0604020202020204" pitchFamily="34" charset="0"/>
                  </a:rPr>
                  <a:t> 	             </a:t>
                </a:r>
                <a14:m>
                  <m:oMath xmlns:m="http://schemas.openxmlformats.org/officeDocument/2006/math">
                    <m:r>
                      <a:rPr lang="en-GB" b="0" i="0" smtClean="0">
                        <a:solidFill>
                          <a:srgbClr val="7030A0"/>
                        </a:solidFill>
                        <a:latin typeface="Cambria Math" panose="02040503050406030204" pitchFamily="18" charset="0"/>
                      </a:rPr>
                      <m:t> </m:t>
                    </m:r>
                    <m:r>
                      <a:rPr lang="en-US" i="1" smtClean="0">
                        <a:solidFill>
                          <a:srgbClr val="00B050"/>
                        </a:solidFill>
                        <a:latin typeface="Cambria Math" panose="02040503050406030204" pitchFamily="18" charset="0"/>
                      </a:rPr>
                      <m:t>𝐸</m:t>
                    </m:r>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1</m:t>
                        </m:r>
                      </m:sub>
                    </m:sSub>
                    <m:r>
                      <a:rPr lang="en-US" i="1">
                        <a:solidFill>
                          <a:srgbClr val="00B050"/>
                        </a:solidFill>
                        <a:latin typeface="Cambria Math" panose="02040503050406030204" pitchFamily="18" charset="0"/>
                      </a:rPr>
                      <m:t>−</m:t>
                    </m:r>
                    <m:bar>
                      <m:barPr>
                        <m:pos m:val="top"/>
                        <m:ctrlPr>
                          <a:rPr lang="en-US" i="1">
                            <a:solidFill>
                              <a:srgbClr val="00B050"/>
                            </a:solidFill>
                            <a:latin typeface="Cambria Math" panose="02040503050406030204" pitchFamily="18" charset="0"/>
                          </a:rPr>
                        </m:ctrlPr>
                      </m:barPr>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1</m:t>
                            </m:r>
                          </m:sub>
                        </m:sSub>
                      </m:e>
                    </m:bar>
                    <m:r>
                      <a:rPr lang="en-US" i="1">
                        <a:solidFill>
                          <a:srgbClr val="00B050"/>
                        </a:solidFill>
                        <a:latin typeface="Cambria Math" panose="02040503050406030204" pitchFamily="18" charset="0"/>
                      </a:rPr>
                      <m:t>)</m:t>
                    </m:r>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2</m:t>
                        </m:r>
                      </m:sub>
                    </m:sSub>
                    <m:r>
                      <a:rPr lang="en-US" i="1">
                        <a:solidFill>
                          <a:srgbClr val="00B050"/>
                        </a:solidFill>
                        <a:latin typeface="Cambria Math" panose="02040503050406030204" pitchFamily="18" charset="0"/>
                      </a:rPr>
                      <m:t>−</m:t>
                    </m:r>
                    <m:bar>
                      <m:barPr>
                        <m:pos m:val="top"/>
                        <m:ctrlPr>
                          <a:rPr lang="en-US" i="1">
                            <a:solidFill>
                              <a:srgbClr val="00B050"/>
                            </a:solidFill>
                            <a:latin typeface="Cambria Math" panose="02040503050406030204" pitchFamily="18" charset="0"/>
                          </a:rPr>
                        </m:ctrlPr>
                      </m:barPr>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𝑅</m:t>
                            </m:r>
                          </m:e>
                          <m:sub>
                            <m:r>
                              <a:rPr lang="en-US" i="1">
                                <a:solidFill>
                                  <a:srgbClr val="00B050"/>
                                </a:solidFill>
                                <a:latin typeface="Cambria Math" panose="02040503050406030204" pitchFamily="18" charset="0"/>
                              </a:rPr>
                              <m:t>2</m:t>
                            </m:r>
                          </m:sub>
                        </m:sSub>
                      </m:e>
                    </m:bar>
                    <m:r>
                      <a:rPr lang="en-US" i="1">
                        <a:solidFill>
                          <a:srgbClr val="00B050"/>
                        </a:solidFill>
                        <a:latin typeface="Cambria Math" panose="02040503050406030204" pitchFamily="18" charset="0"/>
                      </a:rPr>
                      <m:t>))</m:t>
                    </m:r>
                    <m:r>
                      <a:rPr lang="en-US" b="0" i="1" smtClean="0">
                        <a:solidFill>
                          <a:srgbClr val="00B050"/>
                        </a:solidFill>
                        <a:latin typeface="Cambria Math" panose="02040503050406030204" pitchFamily="18" charset="0"/>
                      </a:rPr>
                      <m:t>=</m:t>
                    </m:r>
                    <m:sSub>
                      <m:sSubPr>
                        <m:ctrlPr>
                          <a:rPr lang="en-US" b="0" i="1" smtClean="0">
                            <a:solidFill>
                              <a:srgbClr val="00B050"/>
                            </a:solidFill>
                            <a:latin typeface="Cambria Math" panose="02040503050406030204" pitchFamily="18" charset="0"/>
                            <a:ea typeface="Cambria Math" panose="02040503050406030204" pitchFamily="18" charset="0"/>
                          </a:rPr>
                        </m:ctrlPr>
                      </m:sSubPr>
                      <m:e>
                        <m:r>
                          <a:rPr lang="en-US" b="0" i="1" smtClean="0">
                            <a:solidFill>
                              <a:srgbClr val="00B050"/>
                            </a:solidFill>
                            <a:latin typeface="Cambria Math" panose="02040503050406030204" pitchFamily="18" charset="0"/>
                            <a:ea typeface="Cambria Math" panose="02040503050406030204" pitchFamily="18" charset="0"/>
                          </a:rPr>
                          <m:t>𝜎</m:t>
                        </m:r>
                      </m:e>
                      <m:sub>
                        <m:r>
                          <a:rPr lang="en-US" b="0" i="1" smtClean="0">
                            <a:solidFill>
                              <a:srgbClr val="00B050"/>
                            </a:solidFill>
                            <a:latin typeface="Cambria Math" panose="02040503050406030204" pitchFamily="18" charset="0"/>
                          </a:rPr>
                          <m:t>1,2</m:t>
                        </m:r>
                      </m:sub>
                    </m:sSub>
                    <m:r>
                      <a:rPr lang="en-US" b="0" i="1" smtClean="0">
                        <a:solidFill>
                          <a:srgbClr val="0070C0"/>
                        </a:solidFill>
                        <a:latin typeface="Cambria Math" panose="02040503050406030204" pitchFamily="18" charset="0"/>
                      </a:rPr>
                      <m:t>=</m:t>
                    </m:r>
                    <m:r>
                      <m:rPr>
                        <m:nor/>
                      </m:rPr>
                      <a:rPr lang="en-US" i="0" dirty="0">
                        <a:solidFill>
                          <a:srgbClr val="0070C0"/>
                        </a:solidFill>
                        <a:cs typeface="Arial" panose="020B0604020202020204" pitchFamily="34" charset="0"/>
                      </a:rPr>
                      <m:t> </m:t>
                    </m:r>
                  </m:oMath>
                </a14:m>
                <a:r>
                  <a:rPr lang="en-US" dirty="0">
                    <a:solidFill>
                      <a:srgbClr val="0070C0"/>
                    </a:solidFill>
                    <a:cs typeface="Arial" panose="020B0604020202020204" pitchFamily="34" charset="0"/>
                  </a:rPr>
                  <a:t> the covariance between asset 1 and asset 2</a:t>
                </a:r>
              </a:p>
            </p:txBody>
          </p:sp>
        </mc:Choice>
        <mc:Fallback xmlns="">
          <p:sp>
            <p:nvSpPr>
              <p:cNvPr id="7" name="Content Placeholder 6">
                <a:extLst>
                  <a:ext uri="{FF2B5EF4-FFF2-40B4-BE49-F238E27FC236}">
                    <a16:creationId xmlns:a16="http://schemas.microsoft.com/office/drawing/2014/main" id="{725034BA-3217-9240-9D70-7511910E4E27}"/>
                  </a:ext>
                </a:extLst>
              </p:cNvPr>
              <p:cNvSpPr>
                <a:spLocks noGrp="1" noRot="1" noChangeAspect="1" noMove="1" noResize="1" noEditPoints="1" noAdjustHandles="1" noChangeArrowheads="1" noChangeShapeType="1" noTextEdit="1"/>
              </p:cNvSpPr>
              <p:nvPr>
                <p:ph idx="1"/>
              </p:nvPr>
            </p:nvSpPr>
            <p:spPr>
              <a:xfrm>
                <a:off x="332874" y="1448342"/>
                <a:ext cx="10515600" cy="4854790"/>
              </a:xfrm>
              <a:blipFill>
                <a:blip r:embed="rId2"/>
                <a:stretch>
                  <a:fillRect l="-483" t="-783"/>
                </a:stretch>
              </a:blipFill>
            </p:spPr>
            <p:txBody>
              <a:bodyPr/>
              <a:lstStyle/>
              <a:p>
                <a:r>
                  <a:rPr lang="en-US">
                    <a:noFill/>
                  </a:rPr>
                  <a:t> </a:t>
                </a:r>
              </a:p>
            </p:txBody>
          </p:sp>
        </mc:Fallback>
      </mc:AlternateContent>
    </p:spTree>
    <p:extLst>
      <p:ext uri="{BB962C8B-B14F-4D97-AF65-F5344CB8AC3E}">
        <p14:creationId xmlns:p14="http://schemas.microsoft.com/office/powerpoint/2010/main" val="3274746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B24E0-CEF1-CA41-AF40-CE2933081722}"/>
              </a:ext>
            </a:extLst>
          </p:cNvPr>
          <p:cNvSpPr>
            <a:spLocks noGrp="1"/>
          </p:cNvSpPr>
          <p:nvPr>
            <p:ph type="title"/>
          </p:nvPr>
        </p:nvSpPr>
        <p:spPr>
          <a:xfrm>
            <a:off x="170447" y="347053"/>
            <a:ext cx="11315248" cy="785542"/>
          </a:xfrm>
        </p:spPr>
        <p:txBody>
          <a:bodyPr>
            <a:normAutofit/>
          </a:bodyPr>
          <a:lstStyle/>
          <a:p>
            <a:r>
              <a:rPr lang="en-US" sz="3000" dirty="0"/>
              <a:t>Variance  and standard deviation of a two-asset portfolio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AF9834-1516-1D41-9E24-C948B26B2F95}"/>
                  </a:ext>
                </a:extLst>
              </p:cNvPr>
              <p:cNvSpPr>
                <a:spLocks noGrp="1"/>
              </p:cNvSpPr>
              <p:nvPr>
                <p:ph idx="1"/>
              </p:nvPr>
            </p:nvSpPr>
            <p:spPr/>
            <p:txBody>
              <a:bodyPr>
                <a:normAutofit/>
              </a:bodyPr>
              <a:lstStyle/>
              <a:p>
                <a:pPr marL="0" indent="0">
                  <a:buNone/>
                </a:pPr>
                <a:endParaRPr lang="en-US" dirty="0">
                  <a:latin typeface="Arial" panose="020B0604020202020204" pitchFamily="34" charset="0"/>
                  <a:cs typeface="Arial" panose="020B0604020202020204" pitchFamily="34" charset="0"/>
                </a:endParaRPr>
              </a:p>
              <a:p>
                <a:r>
                  <a:rPr lang="en-US" sz="2000" dirty="0">
                    <a:cs typeface="Arial" panose="020B0604020202020204" pitchFamily="34" charset="0"/>
                  </a:rPr>
                  <a:t>The variance of a two-asset portfolio is then given by:</a:t>
                </a:r>
              </a:p>
              <a:p>
                <a:endParaRPr lang="en-US" sz="2000" dirty="0">
                  <a:cs typeface="Arial" panose="020B0604020202020204" pitchFamily="34" charset="0"/>
                </a:endParaRPr>
              </a:p>
              <a:p>
                <a:pPr marL="0" indent="0">
                  <a:buNone/>
                </a:pPr>
                <a:r>
                  <a:rPr lang="en-US" sz="2000" dirty="0">
                    <a:cs typeface="Arial" panose="020B0604020202020204" pitchFamily="34" charset="0"/>
                  </a:rPr>
                  <a:t>			</a:t>
                </a:r>
                <a14:m>
                  <m:oMath xmlns:m="http://schemas.openxmlformats.org/officeDocument/2006/math">
                    <m:sSubSup>
                      <m:sSubSupPr>
                        <m:ctrlPr>
                          <a:rPr lang="en-US" sz="200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latin typeface="Cambria Math" panose="02040503050406030204" pitchFamily="18" charset="0"/>
                            <a:cs typeface="Arial" panose="020B0604020202020204" pitchFamily="34" charset="0"/>
                          </a:rPr>
                          <m:t>𝑝</m:t>
                        </m:r>
                      </m:sub>
                      <m:sup>
                        <m:r>
                          <a:rPr lang="en-US" sz="2000" b="0" i="1" smtClean="0">
                            <a:latin typeface="Cambria Math" panose="02040503050406030204" pitchFamily="18" charset="0"/>
                            <a:cs typeface="Arial" panose="020B0604020202020204" pitchFamily="34" charset="0"/>
                          </a:rPr>
                          <m:t>2</m:t>
                        </m:r>
                      </m:sup>
                    </m:sSubSup>
                    <m:r>
                      <a:rPr lang="en-US" sz="2000" b="0" i="1" smtClean="0">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14:m>
                  <m:oMath xmlns:m="http://schemas.openxmlformats.org/officeDocument/2006/math">
                    <m:sSubSup>
                      <m:sSubSupPr>
                        <m:ctrlPr>
                          <a:rPr lang="en-US" sz="2000" i="1">
                            <a:latin typeface="Cambria Math" panose="02040503050406030204" pitchFamily="18" charset="0"/>
                            <a:cs typeface="Arial" panose="020B0604020202020204" pitchFamily="34" charset="0"/>
                          </a:rPr>
                        </m:ctrlPr>
                      </m:sSubSupPr>
                      <m:e>
                        <m:r>
                          <a:rPr lang="en-US" sz="2000" i="1">
                            <a:latin typeface="Cambria Math" panose="02040503050406030204" pitchFamily="18" charset="0"/>
                            <a:cs typeface="Arial" panose="020B0604020202020204" pitchFamily="34" charset="0"/>
                          </a:rPr>
                          <m:t>𝑤</m:t>
                        </m:r>
                      </m:e>
                      <m:sub>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2</m:t>
                        </m:r>
                      </m:sup>
                    </m:sSubSup>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cs typeface="Arial" panose="020B0604020202020204" pitchFamily="34" charset="0"/>
                          </a:rPr>
                        </m:ctrlPr>
                      </m:sSubSupPr>
                      <m:e>
                        <m:r>
                          <a:rPr lang="en-US" sz="2000" i="1">
                            <a:latin typeface="Cambria Math" panose="02040503050406030204" pitchFamily="18" charset="0"/>
                            <a:cs typeface="Arial" panose="020B0604020202020204" pitchFamily="34" charset="0"/>
                          </a:rPr>
                          <m:t>𝑤</m:t>
                        </m:r>
                      </m:e>
                      <m:sub>
                        <m:r>
                          <a:rPr lang="en-US" sz="2000" i="1">
                            <a:latin typeface="Cambria Math" panose="02040503050406030204" pitchFamily="18" charset="0"/>
                            <a:cs typeface="Arial" panose="020B0604020202020204" pitchFamily="34" charset="0"/>
                          </a:rPr>
                          <m:t>2</m:t>
                        </m:r>
                      </m:sub>
                      <m:sup>
                        <m:r>
                          <a:rPr lang="en-US" sz="2000" i="1">
                            <a:latin typeface="Cambria Math" panose="02040503050406030204" pitchFamily="18" charset="0"/>
                            <a:cs typeface="Arial" panose="020B0604020202020204" pitchFamily="34" charset="0"/>
                          </a:rPr>
                          <m:t>2</m:t>
                        </m:r>
                      </m:sup>
                    </m:sSubSup>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i="1">
                            <a:latin typeface="Cambria Math" panose="02040503050406030204" pitchFamily="18" charset="0"/>
                            <a:cs typeface="Arial" panose="020B0604020202020204" pitchFamily="34" charset="0"/>
                          </a:rPr>
                          <m:t>2</m:t>
                        </m:r>
                      </m:sub>
                      <m:sup>
                        <m:r>
                          <a:rPr lang="en-US" sz="2000" i="1">
                            <a:latin typeface="Cambria Math" panose="02040503050406030204" pitchFamily="18" charset="0"/>
                            <a:cs typeface="Arial" panose="020B0604020202020204" pitchFamily="34" charset="0"/>
                          </a:rPr>
                          <m:t>2</m:t>
                        </m:r>
                      </m:sup>
                    </m:sSubSup>
                    <m:r>
                      <a:rPr lang="en-US" sz="2000" i="1">
                        <a:latin typeface="Cambria Math" panose="02040503050406030204" pitchFamily="18" charset="0"/>
                      </a:rPr>
                      <m:t>+2</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2</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1,2</m:t>
                        </m:r>
                      </m:sub>
                    </m:sSub>
                  </m:oMath>
                </a14:m>
                <a:endParaRPr lang="en-US" sz="2000" dirty="0">
                  <a:cs typeface="Arial" panose="020B0604020202020204" pitchFamily="34" charset="0"/>
                </a:endParaRPr>
              </a:p>
              <a:p>
                <a:pPr marL="0" indent="0">
                  <a:buNone/>
                </a:pPr>
                <a:r>
                  <a:rPr lang="en-US" sz="2000" dirty="0">
                    <a:cs typeface="Arial" panose="020B0604020202020204" pitchFamily="34" charset="0"/>
                  </a:rPr>
                  <a:t>Or, using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𝑤</m:t>
                        </m:r>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m:t>
                        </m:r>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𝑤</m:t>
                            </m:r>
                          </m:e>
                          <m:sub>
                            <m:r>
                              <a:rPr lang="en-US" sz="2000" b="0" i="1" smtClean="0">
                                <a:latin typeface="Cambria Math" panose="02040503050406030204" pitchFamily="18" charset="0"/>
                                <a:cs typeface="Arial" panose="020B0604020202020204" pitchFamily="34" charset="0"/>
                              </a:rPr>
                              <m:t>1</m:t>
                            </m:r>
                          </m:sub>
                        </m:sSub>
                      </m:e>
                    </m:d>
                    <m:r>
                      <a:rPr lang="en-US" sz="2000" b="0" i="1" smtClean="0">
                        <a:latin typeface="Cambria Math" panose="02040503050406030204" pitchFamily="18" charset="0"/>
                        <a:cs typeface="Arial" panose="020B0604020202020204" pitchFamily="34" charset="0"/>
                      </a:rPr>
                      <m:t>:</m:t>
                    </m:r>
                  </m:oMath>
                </a14:m>
                <a:endParaRPr lang="en-US" sz="2000" b="0" i="1" dirty="0">
                  <a:cs typeface="Arial" panose="020B0604020202020204" pitchFamily="34" charset="0"/>
                </a:endParaRPr>
              </a:p>
              <a:p>
                <a:pPr marL="0" indent="0">
                  <a:buNone/>
                </a:pPr>
                <a:r>
                  <a:rPr lang="en-US" sz="2000" dirty="0">
                    <a:cs typeface="Arial" panose="020B0604020202020204" pitchFamily="34" charset="0"/>
                  </a:rPr>
                  <a:t>			</a:t>
                </a:r>
                <a14:m>
                  <m:oMath xmlns:m="http://schemas.openxmlformats.org/officeDocument/2006/math">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i="1">
                            <a:latin typeface="Cambria Math" panose="02040503050406030204" pitchFamily="18" charset="0"/>
                            <a:cs typeface="Arial" panose="020B0604020202020204" pitchFamily="34" charset="0"/>
                          </a:rPr>
                          <m:t>𝑝</m:t>
                        </m:r>
                      </m:sub>
                      <m:sup>
                        <m:r>
                          <a:rPr lang="en-US" sz="2000" i="1">
                            <a:latin typeface="Cambria Math" panose="02040503050406030204" pitchFamily="18" charset="0"/>
                            <a:cs typeface="Arial" panose="020B0604020202020204" pitchFamily="34" charset="0"/>
                          </a:rPr>
                          <m:t>2</m:t>
                        </m:r>
                      </m:sup>
                    </m:sSubSup>
                    <m:r>
                      <a:rPr lang="en-US" sz="2000" i="1">
                        <a:latin typeface="Cambria Math" panose="02040503050406030204" pitchFamily="18" charset="0"/>
                        <a:cs typeface="Arial" panose="020B0604020202020204" pitchFamily="34" charset="0"/>
                      </a:rPr>
                      <m:t>=</m:t>
                    </m:r>
                  </m:oMath>
                </a14:m>
                <a:r>
                  <a:rPr lang="en-US" sz="2000" dirty="0">
                    <a:cs typeface="Arial" panose="020B0604020202020204" pitchFamily="34" charset="0"/>
                  </a:rPr>
                  <a:t> </a:t>
                </a:r>
                <a14:m>
                  <m:oMath xmlns:m="http://schemas.openxmlformats.org/officeDocument/2006/math">
                    <m:sSubSup>
                      <m:sSubSupPr>
                        <m:ctrlPr>
                          <a:rPr lang="en-US" sz="2000" i="1">
                            <a:latin typeface="Cambria Math" panose="02040503050406030204" pitchFamily="18" charset="0"/>
                            <a:cs typeface="Arial" panose="020B0604020202020204" pitchFamily="34" charset="0"/>
                          </a:rPr>
                        </m:ctrlPr>
                      </m:sSubSupPr>
                      <m:e>
                        <m:r>
                          <a:rPr lang="en-US" sz="2000" i="1">
                            <a:latin typeface="Cambria Math" panose="02040503050406030204" pitchFamily="18" charset="0"/>
                            <a:cs typeface="Arial" panose="020B0604020202020204" pitchFamily="34" charset="0"/>
                          </a:rPr>
                          <m:t>𝑤</m:t>
                        </m:r>
                      </m:e>
                      <m:sub>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2</m:t>
                        </m:r>
                      </m:sup>
                    </m:sSubSup>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i="1">
                            <a:latin typeface="Cambria Math" panose="02040503050406030204" pitchFamily="18" charset="0"/>
                            <a:cs typeface="Arial" panose="020B0604020202020204" pitchFamily="34" charset="0"/>
                          </a:rPr>
                          <m:t>1</m:t>
                        </m:r>
                      </m:sub>
                      <m:sup>
                        <m:r>
                          <a:rPr lang="en-US" sz="2000" i="1">
                            <a:latin typeface="Cambria Math" panose="02040503050406030204" pitchFamily="18" charset="0"/>
                            <a:cs typeface="Arial" panose="020B0604020202020204" pitchFamily="34" charset="0"/>
                          </a:rPr>
                          <m:t>2</m:t>
                        </m:r>
                      </m:sup>
                    </m:sSubSup>
                    <m:r>
                      <a:rPr lang="en-US" sz="2000" i="1">
                        <a:latin typeface="Cambria Math" panose="02040503050406030204" pitchFamily="18" charset="0"/>
                      </a:rPr>
                      <m:t>+</m:t>
                    </m:r>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sub>
                    </m:sSub>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sSubSup>
                      <m:sSubSupPr>
                        <m:ctrlPr>
                          <a:rPr lang="en-US" sz="2000" i="1">
                            <a:latin typeface="Cambria Math" panose="02040503050406030204" pitchFamily="18" charset="0"/>
                            <a:ea typeface="Cambria Math" panose="02040503050406030204" pitchFamily="18" charset="0"/>
                            <a:cs typeface="Arial" panose="020B0604020202020204" pitchFamily="34" charset="0"/>
                          </a:rPr>
                        </m:ctrlPr>
                      </m:sSub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b>
                        <m:r>
                          <a:rPr lang="en-US" sz="2000" i="1">
                            <a:latin typeface="Cambria Math" panose="02040503050406030204" pitchFamily="18" charset="0"/>
                            <a:cs typeface="Arial" panose="020B0604020202020204" pitchFamily="34" charset="0"/>
                          </a:rPr>
                          <m:t>2</m:t>
                        </m:r>
                      </m:sub>
                      <m:sup>
                        <m:r>
                          <a:rPr lang="en-US" sz="2000" i="1">
                            <a:latin typeface="Cambria Math" panose="02040503050406030204" pitchFamily="18" charset="0"/>
                            <a:cs typeface="Arial" panose="020B0604020202020204" pitchFamily="34" charset="0"/>
                          </a:rPr>
                          <m:t>2</m:t>
                        </m:r>
                      </m:sup>
                    </m:sSubSup>
                    <m:r>
                      <a:rPr lang="en-US" sz="2000" i="1">
                        <a:latin typeface="Cambria Math" panose="02040503050406030204" pitchFamily="18" charset="0"/>
                      </a:rPr>
                      <m:t>+2</m:t>
                    </m:r>
                    <m:sSub>
                      <m:sSubPr>
                        <m:ctrlPr>
                          <a:rPr lang="en-US" sz="2000" i="1">
                            <a:latin typeface="Cambria Math" panose="02040503050406030204" pitchFamily="18" charset="0"/>
                          </a:rPr>
                        </m:ctrlPr>
                      </m:sSubPr>
                      <m:e>
                        <m:r>
                          <a:rPr lang="en-US" sz="2000" i="1">
                            <a:latin typeface="Cambria Math" panose="02040503050406030204" pitchFamily="18" charset="0"/>
                          </a:rPr>
                          <m:t>𝑤</m:t>
                        </m:r>
                      </m:e>
                      <m:sub>
                        <m:r>
                          <a:rPr lang="en-US" sz="2000" i="1">
                            <a:latin typeface="Cambria Math" panose="02040503050406030204" pitchFamily="18" charset="0"/>
                          </a:rPr>
                          <m:t>1</m:t>
                        </m:r>
                      </m:sub>
                    </m:sSub>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1,2</m:t>
                        </m:r>
                      </m:sub>
                    </m:sSub>
                  </m:oMath>
                </a14:m>
                <a:endParaRPr lang="en-US" sz="2000" dirty="0">
                  <a:cs typeface="Arial" panose="020B0604020202020204" pitchFamily="34" charset="0"/>
                </a:endParaRPr>
              </a:p>
              <a:p>
                <a:pPr marL="0" indent="0">
                  <a:buNone/>
                </a:pPr>
                <a:endParaRPr lang="en-US" sz="2000" dirty="0">
                  <a:cs typeface="Arial" panose="020B0604020202020204" pitchFamily="34" charset="0"/>
                </a:endParaRPr>
              </a:p>
              <a:p>
                <a:pPr marL="0" indent="0">
                  <a:buNone/>
                </a:pPr>
                <a:r>
                  <a:rPr lang="en-US" sz="2000" dirty="0">
                    <a:cs typeface="Arial" panose="020B0604020202020204" pitchFamily="34" charset="0"/>
                  </a:rPr>
                  <a:t>Then, the standard deviation, is given by:</a:t>
                </a:r>
              </a:p>
              <a:p>
                <a:pPr marL="0" indent="0">
                  <a:buNone/>
                </a:pPr>
                <a:endParaRPr lang="en-US" sz="2000" dirty="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i="1" smtClean="0">
                              <a:solidFill>
                                <a:srgbClr val="0070C0"/>
                              </a:solidFill>
                              <a:latin typeface="Cambria Math" panose="02040503050406030204" pitchFamily="18" charset="0"/>
                              <a:ea typeface="Cambria Math" panose="02040503050406030204" pitchFamily="18" charset="0"/>
                              <a:cs typeface="Arial" panose="020B0604020202020204" pitchFamily="34" charset="0"/>
                            </a:rPr>
                            <m:t>𝜎</m:t>
                          </m:r>
                        </m:e>
                        <m:sub>
                          <m:r>
                            <a:rPr lang="en-US" sz="2000" b="0" i="1" smtClean="0">
                              <a:solidFill>
                                <a:srgbClr val="0070C0"/>
                              </a:solidFill>
                              <a:latin typeface="Cambria Math" panose="02040503050406030204" pitchFamily="18" charset="0"/>
                              <a:cs typeface="Arial" panose="020B0604020202020204" pitchFamily="34" charset="0"/>
                            </a:rPr>
                            <m:t>𝑝</m:t>
                          </m:r>
                        </m:sub>
                      </m:sSub>
                      <m:r>
                        <a:rPr lang="en-US" sz="2000" b="0" i="1" smtClean="0">
                          <a:solidFill>
                            <a:srgbClr val="0070C0"/>
                          </a:solidFill>
                          <a:latin typeface="Cambria Math" panose="02040503050406030204" pitchFamily="18" charset="0"/>
                          <a:cs typeface="Arial" panose="020B0604020202020204" pitchFamily="34" charset="0"/>
                        </a:rPr>
                        <m:t>=</m:t>
                      </m:r>
                      <m:rad>
                        <m:radPr>
                          <m:degHide m:val="on"/>
                          <m:ctrlPr>
                            <a:rPr lang="en-US" sz="2000" i="1" smtClean="0">
                              <a:solidFill>
                                <a:srgbClr val="0070C0"/>
                              </a:solidFill>
                              <a:latin typeface="Cambria Math" panose="02040503050406030204" pitchFamily="18" charset="0"/>
                              <a:cs typeface="Arial" panose="020B0604020202020204" pitchFamily="34" charset="0"/>
                            </a:rPr>
                          </m:ctrlPr>
                        </m:radPr>
                        <m:deg/>
                        <m:e>
                          <m:r>
                            <a:rPr lang="en-US" sz="2000" i="1">
                              <a:solidFill>
                                <a:srgbClr val="0070C0"/>
                              </a:solidFill>
                              <a:latin typeface="Cambria Math" panose="02040503050406030204" pitchFamily="18" charset="0"/>
                            </a:rPr>
                            <m:t>(</m:t>
                          </m:r>
                          <m:sSubSup>
                            <m:sSubSupPr>
                              <m:ctrlPr>
                                <a:rPr lang="en-US" sz="2000" i="1">
                                  <a:solidFill>
                                    <a:srgbClr val="0070C0"/>
                                  </a:solidFill>
                                  <a:latin typeface="Cambria Math" panose="02040503050406030204" pitchFamily="18" charset="0"/>
                                </a:rPr>
                              </m:ctrlPr>
                            </m:sSubSupPr>
                            <m:e>
                              <m:r>
                                <a:rPr lang="en-US" sz="2000" i="1">
                                  <a:solidFill>
                                    <a:srgbClr val="0070C0"/>
                                  </a:solidFill>
                                  <a:latin typeface="Cambria Math" panose="02040503050406030204" pitchFamily="18" charset="0"/>
                                </a:rPr>
                                <m:t>𝑤</m:t>
                              </m:r>
                            </m:e>
                            <m:sub>
                              <m:r>
                                <a:rPr lang="en-US" sz="2000" i="1">
                                  <a:solidFill>
                                    <a:srgbClr val="0070C0"/>
                                  </a:solidFill>
                                  <a:latin typeface="Cambria Math" panose="02040503050406030204" pitchFamily="18" charset="0"/>
                                </a:rPr>
                                <m:t>1</m:t>
                              </m:r>
                            </m:sub>
                            <m:sup>
                              <m:r>
                                <a:rPr lang="en-US" sz="2000" i="1">
                                  <a:solidFill>
                                    <a:srgbClr val="0070C0"/>
                                  </a:solidFill>
                                  <a:latin typeface="Cambria Math" panose="02040503050406030204" pitchFamily="18" charset="0"/>
                                </a:rPr>
                                <m:t>2</m:t>
                              </m:r>
                            </m:sup>
                          </m:sSubSup>
                          <m:sSubSup>
                            <m:sSubSupPr>
                              <m:ctrlPr>
                                <a:rPr lang="en-US" sz="2000" i="1">
                                  <a:solidFill>
                                    <a:srgbClr val="0070C0"/>
                                  </a:solidFill>
                                  <a:latin typeface="Cambria Math" panose="02040503050406030204" pitchFamily="18" charset="0"/>
                                  <a:ea typeface="Cambria Math" panose="02040503050406030204" pitchFamily="18" charset="0"/>
                                </a:rPr>
                              </m:ctrlPr>
                            </m:sSubSupPr>
                            <m:e>
                              <m:r>
                                <a:rPr lang="en-US" sz="2000" i="1">
                                  <a:solidFill>
                                    <a:srgbClr val="0070C0"/>
                                  </a:solidFill>
                                  <a:latin typeface="Cambria Math" panose="02040503050406030204" pitchFamily="18" charset="0"/>
                                  <a:ea typeface="Cambria Math" panose="02040503050406030204" pitchFamily="18" charset="0"/>
                                </a:rPr>
                                <m:t>𝜎</m:t>
                              </m:r>
                            </m:e>
                            <m:sub>
                              <m:r>
                                <a:rPr lang="en-US" sz="2000" i="1">
                                  <a:solidFill>
                                    <a:srgbClr val="0070C0"/>
                                  </a:solidFill>
                                  <a:latin typeface="Cambria Math" panose="02040503050406030204" pitchFamily="18" charset="0"/>
                                </a:rPr>
                                <m:t>1</m:t>
                              </m:r>
                            </m:sub>
                            <m:sup>
                              <m:r>
                                <a:rPr lang="en-US" sz="2000" i="1">
                                  <a:solidFill>
                                    <a:srgbClr val="0070C0"/>
                                  </a:solidFill>
                                  <a:latin typeface="Cambria Math" panose="02040503050406030204" pitchFamily="18" charset="0"/>
                                </a:rPr>
                                <m:t>2</m:t>
                              </m:r>
                            </m:sup>
                          </m:sSubSup>
                          <m:r>
                            <a:rPr lang="en-US" sz="2000" i="1">
                              <a:solidFill>
                                <a:srgbClr val="0070C0"/>
                              </a:solidFill>
                              <a:latin typeface="Cambria Math" panose="02040503050406030204" pitchFamily="18" charset="0"/>
                            </a:rPr>
                            <m:t>+</m:t>
                          </m:r>
                          <m:sSubSup>
                            <m:sSubSupPr>
                              <m:ctrlPr>
                                <a:rPr lang="en-US" sz="2000" i="1">
                                  <a:solidFill>
                                    <a:srgbClr val="0070C0"/>
                                  </a:solidFill>
                                  <a:latin typeface="Cambria Math" panose="02040503050406030204" pitchFamily="18" charset="0"/>
                                </a:rPr>
                              </m:ctrlPr>
                            </m:sSubSupPr>
                            <m:e>
                              <m:r>
                                <a:rPr lang="en-US" sz="2000" i="1">
                                  <a:solidFill>
                                    <a:srgbClr val="0070C0"/>
                                  </a:solidFill>
                                  <a:latin typeface="Cambria Math" panose="02040503050406030204" pitchFamily="18" charset="0"/>
                                </a:rPr>
                                <m:t>𝑤</m:t>
                              </m:r>
                            </m:e>
                            <m:sub>
                              <m:r>
                                <a:rPr lang="en-US" sz="2000" i="1">
                                  <a:solidFill>
                                    <a:srgbClr val="0070C0"/>
                                  </a:solidFill>
                                  <a:latin typeface="Cambria Math" panose="02040503050406030204" pitchFamily="18" charset="0"/>
                                </a:rPr>
                                <m:t>2</m:t>
                              </m:r>
                            </m:sub>
                            <m:sup>
                              <m:r>
                                <a:rPr lang="en-US" sz="2000" i="1">
                                  <a:solidFill>
                                    <a:srgbClr val="0070C0"/>
                                  </a:solidFill>
                                  <a:latin typeface="Cambria Math" panose="02040503050406030204" pitchFamily="18" charset="0"/>
                                </a:rPr>
                                <m:t>2</m:t>
                              </m:r>
                            </m:sup>
                          </m:sSubSup>
                          <m:sSubSup>
                            <m:sSubSupPr>
                              <m:ctrlPr>
                                <a:rPr lang="en-US" sz="2000" i="1">
                                  <a:solidFill>
                                    <a:srgbClr val="0070C0"/>
                                  </a:solidFill>
                                  <a:latin typeface="Cambria Math" panose="02040503050406030204" pitchFamily="18" charset="0"/>
                                  <a:ea typeface="Cambria Math" panose="02040503050406030204" pitchFamily="18" charset="0"/>
                                </a:rPr>
                              </m:ctrlPr>
                            </m:sSubSupPr>
                            <m:e>
                              <m:r>
                                <a:rPr lang="en-US" sz="2000" i="1">
                                  <a:solidFill>
                                    <a:srgbClr val="0070C0"/>
                                  </a:solidFill>
                                  <a:latin typeface="Cambria Math" panose="02040503050406030204" pitchFamily="18" charset="0"/>
                                  <a:ea typeface="Cambria Math" panose="02040503050406030204" pitchFamily="18" charset="0"/>
                                </a:rPr>
                                <m:t>𝜎</m:t>
                              </m:r>
                            </m:e>
                            <m:sub>
                              <m:r>
                                <a:rPr lang="en-US" sz="2000" i="1">
                                  <a:solidFill>
                                    <a:srgbClr val="0070C0"/>
                                  </a:solidFill>
                                  <a:latin typeface="Cambria Math" panose="02040503050406030204" pitchFamily="18" charset="0"/>
                                </a:rPr>
                                <m:t>2</m:t>
                              </m:r>
                            </m:sub>
                            <m:sup>
                              <m:r>
                                <a:rPr lang="en-US" sz="2000" i="1">
                                  <a:solidFill>
                                    <a:srgbClr val="0070C0"/>
                                  </a:solidFill>
                                  <a:latin typeface="Cambria Math" panose="02040503050406030204" pitchFamily="18" charset="0"/>
                                </a:rPr>
                                <m:t>2</m:t>
                              </m:r>
                            </m:sup>
                          </m:sSubSup>
                          <m:r>
                            <a:rPr lang="en-US" sz="2000" i="1">
                              <a:solidFill>
                                <a:srgbClr val="0070C0"/>
                              </a:solidFill>
                              <a:latin typeface="Cambria Math" panose="02040503050406030204" pitchFamily="18" charset="0"/>
                            </a:rPr>
                            <m:t>+2</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𝑤</m:t>
                              </m:r>
                            </m:e>
                            <m:sub>
                              <m:r>
                                <a:rPr lang="en-US" sz="2000" i="1">
                                  <a:solidFill>
                                    <a:srgbClr val="0070C0"/>
                                  </a:solidFill>
                                  <a:latin typeface="Cambria Math" panose="02040503050406030204" pitchFamily="18" charset="0"/>
                                </a:rPr>
                                <m:t>1</m:t>
                              </m:r>
                            </m:sub>
                          </m:sSub>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𝑤</m:t>
                              </m:r>
                            </m:e>
                            <m:sub>
                              <m:r>
                                <a:rPr lang="en-US" sz="2000" i="1">
                                  <a:solidFill>
                                    <a:srgbClr val="0070C0"/>
                                  </a:solidFill>
                                  <a:latin typeface="Cambria Math" panose="02040503050406030204" pitchFamily="18" charset="0"/>
                                </a:rPr>
                                <m:t>2</m:t>
                              </m:r>
                            </m:sub>
                          </m:sSub>
                          <m:sSub>
                            <m:sSubPr>
                              <m:ctrlPr>
                                <a:rPr lang="en-US" sz="2000" i="1">
                                  <a:solidFill>
                                    <a:srgbClr val="0070C0"/>
                                  </a:solidFill>
                                  <a:latin typeface="Cambria Math" panose="02040503050406030204" pitchFamily="18" charset="0"/>
                                  <a:ea typeface="Cambria Math" panose="02040503050406030204" pitchFamily="18" charset="0"/>
                                </a:rPr>
                              </m:ctrlPr>
                            </m:sSubPr>
                            <m:e>
                              <m:r>
                                <a:rPr lang="en-US" sz="2000" i="1">
                                  <a:solidFill>
                                    <a:srgbClr val="0070C0"/>
                                  </a:solidFill>
                                  <a:latin typeface="Cambria Math" panose="02040503050406030204" pitchFamily="18" charset="0"/>
                                  <a:ea typeface="Cambria Math" panose="02040503050406030204" pitchFamily="18" charset="0"/>
                                </a:rPr>
                                <m:t>𝜎</m:t>
                              </m:r>
                            </m:e>
                            <m:sub>
                              <m:r>
                                <a:rPr lang="en-US" sz="2000" i="1">
                                  <a:solidFill>
                                    <a:srgbClr val="0070C0"/>
                                  </a:solidFill>
                                  <a:latin typeface="Cambria Math" panose="02040503050406030204" pitchFamily="18" charset="0"/>
                                </a:rPr>
                                <m:t>1,2</m:t>
                              </m:r>
                            </m:sub>
                          </m:sSub>
                          <m:r>
                            <a:rPr lang="en-US" sz="2000" i="1">
                              <a:solidFill>
                                <a:srgbClr val="0070C0"/>
                              </a:solidFill>
                              <a:latin typeface="Cambria Math" panose="02040503050406030204" pitchFamily="18" charset="0"/>
                            </a:rPr>
                            <m:t>)</m:t>
                          </m:r>
                        </m:e>
                      </m:rad>
                    </m:oMath>
                  </m:oMathPara>
                </a14:m>
                <a:endParaRPr lang="en-US" sz="2000" dirty="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69AF9834-1516-1D41-9E24-C948B26B2F95}"/>
                  </a:ext>
                </a:extLst>
              </p:cNvPr>
              <p:cNvSpPr>
                <a:spLocks noGrp="1" noRot="1" noChangeAspect="1" noMove="1" noResize="1" noEditPoints="1" noAdjustHandles="1" noChangeArrowheads="1" noChangeShapeType="1" noTextEdit="1"/>
              </p:cNvSpPr>
              <p:nvPr>
                <p:ph idx="1"/>
              </p:nvPr>
            </p:nvSpPr>
            <p:spPr>
              <a:blipFill>
                <a:blip r:embed="rId2"/>
                <a:stretch>
                  <a:fillRect l="-680"/>
                </a:stretch>
              </a:blipFill>
            </p:spPr>
            <p:txBody>
              <a:bodyPr/>
              <a:lstStyle/>
              <a:p>
                <a:r>
                  <a:rPr lang="en-US">
                    <a:noFill/>
                  </a:rPr>
                  <a:t> </a:t>
                </a:r>
              </a:p>
            </p:txBody>
          </p:sp>
        </mc:Fallback>
      </mc:AlternateContent>
      <p:sp>
        <p:nvSpPr>
          <p:cNvPr id="6" name="Rectangle 4">
            <a:extLst>
              <a:ext uri="{FF2B5EF4-FFF2-40B4-BE49-F238E27FC236}">
                <a16:creationId xmlns:a16="http://schemas.microsoft.com/office/drawing/2014/main" id="{CB4977F6-DC39-D543-8FAC-EF316553C4AA}"/>
              </a:ext>
            </a:extLst>
          </p:cNvPr>
          <p:cNvSpPr>
            <a:spLocks noChangeArrowheads="1"/>
          </p:cNvSpPr>
          <p:nvPr/>
        </p:nvSpPr>
        <p:spPr bwMode="auto">
          <a:xfrm>
            <a:off x="3002691" y="2496064"/>
            <a:ext cx="963827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901312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669073-7F23-EF4D-83D6-2454BAD49F15}"/>
              </a:ext>
            </a:extLst>
          </p:cNvPr>
          <p:cNvSpPr>
            <a:spLocks noGrp="1"/>
          </p:cNvSpPr>
          <p:nvPr>
            <p:ph type="title"/>
          </p:nvPr>
        </p:nvSpPr>
        <p:spPr/>
        <p:txBody>
          <a:bodyPr wrap="square" anchor="ctr">
            <a:normAutofit/>
          </a:bodyPr>
          <a:lstStyle/>
          <a:p>
            <a:r>
              <a:rPr lang="en-US" dirty="0"/>
              <a:t>Diversification</a:t>
            </a:r>
          </a:p>
        </p:txBody>
      </p:sp>
      <p:sp>
        <p:nvSpPr>
          <p:cNvPr id="6" name="Text Placeholder 5">
            <a:extLst>
              <a:ext uri="{FF2B5EF4-FFF2-40B4-BE49-F238E27FC236}">
                <a16:creationId xmlns:a16="http://schemas.microsoft.com/office/drawing/2014/main" id="{13177E51-12EE-9E4E-80BF-AB16082EE0CA}"/>
              </a:ext>
            </a:extLst>
          </p:cNvPr>
          <p:cNvSpPr>
            <a:spLocks noGrp="1"/>
          </p:cNvSpPr>
          <p:nvPr>
            <p:ph type="body" sz="half" idx="2"/>
          </p:nvPr>
        </p:nvSpPr>
        <p:spPr/>
        <p:txBody>
          <a:bodyPr/>
          <a:lstStyle/>
          <a:p>
            <a:endParaRPr lang="en-US" dirty="0"/>
          </a:p>
        </p:txBody>
      </p:sp>
      <p:sp>
        <p:nvSpPr>
          <p:cNvPr id="7" name="Text Placeholder 6">
            <a:extLst>
              <a:ext uri="{FF2B5EF4-FFF2-40B4-BE49-F238E27FC236}">
                <a16:creationId xmlns:a16="http://schemas.microsoft.com/office/drawing/2014/main" id="{20035C51-7EF7-3045-B181-8F2BC48AC873}"/>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2048008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27E88-BC68-F44F-9F88-9DCBB3B663EF}"/>
              </a:ext>
            </a:extLst>
          </p:cNvPr>
          <p:cNvSpPr>
            <a:spLocks noGrp="1"/>
          </p:cNvSpPr>
          <p:nvPr>
            <p:ph type="title"/>
          </p:nvPr>
        </p:nvSpPr>
        <p:spPr>
          <a:xfrm>
            <a:off x="689008" y="423203"/>
            <a:ext cx="11315248" cy="785542"/>
          </a:xfrm>
        </p:spPr>
        <p:txBody>
          <a:bodyPr/>
          <a:lstStyle/>
          <a:p>
            <a:r>
              <a:rPr lang="en-US" sz="3200" dirty="0"/>
              <a:t>Diversification</a:t>
            </a:r>
          </a:p>
        </p:txBody>
      </p:sp>
      <p:sp>
        <p:nvSpPr>
          <p:cNvPr id="3" name="Content Placeholder 2">
            <a:extLst>
              <a:ext uri="{FF2B5EF4-FFF2-40B4-BE49-F238E27FC236}">
                <a16:creationId xmlns:a16="http://schemas.microsoft.com/office/drawing/2014/main" id="{306FD54D-2F0B-BC41-9519-F19E4ACD5C36}"/>
              </a:ext>
            </a:extLst>
          </p:cNvPr>
          <p:cNvSpPr>
            <a:spLocks noGrp="1"/>
          </p:cNvSpPr>
          <p:nvPr>
            <p:ph idx="1"/>
          </p:nvPr>
        </p:nvSpPr>
        <p:spPr>
          <a:xfrm>
            <a:off x="689008" y="1253331"/>
            <a:ext cx="10515600" cy="4351338"/>
          </a:xfrm>
        </p:spPr>
        <p:txBody>
          <a:bodyPr>
            <a:noAutofit/>
          </a:bodyPr>
          <a:lstStyle/>
          <a:p>
            <a:pPr>
              <a:lnSpc>
                <a:spcPct val="150000"/>
              </a:lnSpc>
              <a:spcAft>
                <a:spcPts val="600"/>
              </a:spcAft>
            </a:pPr>
            <a:r>
              <a:rPr lang="en-US" altLang="en-US" sz="2000" dirty="0"/>
              <a:t>Leading to the reduction of the </a:t>
            </a:r>
            <a:r>
              <a:rPr lang="en-US" altLang="en-US" sz="2000" b="1" dirty="0">
                <a:solidFill>
                  <a:srgbClr val="0070C0"/>
                </a:solidFill>
              </a:rPr>
              <a:t>total</a:t>
            </a:r>
            <a:r>
              <a:rPr lang="en-US" altLang="en-US" sz="2000" dirty="0"/>
              <a:t> risk of the portfolio</a:t>
            </a:r>
          </a:p>
          <a:p>
            <a:pPr>
              <a:lnSpc>
                <a:spcPct val="150000"/>
              </a:lnSpc>
              <a:spcAft>
                <a:spcPts val="600"/>
              </a:spcAft>
            </a:pPr>
            <a:r>
              <a:rPr lang="en-US" altLang="en-US" sz="2000" dirty="0">
                <a:solidFill>
                  <a:srgbClr val="0070C0"/>
                </a:solidFill>
              </a:rPr>
              <a:t>Portfolio return: weighted average of the expected returns </a:t>
            </a:r>
            <a:r>
              <a:rPr lang="en-US" altLang="en-US" sz="2000" dirty="0"/>
              <a:t>of each component asset in the portfolio</a:t>
            </a:r>
          </a:p>
          <a:p>
            <a:pPr>
              <a:lnSpc>
                <a:spcPct val="150000"/>
              </a:lnSpc>
              <a:spcAft>
                <a:spcPts val="600"/>
              </a:spcAft>
            </a:pPr>
            <a:r>
              <a:rPr lang="en-US" altLang="en-US" sz="2000" dirty="0">
                <a:solidFill>
                  <a:srgbClr val="0070C0"/>
                </a:solidFill>
              </a:rPr>
              <a:t>Portfolio risk: NOT a weighted average of the risks </a:t>
            </a:r>
            <a:r>
              <a:rPr lang="en-US" altLang="en-US" sz="2000" dirty="0"/>
              <a:t>of securities in the portfolio</a:t>
            </a:r>
          </a:p>
          <a:p>
            <a:pPr lvl="1">
              <a:lnSpc>
                <a:spcPct val="150000"/>
              </a:lnSpc>
              <a:spcAft>
                <a:spcPts val="600"/>
              </a:spcAft>
            </a:pPr>
            <a:r>
              <a:rPr lang="en-US" altLang="en-US" sz="2000" dirty="0"/>
              <a:t>It depends on the correlation coefficient/covariance between the assets</a:t>
            </a:r>
          </a:p>
          <a:p>
            <a:pPr>
              <a:lnSpc>
                <a:spcPct val="150000"/>
              </a:lnSpc>
              <a:spcAft>
                <a:spcPts val="600"/>
              </a:spcAft>
            </a:pPr>
            <a:r>
              <a:rPr lang="en-US" sz="2000" dirty="0"/>
              <a:t>Diversification is achieved by: </a:t>
            </a:r>
          </a:p>
          <a:p>
            <a:pPr marL="457200" indent="-457200">
              <a:lnSpc>
                <a:spcPct val="150000"/>
              </a:lnSpc>
              <a:spcAft>
                <a:spcPts val="600"/>
              </a:spcAft>
              <a:buAutoNum type="arabicParenR"/>
            </a:pPr>
            <a:r>
              <a:rPr lang="en-US" sz="2000" dirty="0"/>
              <a:t>Having low or negative correlation/covariance between pars of assets in the portfolio or</a:t>
            </a:r>
          </a:p>
          <a:p>
            <a:pPr marL="457200" indent="-457200">
              <a:lnSpc>
                <a:spcPct val="150000"/>
              </a:lnSpc>
              <a:spcAft>
                <a:spcPts val="600"/>
              </a:spcAft>
              <a:buAutoNum type="arabicParenR"/>
            </a:pPr>
            <a:r>
              <a:rPr lang="en-US" sz="2000" dirty="0"/>
              <a:t>Having large number of assets in a portfolio</a:t>
            </a:r>
          </a:p>
        </p:txBody>
      </p:sp>
    </p:spTree>
    <p:extLst>
      <p:ext uri="{BB962C8B-B14F-4D97-AF65-F5344CB8AC3E}">
        <p14:creationId xmlns:p14="http://schemas.microsoft.com/office/powerpoint/2010/main" val="1076153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4794971-3714-2F4F-8CAC-0FAEDFA82449}"/>
              </a:ext>
            </a:extLst>
          </p:cNvPr>
          <p:cNvSpPr>
            <a:spLocks noGrp="1" noChangeArrowheads="1"/>
          </p:cNvSpPr>
          <p:nvPr>
            <p:ph type="title"/>
          </p:nvPr>
        </p:nvSpPr>
        <p:spPr>
          <a:xfrm>
            <a:off x="438376" y="431799"/>
            <a:ext cx="11315248" cy="785542"/>
          </a:xfrm>
        </p:spPr>
        <p:txBody>
          <a:bodyPr>
            <a:normAutofit/>
          </a:bodyPr>
          <a:lstStyle/>
          <a:p>
            <a:r>
              <a:rPr lang="en-GB" altLang="en-US" sz="3600" dirty="0"/>
              <a:t>Covariance and correlation coefficient</a:t>
            </a:r>
          </a:p>
        </p:txBody>
      </p:sp>
      <mc:AlternateContent xmlns:mc="http://schemas.openxmlformats.org/markup-compatibility/2006" xmlns:a14="http://schemas.microsoft.com/office/drawing/2010/main">
        <mc:Choice Requires="a14">
          <p:sp>
            <p:nvSpPr>
              <p:cNvPr id="27651" name="Rectangle 3">
                <a:extLst>
                  <a:ext uri="{FF2B5EF4-FFF2-40B4-BE49-F238E27FC236}">
                    <a16:creationId xmlns:a16="http://schemas.microsoft.com/office/drawing/2014/main" id="{656018C3-76CE-CE4C-962E-333C09D3E108}"/>
                  </a:ext>
                </a:extLst>
              </p:cNvPr>
              <p:cNvSpPr>
                <a:spLocks noGrp="1" noChangeArrowheads="1"/>
              </p:cNvSpPr>
              <p:nvPr>
                <p:ph type="body" idx="1"/>
              </p:nvPr>
            </p:nvSpPr>
            <p:spPr>
              <a:xfrm>
                <a:off x="438376" y="1401930"/>
                <a:ext cx="9372600" cy="4735513"/>
              </a:xfrm>
            </p:spPr>
            <p:txBody>
              <a:bodyPr>
                <a:normAutofit/>
              </a:bodyPr>
              <a:lstStyle/>
              <a:p>
                <a:pPr>
                  <a:lnSpc>
                    <a:spcPct val="150000"/>
                  </a:lnSpc>
                </a:pPr>
                <a:r>
                  <a:rPr lang="en-GB" altLang="en-US" sz="2000" dirty="0">
                    <a:cs typeface="Arial" panose="020B0604020202020204" pitchFamily="34" charset="0"/>
                  </a:rPr>
                  <a:t>Both measure the relationship between returns of two assets</a:t>
                </a:r>
              </a:p>
              <a:p>
                <a:pPr>
                  <a:lnSpc>
                    <a:spcPct val="150000"/>
                  </a:lnSpc>
                </a:pPr>
                <a:r>
                  <a:rPr lang="en-US" altLang="en-US" sz="2000" dirty="0">
                    <a:solidFill>
                      <a:srgbClr val="0070C0"/>
                    </a:solidFill>
                    <a:cs typeface="Arial" panose="020B0604020202020204" pitchFamily="34" charset="0"/>
                    <a:sym typeface="Symbol" pitchFamily="2" charset="2"/>
                  </a:rPr>
                  <a:t>Covariance shows the direction in which two securities’ returns move </a:t>
                </a:r>
                <a:r>
                  <a:rPr lang="en-US" altLang="en-US" sz="2000" dirty="0">
                    <a:cs typeface="Arial" panose="020B0604020202020204" pitchFamily="34" charset="0"/>
                    <a:sym typeface="Symbol" pitchFamily="2" charset="2"/>
                  </a:rPr>
                  <a:t>over time</a:t>
                </a:r>
              </a:p>
              <a:p>
                <a:pPr lvl="1">
                  <a:lnSpc>
                    <a:spcPct val="150000"/>
                  </a:lnSpc>
                </a:pPr>
                <a:r>
                  <a:rPr lang="en-US" altLang="en-US" sz="2000" dirty="0">
                    <a:cs typeface="Arial" panose="020B0604020202020204" pitchFamily="34" charset="0"/>
                    <a:sym typeface="Symbol" pitchFamily="2" charset="2"/>
                  </a:rPr>
                  <a:t>positive vs. negative covariance, and zero covariance</a:t>
                </a:r>
              </a:p>
              <a:p>
                <a:pPr lvl="1">
                  <a:lnSpc>
                    <a:spcPct val="150000"/>
                  </a:lnSpc>
                </a:pPr>
                <a:r>
                  <a:rPr lang="en-US" altLang="en-US" sz="2000" dirty="0">
                    <a:sym typeface="Symbol" pitchFamily="2" charset="2"/>
                  </a:rPr>
                  <a:t>positive = returns move in the same direction; negative = returns move in the opposite directions; zero = returns have no </a:t>
                </a:r>
                <a:r>
                  <a:rPr lang="en-US" altLang="en-US" sz="2000" i="1" dirty="0">
                    <a:sym typeface="Symbol" pitchFamily="2" charset="2"/>
                  </a:rPr>
                  <a:t>linear</a:t>
                </a:r>
                <a:r>
                  <a:rPr lang="en-US" altLang="en-US" sz="2000" dirty="0">
                    <a:sym typeface="Symbol" pitchFamily="2" charset="2"/>
                  </a:rPr>
                  <a:t> relationship </a:t>
                </a:r>
                <a:endParaRPr lang="en-US" altLang="en-US" sz="2000" dirty="0">
                  <a:cs typeface="Arial" panose="020B0604020202020204" pitchFamily="34" charset="0"/>
                  <a:sym typeface="Symbol" pitchFamily="2" charset="2"/>
                </a:endParaRPr>
              </a:p>
              <a:p>
                <a:pPr>
                  <a:lnSpc>
                    <a:spcPct val="150000"/>
                  </a:lnSpc>
                </a:pPr>
                <a:r>
                  <a:rPr lang="en-US" altLang="en-US" sz="2000" dirty="0">
                    <a:cs typeface="Arial" panose="020B0604020202020204" pitchFamily="34" charset="0"/>
                    <a:sym typeface="Symbol" pitchFamily="2" charset="2"/>
                  </a:rPr>
                  <a:t>The relationship between the covariance and correlation coefficient is given as:</a:t>
                </a:r>
              </a:p>
              <a:p>
                <a:pPr marL="0" indent="0">
                  <a:lnSpc>
                    <a:spcPct val="150000"/>
                  </a:lnSpc>
                  <a:buNone/>
                </a:pPr>
                <a:r>
                  <a:rPr lang="en-US" altLang="en-US" sz="2000" dirty="0">
                    <a:solidFill>
                      <a:srgbClr val="0070C0"/>
                    </a:solidFill>
                    <a:cs typeface="Arial" panose="020B0604020202020204" pitchFamily="34" charset="0"/>
                    <a:sym typeface="Symbol" pitchFamily="2" charset="2"/>
                  </a:rPr>
                  <a:t>    </a:t>
                </a:r>
                <a:r>
                  <a:rPr lang="en-US" altLang="en-US" sz="2800" dirty="0">
                    <a:solidFill>
                      <a:srgbClr val="0070C0"/>
                    </a:solidFill>
                    <a:cs typeface="Arial" panose="020B0604020202020204" pitchFamily="34" charset="0"/>
                    <a:sym typeface="Symbol" pitchFamily="2" charset="2"/>
                  </a:rPr>
                  <a:t></a:t>
                </a:r>
                <a:r>
                  <a:rPr lang="en-US" altLang="en-US" sz="2800" baseline="-25000" dirty="0" err="1">
                    <a:solidFill>
                      <a:srgbClr val="0070C0"/>
                    </a:solidFill>
                    <a:cs typeface="Arial" panose="020B0604020202020204" pitchFamily="34" charset="0"/>
                    <a:sym typeface="Symbol" pitchFamily="2" charset="2"/>
                  </a:rPr>
                  <a:t>ij</a:t>
                </a:r>
                <a:r>
                  <a:rPr lang="en-US" altLang="en-US" sz="2800" baseline="-25000" dirty="0">
                    <a:solidFill>
                      <a:srgbClr val="0070C0"/>
                    </a:solidFill>
                    <a:cs typeface="Arial" panose="020B0604020202020204" pitchFamily="34" charset="0"/>
                    <a:sym typeface="Symbol" pitchFamily="2" charset="2"/>
                  </a:rPr>
                  <a:t> </a:t>
                </a:r>
                <a:r>
                  <a:rPr lang="en-US" altLang="en-US" sz="2800" dirty="0">
                    <a:solidFill>
                      <a:srgbClr val="0070C0"/>
                    </a:solidFill>
                    <a:cs typeface="Arial" panose="020B0604020202020204" pitchFamily="34" charset="0"/>
                    <a:sym typeface="Symbol" pitchFamily="2" charset="2"/>
                  </a:rPr>
                  <a:t>= </a:t>
                </a:r>
                <a:r>
                  <a:rPr lang="en-US" altLang="en-US" sz="2800" baseline="-25000" dirty="0" err="1">
                    <a:solidFill>
                      <a:srgbClr val="0070C0"/>
                    </a:solidFill>
                    <a:cs typeface="Arial" panose="020B0604020202020204" pitchFamily="34" charset="0"/>
                    <a:sym typeface="Symbol" pitchFamily="2" charset="2"/>
                  </a:rPr>
                  <a:t>i,j</a:t>
                </a:r>
                <a:r>
                  <a:rPr lang="en-US" altLang="en-US" sz="2800" baseline="-25000" dirty="0">
                    <a:solidFill>
                      <a:srgbClr val="0070C0"/>
                    </a:solidFill>
                    <a:cs typeface="Arial" panose="020B0604020202020204" pitchFamily="34" charset="0"/>
                    <a:sym typeface="Symbol" pitchFamily="2" charset="2"/>
                  </a:rPr>
                  <a:t> </a:t>
                </a:r>
                <a:r>
                  <a:rPr lang="en-US" altLang="en-US" sz="2800" dirty="0">
                    <a:solidFill>
                      <a:srgbClr val="0070C0"/>
                    </a:solidFill>
                    <a:cs typeface="Arial" panose="020B0604020202020204" pitchFamily="34" charset="0"/>
                    <a:sym typeface="Symbol" pitchFamily="2" charset="2"/>
                  </a:rPr>
                  <a:t></a:t>
                </a:r>
                <a:r>
                  <a:rPr lang="en-US" altLang="en-US" sz="2800" baseline="-25000" dirty="0" err="1">
                    <a:solidFill>
                      <a:srgbClr val="0070C0"/>
                    </a:solidFill>
                    <a:cs typeface="Arial" panose="020B0604020202020204" pitchFamily="34" charset="0"/>
                    <a:sym typeface="Symbol" pitchFamily="2" charset="2"/>
                  </a:rPr>
                  <a:t>i</a:t>
                </a:r>
                <a:r>
                  <a:rPr lang="en-US" altLang="en-US" sz="2800" baseline="-25000" dirty="0">
                    <a:solidFill>
                      <a:srgbClr val="0070C0"/>
                    </a:solidFill>
                    <a:cs typeface="Arial" panose="020B0604020202020204" pitchFamily="34" charset="0"/>
                    <a:sym typeface="Symbol" pitchFamily="2" charset="2"/>
                  </a:rPr>
                  <a:t> </a:t>
                </a:r>
                <a:r>
                  <a:rPr lang="en-US" altLang="en-US" sz="2800" dirty="0">
                    <a:solidFill>
                      <a:srgbClr val="0070C0"/>
                    </a:solidFill>
                    <a:cs typeface="Arial" panose="020B0604020202020204" pitchFamily="34" charset="0"/>
                    <a:sym typeface="Symbol" pitchFamily="2" charset="2"/>
                  </a:rPr>
                  <a:t> </a:t>
                </a:r>
                <a:r>
                  <a:rPr lang="en-US" altLang="en-US" sz="2800" baseline="-25000" dirty="0">
                    <a:solidFill>
                      <a:srgbClr val="0070C0"/>
                    </a:solidFill>
                    <a:cs typeface="Arial" panose="020B0604020202020204" pitchFamily="34" charset="0"/>
                    <a:sym typeface="Symbol" pitchFamily="2" charset="2"/>
                  </a:rPr>
                  <a:t>j </a:t>
                </a:r>
              </a:p>
              <a:p>
                <a:pPr marL="0" indent="0">
                  <a:lnSpc>
                    <a:spcPct val="150000"/>
                  </a:lnSpc>
                  <a:buNone/>
                </a:pPr>
                <a:r>
                  <a:rPr lang="en-US" altLang="en-US" sz="2000" dirty="0">
                    <a:cs typeface="Arial" panose="020B0604020202020204" pitchFamily="34" charset="0"/>
                    <a:sym typeface="Symbol" pitchFamily="2" charset="2"/>
                  </a:rPr>
                  <a:t>where </a:t>
                </a:r>
                <a14:m>
                  <m:oMath xmlns:m="http://schemas.openxmlformats.org/officeDocument/2006/math">
                    <m:sSub>
                      <m:sSubPr>
                        <m:ctrlPr>
                          <a:rPr lang="en-US" altLang="en-US" sz="2000" i="1" smtClean="0">
                            <a:solidFill>
                              <a:srgbClr val="0070C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ctrlPr>
                      </m:sSubPr>
                      <m:e>
                        <m:r>
                          <a:rPr lang="en-US" altLang="en-US" sz="2000" i="1" smtClean="0">
                            <a:solidFill>
                              <a:srgbClr val="0070C0"/>
                            </a:solidFill>
                            <a:latin typeface="Cambria Math" panose="02040503050406030204" pitchFamily="18" charset="0"/>
                            <a:ea typeface="Cambria Math" panose="02040503050406030204" pitchFamily="18" charset="0"/>
                            <a:cs typeface="Arial" panose="020B0604020202020204" pitchFamily="34" charset="0"/>
                            <a:sym typeface="Symbol" pitchFamily="2" charset="2"/>
                          </a:rPr>
                          <m:t>𝜌</m:t>
                        </m:r>
                      </m:e>
                      <m:sub>
                        <m:r>
                          <a:rPr lang="en-US" altLang="en-US" sz="2000" b="0" i="1" smtClean="0">
                            <a:solidFill>
                              <a:srgbClr val="0070C0"/>
                            </a:solidFill>
                            <a:latin typeface="Cambria Math" panose="02040503050406030204" pitchFamily="18" charset="0"/>
                            <a:cs typeface="Arial" panose="020B0604020202020204" pitchFamily="34" charset="0"/>
                            <a:sym typeface="Symbol" pitchFamily="2" charset="2"/>
                          </a:rPr>
                          <m:t>𝑖</m:t>
                        </m:r>
                        <m:r>
                          <a:rPr lang="en-US" altLang="en-US" sz="2000" b="0" i="1" smtClean="0">
                            <a:solidFill>
                              <a:srgbClr val="0070C0"/>
                            </a:solidFill>
                            <a:latin typeface="Cambria Math" panose="02040503050406030204" pitchFamily="18" charset="0"/>
                            <a:cs typeface="Arial" panose="020B0604020202020204" pitchFamily="34" charset="0"/>
                            <a:sym typeface="Symbol" pitchFamily="2" charset="2"/>
                          </a:rPr>
                          <m:t>,</m:t>
                        </m:r>
                        <m:r>
                          <a:rPr lang="en-US" altLang="en-US" sz="2000" b="0" i="1" smtClean="0">
                            <a:solidFill>
                              <a:srgbClr val="0070C0"/>
                            </a:solidFill>
                            <a:latin typeface="Cambria Math" panose="02040503050406030204" pitchFamily="18" charset="0"/>
                            <a:cs typeface="Arial" panose="020B0604020202020204" pitchFamily="34" charset="0"/>
                            <a:sym typeface="Symbol" pitchFamily="2" charset="2"/>
                          </a:rPr>
                          <m:t>𝑗</m:t>
                        </m:r>
                      </m:sub>
                    </m:sSub>
                    <m:r>
                      <a:rPr lang="en-US" altLang="en-US" sz="2000" b="0" i="1" smtClean="0">
                        <a:solidFill>
                          <a:srgbClr val="0070C0"/>
                        </a:solidFill>
                        <a:latin typeface="Cambria Math" panose="02040503050406030204" pitchFamily="18" charset="0"/>
                        <a:cs typeface="Arial" panose="020B0604020202020204" pitchFamily="34" charset="0"/>
                        <a:sym typeface="Symbol" pitchFamily="2" charset="2"/>
                      </a:rPr>
                      <m:t> </m:t>
                    </m:r>
                  </m:oMath>
                </a14:m>
                <a:r>
                  <a:rPr lang="en-US" altLang="en-US" sz="2000" dirty="0">
                    <a:solidFill>
                      <a:srgbClr val="0070C0"/>
                    </a:solidFill>
                    <a:cs typeface="Arial" panose="020B0604020202020204" pitchFamily="34" charset="0"/>
                    <a:sym typeface="Symbol" pitchFamily="2" charset="2"/>
                  </a:rPr>
                  <a:t> is the correlation coefficient </a:t>
                </a:r>
                <a:endParaRPr lang="en-US" altLang="en-US" sz="2000" dirty="0">
                  <a:cs typeface="Arial" panose="020B0604020202020204" pitchFamily="34" charset="0"/>
                  <a:sym typeface="Symbol" pitchFamily="2" charset="2"/>
                </a:endParaRPr>
              </a:p>
              <a:p>
                <a:pPr marL="0" indent="0">
                  <a:lnSpc>
                    <a:spcPct val="150000"/>
                  </a:lnSpc>
                  <a:buNone/>
                </a:pPr>
                <a:endParaRPr lang="en-US" altLang="en-US" sz="2000" dirty="0">
                  <a:cs typeface="Arial" panose="020B0604020202020204" pitchFamily="34" charset="0"/>
                  <a:sym typeface="Symbol" pitchFamily="2" charset="2"/>
                </a:endParaRPr>
              </a:p>
              <a:p>
                <a:endParaRPr lang="en-GB" altLang="en-US" sz="2400" dirty="0">
                  <a:sym typeface="Symbol" pitchFamily="2" charset="2"/>
                </a:endParaRPr>
              </a:p>
            </p:txBody>
          </p:sp>
        </mc:Choice>
        <mc:Fallback xmlns="">
          <p:sp>
            <p:nvSpPr>
              <p:cNvPr id="27651" name="Rectangle 3">
                <a:extLst>
                  <a:ext uri="{FF2B5EF4-FFF2-40B4-BE49-F238E27FC236}">
                    <a16:creationId xmlns:a16="http://schemas.microsoft.com/office/drawing/2014/main" id="{656018C3-76CE-CE4C-962E-333C09D3E108}"/>
                  </a:ext>
                </a:extLst>
              </p:cNvPr>
              <p:cNvSpPr>
                <a:spLocks noGrp="1" noRot="1" noChangeAspect="1" noMove="1" noResize="1" noEditPoints="1" noAdjustHandles="1" noChangeArrowheads="1" noChangeShapeType="1" noTextEdit="1"/>
              </p:cNvSpPr>
              <p:nvPr>
                <p:ph type="body" idx="1"/>
              </p:nvPr>
            </p:nvSpPr>
            <p:spPr>
              <a:xfrm>
                <a:off x="438376" y="1401930"/>
                <a:ext cx="9372600" cy="4735513"/>
              </a:xfrm>
              <a:blipFill>
                <a:blip r:embed="rId2"/>
                <a:stretch>
                  <a:fillRect l="-677"/>
                </a:stretch>
              </a:blipFill>
            </p:spPr>
            <p:txBody>
              <a:bodyPr/>
              <a:lstStyle/>
              <a:p>
                <a:r>
                  <a:rPr lang="en-US">
                    <a:noFill/>
                  </a:rPr>
                  <a:t> </a:t>
                </a:r>
              </a:p>
            </p:txBody>
          </p:sp>
        </mc:Fallback>
      </mc:AlternateContent>
    </p:spTree>
    <p:extLst>
      <p:ext uri="{BB962C8B-B14F-4D97-AF65-F5344CB8AC3E}">
        <p14:creationId xmlns:p14="http://schemas.microsoft.com/office/powerpoint/2010/main" val="2318993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E79C32F-2EE8-F34B-AD31-B11186B30A63}"/>
              </a:ext>
            </a:extLst>
          </p:cNvPr>
          <p:cNvSpPr>
            <a:spLocks noGrp="1" noChangeArrowheads="1"/>
          </p:cNvSpPr>
          <p:nvPr>
            <p:ph type="title"/>
          </p:nvPr>
        </p:nvSpPr>
        <p:spPr>
          <a:xfrm>
            <a:off x="677578" y="401428"/>
            <a:ext cx="11315248" cy="785542"/>
          </a:xfrm>
        </p:spPr>
        <p:txBody>
          <a:bodyPr/>
          <a:lstStyle/>
          <a:p>
            <a:r>
              <a:rPr lang="en-GB" altLang="en-US" sz="3200" dirty="0"/>
              <a:t>Correlation coefficient</a:t>
            </a:r>
          </a:p>
        </p:txBody>
      </p:sp>
      <mc:AlternateContent xmlns:mc="http://schemas.openxmlformats.org/markup-compatibility/2006" xmlns:a14="http://schemas.microsoft.com/office/drawing/2010/main">
        <mc:Choice Requires="a14">
          <p:sp>
            <p:nvSpPr>
              <p:cNvPr id="28675" name="Rectangle 3">
                <a:extLst>
                  <a:ext uri="{FF2B5EF4-FFF2-40B4-BE49-F238E27FC236}">
                    <a16:creationId xmlns:a16="http://schemas.microsoft.com/office/drawing/2014/main" id="{9E7934B5-FDB7-B74E-9B3D-148BFADE3100}"/>
                  </a:ext>
                </a:extLst>
              </p:cNvPr>
              <p:cNvSpPr>
                <a:spLocks noGrp="1" noChangeArrowheads="1"/>
              </p:cNvSpPr>
              <p:nvPr>
                <p:ph type="body" idx="1"/>
              </p:nvPr>
            </p:nvSpPr>
            <p:spPr>
              <a:xfrm>
                <a:off x="597568" y="1186970"/>
                <a:ext cx="9895172" cy="4904344"/>
              </a:xfrm>
            </p:spPr>
            <p:txBody>
              <a:bodyPr>
                <a:normAutofit fontScale="92500" lnSpcReduction="10000"/>
              </a:bodyPr>
              <a:lstStyle/>
              <a:p>
                <a:pPr>
                  <a:lnSpc>
                    <a:spcPct val="150000"/>
                  </a:lnSpc>
                  <a:spcAft>
                    <a:spcPts val="600"/>
                  </a:spcAft>
                </a:pPr>
                <a:r>
                  <a:rPr lang="en-US" altLang="en-US" sz="2000" dirty="0">
                    <a:solidFill>
                      <a:srgbClr val="0070C0"/>
                    </a:solidFill>
                    <a:cs typeface="Arial" panose="020B0604020202020204" pitchFamily="34" charset="0"/>
                    <a:sym typeface="Symbol" pitchFamily="2" charset="2"/>
                  </a:rPr>
                  <a:t>Correlation coefficient is standardized covariance</a:t>
                </a:r>
              </a:p>
              <a:p>
                <a:pPr>
                  <a:lnSpc>
                    <a:spcPct val="150000"/>
                  </a:lnSpc>
                  <a:spcAft>
                    <a:spcPts val="600"/>
                  </a:spcAft>
                </a:pPr>
                <a:r>
                  <a:rPr lang="en-US" altLang="en-US" sz="2000" dirty="0">
                    <a:cs typeface="Arial" panose="020B0604020202020204" pitchFamily="34" charset="0"/>
                    <a:sym typeface="Symbol" pitchFamily="2" charset="2"/>
                  </a:rPr>
                  <a:t>It measures the extent of the relative relationship of returns between any two securities </a:t>
                </a:r>
                <a:endParaRPr lang="en-GB" altLang="en-US" sz="2000" dirty="0">
                  <a:cs typeface="Arial" panose="020B0604020202020204" pitchFamily="34" charset="0"/>
                </a:endParaRPr>
              </a:p>
              <a:p>
                <a:pPr>
                  <a:lnSpc>
                    <a:spcPct val="150000"/>
                  </a:lnSpc>
                  <a:spcAft>
                    <a:spcPts val="600"/>
                  </a:spcAft>
                </a:pPr>
                <a:r>
                  <a:rPr lang="en-GB" altLang="en-US" sz="2000" dirty="0">
                    <a:cs typeface="Arial" panose="020B0604020202020204" pitchFamily="34" charset="0"/>
                  </a:rPr>
                  <a:t>Example: Assume that City PLC has standard deviation of 8% and LSE PLC has a standard deviation of 15%.The covariance between them is 102. What would be the value of the correlation coefficient?</a:t>
                </a:r>
                <a:endParaRPr lang="en-GB" altLang="en-US" sz="2000" dirty="0">
                  <a:latin typeface="Arial" panose="020B0604020202020204" pitchFamily="34" charset="0"/>
                  <a:cs typeface="Arial" panose="020B0604020202020204" pitchFamily="34" charset="0"/>
                </a:endParaRPr>
              </a:p>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sSub>
                        <m:sSubPr>
                          <m:ctrlPr>
                            <a:rPr lang="en-GB" altLang="en-US" sz="2400" i="1" smtClean="0">
                              <a:latin typeface="Cambria Math" panose="02040503050406030204" pitchFamily="18" charset="0"/>
                              <a:ea typeface="Cambria Math" panose="02040503050406030204" pitchFamily="18" charset="0"/>
                              <a:cs typeface="Arial" panose="020B0604020202020204" pitchFamily="34" charset="0"/>
                            </a:rPr>
                          </m:ctrlPr>
                        </m:sSubPr>
                        <m:e>
                          <m:r>
                            <a:rPr lang="en-GB" altLang="en-US" sz="2400" i="1" smtClean="0">
                              <a:latin typeface="Cambria Math" panose="02040503050406030204" pitchFamily="18" charset="0"/>
                              <a:ea typeface="Cambria Math" panose="02040503050406030204" pitchFamily="18" charset="0"/>
                              <a:cs typeface="Arial" panose="020B0604020202020204" pitchFamily="34" charset="0"/>
                            </a:rPr>
                            <m:t>𝜌</m:t>
                          </m:r>
                        </m:e>
                        <m:sub>
                          <m:r>
                            <a:rPr lang="en-US" altLang="en-US" sz="2400" b="0" i="1" smtClean="0">
                              <a:latin typeface="Cambria Math" panose="02040503050406030204" pitchFamily="18" charset="0"/>
                              <a:cs typeface="Arial" panose="020B0604020202020204" pitchFamily="34" charset="0"/>
                            </a:rPr>
                            <m:t>1,2</m:t>
                          </m:r>
                        </m:sub>
                      </m:sSub>
                      <m:r>
                        <a:rPr lang="en-US" altLang="en-US" sz="2400" b="0" i="1" smtClean="0">
                          <a:latin typeface="Cambria Math" panose="02040503050406030204" pitchFamily="18" charset="0"/>
                          <a:cs typeface="Arial" panose="020B0604020202020204" pitchFamily="34" charset="0"/>
                        </a:rPr>
                        <m:t>=</m:t>
                      </m:r>
                      <m:f>
                        <m:fPr>
                          <m:ctrlPr>
                            <a:rPr lang="en-US" altLang="en-US" sz="2400" b="0" i="1" smtClean="0">
                              <a:latin typeface="Cambria Math" panose="02040503050406030204" pitchFamily="18" charset="0"/>
                              <a:cs typeface="Arial" panose="020B0604020202020204" pitchFamily="34" charset="0"/>
                            </a:rPr>
                          </m:ctrlPr>
                        </m:fPr>
                        <m:num>
                          <m:sSub>
                            <m:sSubPr>
                              <m:ctrlPr>
                                <a:rPr lang="en-US" altLang="en-US"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en-US" sz="24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altLang="en-US" sz="2400" b="0" i="1" smtClean="0">
                                  <a:latin typeface="Cambria Math" panose="02040503050406030204" pitchFamily="18" charset="0"/>
                                  <a:cs typeface="Arial" panose="020B0604020202020204" pitchFamily="34" charset="0"/>
                                </a:rPr>
                                <m:t>1,2</m:t>
                              </m:r>
                            </m:sub>
                          </m:sSub>
                        </m:num>
                        <m:den>
                          <m:sSub>
                            <m:sSubPr>
                              <m:ctrlPr>
                                <a:rPr lang="en-US" altLang="en-US"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en-US" sz="24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altLang="en-US" sz="2400" b="0" i="1" smtClean="0">
                                  <a:latin typeface="Cambria Math" panose="02040503050406030204" pitchFamily="18" charset="0"/>
                                  <a:cs typeface="Arial" panose="020B0604020202020204" pitchFamily="34" charset="0"/>
                                </a:rPr>
                                <m:t>1</m:t>
                              </m:r>
                            </m:sub>
                          </m:sSub>
                          <m:sSub>
                            <m:sSubPr>
                              <m:ctrlPr>
                                <a:rPr lang="en-US" altLang="en-US" sz="24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en-US" sz="2400" b="0" i="1" smtClean="0">
                                  <a:latin typeface="Cambria Math" panose="02040503050406030204" pitchFamily="18" charset="0"/>
                                  <a:ea typeface="Cambria Math" panose="02040503050406030204" pitchFamily="18" charset="0"/>
                                  <a:cs typeface="Arial" panose="020B0604020202020204" pitchFamily="34" charset="0"/>
                                </a:rPr>
                                <m:t>𝜎</m:t>
                              </m:r>
                            </m:e>
                            <m:sub>
                              <m:r>
                                <a:rPr lang="en-US" altLang="en-US" sz="2400" b="0" i="1" smtClean="0">
                                  <a:latin typeface="Cambria Math" panose="02040503050406030204" pitchFamily="18" charset="0"/>
                                  <a:cs typeface="Arial" panose="020B0604020202020204" pitchFamily="34" charset="0"/>
                                </a:rPr>
                                <m:t>2</m:t>
                              </m:r>
                            </m:sub>
                          </m:sSub>
                        </m:den>
                      </m:f>
                      <m:r>
                        <a:rPr lang="en-US" altLang="en-US" sz="2400" b="0" i="1" smtClean="0">
                          <a:latin typeface="Cambria Math" panose="02040503050406030204" pitchFamily="18" charset="0"/>
                          <a:cs typeface="Arial" panose="020B0604020202020204" pitchFamily="34" charset="0"/>
                        </a:rPr>
                        <m:t>=</m:t>
                      </m:r>
                      <m:f>
                        <m:fPr>
                          <m:ctrlPr>
                            <a:rPr lang="en-US" altLang="en-US" sz="2400" b="0" i="1" smtClean="0">
                              <a:latin typeface="Cambria Math" panose="02040503050406030204" pitchFamily="18" charset="0"/>
                              <a:cs typeface="Arial" panose="020B0604020202020204" pitchFamily="34" charset="0"/>
                            </a:rPr>
                          </m:ctrlPr>
                        </m:fPr>
                        <m:num>
                          <m:r>
                            <a:rPr lang="en-US" altLang="en-US" sz="2400" b="0" i="1" smtClean="0">
                              <a:latin typeface="Cambria Math" panose="02040503050406030204" pitchFamily="18" charset="0"/>
                              <a:cs typeface="Arial" panose="020B0604020202020204" pitchFamily="34" charset="0"/>
                            </a:rPr>
                            <m:t>102</m:t>
                          </m:r>
                        </m:num>
                        <m:den>
                          <m:r>
                            <a:rPr lang="en-US" altLang="en-US" sz="2400" b="0" i="1" smtClean="0">
                              <a:latin typeface="Cambria Math" panose="02040503050406030204" pitchFamily="18" charset="0"/>
                              <a:cs typeface="Arial" panose="020B0604020202020204" pitchFamily="34" charset="0"/>
                            </a:rPr>
                            <m:t>8</m:t>
                          </m:r>
                          <m:r>
                            <a:rPr lang="en-US" altLang="en-US" sz="2400" b="0" i="1" smtClean="0">
                              <a:latin typeface="Cambria Math" panose="02040503050406030204" pitchFamily="18" charset="0"/>
                              <a:cs typeface="Arial" panose="020B0604020202020204" pitchFamily="34" charset="0"/>
                            </a:rPr>
                            <m:t>𝑥</m:t>
                          </m:r>
                          <m:r>
                            <a:rPr lang="en-US" altLang="en-US" sz="2400" b="0" i="1" smtClean="0">
                              <a:latin typeface="Cambria Math" panose="02040503050406030204" pitchFamily="18" charset="0"/>
                              <a:cs typeface="Arial" panose="020B0604020202020204" pitchFamily="34" charset="0"/>
                            </a:rPr>
                            <m:t>15</m:t>
                          </m:r>
                        </m:den>
                      </m:f>
                      <m:r>
                        <a:rPr lang="en-US" altLang="en-US" sz="2400" b="0" i="1" smtClean="0">
                          <a:latin typeface="Cambria Math" panose="02040503050406030204" pitchFamily="18" charset="0"/>
                          <a:cs typeface="Arial" panose="020B0604020202020204" pitchFamily="34" charset="0"/>
                        </a:rPr>
                        <m:t>=0.85</m:t>
                      </m:r>
                    </m:oMath>
                  </m:oMathPara>
                </a14:m>
                <a:endParaRPr lang="en-GB" altLang="en-US" sz="2000" dirty="0">
                  <a:latin typeface="Arial" panose="020B0604020202020204" pitchFamily="34" charset="0"/>
                  <a:cs typeface="Arial" panose="020B0604020202020204" pitchFamily="34" charset="0"/>
                </a:endParaRPr>
              </a:p>
              <a:p>
                <a:pPr>
                  <a:lnSpc>
                    <a:spcPct val="150000"/>
                  </a:lnSpc>
                  <a:spcAft>
                    <a:spcPts val="600"/>
                  </a:spcAft>
                </a:pPr>
                <a:r>
                  <a:rPr lang="en-US" altLang="en-US" sz="2000" dirty="0">
                    <a:cs typeface="Arial" panose="020B0604020202020204" pitchFamily="34" charset="0"/>
                    <a:sym typeface="Symbol" pitchFamily="2" charset="2"/>
                  </a:rPr>
                  <a:t>Correlation takes values between -1.0 and 1.0</a:t>
                </a:r>
              </a:p>
              <a:p>
                <a:pPr>
                  <a:lnSpc>
                    <a:spcPct val="150000"/>
                  </a:lnSpc>
                  <a:spcAft>
                    <a:spcPts val="600"/>
                  </a:spcAft>
                </a:pPr>
                <a:r>
                  <a:rPr lang="en-US" altLang="en-US" sz="2000" dirty="0">
                    <a:cs typeface="Arial" panose="020B0604020202020204" pitchFamily="34" charset="0"/>
                    <a:sym typeface="Symbol" pitchFamily="2" charset="2"/>
                  </a:rPr>
                  <a:t>Cases of perfect positive correlation, perfect negative correlation and zero correlation</a:t>
                </a:r>
              </a:p>
            </p:txBody>
          </p:sp>
        </mc:Choice>
        <mc:Fallback xmlns="">
          <p:sp>
            <p:nvSpPr>
              <p:cNvPr id="28675" name="Rectangle 3">
                <a:extLst>
                  <a:ext uri="{FF2B5EF4-FFF2-40B4-BE49-F238E27FC236}">
                    <a16:creationId xmlns:a16="http://schemas.microsoft.com/office/drawing/2014/main" id="{9E7934B5-FDB7-B74E-9B3D-148BFADE3100}"/>
                  </a:ext>
                </a:extLst>
              </p:cNvPr>
              <p:cNvSpPr>
                <a:spLocks noGrp="1" noRot="1" noChangeAspect="1" noMove="1" noResize="1" noEditPoints="1" noAdjustHandles="1" noChangeArrowheads="1" noChangeShapeType="1" noTextEdit="1"/>
              </p:cNvSpPr>
              <p:nvPr>
                <p:ph type="body" idx="1"/>
              </p:nvPr>
            </p:nvSpPr>
            <p:spPr>
              <a:xfrm>
                <a:off x="597568" y="1186970"/>
                <a:ext cx="9895172" cy="4904344"/>
              </a:xfrm>
              <a:blipFill>
                <a:blip r:embed="rId2"/>
                <a:stretch>
                  <a:fillRect l="-513"/>
                </a:stretch>
              </a:blipFill>
            </p:spPr>
            <p:txBody>
              <a:bodyPr/>
              <a:lstStyle/>
              <a:p>
                <a:r>
                  <a:rPr lang="en-US">
                    <a:noFill/>
                  </a:rPr>
                  <a:t> </a:t>
                </a:r>
              </a:p>
            </p:txBody>
          </p:sp>
        </mc:Fallback>
      </mc:AlternateContent>
    </p:spTree>
    <p:extLst>
      <p:ext uri="{BB962C8B-B14F-4D97-AF65-F5344CB8AC3E}">
        <p14:creationId xmlns:p14="http://schemas.microsoft.com/office/powerpoint/2010/main" val="2544168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669073-7F23-EF4D-83D6-2454BAD49F15}"/>
              </a:ext>
            </a:extLst>
          </p:cNvPr>
          <p:cNvSpPr>
            <a:spLocks noGrp="1"/>
          </p:cNvSpPr>
          <p:nvPr>
            <p:ph type="title"/>
          </p:nvPr>
        </p:nvSpPr>
        <p:spPr/>
        <p:txBody>
          <a:bodyPr>
            <a:normAutofit fontScale="90000"/>
          </a:bodyPr>
          <a:lstStyle/>
          <a:p>
            <a:r>
              <a:rPr lang="en-US" dirty="0"/>
              <a:t>The impact of correlation coefficient/covariance on diversification</a:t>
            </a:r>
          </a:p>
        </p:txBody>
      </p:sp>
      <p:sp>
        <p:nvSpPr>
          <p:cNvPr id="6" name="Text Placeholder 5">
            <a:extLst>
              <a:ext uri="{FF2B5EF4-FFF2-40B4-BE49-F238E27FC236}">
                <a16:creationId xmlns:a16="http://schemas.microsoft.com/office/drawing/2014/main" id="{06586D7C-F45F-5441-9E5D-E93F4248DAA3}"/>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2124319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D1514-F871-6B1E-0A92-FD7272268E19}"/>
            </a:ext>
          </a:extLst>
        </p:cNvPr>
        <p:cNvGrpSpPr/>
        <p:nvPr/>
      </p:nvGrpSpPr>
      <p:grpSpPr>
        <a:xfrm>
          <a:off x="0" y="0"/>
          <a:ext cx="0" cy="0"/>
          <a:chOff x="0" y="0"/>
          <a:chExt cx="0" cy="0"/>
        </a:xfrm>
      </p:grpSpPr>
      <p:sp>
        <p:nvSpPr>
          <p:cNvPr id="87042" name="Rectangle 2">
            <a:extLst>
              <a:ext uri="{FF2B5EF4-FFF2-40B4-BE49-F238E27FC236}">
                <a16:creationId xmlns:a16="http://schemas.microsoft.com/office/drawing/2014/main" id="{5CBD25CF-287D-8A33-2C81-00191553C77A}"/>
              </a:ext>
            </a:extLst>
          </p:cNvPr>
          <p:cNvSpPr>
            <a:spLocks noGrp="1" noChangeArrowheads="1"/>
          </p:cNvSpPr>
          <p:nvPr>
            <p:ph type="title"/>
          </p:nvPr>
        </p:nvSpPr>
        <p:spPr>
          <a:xfrm>
            <a:off x="660183" y="356756"/>
            <a:ext cx="11315248" cy="785542"/>
          </a:xfrm>
        </p:spPr>
        <p:txBody>
          <a:bodyPr>
            <a:noAutofit/>
          </a:bodyPr>
          <a:lstStyle/>
          <a:p>
            <a:pPr>
              <a:lnSpc>
                <a:spcPct val="100000"/>
              </a:lnSpc>
            </a:pPr>
            <a:r>
              <a:rPr lang="en-GB" altLang="en-US" sz="3000" dirty="0"/>
              <a:t>Risk Reduction With Low Covariance (Correlation) </a:t>
            </a:r>
          </a:p>
        </p:txBody>
      </p:sp>
      <p:graphicFrame>
        <p:nvGraphicFramePr>
          <p:cNvPr id="15" name="Object 14">
            <a:extLst>
              <a:ext uri="{FF2B5EF4-FFF2-40B4-BE49-F238E27FC236}">
                <a16:creationId xmlns:a16="http://schemas.microsoft.com/office/drawing/2014/main" id="{A7799A54-ED31-E27B-887D-0B7DC4706DF4}"/>
              </a:ext>
            </a:extLst>
          </p:cNvPr>
          <p:cNvGraphicFramePr>
            <a:graphicFrameLocks noChangeAspect="1"/>
          </p:cNvGraphicFramePr>
          <p:nvPr>
            <p:extLst>
              <p:ext uri="{D42A27DB-BD31-4B8C-83A1-F6EECF244321}">
                <p14:modId xmlns:p14="http://schemas.microsoft.com/office/powerpoint/2010/main" val="2505047680"/>
              </p:ext>
            </p:extLst>
          </p:nvPr>
        </p:nvGraphicFramePr>
        <p:xfrm>
          <a:off x="831764" y="1395284"/>
          <a:ext cx="8424863" cy="4489450"/>
        </p:xfrm>
        <a:graphic>
          <a:graphicData uri="http://schemas.openxmlformats.org/presentationml/2006/ole">
            <mc:AlternateContent xmlns:mc="http://schemas.openxmlformats.org/markup-compatibility/2006">
              <mc:Choice xmlns:v="urn:schemas-microsoft-com:vml" Requires="v">
                <p:oleObj name="Document" r:id="rId2" imgW="5727700" imgH="3213100" progId="Word.Document.12">
                  <p:embed/>
                </p:oleObj>
              </mc:Choice>
              <mc:Fallback>
                <p:oleObj name="Document" r:id="rId2" imgW="5727700" imgH="3213100" progId="Word.Document.12">
                  <p:embed/>
                  <p:pic>
                    <p:nvPicPr>
                      <p:cNvPr id="15" name="Object 14">
                        <a:extLst>
                          <a:ext uri="{FF2B5EF4-FFF2-40B4-BE49-F238E27FC236}">
                            <a16:creationId xmlns:a16="http://schemas.microsoft.com/office/drawing/2014/main" id="{419B297C-7F59-AD4A-BF93-048E1D0078FF}"/>
                          </a:ext>
                        </a:extLst>
                      </p:cNvPr>
                      <p:cNvPicPr/>
                      <p:nvPr/>
                    </p:nvPicPr>
                    <p:blipFill>
                      <a:blip r:embed="rId3"/>
                      <a:stretch>
                        <a:fillRect/>
                      </a:stretch>
                    </p:blipFill>
                    <p:spPr>
                      <a:xfrm>
                        <a:off x="831764" y="1395284"/>
                        <a:ext cx="8424863" cy="4489450"/>
                      </a:xfrm>
                      <a:prstGeom prst="rect">
                        <a:avLst/>
                      </a:prstGeom>
                    </p:spPr>
                  </p:pic>
                </p:oleObj>
              </mc:Fallback>
            </mc:AlternateContent>
          </a:graphicData>
        </a:graphic>
      </p:graphicFrame>
    </p:spTree>
    <p:extLst>
      <p:ext uri="{BB962C8B-B14F-4D97-AF65-F5344CB8AC3E}">
        <p14:creationId xmlns:p14="http://schemas.microsoft.com/office/powerpoint/2010/main" val="3241513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A74E-1C3D-0FEF-89F9-92DCE4223242}"/>
              </a:ext>
            </a:extLst>
          </p:cNvPr>
          <p:cNvSpPr>
            <a:spLocks noGrp="1"/>
          </p:cNvSpPr>
          <p:nvPr>
            <p:ph type="title"/>
          </p:nvPr>
        </p:nvSpPr>
        <p:spPr/>
        <p:txBody>
          <a:bodyPr>
            <a:normAutofit/>
          </a:bodyPr>
          <a:lstStyle/>
          <a:p>
            <a:r>
              <a:rPr lang="en-US" sz="3200" dirty="0"/>
              <a:t>Correlation and risk reduction</a:t>
            </a:r>
          </a:p>
        </p:txBody>
      </p:sp>
      <p:sp>
        <p:nvSpPr>
          <p:cNvPr id="3" name="Content Placeholder 2">
            <a:extLst>
              <a:ext uri="{FF2B5EF4-FFF2-40B4-BE49-F238E27FC236}">
                <a16:creationId xmlns:a16="http://schemas.microsoft.com/office/drawing/2014/main" id="{1A2D0A89-3502-0246-7033-661D3A2586CB}"/>
              </a:ext>
            </a:extLst>
          </p:cNvPr>
          <p:cNvSpPr>
            <a:spLocks noGrp="1"/>
          </p:cNvSpPr>
          <p:nvPr>
            <p:ph idx="1"/>
          </p:nvPr>
        </p:nvSpPr>
        <p:spPr>
          <a:xfrm>
            <a:off x="437547" y="1248229"/>
            <a:ext cx="9446681" cy="5203371"/>
          </a:xfrm>
        </p:spPr>
        <p:txBody>
          <a:bodyPr>
            <a:normAutofit fontScale="77500" lnSpcReduction="20000"/>
          </a:bodyPr>
          <a:lstStyle/>
          <a:p>
            <a:pPr>
              <a:lnSpc>
                <a:spcPct val="160000"/>
              </a:lnSpc>
            </a:pPr>
            <a:r>
              <a:rPr lang="en-US" dirty="0">
                <a:solidFill>
                  <a:srgbClr val="0070C0"/>
                </a:solidFill>
              </a:rPr>
              <a:t>If the correlation coefficient is +1</a:t>
            </a:r>
            <a:r>
              <a:rPr lang="en-US" dirty="0"/>
              <a:t>: the risk of a two-asset portfolio can only be the average risk of the two assets – there is no risk reduction as they move perfectly together.</a:t>
            </a:r>
          </a:p>
          <a:p>
            <a:pPr>
              <a:lnSpc>
                <a:spcPct val="160000"/>
              </a:lnSpc>
            </a:pPr>
            <a:r>
              <a:rPr lang="en-US" dirty="0">
                <a:solidFill>
                  <a:srgbClr val="0070C0"/>
                </a:solidFill>
              </a:rPr>
              <a:t>If the correlation is -1</a:t>
            </a:r>
            <a:r>
              <a:rPr lang="en-US" dirty="0"/>
              <a:t>: the risk of a two-asset portfolio can be brought down to zero, i.e. one can compute which weight assigned to asset 1 and asset 2 would produce zero variance (standard deviation)</a:t>
            </a:r>
          </a:p>
          <a:p>
            <a:pPr>
              <a:lnSpc>
                <a:spcPct val="160000"/>
              </a:lnSpc>
            </a:pPr>
            <a:r>
              <a:rPr lang="en-US" dirty="0">
                <a:solidFill>
                  <a:srgbClr val="0070C0"/>
                </a:solidFill>
              </a:rPr>
              <a:t>If the correlation is 0</a:t>
            </a:r>
            <a:r>
              <a:rPr lang="en-US" dirty="0"/>
              <a:t>: there is risk reduction, the risk is lower than when the correlation is +1 but higher than when the correlation is -1.</a:t>
            </a:r>
          </a:p>
          <a:p>
            <a:pPr>
              <a:lnSpc>
                <a:spcPct val="160000"/>
              </a:lnSpc>
            </a:pPr>
            <a:r>
              <a:rPr lang="en-US" dirty="0"/>
              <a:t>These points will be proven mathematically later in this lecture.</a:t>
            </a:r>
          </a:p>
        </p:txBody>
      </p:sp>
    </p:spTree>
    <p:extLst>
      <p:ext uri="{BB962C8B-B14F-4D97-AF65-F5344CB8AC3E}">
        <p14:creationId xmlns:p14="http://schemas.microsoft.com/office/powerpoint/2010/main" val="2916594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669073-7F23-EF4D-83D6-2454BAD49F15}"/>
              </a:ext>
            </a:extLst>
          </p:cNvPr>
          <p:cNvSpPr>
            <a:spLocks noGrp="1"/>
          </p:cNvSpPr>
          <p:nvPr>
            <p:ph type="title"/>
          </p:nvPr>
        </p:nvSpPr>
        <p:spPr/>
        <p:txBody>
          <a:bodyPr/>
          <a:lstStyle/>
          <a:p>
            <a:r>
              <a:rPr lang="en-US" dirty="0"/>
              <a:t>Diversification and large number of assets</a:t>
            </a:r>
          </a:p>
        </p:txBody>
      </p:sp>
      <p:sp>
        <p:nvSpPr>
          <p:cNvPr id="3" name="Text Placeholder 2">
            <a:extLst>
              <a:ext uri="{FF2B5EF4-FFF2-40B4-BE49-F238E27FC236}">
                <a16:creationId xmlns:a16="http://schemas.microsoft.com/office/drawing/2014/main" id="{8FC74FDE-4482-3F4A-A24D-601469E73EBD}"/>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661010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FAF185-704F-0747-AC7B-977BE1A5A219}"/>
              </a:ext>
            </a:extLst>
          </p:cNvPr>
          <p:cNvSpPr>
            <a:spLocks noGrp="1"/>
          </p:cNvSpPr>
          <p:nvPr>
            <p:ph type="title"/>
          </p:nvPr>
        </p:nvSpPr>
        <p:spPr>
          <a:xfrm>
            <a:off x="608997" y="168362"/>
            <a:ext cx="11315248" cy="785542"/>
          </a:xfrm>
        </p:spPr>
        <p:txBody>
          <a:bodyPr/>
          <a:lstStyle/>
          <a:p>
            <a:r>
              <a:rPr lang="en-US" sz="3200" dirty="0"/>
              <a:t>Total risk of a portfolio</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14992F2-B392-4742-8301-049435E8A4D2}"/>
                  </a:ext>
                </a:extLst>
              </p:cNvPr>
              <p:cNvSpPr>
                <a:spLocks noGrp="1"/>
              </p:cNvSpPr>
              <p:nvPr>
                <p:ph idx="1"/>
              </p:nvPr>
            </p:nvSpPr>
            <p:spPr>
              <a:xfrm>
                <a:off x="448359" y="1274545"/>
                <a:ext cx="10709792" cy="5583455"/>
              </a:xfrm>
              <a:ln>
                <a:noFill/>
              </a:ln>
            </p:spPr>
            <p:txBody>
              <a:bodyPr>
                <a:normAutofit fontScale="70000" lnSpcReduction="20000"/>
              </a:bodyPr>
              <a:lstStyle/>
              <a:p>
                <a:pPr>
                  <a:lnSpc>
                    <a:spcPct val="150000"/>
                  </a:lnSpc>
                </a:pPr>
                <a:r>
                  <a:rPr lang="en-US" dirty="0"/>
                  <a:t>Total risk is measured by standard deviation or variance:</a:t>
                </a:r>
              </a:p>
              <a:p>
                <a:pPr>
                  <a:lnSpc>
                    <a:spcPct val="150000"/>
                  </a:lnSpc>
                </a:pPr>
                <a:r>
                  <a:rPr lang="en-US" dirty="0"/>
                  <a:t>N-asset portfolio variance: </a:t>
                </a:r>
                <a14:m>
                  <m:oMath xmlns:m="http://schemas.openxmlformats.org/officeDocument/2006/math">
                    <m:sSubSup>
                      <m:sSubSupPr>
                        <m:ctrlPr>
                          <a:rPr lang="en-US" i="1">
                            <a:ln>
                              <a:solidFill>
                                <a:srgbClr val="0070C0"/>
                              </a:solidFill>
                            </a:ln>
                            <a:latin typeface="Cambria Math" panose="02040503050406030204" pitchFamily="18" charset="0"/>
                          </a:rPr>
                        </m:ctrlPr>
                      </m:sSubSupPr>
                      <m:e>
                        <m:r>
                          <a:rPr lang="en-US" i="1">
                            <a:ln>
                              <a:solidFill>
                                <a:srgbClr val="0070C0"/>
                              </a:solidFill>
                            </a:ln>
                            <a:latin typeface="Cambria Math" panose="02040503050406030204" pitchFamily="18" charset="0"/>
                          </a:rPr>
                          <m:t>𝜎</m:t>
                        </m:r>
                      </m:e>
                      <m:sub>
                        <m:r>
                          <a:rPr lang="en-GB" i="1">
                            <a:ln>
                              <a:solidFill>
                                <a:srgbClr val="0070C0"/>
                              </a:solidFill>
                            </a:ln>
                            <a:latin typeface="Cambria Math" panose="02040503050406030204" pitchFamily="18" charset="0"/>
                          </a:rPr>
                          <m:t>𝑝</m:t>
                        </m:r>
                      </m:sub>
                      <m:sup>
                        <m:r>
                          <a:rPr lang="en-GB" i="1">
                            <a:ln>
                              <a:solidFill>
                                <a:srgbClr val="0070C0"/>
                              </a:solidFill>
                            </a:ln>
                            <a:latin typeface="Cambria Math" panose="02040503050406030204" pitchFamily="18" charset="0"/>
                          </a:rPr>
                          <m:t>2</m:t>
                        </m:r>
                      </m:sup>
                    </m:sSubSup>
                    <m:r>
                      <a:rPr lang="en-GB" i="1">
                        <a:ln>
                          <a:solidFill>
                            <a:srgbClr val="0070C0"/>
                          </a:solidFill>
                        </a:ln>
                        <a:latin typeface="Cambria Math" panose="02040503050406030204" pitchFamily="18" charset="0"/>
                      </a:rPr>
                      <m:t>=</m:t>
                    </m:r>
                    <m:nary>
                      <m:naryPr>
                        <m:chr m:val="∑"/>
                        <m:subHide m:val="on"/>
                        <m:supHide m:val="on"/>
                        <m:ctrlPr>
                          <a:rPr lang="en-GB" i="1">
                            <a:ln>
                              <a:solidFill>
                                <a:srgbClr val="0070C0"/>
                              </a:solidFill>
                            </a:ln>
                            <a:latin typeface="Cambria Math" panose="02040503050406030204" pitchFamily="18" charset="0"/>
                          </a:rPr>
                        </m:ctrlPr>
                      </m:naryPr>
                      <m:sub/>
                      <m:sup/>
                      <m:e>
                        <m:sSubSup>
                          <m:sSubSupPr>
                            <m:ctrlPr>
                              <a:rPr lang="en-GB" i="1">
                                <a:ln>
                                  <a:solidFill>
                                    <a:srgbClr val="FF0000"/>
                                  </a:solidFill>
                                </a:ln>
                                <a:solidFill>
                                  <a:srgbClr val="FF0000"/>
                                </a:solidFill>
                                <a:latin typeface="Cambria Math" panose="02040503050406030204" pitchFamily="18" charset="0"/>
                              </a:rPr>
                            </m:ctrlPr>
                          </m:sSubSupPr>
                          <m:e>
                            <m:r>
                              <a:rPr lang="en-GB" i="1">
                                <a:ln>
                                  <a:solidFill>
                                    <a:srgbClr val="FF0000"/>
                                  </a:solidFill>
                                </a:ln>
                                <a:solidFill>
                                  <a:srgbClr val="FF0000"/>
                                </a:solidFill>
                                <a:latin typeface="Cambria Math" panose="02040503050406030204" pitchFamily="18" charset="0"/>
                              </a:rPr>
                              <m:t>𝑤</m:t>
                            </m:r>
                          </m:e>
                          <m:sub>
                            <m:r>
                              <a:rPr lang="en-GB" i="1">
                                <a:ln>
                                  <a:solidFill>
                                    <a:srgbClr val="FF0000"/>
                                  </a:solidFill>
                                </a:ln>
                                <a:solidFill>
                                  <a:srgbClr val="FF0000"/>
                                </a:solidFill>
                                <a:latin typeface="Cambria Math" panose="02040503050406030204" pitchFamily="18" charset="0"/>
                              </a:rPr>
                              <m:t>𝑖</m:t>
                            </m:r>
                          </m:sub>
                          <m:sup>
                            <m:r>
                              <a:rPr lang="en-GB" i="1">
                                <a:ln>
                                  <a:solidFill>
                                    <a:srgbClr val="FF0000"/>
                                  </a:solidFill>
                                </a:ln>
                                <a:solidFill>
                                  <a:srgbClr val="FF0000"/>
                                </a:solidFill>
                                <a:latin typeface="Cambria Math" panose="02040503050406030204" pitchFamily="18" charset="0"/>
                              </a:rPr>
                              <m:t>2</m:t>
                            </m:r>
                          </m:sup>
                        </m:sSubSup>
                        <m:sSubSup>
                          <m:sSubSupPr>
                            <m:ctrlPr>
                              <a:rPr lang="en-GB" i="1">
                                <a:ln>
                                  <a:solidFill>
                                    <a:srgbClr val="FF0000"/>
                                  </a:solidFill>
                                </a:ln>
                                <a:solidFill>
                                  <a:srgbClr val="FF0000"/>
                                </a:solidFill>
                                <a:latin typeface="Cambria Math" panose="02040503050406030204" pitchFamily="18" charset="0"/>
                              </a:rPr>
                            </m:ctrlPr>
                          </m:sSubSupPr>
                          <m:e>
                            <m:r>
                              <a:rPr lang="en-GB" i="1">
                                <a:ln>
                                  <a:solidFill>
                                    <a:srgbClr val="FF0000"/>
                                  </a:solidFill>
                                </a:ln>
                                <a:solidFill>
                                  <a:srgbClr val="FF0000"/>
                                </a:solidFill>
                                <a:latin typeface="Cambria Math" panose="02040503050406030204" pitchFamily="18" charset="0"/>
                              </a:rPr>
                              <m:t>𝜎</m:t>
                            </m:r>
                          </m:e>
                          <m:sub>
                            <m:r>
                              <a:rPr lang="en-GB" i="1">
                                <a:ln>
                                  <a:solidFill>
                                    <a:srgbClr val="FF0000"/>
                                  </a:solidFill>
                                </a:ln>
                                <a:solidFill>
                                  <a:srgbClr val="FF0000"/>
                                </a:solidFill>
                                <a:latin typeface="Cambria Math" panose="02040503050406030204" pitchFamily="18" charset="0"/>
                              </a:rPr>
                              <m:t>𝑖</m:t>
                            </m:r>
                          </m:sub>
                          <m:sup>
                            <m:r>
                              <a:rPr lang="en-GB" i="1">
                                <a:ln>
                                  <a:solidFill>
                                    <a:srgbClr val="FF0000"/>
                                  </a:solidFill>
                                </a:ln>
                                <a:solidFill>
                                  <a:srgbClr val="FF0000"/>
                                </a:solidFill>
                                <a:latin typeface="Cambria Math" panose="02040503050406030204" pitchFamily="18" charset="0"/>
                              </a:rPr>
                              <m:t>2</m:t>
                            </m:r>
                          </m:sup>
                        </m:sSubSup>
                        <m:r>
                          <a:rPr lang="en-GB" i="1">
                            <a:ln>
                              <a:solidFill>
                                <a:srgbClr val="0070C0"/>
                              </a:solidFill>
                            </a:ln>
                            <a:latin typeface="Cambria Math" panose="02040503050406030204" pitchFamily="18" charset="0"/>
                          </a:rPr>
                          <m:t>+</m:t>
                        </m:r>
                        <m:nary>
                          <m:naryPr>
                            <m:chr m:val="∑"/>
                            <m:subHide m:val="on"/>
                            <m:supHide m:val="on"/>
                            <m:ctrlPr>
                              <a:rPr lang="en-GB" i="1">
                                <a:ln>
                                  <a:solidFill>
                                    <a:srgbClr val="0070C0"/>
                                  </a:solidFill>
                                </a:ln>
                                <a:latin typeface="Cambria Math" panose="02040503050406030204" pitchFamily="18" charset="0"/>
                              </a:rPr>
                            </m:ctrlPr>
                          </m:naryPr>
                          <m:sub/>
                          <m:sup/>
                          <m:e>
                            <m:nary>
                              <m:naryPr>
                                <m:chr m:val="∑"/>
                                <m:subHide m:val="on"/>
                                <m:supHide m:val="on"/>
                                <m:ctrlPr>
                                  <a:rPr lang="en-GB" i="1">
                                    <a:ln>
                                      <a:solidFill>
                                        <a:srgbClr val="0070C0"/>
                                      </a:solidFill>
                                    </a:ln>
                                    <a:latin typeface="Cambria Math" panose="02040503050406030204" pitchFamily="18" charset="0"/>
                                  </a:rPr>
                                </m:ctrlPr>
                              </m:naryPr>
                              <m:sub/>
                              <m:sup/>
                              <m:e>
                                <m:sSub>
                                  <m:sSubPr>
                                    <m:ctrlPr>
                                      <a:rPr lang="en-GB" i="1">
                                        <a:ln>
                                          <a:solidFill>
                                            <a:srgbClr val="00B050"/>
                                          </a:solidFill>
                                        </a:ln>
                                        <a:solidFill>
                                          <a:srgbClr val="00B050"/>
                                        </a:solidFill>
                                        <a:latin typeface="Cambria Math" panose="02040503050406030204" pitchFamily="18" charset="0"/>
                                      </a:rPr>
                                    </m:ctrlPr>
                                  </m:sSubPr>
                                  <m:e>
                                    <m:r>
                                      <a:rPr lang="en-GB" i="1">
                                        <a:ln>
                                          <a:solidFill>
                                            <a:srgbClr val="00B050"/>
                                          </a:solidFill>
                                        </a:ln>
                                        <a:solidFill>
                                          <a:srgbClr val="00B050"/>
                                        </a:solidFill>
                                        <a:latin typeface="Cambria Math" panose="02040503050406030204" pitchFamily="18" charset="0"/>
                                      </a:rPr>
                                      <m:t>𝑤</m:t>
                                    </m:r>
                                  </m:e>
                                  <m:sub>
                                    <m:r>
                                      <a:rPr lang="en-GB" i="1">
                                        <a:ln>
                                          <a:solidFill>
                                            <a:srgbClr val="00B050"/>
                                          </a:solidFill>
                                        </a:ln>
                                        <a:solidFill>
                                          <a:srgbClr val="00B050"/>
                                        </a:solidFill>
                                        <a:latin typeface="Cambria Math" panose="02040503050406030204" pitchFamily="18" charset="0"/>
                                      </a:rPr>
                                      <m:t>𝑖</m:t>
                                    </m:r>
                                  </m:sub>
                                </m:sSub>
                                <m:sSub>
                                  <m:sSubPr>
                                    <m:ctrlPr>
                                      <a:rPr lang="en-GB" i="1">
                                        <a:ln>
                                          <a:solidFill>
                                            <a:srgbClr val="00B050"/>
                                          </a:solidFill>
                                        </a:ln>
                                        <a:solidFill>
                                          <a:srgbClr val="00B050"/>
                                        </a:solidFill>
                                        <a:latin typeface="Cambria Math" panose="02040503050406030204" pitchFamily="18" charset="0"/>
                                      </a:rPr>
                                    </m:ctrlPr>
                                  </m:sSubPr>
                                  <m:e>
                                    <m:r>
                                      <a:rPr lang="en-GB" i="1">
                                        <a:ln>
                                          <a:solidFill>
                                            <a:srgbClr val="00B050"/>
                                          </a:solidFill>
                                        </a:ln>
                                        <a:solidFill>
                                          <a:srgbClr val="00B050"/>
                                        </a:solidFill>
                                        <a:latin typeface="Cambria Math" panose="02040503050406030204" pitchFamily="18" charset="0"/>
                                      </a:rPr>
                                      <m:t>𝑤</m:t>
                                    </m:r>
                                  </m:e>
                                  <m:sub>
                                    <m:r>
                                      <a:rPr lang="en-GB" i="1">
                                        <a:ln>
                                          <a:solidFill>
                                            <a:srgbClr val="00B050"/>
                                          </a:solidFill>
                                        </a:ln>
                                        <a:solidFill>
                                          <a:srgbClr val="00B050"/>
                                        </a:solidFill>
                                        <a:latin typeface="Cambria Math" panose="02040503050406030204" pitchFamily="18" charset="0"/>
                                      </a:rPr>
                                      <m:t>𝑗</m:t>
                                    </m:r>
                                  </m:sub>
                                </m:sSub>
                                <m:sSub>
                                  <m:sSubPr>
                                    <m:ctrlPr>
                                      <a:rPr lang="en-GB" i="1">
                                        <a:ln>
                                          <a:solidFill>
                                            <a:srgbClr val="00B050"/>
                                          </a:solidFill>
                                        </a:ln>
                                        <a:solidFill>
                                          <a:srgbClr val="00B050"/>
                                        </a:solidFill>
                                        <a:latin typeface="Cambria Math" panose="02040503050406030204" pitchFamily="18" charset="0"/>
                                      </a:rPr>
                                    </m:ctrlPr>
                                  </m:sSubPr>
                                  <m:e>
                                    <m:r>
                                      <a:rPr lang="en-GB" i="1">
                                        <a:ln>
                                          <a:solidFill>
                                            <a:srgbClr val="00B050"/>
                                          </a:solidFill>
                                        </a:ln>
                                        <a:solidFill>
                                          <a:srgbClr val="00B050"/>
                                        </a:solidFill>
                                        <a:latin typeface="Cambria Math" panose="02040503050406030204" pitchFamily="18" charset="0"/>
                                      </a:rPr>
                                      <m:t>𝜎</m:t>
                                    </m:r>
                                  </m:e>
                                  <m:sub>
                                    <m:r>
                                      <a:rPr lang="en-GB" i="1">
                                        <a:ln>
                                          <a:solidFill>
                                            <a:srgbClr val="00B050"/>
                                          </a:solidFill>
                                        </a:ln>
                                        <a:solidFill>
                                          <a:srgbClr val="00B050"/>
                                        </a:solidFill>
                                        <a:latin typeface="Cambria Math" panose="02040503050406030204" pitchFamily="18" charset="0"/>
                                      </a:rPr>
                                      <m:t>𝑖</m:t>
                                    </m:r>
                                    <m:r>
                                      <a:rPr lang="en-GB" i="1">
                                        <a:ln>
                                          <a:solidFill>
                                            <a:srgbClr val="00B050"/>
                                          </a:solidFill>
                                        </a:ln>
                                        <a:solidFill>
                                          <a:srgbClr val="00B050"/>
                                        </a:solidFill>
                                        <a:latin typeface="Cambria Math" panose="02040503050406030204" pitchFamily="18" charset="0"/>
                                      </a:rPr>
                                      <m:t>,</m:t>
                                    </m:r>
                                    <m:r>
                                      <a:rPr lang="en-GB" i="1">
                                        <a:ln>
                                          <a:solidFill>
                                            <a:srgbClr val="00B050"/>
                                          </a:solidFill>
                                        </a:ln>
                                        <a:solidFill>
                                          <a:srgbClr val="00B050"/>
                                        </a:solidFill>
                                        <a:latin typeface="Cambria Math" panose="02040503050406030204" pitchFamily="18" charset="0"/>
                                      </a:rPr>
                                      <m:t>𝑗</m:t>
                                    </m:r>
                                  </m:sub>
                                </m:sSub>
                                <m:r>
                                  <a:rPr lang="en-GB" i="1">
                                    <a:ln>
                                      <a:solidFill>
                                        <a:srgbClr val="0070C0"/>
                                      </a:solidFill>
                                    </a:ln>
                                    <a:latin typeface="Cambria Math" panose="02040503050406030204" pitchFamily="18" charset="0"/>
                                  </a:rPr>
                                  <m:t>, </m:t>
                                </m:r>
                                <m:r>
                                  <a:rPr lang="en-GB" i="1">
                                    <a:ln>
                                      <a:solidFill>
                                        <a:srgbClr val="0070C0"/>
                                      </a:solidFill>
                                    </a:ln>
                                    <a:latin typeface="Cambria Math" panose="02040503050406030204" pitchFamily="18" charset="0"/>
                                  </a:rPr>
                                  <m:t>𝑤h𝑒𝑟𝑒</m:t>
                                </m:r>
                                <m:r>
                                  <a:rPr lang="en-GB" i="1">
                                    <a:ln>
                                      <a:solidFill>
                                        <a:srgbClr val="0070C0"/>
                                      </a:solidFill>
                                    </a:ln>
                                    <a:latin typeface="Cambria Math" panose="02040503050406030204" pitchFamily="18" charset="0"/>
                                  </a:rPr>
                                  <m:t>  </m:t>
                                </m:r>
                                <m:r>
                                  <a:rPr lang="en-GB" b="0" i="1" smtClean="0">
                                    <a:ln>
                                      <a:solidFill>
                                        <a:srgbClr val="0070C0"/>
                                      </a:solidFill>
                                    </a:ln>
                                    <a:latin typeface="Cambria Math" panose="02040503050406030204" pitchFamily="18" charset="0"/>
                                  </a:rPr>
                                  <m:t>𝑖</m:t>
                                </m:r>
                                <m:r>
                                  <a:rPr lang="en-GB" b="0" i="1" smtClean="0">
                                    <a:ln>
                                      <a:solidFill>
                                        <a:srgbClr val="0070C0"/>
                                      </a:solidFill>
                                    </a:ln>
                                    <a:latin typeface="Cambria Math" panose="02040503050406030204" pitchFamily="18" charset="0"/>
                                  </a:rPr>
                                  <m:t>=1, …</m:t>
                                </m:r>
                                <m:r>
                                  <a:rPr lang="en-GB" b="0" i="1" smtClean="0">
                                    <a:ln>
                                      <a:solidFill>
                                        <a:srgbClr val="0070C0"/>
                                      </a:solidFill>
                                    </a:ln>
                                    <a:latin typeface="Cambria Math" panose="02040503050406030204" pitchFamily="18" charset="0"/>
                                  </a:rPr>
                                  <m:t>𝑛</m:t>
                                </m:r>
                                <m:r>
                                  <a:rPr lang="en-GB" b="0" i="1" smtClean="0">
                                    <a:ln>
                                      <a:solidFill>
                                        <a:srgbClr val="0070C0"/>
                                      </a:solidFill>
                                    </a:ln>
                                    <a:latin typeface="Cambria Math" panose="02040503050406030204" pitchFamily="18" charset="0"/>
                                  </a:rPr>
                                  <m:t>,  </m:t>
                                </m:r>
                                <m:r>
                                  <a:rPr lang="en-GB" b="0" i="1" smtClean="0">
                                    <a:ln>
                                      <a:solidFill>
                                        <a:srgbClr val="0070C0"/>
                                      </a:solidFill>
                                    </a:ln>
                                    <a:latin typeface="Cambria Math" panose="02040503050406030204" pitchFamily="18" charset="0"/>
                                  </a:rPr>
                                  <m:t>𝑗</m:t>
                                </m:r>
                                <m:r>
                                  <a:rPr lang="en-GB" b="0" i="1" smtClean="0">
                                    <a:ln>
                                      <a:solidFill>
                                        <a:srgbClr val="0070C0"/>
                                      </a:solidFill>
                                    </a:ln>
                                    <a:latin typeface="Cambria Math" panose="02040503050406030204" pitchFamily="18" charset="0"/>
                                  </a:rPr>
                                  <m:t>=1…</m:t>
                                </m:r>
                                <m:r>
                                  <a:rPr lang="en-GB" b="0" i="1" smtClean="0">
                                    <a:ln>
                                      <a:solidFill>
                                        <a:srgbClr val="0070C0"/>
                                      </a:solidFill>
                                    </a:ln>
                                    <a:latin typeface="Cambria Math" panose="02040503050406030204" pitchFamily="18" charset="0"/>
                                  </a:rPr>
                                  <m:t>𝑛</m:t>
                                </m:r>
                                <m:r>
                                  <a:rPr lang="en-GB" b="0" i="1" smtClean="0">
                                    <a:ln>
                                      <a:solidFill>
                                        <a:srgbClr val="0070C0"/>
                                      </a:solidFill>
                                    </a:ln>
                                    <a:latin typeface="Cambria Math" panose="02040503050406030204" pitchFamily="18" charset="0"/>
                                  </a:rPr>
                                  <m:t>, &amp;  </m:t>
                                </m:r>
                                <m:r>
                                  <a:rPr lang="en-GB" i="1">
                                    <a:ln>
                                      <a:solidFill>
                                        <a:srgbClr val="0070C0"/>
                                      </a:solidFill>
                                    </a:ln>
                                    <a:latin typeface="Cambria Math" panose="02040503050406030204" pitchFamily="18" charset="0"/>
                                  </a:rPr>
                                  <m:t>𝑖</m:t>
                                </m:r>
                                <m:r>
                                  <a:rPr lang="en-GB" i="1">
                                    <a:ln>
                                      <a:solidFill>
                                        <a:srgbClr val="0070C0"/>
                                      </a:solidFill>
                                    </a:ln>
                                    <a:latin typeface="Cambria Math" panose="02040503050406030204" pitchFamily="18" charset="0"/>
                                  </a:rPr>
                                  <m:t>≠</m:t>
                                </m:r>
                                <m:r>
                                  <a:rPr lang="en-GB" i="1">
                                    <a:ln>
                                      <a:solidFill>
                                        <a:srgbClr val="0070C0"/>
                                      </a:solidFill>
                                    </a:ln>
                                    <a:latin typeface="Cambria Math" panose="02040503050406030204" pitchFamily="18" charset="0"/>
                                  </a:rPr>
                                  <m:t>𝑗</m:t>
                                </m:r>
                              </m:e>
                            </m:nary>
                          </m:e>
                        </m:nary>
                      </m:e>
                    </m:nary>
                  </m:oMath>
                </a14:m>
                <a:endParaRPr lang="en-US" dirty="0"/>
              </a:p>
              <a:p>
                <a:pPr>
                  <a:lnSpc>
                    <a:spcPct val="150000"/>
                  </a:lnSpc>
                </a:pPr>
                <a:r>
                  <a:rPr lang="en-US" dirty="0">
                    <a:solidFill>
                      <a:srgbClr val="0070C0"/>
                    </a:solidFill>
                  </a:rPr>
                  <a:t>Total risk</a:t>
                </a:r>
                <a:r>
                  <a:rPr lang="en-US" dirty="0"/>
                  <a:t> can be decomposed into </a:t>
                </a:r>
                <a:r>
                  <a:rPr lang="en-US" dirty="0">
                    <a:solidFill>
                      <a:srgbClr val="FF0000"/>
                    </a:solidFill>
                  </a:rPr>
                  <a:t>diversifiable</a:t>
                </a:r>
                <a:r>
                  <a:rPr lang="en-US" dirty="0"/>
                  <a:t> and </a:t>
                </a:r>
                <a:r>
                  <a:rPr lang="en-US" dirty="0">
                    <a:solidFill>
                      <a:srgbClr val="00B050"/>
                    </a:solidFill>
                  </a:rPr>
                  <a:t>non-diversifiable</a:t>
                </a:r>
                <a:r>
                  <a:rPr lang="en-US" dirty="0"/>
                  <a:t> component</a:t>
                </a:r>
              </a:p>
              <a:p>
                <a:pPr>
                  <a:lnSpc>
                    <a:spcPct val="150000"/>
                  </a:lnSpc>
                </a:pPr>
                <a:r>
                  <a:rPr lang="en-US" dirty="0">
                    <a:solidFill>
                      <a:srgbClr val="FF0000"/>
                    </a:solidFill>
                  </a:rPr>
                  <a:t>Diversifiable component</a:t>
                </a:r>
                <a:r>
                  <a:rPr lang="en-US" dirty="0"/>
                  <a:t>: unsystematic risk or company-specific risk</a:t>
                </a:r>
              </a:p>
              <a:p>
                <a:pPr lvl="2">
                  <a:lnSpc>
                    <a:spcPct val="150000"/>
                  </a:lnSpc>
                </a:pPr>
                <a:r>
                  <a:rPr lang="en-US" sz="2300" dirty="0"/>
                  <a:t>Combining large number of assets in a portfolio can eliminate (diversify away) company-specific risk</a:t>
                </a:r>
              </a:p>
              <a:p>
                <a:pPr lvl="2">
                  <a:lnSpc>
                    <a:spcPct val="150000"/>
                  </a:lnSpc>
                </a:pPr>
                <a:r>
                  <a:rPr lang="en-US" sz="2300" dirty="0"/>
                  <a:t>How large is that large number of assets?</a:t>
                </a:r>
              </a:p>
              <a:p>
                <a:pPr>
                  <a:lnSpc>
                    <a:spcPct val="150000"/>
                  </a:lnSpc>
                </a:pPr>
                <a:r>
                  <a:rPr lang="en-US" dirty="0">
                    <a:solidFill>
                      <a:srgbClr val="00B050"/>
                    </a:solidFill>
                  </a:rPr>
                  <a:t>Non-diversifiable component</a:t>
                </a:r>
                <a:r>
                  <a:rPr lang="en-US" dirty="0"/>
                  <a:t>: systematic or market risk</a:t>
                </a:r>
              </a:p>
              <a:p>
                <a:pPr lvl="2">
                  <a:lnSpc>
                    <a:spcPct val="150000"/>
                  </a:lnSpc>
                </a:pPr>
                <a:r>
                  <a:rPr lang="en-US" sz="2300" dirty="0"/>
                  <a:t>Measured using asset’s beta coefficient (which will be discussed later in this module)</a:t>
                </a:r>
              </a:p>
              <a:p>
                <a:pPr lvl="2">
                  <a:lnSpc>
                    <a:spcPct val="150000"/>
                  </a:lnSpc>
                </a:pPr>
                <a:r>
                  <a:rPr lang="en-US" sz="2300" dirty="0"/>
                  <a:t>In random diversification systematic risk is only averaged out, not eliminated</a:t>
                </a:r>
              </a:p>
              <a:p>
                <a:pPr lvl="2">
                  <a:lnSpc>
                    <a:spcPct val="150000"/>
                  </a:lnSpc>
                </a:pPr>
                <a:r>
                  <a:rPr lang="en-US" sz="2300" dirty="0"/>
                  <a:t>Systematic risk can be eliminated using derivatives or non-random portfolio construction (e.g. long/short market-neutral portfolio)</a:t>
                </a:r>
              </a:p>
              <a:p>
                <a:pPr marL="261937" lvl="2" indent="0">
                  <a:buNone/>
                </a:pPr>
                <a:endParaRPr lang="en-US" dirty="0"/>
              </a:p>
            </p:txBody>
          </p:sp>
        </mc:Choice>
        <mc:Fallback xmlns="">
          <p:sp>
            <p:nvSpPr>
              <p:cNvPr id="6" name="Content Placeholder 5">
                <a:extLst>
                  <a:ext uri="{FF2B5EF4-FFF2-40B4-BE49-F238E27FC236}">
                    <a16:creationId xmlns:a16="http://schemas.microsoft.com/office/drawing/2014/main" id="{314992F2-B392-4742-8301-049435E8A4D2}"/>
                  </a:ext>
                </a:extLst>
              </p:cNvPr>
              <p:cNvSpPr>
                <a:spLocks noGrp="1" noRot="1" noChangeAspect="1" noMove="1" noResize="1" noEditPoints="1" noAdjustHandles="1" noChangeArrowheads="1" noChangeShapeType="1" noTextEdit="1"/>
              </p:cNvSpPr>
              <p:nvPr>
                <p:ph idx="1"/>
              </p:nvPr>
            </p:nvSpPr>
            <p:spPr>
              <a:xfrm>
                <a:off x="448359" y="1274545"/>
                <a:ext cx="10709792" cy="5583455"/>
              </a:xfrm>
              <a:blipFill>
                <a:blip r:embed="rId2"/>
                <a:stretch>
                  <a:fillRect l="-592"/>
                </a:stretch>
              </a:blipFill>
              <a:ln>
                <a:noFill/>
              </a:ln>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E2BB3F6A-A05E-D4CB-1A6E-AA5C859A9AC9}"/>
              </a:ext>
            </a:extLst>
          </p:cNvPr>
          <p:cNvCxnSpPr>
            <a:cxnSpLocks/>
          </p:cNvCxnSpPr>
          <p:nvPr/>
        </p:nvCxnSpPr>
        <p:spPr>
          <a:xfrm>
            <a:off x="4843849" y="2238949"/>
            <a:ext cx="370702" cy="26947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F6F8098E-AB8B-33A6-693F-A9582FA43E1E}"/>
              </a:ext>
            </a:extLst>
          </p:cNvPr>
          <p:cNvCxnSpPr>
            <a:cxnSpLocks/>
          </p:cNvCxnSpPr>
          <p:nvPr/>
        </p:nvCxnSpPr>
        <p:spPr>
          <a:xfrm>
            <a:off x="6491416" y="2238949"/>
            <a:ext cx="391298" cy="26947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70F01989-8CD6-CB56-5BB7-A34E5427649A}"/>
              </a:ext>
            </a:extLst>
          </p:cNvPr>
          <p:cNvCxnSpPr>
            <a:cxnSpLocks/>
          </p:cNvCxnSpPr>
          <p:nvPr/>
        </p:nvCxnSpPr>
        <p:spPr>
          <a:xfrm flipH="1">
            <a:off x="1661682" y="2238949"/>
            <a:ext cx="2070059" cy="29418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005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629E02AB-60AF-5048-838F-03EB35D68D4F}"/>
              </a:ext>
            </a:extLst>
          </p:cNvPr>
          <p:cNvSpPr>
            <a:spLocks noGrp="1" noChangeArrowheads="1"/>
          </p:cNvSpPr>
          <p:nvPr>
            <p:ph type="title"/>
          </p:nvPr>
        </p:nvSpPr>
        <p:spPr>
          <a:xfrm>
            <a:off x="677578" y="406400"/>
            <a:ext cx="11315248" cy="785542"/>
          </a:xfrm>
        </p:spPr>
        <p:txBody>
          <a:bodyPr>
            <a:normAutofit fontScale="90000"/>
          </a:bodyPr>
          <a:lstStyle/>
          <a:p>
            <a:pPr>
              <a:lnSpc>
                <a:spcPct val="100000"/>
              </a:lnSpc>
            </a:pPr>
            <a:r>
              <a:rPr lang="en-US" altLang="en-US" sz="3000" dirty="0"/>
              <a:t>Diversification and the number of assets held in the </a:t>
            </a:r>
            <a:br>
              <a:rPr lang="en-US" altLang="en-US" sz="3000" dirty="0"/>
            </a:br>
            <a:r>
              <a:rPr lang="en-US" altLang="en-US" sz="3000" dirty="0"/>
              <a:t>portfolio, cont.</a:t>
            </a:r>
          </a:p>
        </p:txBody>
      </p:sp>
      <p:sp>
        <p:nvSpPr>
          <p:cNvPr id="26628" name="Rectangle 4">
            <a:extLst>
              <a:ext uri="{FF2B5EF4-FFF2-40B4-BE49-F238E27FC236}">
                <a16:creationId xmlns:a16="http://schemas.microsoft.com/office/drawing/2014/main" id="{F4DF12C8-A384-EF43-A32A-DA6ED1A42FFB}"/>
              </a:ext>
            </a:extLst>
          </p:cNvPr>
          <p:cNvSpPr>
            <a:spLocks noGrp="1" noChangeArrowheads="1"/>
          </p:cNvSpPr>
          <p:nvPr>
            <p:ph idx="1"/>
          </p:nvPr>
        </p:nvSpPr>
        <p:spPr>
          <a:xfrm>
            <a:off x="677578" y="1639169"/>
            <a:ext cx="9497367" cy="4419600"/>
          </a:xfrm>
        </p:spPr>
        <p:txBody>
          <a:bodyPr>
            <a:normAutofit fontScale="92500" lnSpcReduction="20000"/>
          </a:bodyPr>
          <a:lstStyle/>
          <a:p>
            <a:pPr>
              <a:lnSpc>
                <a:spcPct val="150000"/>
              </a:lnSpc>
              <a:spcAft>
                <a:spcPts val="600"/>
              </a:spcAft>
            </a:pPr>
            <a:r>
              <a:rPr lang="en-US" altLang="en-US" sz="2000" dirty="0">
                <a:sym typeface="Symbol" pitchFamily="2" charset="2"/>
              </a:rPr>
              <a:t>If all risk is company-specific, covariance is equal to zero</a:t>
            </a:r>
          </a:p>
          <a:p>
            <a:pPr>
              <a:lnSpc>
                <a:spcPct val="150000"/>
              </a:lnSpc>
              <a:spcAft>
                <a:spcPts val="600"/>
              </a:spcAft>
            </a:pPr>
            <a:r>
              <a:rPr lang="en-US" altLang="en-US" sz="2000" dirty="0">
                <a:sym typeface="Symbol" pitchFamily="2" charset="2"/>
              </a:rPr>
              <a:t>Then, as the number of assets in the portfolio increases the portfolio variance will approach zero</a:t>
            </a:r>
          </a:p>
          <a:p>
            <a:pPr>
              <a:lnSpc>
                <a:spcPct val="150000"/>
              </a:lnSpc>
              <a:spcAft>
                <a:spcPts val="600"/>
              </a:spcAft>
            </a:pPr>
            <a:r>
              <a:rPr lang="en-US" altLang="en-US" sz="2000" dirty="0">
                <a:sym typeface="Symbol" pitchFamily="2" charset="2"/>
              </a:rPr>
              <a:t>In reality, assets are positively correlated, and their total risk has a market risk component as well</a:t>
            </a:r>
          </a:p>
          <a:p>
            <a:pPr>
              <a:lnSpc>
                <a:spcPct val="150000"/>
              </a:lnSpc>
              <a:spcAft>
                <a:spcPts val="600"/>
              </a:spcAft>
            </a:pPr>
            <a:r>
              <a:rPr lang="en-US" altLang="en-US" sz="2000" dirty="0">
                <a:sym typeface="Symbol" pitchFamily="2" charset="2"/>
              </a:rPr>
              <a:t>Therefore, the variance term will still approach zero, but the covariance term will approach the average covariance as the number of assets increases</a:t>
            </a:r>
          </a:p>
          <a:p>
            <a:pPr>
              <a:lnSpc>
                <a:spcPct val="150000"/>
              </a:lnSpc>
              <a:spcAft>
                <a:spcPts val="600"/>
              </a:spcAft>
            </a:pPr>
            <a:r>
              <a:rPr lang="en-US" altLang="en-US" sz="2000" dirty="0">
                <a:sym typeface="Symbol" pitchFamily="2" charset="2"/>
              </a:rPr>
              <a:t>Conclusion: company-specific risk can be driven to 0, while the market risk cannot be diversified away as we increase the number of assets in the portfolio</a:t>
            </a:r>
          </a:p>
        </p:txBody>
      </p:sp>
    </p:spTree>
    <p:extLst>
      <p:ext uri="{BB962C8B-B14F-4D97-AF65-F5344CB8AC3E}">
        <p14:creationId xmlns:p14="http://schemas.microsoft.com/office/powerpoint/2010/main" val="3822911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75B9A4A-8C37-244B-980F-7E0E2E799DE9}"/>
                  </a:ext>
                </a:extLst>
              </p:cNvPr>
              <p:cNvSpPr>
                <a:spLocks noGrp="1"/>
              </p:cNvSpPr>
              <p:nvPr>
                <p:ph sz="half" idx="2"/>
              </p:nvPr>
            </p:nvSpPr>
            <p:spPr>
              <a:xfrm>
                <a:off x="5200650" y="2079385"/>
                <a:ext cx="5453299" cy="4127106"/>
              </a:xfrm>
            </p:spPr>
            <p:txBody>
              <a:bodyPr>
                <a:noAutofit/>
              </a:bodyPr>
              <a:lstStyle/>
              <a:p>
                <a:pPr>
                  <a:lnSpc>
                    <a:spcPct val="100000"/>
                  </a:lnSpc>
                </a:pPr>
                <a:r>
                  <a:rPr lang="en-US" sz="1600" dirty="0"/>
                  <a:t>Note that covariance of asset with itself shown on the diagonal of VCV is the variance of that asset: </a:t>
                </a:r>
              </a:p>
              <a:p>
                <a:pPr marL="0" indent="0">
                  <a:lnSpc>
                    <a:spcPct val="100000"/>
                  </a:lnSpc>
                  <a:buNone/>
                </a:pPr>
                <a:r>
                  <a:rPr lang="en-US" sz="1600" dirty="0"/>
                  <a:t>	</a:t>
                </a:r>
                <a14:m>
                  <m:oMath xmlns:m="http://schemas.openxmlformats.org/officeDocument/2006/math">
                    <m:sSub>
                      <m:sSubPr>
                        <m:ctrlPr>
                          <a:rPr lang="en-US" i="1" smtClean="0">
                            <a:solidFill>
                              <a:srgbClr val="0070C0"/>
                            </a:solidFill>
                            <a:latin typeface="Cambria Math" panose="02040503050406030204" pitchFamily="18" charset="0"/>
                            <a:ea typeface="Cambria Math" panose="02040503050406030204" pitchFamily="18" charset="0"/>
                          </a:rPr>
                        </m:ctrlPr>
                      </m:sSubPr>
                      <m:e>
                        <m:r>
                          <a:rPr lang="en-US" i="1" smtClean="0">
                            <a:solidFill>
                              <a:srgbClr val="0070C0"/>
                            </a:solidFill>
                            <a:latin typeface="Cambria Math" panose="02040503050406030204" pitchFamily="18" charset="0"/>
                            <a:ea typeface="Cambria Math" panose="02040503050406030204" pitchFamily="18" charset="0"/>
                          </a:rPr>
                          <m:t>𝜎</m:t>
                        </m:r>
                      </m:e>
                      <m:sub>
                        <m:r>
                          <a:rPr lang="en-US" b="0" i="1" smtClean="0">
                            <a:solidFill>
                              <a:srgbClr val="0070C0"/>
                            </a:solidFill>
                            <a:latin typeface="Cambria Math" panose="02040503050406030204" pitchFamily="18" charset="0"/>
                          </a:rPr>
                          <m:t>1,1</m:t>
                        </m:r>
                      </m:sub>
                    </m:sSub>
                    <m:r>
                      <a:rPr lang="en-US" b="0" i="1" smtClean="0">
                        <a:solidFill>
                          <a:srgbClr val="0070C0"/>
                        </a:solidFill>
                        <a:latin typeface="Cambria Math" panose="02040503050406030204" pitchFamily="18" charset="0"/>
                      </a:rPr>
                      <m:t>=</m:t>
                    </m:r>
                    <m:sSub>
                      <m:sSubPr>
                        <m:ctrlPr>
                          <a:rPr lang="en-US" b="0" i="1" smtClean="0">
                            <a:solidFill>
                              <a:srgbClr val="0070C0"/>
                            </a:solidFill>
                            <a:latin typeface="Cambria Math" panose="02040503050406030204" pitchFamily="18" charset="0"/>
                            <a:ea typeface="Cambria Math" panose="02040503050406030204" pitchFamily="18" charset="0"/>
                          </a:rPr>
                        </m:ctrlPr>
                      </m:sSubPr>
                      <m:e>
                        <m:r>
                          <a:rPr lang="en-US" b="0" i="1" smtClean="0">
                            <a:solidFill>
                              <a:srgbClr val="0070C0"/>
                            </a:solidFill>
                            <a:latin typeface="Cambria Math" panose="02040503050406030204" pitchFamily="18" charset="0"/>
                            <a:ea typeface="Cambria Math" panose="02040503050406030204" pitchFamily="18" charset="0"/>
                          </a:rPr>
                          <m:t>𝜌</m:t>
                        </m:r>
                      </m:e>
                      <m:sub>
                        <m:r>
                          <a:rPr lang="en-US" b="0" i="1" smtClean="0">
                            <a:solidFill>
                              <a:srgbClr val="0070C0"/>
                            </a:solidFill>
                            <a:latin typeface="Cambria Math" panose="02040503050406030204" pitchFamily="18" charset="0"/>
                          </a:rPr>
                          <m:t>1,1</m:t>
                        </m:r>
                      </m:sub>
                    </m:sSub>
                    <m:sSub>
                      <m:sSubPr>
                        <m:ctrlPr>
                          <a:rPr lang="en-US" b="0" i="1" smtClean="0">
                            <a:solidFill>
                              <a:srgbClr val="0070C0"/>
                            </a:solidFill>
                            <a:latin typeface="Cambria Math" panose="02040503050406030204" pitchFamily="18" charset="0"/>
                            <a:ea typeface="Cambria Math" panose="02040503050406030204" pitchFamily="18" charset="0"/>
                          </a:rPr>
                        </m:ctrlPr>
                      </m:sSubPr>
                      <m:e>
                        <m:r>
                          <a:rPr lang="en-US" b="0" i="1" smtClean="0">
                            <a:solidFill>
                              <a:srgbClr val="0070C0"/>
                            </a:solidFill>
                            <a:latin typeface="Cambria Math" panose="02040503050406030204" pitchFamily="18" charset="0"/>
                            <a:ea typeface="Cambria Math" panose="02040503050406030204" pitchFamily="18" charset="0"/>
                          </a:rPr>
                          <m:t>𝜎</m:t>
                        </m:r>
                      </m:e>
                      <m:sub>
                        <m:r>
                          <a:rPr lang="en-US" b="0" i="1" smtClean="0">
                            <a:solidFill>
                              <a:srgbClr val="0070C0"/>
                            </a:solidFill>
                            <a:latin typeface="Cambria Math" panose="02040503050406030204" pitchFamily="18" charset="0"/>
                          </a:rPr>
                          <m:t>1</m:t>
                        </m:r>
                      </m:sub>
                    </m:sSub>
                    <m:sSub>
                      <m:sSubPr>
                        <m:ctrlPr>
                          <a:rPr lang="en-US" b="0" i="1" smtClean="0">
                            <a:solidFill>
                              <a:srgbClr val="0070C0"/>
                            </a:solidFill>
                            <a:latin typeface="Cambria Math" panose="02040503050406030204" pitchFamily="18" charset="0"/>
                            <a:ea typeface="Cambria Math" panose="02040503050406030204" pitchFamily="18" charset="0"/>
                          </a:rPr>
                        </m:ctrlPr>
                      </m:sSubPr>
                      <m:e>
                        <m:r>
                          <a:rPr lang="en-US" b="0" i="1" smtClean="0">
                            <a:solidFill>
                              <a:srgbClr val="0070C0"/>
                            </a:solidFill>
                            <a:latin typeface="Cambria Math" panose="02040503050406030204" pitchFamily="18" charset="0"/>
                            <a:ea typeface="Cambria Math" panose="02040503050406030204" pitchFamily="18" charset="0"/>
                          </a:rPr>
                          <m:t>𝜎</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Sup>
                      <m:sSubSupPr>
                        <m:ctrlPr>
                          <a:rPr lang="en-US" b="0" i="1" smtClean="0">
                            <a:solidFill>
                              <a:srgbClr val="0070C0"/>
                            </a:solidFill>
                            <a:latin typeface="Cambria Math" panose="02040503050406030204" pitchFamily="18" charset="0"/>
                            <a:ea typeface="Cambria Math" panose="02040503050406030204" pitchFamily="18" charset="0"/>
                          </a:rPr>
                        </m:ctrlPr>
                      </m:sSubSupPr>
                      <m:e>
                        <m:r>
                          <a:rPr lang="en-US" b="0" i="1" smtClean="0">
                            <a:solidFill>
                              <a:srgbClr val="0070C0"/>
                            </a:solidFill>
                            <a:latin typeface="Cambria Math" panose="02040503050406030204" pitchFamily="18" charset="0"/>
                            <a:ea typeface="Cambria Math" panose="02040503050406030204" pitchFamily="18" charset="0"/>
                          </a:rPr>
                          <m:t>𝜎</m:t>
                        </m:r>
                      </m:e>
                      <m:sub>
                        <m:r>
                          <a:rPr lang="en-US" b="0" i="1" smtClean="0">
                            <a:solidFill>
                              <a:srgbClr val="0070C0"/>
                            </a:solidFill>
                            <a:latin typeface="Cambria Math" panose="02040503050406030204" pitchFamily="18" charset="0"/>
                          </a:rPr>
                          <m:t>1</m:t>
                        </m:r>
                      </m:sub>
                      <m:sup>
                        <m:r>
                          <a:rPr lang="en-US" b="0" i="1" smtClean="0">
                            <a:solidFill>
                              <a:srgbClr val="0070C0"/>
                            </a:solidFill>
                            <a:latin typeface="Cambria Math" panose="02040503050406030204" pitchFamily="18" charset="0"/>
                          </a:rPr>
                          <m:t>2</m:t>
                        </m:r>
                      </m:sup>
                    </m:sSubSup>
                  </m:oMath>
                </a14:m>
                <a:endParaRPr lang="en-US" dirty="0"/>
              </a:p>
              <a:p>
                <a:pPr>
                  <a:lnSpc>
                    <a:spcPct val="100000"/>
                  </a:lnSpc>
                </a:pPr>
                <a:r>
                  <a:rPr lang="en-US" sz="1600" dirty="0"/>
                  <a:t>Diagonal: variances</a:t>
                </a:r>
              </a:p>
              <a:p>
                <a:pPr>
                  <a:lnSpc>
                    <a:spcPct val="100000"/>
                  </a:lnSpc>
                </a:pPr>
                <a:r>
                  <a:rPr lang="en-US" sz="1600" dirty="0"/>
                  <a:t>Off-diagonal: covariances</a:t>
                </a:r>
              </a:p>
              <a:p>
                <a:pPr>
                  <a:lnSpc>
                    <a:spcPct val="100000"/>
                  </a:lnSpc>
                </a:pPr>
                <a:r>
                  <a:rPr lang="en-US" sz="1600" u="sng" dirty="0"/>
                  <a:t>For N asset </a:t>
                </a:r>
                <a:r>
                  <a:rPr lang="en-US" sz="1600" u="sng" dirty="0" err="1"/>
                  <a:t>porfrolio</a:t>
                </a:r>
                <a:r>
                  <a:rPr lang="en-US" sz="1600" u="sng" dirty="0"/>
                  <a:t>, we need:</a:t>
                </a:r>
              </a:p>
              <a:p>
                <a:pPr marL="0" indent="0">
                  <a:lnSpc>
                    <a:spcPct val="100000"/>
                  </a:lnSpc>
                  <a:buNone/>
                </a:pPr>
                <a:r>
                  <a:rPr lang="en-US" sz="1600" dirty="0"/>
                  <a:t>	</a:t>
                </a:r>
                <a:r>
                  <a:rPr lang="en-US" sz="1600" b="1" dirty="0">
                    <a:solidFill>
                      <a:srgbClr val="0070C0"/>
                    </a:solidFill>
                  </a:rPr>
                  <a:t>N variances</a:t>
                </a:r>
              </a:p>
              <a:p>
                <a:pPr marL="0" indent="0">
                  <a:lnSpc>
                    <a:spcPct val="100000"/>
                  </a:lnSpc>
                  <a:buNone/>
                </a:pPr>
                <a:r>
                  <a:rPr lang="en-US" sz="1600" dirty="0"/>
                  <a:t>	</a:t>
                </a:r>
                <a:r>
                  <a:rPr lang="en-US" sz="1600" b="1" dirty="0">
                    <a:solidFill>
                      <a:srgbClr val="0070C0"/>
                    </a:solidFill>
                  </a:rPr>
                  <a:t>N(N-1) covariances</a:t>
                </a:r>
              </a:p>
              <a:p>
                <a:pPr>
                  <a:lnSpc>
                    <a:spcPct val="100000"/>
                  </a:lnSpc>
                </a:pPr>
                <a:r>
                  <a:rPr lang="en-US" sz="1600" dirty="0"/>
                  <a:t>Note that </a:t>
                </a: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GB" sz="1600" b="0" i="1" smtClean="0">
                            <a:latin typeface="Cambria Math" panose="02040503050406030204" pitchFamily="18" charset="0"/>
                            <a:ea typeface="Cambria Math" panose="02040503050406030204" pitchFamily="18" charset="0"/>
                          </a:rPr>
                          <m:t>𝑖</m:t>
                        </m:r>
                        <m:r>
                          <a:rPr lang="en-US" sz="1600" i="1">
                            <a:latin typeface="Cambria Math" panose="02040503050406030204" pitchFamily="18" charset="0"/>
                          </a:rPr>
                          <m:t>,</m:t>
                        </m:r>
                        <m:r>
                          <a:rPr lang="en-US" sz="1600" b="0" i="1" smtClean="0">
                            <a:latin typeface="Cambria Math" panose="02040503050406030204" pitchFamily="18" charset="0"/>
                          </a:rPr>
                          <m:t>𝑗</m:t>
                        </m:r>
                      </m:sub>
                    </m:sSub>
                    <m:r>
                      <a:rPr lang="en-US" sz="1600" b="0" i="1" smtClean="0">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ea typeface="Cambria Math" panose="02040503050406030204" pitchFamily="18" charset="0"/>
                          </a:rPr>
                          <m:t>𝑗</m:t>
                        </m:r>
                        <m:r>
                          <a:rPr lang="en-US" sz="1600" i="1">
                            <a:latin typeface="Cambria Math" panose="02040503050406030204" pitchFamily="18" charset="0"/>
                          </a:rPr>
                          <m:t>,</m:t>
                        </m:r>
                        <m:r>
                          <a:rPr lang="en-US" sz="1600" b="0" i="1" smtClean="0">
                            <a:latin typeface="Cambria Math" panose="02040503050406030204" pitchFamily="18" charset="0"/>
                          </a:rPr>
                          <m:t>𝑖</m:t>
                        </m:r>
                      </m:sub>
                    </m:sSub>
                  </m:oMath>
                </a14:m>
                <a:r>
                  <a:rPr lang="en-US" sz="1600" dirty="0"/>
                  <a:t> so the actual number of covariances needed is:</a:t>
                </a:r>
              </a:p>
              <a:p>
                <a:pPr marL="0" indent="0">
                  <a:lnSpc>
                    <a:spcPct val="100000"/>
                  </a:lnSpc>
                  <a:buNone/>
                </a:pPr>
                <a:r>
                  <a:rPr lang="en-US" sz="1600" dirty="0"/>
                  <a:t>   	</a:t>
                </a:r>
                <a:r>
                  <a:rPr lang="en-US" sz="1600" b="1" dirty="0">
                    <a:solidFill>
                      <a:srgbClr val="0070C0"/>
                    </a:solidFill>
                  </a:rPr>
                  <a:t>N(N-1)/2</a:t>
                </a:r>
              </a:p>
            </p:txBody>
          </p:sp>
        </mc:Choice>
        <mc:Fallback xmlns="">
          <p:sp>
            <p:nvSpPr>
              <p:cNvPr id="4" name="Content Placeholder 3">
                <a:extLst>
                  <a:ext uri="{FF2B5EF4-FFF2-40B4-BE49-F238E27FC236}">
                    <a16:creationId xmlns:a16="http://schemas.microsoft.com/office/drawing/2014/main" id="{775B9A4A-8C37-244B-980F-7E0E2E799DE9}"/>
                  </a:ext>
                </a:extLst>
              </p:cNvPr>
              <p:cNvSpPr>
                <a:spLocks noGrp="1" noRot="1" noChangeAspect="1" noMove="1" noResize="1" noEditPoints="1" noAdjustHandles="1" noChangeArrowheads="1" noChangeShapeType="1" noTextEdit="1"/>
              </p:cNvSpPr>
              <p:nvPr>
                <p:ph sz="half" idx="2"/>
              </p:nvPr>
            </p:nvSpPr>
            <p:spPr>
              <a:xfrm>
                <a:off x="5200650" y="2079385"/>
                <a:ext cx="5453299" cy="4127106"/>
              </a:xfrm>
              <a:blipFill>
                <a:blip r:embed="rId3"/>
                <a:stretch>
                  <a:fillRect l="-464" t="-307"/>
                </a:stretch>
              </a:blipFill>
            </p:spPr>
            <p:txBody>
              <a:bodyPr/>
              <a:lstStyle/>
              <a:p>
                <a:r>
                  <a:rPr lang="en-US">
                    <a:noFill/>
                  </a:rPr>
                  <a:t> </a:t>
                </a:r>
              </a:p>
            </p:txBody>
          </p:sp>
        </mc:Fallback>
      </mc:AlternateContent>
      <p:sp>
        <p:nvSpPr>
          <p:cNvPr id="78850" name="Rectangle 2">
            <a:extLst>
              <a:ext uri="{FF2B5EF4-FFF2-40B4-BE49-F238E27FC236}">
                <a16:creationId xmlns:a16="http://schemas.microsoft.com/office/drawing/2014/main" id="{7D176D75-27F5-344E-9549-7C2F12F701EE}"/>
              </a:ext>
            </a:extLst>
          </p:cNvPr>
          <p:cNvSpPr>
            <a:spLocks noGrp="1" noChangeArrowheads="1"/>
          </p:cNvSpPr>
          <p:nvPr>
            <p:ph type="title"/>
          </p:nvPr>
        </p:nvSpPr>
        <p:spPr>
          <a:xfrm>
            <a:off x="186087" y="651509"/>
            <a:ext cx="11315248" cy="785542"/>
          </a:xfrm>
          <a:noFill/>
          <a:ln/>
        </p:spPr>
        <p:txBody>
          <a:bodyPr vert="horz" lIns="80059" tIns="40030" rIns="80059" bIns="40030" rtlCol="0" anchor="b">
            <a:noAutofit/>
          </a:bodyPr>
          <a:lstStyle/>
          <a:p>
            <a:pPr>
              <a:lnSpc>
                <a:spcPct val="100000"/>
              </a:lnSpc>
            </a:pPr>
            <a:br>
              <a:rPr lang="en-US" altLang="en-US" sz="2800" dirty="0">
                <a:latin typeface="Arial" panose="020B0604020202020204" pitchFamily="34" charset="0"/>
                <a:cs typeface="Arial" panose="020B0604020202020204" pitchFamily="34" charset="0"/>
              </a:rPr>
            </a:b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Needed for excel files and video on Moodle:</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Portfolios of N-assets: How many variances and </a:t>
            </a:r>
            <a:br>
              <a:rPr lang="en-US" altLang="en-US" sz="2800" dirty="0">
                <a:latin typeface="Arial" panose="020B0604020202020204" pitchFamily="34" charset="0"/>
                <a:cs typeface="Arial" panose="020B0604020202020204" pitchFamily="34" charset="0"/>
              </a:rPr>
            </a:br>
            <a:r>
              <a:rPr lang="en-US" altLang="en-US" sz="2800" dirty="0">
                <a:latin typeface="Arial" panose="020B0604020202020204" pitchFamily="34" charset="0"/>
                <a:cs typeface="Arial" panose="020B0604020202020204" pitchFamily="34" charset="0"/>
              </a:rPr>
              <a:t>covariances do we need? Variance-Covariance Matrix </a:t>
            </a:r>
            <a:r>
              <a:rPr lang="en-US" altLang="en-US" sz="2800" dirty="0"/>
              <a:t>(</a:t>
            </a:r>
            <a:r>
              <a:rPr lang="en-US" altLang="en-US" sz="2800" dirty="0">
                <a:latin typeface="Arial" panose="020B0604020202020204" pitchFamily="34" charset="0"/>
                <a:cs typeface="Arial" panose="020B0604020202020204" pitchFamily="34" charset="0"/>
              </a:rPr>
              <a:t>VCV)</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9F798EB-8F92-F448-BD76-C13943386F5C}"/>
                  </a:ext>
                </a:extLst>
              </p:cNvPr>
              <p:cNvSpPr>
                <a:spLocks noGrp="1"/>
              </p:cNvSpPr>
              <p:nvPr>
                <p:ph idx="1"/>
              </p:nvPr>
            </p:nvSpPr>
            <p:spPr>
              <a:xfrm>
                <a:off x="186087" y="2089940"/>
                <a:ext cx="4774533" cy="4439920"/>
              </a:xfrm>
            </p:spPr>
            <p:txBody>
              <a:bodyPr/>
              <a:lstStyle/>
              <a:p>
                <a:pPr marL="0" indent="0" algn="ctr">
                  <a:buNone/>
                </a:pPr>
                <a:r>
                  <a:rPr lang="en-US" sz="2800" dirty="0"/>
                  <a:t>VCV matrix (e.g. 4 assets):</a:t>
                </a:r>
              </a:p>
              <a:p>
                <a:pPr marL="0" indent="0" algn="ctr">
                  <a:buNone/>
                </a:pPr>
                <a:endParaRPr lang="en-US" sz="2800"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m>
                            <m:mPr>
                              <m:mcs>
                                <m:mc>
                                  <m:mcPr>
                                    <m:count m:val="2"/>
                                    <m:mcJc m:val="center"/>
                                  </m:mcPr>
                                </m:mc>
                              </m:mcs>
                              <m:ctrlPr>
                                <a:rPr lang="en-US" sz="3200" i="1">
                                  <a:latin typeface="Cambria Math" panose="02040503050406030204" pitchFamily="18" charset="0"/>
                                </a:rPr>
                              </m:ctrlPr>
                            </m:mPr>
                            <m:m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1,1</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1,2</m:t>
                                    </m:r>
                                  </m:sub>
                                </m:sSub>
                                <m:r>
                                  <a:rPr lang="en-GB" sz="3200" i="1">
                                    <a:latin typeface="Cambria Math" panose="02040503050406030204" pitchFamily="18" charset="0"/>
                                  </a:rPr>
                                  <m:t>   </m:t>
                                </m:r>
                              </m:e>
                            </m:mr>
                            <m:mr>
                              <m:e>
                                <m:eqArr>
                                  <m:eqArrPr>
                                    <m:ctrlPr>
                                      <a:rPr lang="en-US" sz="3200" i="1">
                                        <a:latin typeface="Cambria Math" panose="02040503050406030204" pitchFamily="18" charset="0"/>
                                      </a:rPr>
                                    </m:ctrlPr>
                                  </m:eqArrPr>
                                  <m:e>
                                    <m:eqArr>
                                      <m:eqArrPr>
                                        <m:ctrlPr>
                                          <a:rPr lang="en-US" sz="3200" i="1">
                                            <a:latin typeface="Cambria Math" panose="02040503050406030204" pitchFamily="18" charset="0"/>
                                          </a:rPr>
                                        </m:ctrlPr>
                                      </m:eqArrP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1,2</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3.1</m:t>
                                            </m:r>
                                          </m:sub>
                                        </m:sSub>
                                      </m:e>
                                    </m:eqArr>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4,1</m:t>
                                        </m:r>
                                      </m:sub>
                                    </m:sSub>
                                  </m:e>
                                </m:eqArr>
                              </m:e>
                              <m:e>
                                <m:eqArr>
                                  <m:eqArrPr>
                                    <m:ctrlPr>
                                      <a:rPr lang="en-US" sz="3200" i="1">
                                        <a:latin typeface="Cambria Math" panose="02040503050406030204" pitchFamily="18" charset="0"/>
                                      </a:rPr>
                                    </m:ctrlPr>
                                  </m:eqArrP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2,2</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3,2</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4,2</m:t>
                                        </m:r>
                                      </m:sub>
                                    </m:sSub>
                                  </m:e>
                                </m:eqArr>
                                <m:r>
                                  <a:rPr lang="en-GB" sz="3200" i="1">
                                    <a:latin typeface="Cambria Math" panose="02040503050406030204" pitchFamily="18" charset="0"/>
                                  </a:rPr>
                                  <m:t>    </m:t>
                                </m:r>
                              </m:e>
                            </m:mr>
                          </m:m>
                          <m:m>
                            <m:mPr>
                              <m:mcs>
                                <m:mc>
                                  <m:mcPr>
                                    <m:count m:val="2"/>
                                    <m:mcJc m:val="center"/>
                                  </m:mcPr>
                                </m:mc>
                              </m:mcs>
                              <m:ctrlPr>
                                <a:rPr lang="en-US" sz="3200" i="1">
                                  <a:latin typeface="Cambria Math" panose="02040503050406030204" pitchFamily="18" charset="0"/>
                                </a:rPr>
                              </m:ctrlPr>
                            </m:mPr>
                            <m:m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1,3</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1,4</m:t>
                                    </m:r>
                                  </m:sub>
                                </m:sSub>
                              </m:e>
                            </m:mr>
                            <m:mr>
                              <m:e>
                                <m:eqArr>
                                  <m:eqArrPr>
                                    <m:ctrlPr>
                                      <a:rPr lang="en-US" sz="3200" i="1">
                                        <a:latin typeface="Cambria Math" panose="02040503050406030204" pitchFamily="18" charset="0"/>
                                      </a:rPr>
                                    </m:ctrlPr>
                                  </m:eqArrPr>
                                  <m:e>
                                    <m:eqArr>
                                      <m:eqArrPr>
                                        <m:ctrlPr>
                                          <a:rPr lang="en-US" sz="3200" i="1">
                                            <a:latin typeface="Cambria Math" panose="02040503050406030204" pitchFamily="18" charset="0"/>
                                          </a:rPr>
                                        </m:ctrlPr>
                                      </m:eqArrP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ea typeface="Cambria Math" panose="02040503050406030204" pitchFamily="18" charset="0"/>
                                              </a:rPr>
                                              <m:t>2</m:t>
                                            </m:r>
                                            <m:r>
                                              <a:rPr lang="en-GB" sz="3200" b="0" i="1" smtClean="0">
                                                <a:latin typeface="Cambria Math" panose="02040503050406030204" pitchFamily="18" charset="0"/>
                                              </a:rPr>
                                              <m:t>,3</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3,3</m:t>
                                            </m:r>
                                          </m:sub>
                                        </m:sSub>
                                      </m:e>
                                    </m:eqArr>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4,3</m:t>
                                        </m:r>
                                      </m:sub>
                                    </m:sSub>
                                  </m:e>
                                </m:eqArr>
                              </m:e>
                              <m:e>
                                <m:eqArr>
                                  <m:eqArrPr>
                                    <m:ctrlPr>
                                      <a:rPr lang="en-US" sz="3200" i="1">
                                        <a:latin typeface="Cambria Math" panose="02040503050406030204" pitchFamily="18" charset="0"/>
                                      </a:rPr>
                                    </m:ctrlPr>
                                  </m:eqArrPr>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ea typeface="Cambria Math" panose="02040503050406030204" pitchFamily="18" charset="0"/>
                                          </a:rPr>
                                          <m:t>2</m:t>
                                        </m:r>
                                        <m:r>
                                          <a:rPr lang="en-GB" sz="3200" b="0" i="1" smtClean="0">
                                            <a:latin typeface="Cambria Math" panose="02040503050406030204" pitchFamily="18" charset="0"/>
                                          </a:rPr>
                                          <m:t>,4</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3,4</m:t>
                                        </m:r>
                                      </m:sub>
                                    </m:sSub>
                                  </m:e>
                                  <m:e>
                                    <m:sSub>
                                      <m:sSubPr>
                                        <m:ctrlPr>
                                          <a:rPr lang="en-US" sz="3200" i="1" smtClean="0">
                                            <a:latin typeface="Cambria Math" panose="02040503050406030204" pitchFamily="18" charset="0"/>
                                            <a:ea typeface="Cambria Math" panose="02040503050406030204" pitchFamily="18" charset="0"/>
                                          </a:rPr>
                                        </m:ctrlPr>
                                      </m:sSubPr>
                                      <m:e>
                                        <m:r>
                                          <a:rPr lang="en-US" sz="3200" i="1" smtClean="0">
                                            <a:latin typeface="Cambria Math" panose="02040503050406030204" pitchFamily="18" charset="0"/>
                                            <a:ea typeface="Cambria Math" panose="02040503050406030204" pitchFamily="18" charset="0"/>
                                          </a:rPr>
                                          <m:t>𝜎</m:t>
                                        </m:r>
                                      </m:e>
                                      <m:sub>
                                        <m:r>
                                          <a:rPr lang="en-GB" sz="3200" b="0" i="1" smtClean="0">
                                            <a:latin typeface="Cambria Math" panose="02040503050406030204" pitchFamily="18" charset="0"/>
                                          </a:rPr>
                                          <m:t>4,4</m:t>
                                        </m:r>
                                      </m:sub>
                                    </m:sSub>
                                  </m:e>
                                </m:eqArr>
                              </m:e>
                            </m:mr>
                          </m:m>
                        </m:e>
                      </m:d>
                    </m:oMath>
                  </m:oMathPara>
                </a14:m>
                <a:endParaRPr lang="en-US" sz="3200" dirty="0"/>
              </a:p>
            </p:txBody>
          </p:sp>
        </mc:Choice>
        <mc:Fallback xmlns="">
          <p:sp>
            <p:nvSpPr>
              <p:cNvPr id="2" name="Content Placeholder 1">
                <a:extLst>
                  <a:ext uri="{FF2B5EF4-FFF2-40B4-BE49-F238E27FC236}">
                    <a16:creationId xmlns:a16="http://schemas.microsoft.com/office/drawing/2014/main" id="{C9F798EB-8F92-F448-BD76-C13943386F5C}"/>
                  </a:ext>
                </a:extLst>
              </p:cNvPr>
              <p:cNvSpPr>
                <a:spLocks noGrp="1" noRot="1" noChangeAspect="1" noMove="1" noResize="1" noEditPoints="1" noAdjustHandles="1" noChangeArrowheads="1" noChangeShapeType="1" noTextEdit="1"/>
              </p:cNvSpPr>
              <p:nvPr>
                <p:ph idx="1"/>
              </p:nvPr>
            </p:nvSpPr>
            <p:spPr>
              <a:xfrm>
                <a:off x="186087" y="2089940"/>
                <a:ext cx="4774533" cy="4439920"/>
              </a:xfrm>
              <a:blipFill>
                <a:blip r:embed="rId4"/>
                <a:stretch>
                  <a:fillRect t="-2279"/>
                </a:stretch>
              </a:blipFill>
            </p:spPr>
            <p:txBody>
              <a:bodyPr/>
              <a:lstStyle/>
              <a:p>
                <a:r>
                  <a:rPr lang="en-US">
                    <a:noFill/>
                  </a:rPr>
                  <a:t> </a:t>
                </a:r>
              </a:p>
            </p:txBody>
          </p:sp>
        </mc:Fallback>
      </mc:AlternateContent>
    </p:spTree>
    <p:extLst>
      <p:ext uri="{BB962C8B-B14F-4D97-AF65-F5344CB8AC3E}">
        <p14:creationId xmlns:p14="http://schemas.microsoft.com/office/powerpoint/2010/main" val="384274677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20AEAF89-2238-DF4C-B43B-478205C37FA2}"/>
              </a:ext>
            </a:extLst>
          </p:cNvPr>
          <p:cNvSpPr>
            <a:spLocks noGrp="1" noChangeArrowheads="1"/>
          </p:cNvSpPr>
          <p:nvPr>
            <p:ph type="title"/>
          </p:nvPr>
        </p:nvSpPr>
        <p:spPr>
          <a:xfrm>
            <a:off x="664717" y="406400"/>
            <a:ext cx="11315248" cy="785542"/>
          </a:xfrm>
        </p:spPr>
        <p:txBody>
          <a:bodyPr>
            <a:normAutofit fontScale="90000"/>
          </a:bodyPr>
          <a:lstStyle/>
          <a:p>
            <a:r>
              <a:rPr lang="en-US" altLang="en-US" sz="2800" dirty="0"/>
              <a:t>Diversification and the number of assets held in the </a:t>
            </a:r>
            <a:br>
              <a:rPr lang="en-US" altLang="en-US" sz="2800" dirty="0"/>
            </a:br>
            <a:r>
              <a:rPr lang="en-US" altLang="en-US" sz="2800" dirty="0"/>
              <a:t>portfolio, cont</a:t>
            </a:r>
            <a:r>
              <a:rPr lang="en-US" altLang="en-US" sz="2800" dirty="0">
                <a:latin typeface="+mn-lt"/>
              </a:rPr>
              <a:t>.</a:t>
            </a:r>
          </a:p>
        </p:txBody>
      </p:sp>
      <p:sp>
        <p:nvSpPr>
          <p:cNvPr id="69635" name="Rectangle 3">
            <a:extLst>
              <a:ext uri="{FF2B5EF4-FFF2-40B4-BE49-F238E27FC236}">
                <a16:creationId xmlns:a16="http://schemas.microsoft.com/office/drawing/2014/main" id="{31723C42-98B7-824A-BEFA-CC2EE0133F48}"/>
              </a:ext>
            </a:extLst>
          </p:cNvPr>
          <p:cNvSpPr>
            <a:spLocks noGrp="1" noChangeArrowheads="1"/>
          </p:cNvSpPr>
          <p:nvPr>
            <p:ph idx="1"/>
          </p:nvPr>
        </p:nvSpPr>
        <p:spPr>
          <a:xfrm>
            <a:off x="664717" y="1765067"/>
            <a:ext cx="4800107" cy="4419600"/>
          </a:xfrm>
        </p:spPr>
        <p:txBody>
          <a:bodyPr>
            <a:normAutofit/>
          </a:bodyPr>
          <a:lstStyle/>
          <a:p>
            <a:pPr algn="just">
              <a:lnSpc>
                <a:spcPct val="120000"/>
              </a:lnSpc>
            </a:pPr>
            <a:r>
              <a:rPr lang="en-US" altLang="en-US" sz="2000" dirty="0" err="1">
                <a:sym typeface="Symbol" pitchFamily="2" charset="2"/>
              </a:rPr>
              <a:t>Fama</a:t>
            </a:r>
            <a:r>
              <a:rPr lang="en-US" altLang="en-US" sz="2000" dirty="0">
                <a:sym typeface="Symbol" pitchFamily="2" charset="2"/>
              </a:rPr>
              <a:t> (1976): Company-specific risk can be driven to 0, while the market risk cannot be diversified away as we increase the number of assets in the portfolio. </a:t>
            </a:r>
          </a:p>
          <a:p>
            <a:pPr algn="just">
              <a:lnSpc>
                <a:spcPct val="120000"/>
              </a:lnSpc>
            </a:pPr>
            <a:r>
              <a:rPr lang="en-US" altLang="en-US" sz="2000" dirty="0">
                <a:sym typeface="Symbol" pitchFamily="2" charset="2"/>
              </a:rPr>
              <a:t>In the original studies on diversification, number of randomly selected assets needed to diversify a portfolio risk was 25-30 (more recent studies suggest that number is around 200)</a:t>
            </a:r>
          </a:p>
          <a:p>
            <a:pPr>
              <a:buFont typeface="Monotype Sorts" pitchFamily="2" charset="2"/>
              <a:buNone/>
            </a:pPr>
            <a:endParaRPr lang="en-US" altLang="en-US" sz="1400" dirty="0">
              <a:latin typeface="Times New Roman" panose="02020603050405020304" pitchFamily="18" charset="0"/>
              <a:sym typeface="Symbol" pitchFamily="2" charset="2"/>
            </a:endParaRPr>
          </a:p>
        </p:txBody>
      </p:sp>
      <p:sp>
        <p:nvSpPr>
          <p:cNvPr id="69642" name="Line 10">
            <a:extLst>
              <a:ext uri="{FF2B5EF4-FFF2-40B4-BE49-F238E27FC236}">
                <a16:creationId xmlns:a16="http://schemas.microsoft.com/office/drawing/2014/main" id="{7BACA100-BDC5-3045-A63F-3D0F244830FB}"/>
              </a:ext>
            </a:extLst>
          </p:cNvPr>
          <p:cNvSpPr>
            <a:spLocks noChangeShapeType="1"/>
          </p:cNvSpPr>
          <p:nvPr/>
        </p:nvSpPr>
        <p:spPr bwMode="auto">
          <a:xfrm>
            <a:off x="4724400" y="59436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 name="Picture 2">
            <a:extLst>
              <a:ext uri="{FF2B5EF4-FFF2-40B4-BE49-F238E27FC236}">
                <a16:creationId xmlns:a16="http://schemas.microsoft.com/office/drawing/2014/main" id="{E1EEDC09-DFE4-264A-94E8-634F84942344}"/>
              </a:ext>
            </a:extLst>
          </p:cNvPr>
          <p:cNvPicPr>
            <a:picLocks noChangeAspect="1"/>
          </p:cNvPicPr>
          <p:nvPr/>
        </p:nvPicPr>
        <p:blipFill>
          <a:blip r:embed="rId2"/>
          <a:stretch>
            <a:fillRect/>
          </a:stretch>
        </p:blipFill>
        <p:spPr>
          <a:xfrm>
            <a:off x="6172200" y="1754823"/>
            <a:ext cx="5807765" cy="4351337"/>
          </a:xfrm>
          <a:prstGeom prst="rect">
            <a:avLst/>
          </a:prstGeom>
        </p:spPr>
      </p:pic>
    </p:spTree>
    <p:extLst>
      <p:ext uri="{BB962C8B-B14F-4D97-AF65-F5344CB8AC3E}">
        <p14:creationId xmlns:p14="http://schemas.microsoft.com/office/powerpoint/2010/main" val="2091991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3D6AC373-C083-8B45-BB98-34EF060BD782}"/>
              </a:ext>
            </a:extLst>
          </p:cNvPr>
          <p:cNvSpPr>
            <a:spLocks noGrp="1" noChangeArrowheads="1"/>
          </p:cNvSpPr>
          <p:nvPr>
            <p:ph type="title"/>
          </p:nvPr>
        </p:nvSpPr>
        <p:spPr>
          <a:xfrm>
            <a:off x="689008" y="406400"/>
            <a:ext cx="11315248" cy="785542"/>
          </a:xfrm>
        </p:spPr>
        <p:txBody>
          <a:bodyPr>
            <a:normAutofit/>
          </a:bodyPr>
          <a:lstStyle/>
          <a:p>
            <a:r>
              <a:rPr lang="en-US" altLang="en-US" sz="3200" dirty="0"/>
              <a:t>Diversification - concluding comments</a:t>
            </a:r>
          </a:p>
        </p:txBody>
      </p:sp>
      <p:sp>
        <p:nvSpPr>
          <p:cNvPr id="74755" name="Rectangle 3">
            <a:extLst>
              <a:ext uri="{FF2B5EF4-FFF2-40B4-BE49-F238E27FC236}">
                <a16:creationId xmlns:a16="http://schemas.microsoft.com/office/drawing/2014/main" id="{D08366EE-C62D-3441-B031-E26D92AC0657}"/>
              </a:ext>
            </a:extLst>
          </p:cNvPr>
          <p:cNvSpPr>
            <a:spLocks noGrp="1" noChangeArrowheads="1"/>
          </p:cNvSpPr>
          <p:nvPr>
            <p:ph idx="1"/>
          </p:nvPr>
        </p:nvSpPr>
        <p:spPr>
          <a:xfrm>
            <a:off x="689008" y="1483360"/>
            <a:ext cx="9497367" cy="4419600"/>
          </a:xfrm>
        </p:spPr>
        <p:txBody>
          <a:bodyPr/>
          <a:lstStyle/>
          <a:p>
            <a:pPr>
              <a:lnSpc>
                <a:spcPct val="150000"/>
              </a:lnSpc>
              <a:spcAft>
                <a:spcPts val="600"/>
              </a:spcAft>
            </a:pPr>
            <a:r>
              <a:rPr lang="en-US" altLang="en-US" sz="2000" dirty="0">
                <a:sym typeface="Symbol" pitchFamily="2" charset="2"/>
              </a:rPr>
              <a:t>Diversification is not </a:t>
            </a:r>
            <a:r>
              <a:rPr lang="en-US" altLang="en-US" sz="2000" dirty="0" err="1">
                <a:sym typeface="Symbol" pitchFamily="2" charset="2"/>
              </a:rPr>
              <a:t>minimising</a:t>
            </a:r>
            <a:r>
              <a:rPr lang="en-US" altLang="en-US" sz="2000" dirty="0">
                <a:sym typeface="Symbol" pitchFamily="2" charset="2"/>
              </a:rPr>
              <a:t> but averaging market risk</a:t>
            </a:r>
          </a:p>
          <a:p>
            <a:pPr>
              <a:lnSpc>
                <a:spcPct val="150000"/>
              </a:lnSpc>
              <a:spcAft>
                <a:spcPts val="600"/>
              </a:spcAft>
            </a:pPr>
            <a:r>
              <a:rPr lang="en-US" altLang="en-US" sz="2000" dirty="0">
                <a:sym typeface="Symbol" pitchFamily="2" charset="2"/>
              </a:rPr>
              <a:t>Portfolio returns always depend on market conditions</a:t>
            </a:r>
          </a:p>
          <a:p>
            <a:pPr>
              <a:lnSpc>
                <a:spcPct val="150000"/>
              </a:lnSpc>
              <a:spcAft>
                <a:spcPts val="600"/>
              </a:spcAft>
            </a:pPr>
            <a:r>
              <a:rPr lang="en-US" altLang="en-US" sz="2000" dirty="0">
                <a:sym typeface="Symbol" pitchFamily="2" charset="2"/>
              </a:rPr>
              <a:t>Unique or company specific risk can substantially be reduced by diversification</a:t>
            </a:r>
          </a:p>
          <a:p>
            <a:pPr>
              <a:lnSpc>
                <a:spcPct val="150000"/>
              </a:lnSpc>
              <a:spcAft>
                <a:spcPts val="600"/>
              </a:spcAft>
            </a:pPr>
            <a:r>
              <a:rPr lang="en-US" altLang="en-US" sz="2000" dirty="0">
                <a:sym typeface="Symbol" pitchFamily="2" charset="2"/>
              </a:rPr>
              <a:t>30 or more randomly selected securities will form a portfolio with small company specific risk</a:t>
            </a:r>
          </a:p>
          <a:p>
            <a:pPr>
              <a:lnSpc>
                <a:spcPct val="150000"/>
              </a:lnSpc>
              <a:spcAft>
                <a:spcPts val="600"/>
              </a:spcAft>
            </a:pPr>
            <a:r>
              <a:rPr lang="en-US" altLang="en-US" sz="2000" dirty="0">
                <a:sym typeface="Symbol" pitchFamily="2" charset="2"/>
              </a:rPr>
              <a:t>The lower the correlation between the assets in the portfolio, the the greater the possibility of risk reduction</a:t>
            </a:r>
          </a:p>
        </p:txBody>
      </p:sp>
    </p:spTree>
    <p:extLst>
      <p:ext uri="{BB962C8B-B14F-4D97-AF65-F5344CB8AC3E}">
        <p14:creationId xmlns:p14="http://schemas.microsoft.com/office/powerpoint/2010/main" val="959162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CE6D4-A41B-564F-B798-6068033F9FCE}"/>
              </a:ext>
            </a:extLst>
          </p:cNvPr>
          <p:cNvSpPr>
            <a:spLocks noGrp="1"/>
          </p:cNvSpPr>
          <p:nvPr>
            <p:ph type="title"/>
          </p:nvPr>
        </p:nvSpPr>
        <p:spPr>
          <a:xfrm>
            <a:off x="194310" y="2420888"/>
            <a:ext cx="5575119" cy="1008112"/>
          </a:xfrm>
        </p:spPr>
        <p:txBody>
          <a:bodyPr>
            <a:normAutofit fontScale="90000"/>
          </a:bodyPr>
          <a:lstStyle/>
          <a:p>
            <a:pPr>
              <a:lnSpc>
                <a:spcPct val="100000"/>
              </a:lnSpc>
            </a:pPr>
            <a:r>
              <a:rPr lang="en-US" dirty="0"/>
              <a:t>Determining the efficient sets of two-asset portfolios and proof of how correlation is impacting two-asset portfolio risk</a:t>
            </a:r>
          </a:p>
        </p:txBody>
      </p:sp>
      <p:sp>
        <p:nvSpPr>
          <p:cNvPr id="5" name="Text Placeholder 4">
            <a:extLst>
              <a:ext uri="{FF2B5EF4-FFF2-40B4-BE49-F238E27FC236}">
                <a16:creationId xmlns:a16="http://schemas.microsoft.com/office/drawing/2014/main" id="{74FABB21-81C2-4A42-96EE-B10E47493EA1}"/>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3313935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4D2DE537-BA6D-9945-8C8C-C6EEFA6BA108}"/>
              </a:ext>
            </a:extLst>
          </p:cNvPr>
          <p:cNvSpPr>
            <a:spLocks noGrp="1" noChangeArrowheads="1"/>
          </p:cNvSpPr>
          <p:nvPr>
            <p:ph type="title"/>
          </p:nvPr>
        </p:nvSpPr>
        <p:spPr>
          <a:xfrm>
            <a:off x="631858" y="406400"/>
            <a:ext cx="11315248" cy="785542"/>
          </a:xfrm>
        </p:spPr>
        <p:txBody>
          <a:bodyPr/>
          <a:lstStyle/>
          <a:p>
            <a:r>
              <a:rPr lang="en-GB" altLang="en-US" sz="3200" dirty="0"/>
              <a:t>Determining the efficient set (efficient frontier)</a:t>
            </a:r>
          </a:p>
        </p:txBody>
      </p:sp>
      <p:sp>
        <p:nvSpPr>
          <p:cNvPr id="241667" name="Rectangle 3">
            <a:extLst>
              <a:ext uri="{FF2B5EF4-FFF2-40B4-BE49-F238E27FC236}">
                <a16:creationId xmlns:a16="http://schemas.microsoft.com/office/drawing/2014/main" id="{B0210FD2-5C68-A04E-9627-F6E78DA6105D}"/>
              </a:ext>
            </a:extLst>
          </p:cNvPr>
          <p:cNvSpPr>
            <a:spLocks noGrp="1" noChangeArrowheads="1"/>
          </p:cNvSpPr>
          <p:nvPr>
            <p:ph type="body" idx="1"/>
          </p:nvPr>
        </p:nvSpPr>
        <p:spPr>
          <a:xfrm>
            <a:off x="631858" y="1311910"/>
            <a:ext cx="9497367" cy="4419600"/>
          </a:xfrm>
        </p:spPr>
        <p:txBody>
          <a:bodyPr>
            <a:normAutofit fontScale="92500" lnSpcReduction="10000"/>
          </a:bodyPr>
          <a:lstStyle/>
          <a:p>
            <a:pPr marL="374650" lvl="1" indent="-373063">
              <a:lnSpc>
                <a:spcPct val="150000"/>
              </a:lnSpc>
            </a:pPr>
            <a:r>
              <a:rPr lang="en-US" altLang="en-US" sz="2000" dirty="0">
                <a:latin typeface="Arial" panose="020B0604020202020204" pitchFamily="34" charset="0"/>
                <a:cs typeface="Arial" panose="020B0604020202020204" pitchFamily="34" charset="0"/>
                <a:sym typeface="Symbol" pitchFamily="2" charset="2"/>
              </a:rPr>
              <a:t>Mean-variance decision rule developed by Markowitz (1952):</a:t>
            </a:r>
          </a:p>
          <a:p>
            <a:pPr marL="374650" lvl="1" indent="-373063">
              <a:lnSpc>
                <a:spcPct val="150000"/>
              </a:lnSpc>
            </a:pPr>
            <a:r>
              <a:rPr lang="en-US" altLang="en-US" sz="2000" dirty="0">
                <a:latin typeface="Arial" panose="020B0604020202020204" pitchFamily="34" charset="0"/>
                <a:cs typeface="Arial" panose="020B0604020202020204" pitchFamily="34" charset="0"/>
                <a:sym typeface="Symbol" pitchFamily="2" charset="2"/>
              </a:rPr>
              <a:t>The rule: portfolio A dominates portfolio B if </a:t>
            </a:r>
          </a:p>
          <a:p>
            <a:pPr marL="758825" lvl="2" indent="-382588">
              <a:lnSpc>
                <a:spcPct val="150000"/>
              </a:lnSpc>
              <a:buClr>
                <a:schemeClr val="tx1"/>
              </a:buClr>
              <a:buFont typeface="Wingdings" pitchFamily="2" charset="2"/>
              <a:buAutoNum type="arabicPeriod"/>
            </a:pPr>
            <a:r>
              <a:rPr lang="en-US" altLang="en-US" sz="2000" dirty="0">
                <a:latin typeface="Arial" panose="020B0604020202020204" pitchFamily="34" charset="0"/>
                <a:cs typeface="Arial" panose="020B0604020202020204" pitchFamily="34" charset="0"/>
                <a:sym typeface="Symbol" pitchFamily="2" charset="2"/>
              </a:rPr>
              <a:t>its expected return is greater or equal to the expected return of B and the variance of A is lower than the variance of portfolio B</a:t>
            </a:r>
          </a:p>
          <a:p>
            <a:pPr marL="758825" lvl="2" indent="-382588">
              <a:lnSpc>
                <a:spcPct val="150000"/>
              </a:lnSpc>
              <a:buClr>
                <a:schemeClr val="tx1"/>
              </a:buClr>
              <a:buFont typeface="Wingdings" pitchFamily="2" charset="2"/>
              <a:buAutoNum type="arabicPeriod"/>
            </a:pPr>
            <a:r>
              <a:rPr lang="en-US" altLang="en-US" sz="2000" dirty="0">
                <a:latin typeface="Arial" panose="020B0604020202020204" pitchFamily="34" charset="0"/>
                <a:cs typeface="Arial" panose="020B0604020202020204" pitchFamily="34" charset="0"/>
                <a:sym typeface="Symbol" pitchFamily="2" charset="2"/>
              </a:rPr>
              <a:t>its expected return is greater than the expected return of B and the variance of A is lower or equal to variance of B</a:t>
            </a:r>
            <a:endParaRPr lang="en-GB" altLang="en-US" sz="2000" dirty="0">
              <a:latin typeface="Arial" panose="020B0604020202020204" pitchFamily="34" charset="0"/>
              <a:cs typeface="Arial" panose="020B0604020202020204" pitchFamily="34" charset="0"/>
              <a:sym typeface="Symbol" pitchFamily="2" charset="2"/>
            </a:endParaRPr>
          </a:p>
          <a:p>
            <a:pPr marL="374650" lvl="1" indent="-373063">
              <a:lnSpc>
                <a:spcPct val="150000"/>
              </a:lnSpc>
            </a:pPr>
            <a:r>
              <a:rPr lang="en-GB" altLang="en-US" sz="2000" dirty="0">
                <a:latin typeface="Arial" panose="020B0604020202020204" pitchFamily="34" charset="0"/>
                <a:cs typeface="Arial" panose="020B0604020202020204" pitchFamily="34" charset="0"/>
                <a:sym typeface="Symbol" pitchFamily="2" charset="2"/>
              </a:rPr>
              <a:t>The result: </a:t>
            </a:r>
            <a:r>
              <a:rPr lang="en-GB" altLang="en-US" sz="2000" b="1" dirty="0">
                <a:solidFill>
                  <a:srgbClr val="FF0000"/>
                </a:solidFill>
                <a:latin typeface="Arial" panose="020B0604020202020204" pitchFamily="34" charset="0"/>
                <a:cs typeface="Arial" panose="020B0604020202020204" pitchFamily="34" charset="0"/>
                <a:sym typeface="Symbol" pitchFamily="2" charset="2"/>
              </a:rPr>
              <a:t>investors choose a set of portfolios that provide them with minimum risk and maximum return</a:t>
            </a:r>
          </a:p>
          <a:p>
            <a:pPr marL="374650" lvl="1" indent="-373063">
              <a:lnSpc>
                <a:spcPct val="150000"/>
              </a:lnSpc>
            </a:pPr>
            <a:r>
              <a:rPr lang="en-GB" altLang="en-US" sz="2000" b="1" dirty="0">
                <a:solidFill>
                  <a:srgbClr val="0070C0"/>
                </a:solidFill>
                <a:latin typeface="Arial" panose="020B0604020202020204" pitchFamily="34" charset="0"/>
                <a:cs typeface="Arial" panose="020B0604020202020204" pitchFamily="34" charset="0"/>
                <a:sym typeface="Symbol" pitchFamily="2" charset="2"/>
              </a:rPr>
              <a:t>The shape of the efficient frontier depends on the size of the correlation coefficients between the assets</a:t>
            </a:r>
            <a:endParaRPr lang="en-GB" altLang="en-US" sz="2000" b="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5129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065BDDE-A7A2-1446-AEF5-2AF24EA127D2}"/>
              </a:ext>
            </a:extLst>
          </p:cNvPr>
          <p:cNvSpPr>
            <a:spLocks noGrp="1" noChangeArrowheads="1"/>
          </p:cNvSpPr>
          <p:nvPr>
            <p:ph type="title"/>
          </p:nvPr>
        </p:nvSpPr>
        <p:spPr>
          <a:xfrm>
            <a:off x="666148" y="308391"/>
            <a:ext cx="11315248" cy="785542"/>
          </a:xfrm>
        </p:spPr>
        <p:txBody>
          <a:bodyPr>
            <a:noAutofit/>
          </a:bodyPr>
          <a:lstStyle/>
          <a:p>
            <a:r>
              <a:rPr lang="en-US" altLang="en-US" sz="3000" dirty="0"/>
              <a:t>Two-asset portfolios efficient set: perfectly positively </a:t>
            </a:r>
            <a:br>
              <a:rPr lang="en-US" altLang="en-US" sz="3000" dirty="0"/>
            </a:br>
            <a:r>
              <a:rPr lang="en-US" altLang="en-US" sz="3000" dirty="0"/>
              <a:t>correlated assets</a:t>
            </a:r>
          </a:p>
        </p:txBody>
      </p:sp>
      <p:sp>
        <p:nvSpPr>
          <p:cNvPr id="7171" name="Rectangle 3">
            <a:extLst>
              <a:ext uri="{FF2B5EF4-FFF2-40B4-BE49-F238E27FC236}">
                <a16:creationId xmlns:a16="http://schemas.microsoft.com/office/drawing/2014/main" id="{6841AFA1-112C-D144-A123-80D3B0370412}"/>
              </a:ext>
            </a:extLst>
          </p:cNvPr>
          <p:cNvSpPr>
            <a:spLocks noGrp="1" noChangeArrowheads="1"/>
          </p:cNvSpPr>
          <p:nvPr>
            <p:ph idx="1"/>
          </p:nvPr>
        </p:nvSpPr>
        <p:spPr>
          <a:xfrm>
            <a:off x="666148" y="1345342"/>
            <a:ext cx="9497367" cy="5314950"/>
          </a:xfrm>
        </p:spPr>
        <p:txBody>
          <a:bodyPr>
            <a:normAutofit fontScale="70000" lnSpcReduction="20000"/>
          </a:bodyPr>
          <a:lstStyle/>
          <a:p>
            <a:pPr>
              <a:lnSpc>
                <a:spcPct val="150000"/>
              </a:lnSpc>
              <a:spcAft>
                <a:spcPts val="600"/>
              </a:spcAft>
            </a:pPr>
            <a:r>
              <a:rPr lang="en-US" altLang="en-US" sz="2600" dirty="0"/>
              <a:t>Returns in reality can be highly but not perfectly positively correlated</a:t>
            </a:r>
          </a:p>
          <a:p>
            <a:pPr>
              <a:lnSpc>
                <a:spcPct val="150000"/>
              </a:lnSpc>
              <a:spcAft>
                <a:spcPts val="600"/>
              </a:spcAft>
            </a:pPr>
            <a:r>
              <a:rPr lang="en-US" altLang="en-US" sz="2600" dirty="0"/>
              <a:t>Variance of the portfolio with perfect positive correlation between assets, the case of the two-asset portfolio:</a:t>
            </a:r>
          </a:p>
          <a:p>
            <a:pPr>
              <a:lnSpc>
                <a:spcPct val="150000"/>
              </a:lnSpc>
              <a:spcAft>
                <a:spcPts val="600"/>
              </a:spcAft>
              <a:buFont typeface="Monotype Sorts" pitchFamily="2" charset="2"/>
              <a:buNone/>
            </a:pPr>
            <a:r>
              <a:rPr lang="en-US" altLang="en-US" sz="2600" dirty="0">
                <a:sym typeface="Symbol" pitchFamily="2" charset="2"/>
              </a:rPr>
              <a:t></a:t>
            </a:r>
            <a:r>
              <a:rPr lang="en-US" altLang="en-US" sz="2600" baseline="-25000" dirty="0">
                <a:sym typeface="Symbol" pitchFamily="2" charset="2"/>
              </a:rPr>
              <a:t>p</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w</a:t>
            </a:r>
            <a:r>
              <a:rPr lang="en-US" altLang="en-US" sz="2600" baseline="-25000" dirty="0">
                <a:sym typeface="Symbol" pitchFamily="2" charset="2"/>
              </a:rPr>
              <a:t>1</a:t>
            </a:r>
            <a:r>
              <a:rPr lang="en-US" altLang="en-US" sz="2600" baseline="30000" dirty="0">
                <a:sym typeface="Symbol" pitchFamily="2" charset="2"/>
              </a:rPr>
              <a:t>2</a:t>
            </a:r>
            <a:r>
              <a:rPr lang="en-US" altLang="en-US" sz="2600" dirty="0">
                <a:sym typeface="Symbol" pitchFamily="2" charset="2"/>
              </a:rPr>
              <a:t> </a:t>
            </a:r>
            <a:r>
              <a:rPr lang="en-US" altLang="en-US" sz="2600" baseline="-25000" dirty="0">
                <a:sym typeface="Symbol" pitchFamily="2" charset="2"/>
              </a:rPr>
              <a:t>1</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w</a:t>
            </a:r>
            <a:r>
              <a:rPr lang="en-US" altLang="en-US" sz="2600" baseline="-25000" dirty="0">
                <a:sym typeface="Symbol" pitchFamily="2" charset="2"/>
              </a:rPr>
              <a:t>2</a:t>
            </a:r>
            <a:r>
              <a:rPr lang="en-US" altLang="en-US" sz="2600" baseline="30000" dirty="0">
                <a:sym typeface="Symbol" pitchFamily="2" charset="2"/>
              </a:rPr>
              <a:t>2</a:t>
            </a:r>
            <a:r>
              <a:rPr lang="en-US" altLang="en-US" sz="2600" dirty="0">
                <a:sym typeface="Symbol" pitchFamily="2" charset="2"/>
              </a:rPr>
              <a:t> </a:t>
            </a:r>
            <a:r>
              <a:rPr lang="en-US" altLang="en-US" sz="2600" baseline="-25000" dirty="0">
                <a:sym typeface="Symbol" pitchFamily="2" charset="2"/>
              </a:rPr>
              <a:t>2</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+ 2w</a:t>
            </a:r>
            <a:r>
              <a:rPr lang="en-US" altLang="en-US" sz="2600" baseline="-25000" dirty="0">
                <a:sym typeface="Symbol" pitchFamily="2" charset="2"/>
              </a:rPr>
              <a:t>1</a:t>
            </a:r>
            <a:r>
              <a:rPr lang="en-US" altLang="en-US" sz="2600" dirty="0">
                <a:sym typeface="Symbol" pitchFamily="2" charset="2"/>
              </a:rPr>
              <a:t>w</a:t>
            </a:r>
            <a:r>
              <a:rPr lang="en-US" altLang="en-US" sz="2600" baseline="-25000" dirty="0">
                <a:sym typeface="Symbol" pitchFamily="2" charset="2"/>
              </a:rPr>
              <a:t>2</a:t>
            </a:r>
            <a:r>
              <a:rPr lang="en-US" altLang="en-US" sz="2600" dirty="0">
                <a:solidFill>
                  <a:srgbClr val="0070C0"/>
                </a:solidFill>
                <a:sym typeface="Symbol" pitchFamily="2" charset="2"/>
              </a:rPr>
              <a:t></a:t>
            </a:r>
            <a:r>
              <a:rPr lang="en-US" altLang="en-US" sz="2600" baseline="-25000" dirty="0">
                <a:solidFill>
                  <a:srgbClr val="0070C0"/>
                </a:solidFill>
                <a:sym typeface="Symbol" pitchFamily="2" charset="2"/>
              </a:rPr>
              <a:t>1,2 </a:t>
            </a:r>
            <a:r>
              <a:rPr lang="en-US" altLang="en-US" sz="2600" dirty="0">
                <a:sym typeface="Symbol" pitchFamily="2" charset="2"/>
              </a:rPr>
              <a:t></a:t>
            </a:r>
            <a:r>
              <a:rPr lang="en-US" altLang="en-US" sz="2600" baseline="-25000" dirty="0">
                <a:sym typeface="Symbol" pitchFamily="2" charset="2"/>
              </a:rPr>
              <a:t>1 </a:t>
            </a:r>
            <a:r>
              <a:rPr lang="en-US" altLang="en-US" sz="2600" dirty="0">
                <a:sym typeface="Symbol" pitchFamily="2" charset="2"/>
              </a:rPr>
              <a:t></a:t>
            </a:r>
            <a:r>
              <a:rPr lang="en-US" altLang="en-US" sz="2600" baseline="-25000" dirty="0">
                <a:sym typeface="Symbol" pitchFamily="2" charset="2"/>
              </a:rPr>
              <a:t>2</a:t>
            </a:r>
          </a:p>
          <a:p>
            <a:pPr>
              <a:lnSpc>
                <a:spcPct val="150000"/>
              </a:lnSpc>
              <a:spcAft>
                <a:spcPts val="600"/>
              </a:spcAft>
              <a:buFont typeface="Monotype Sorts" pitchFamily="2" charset="2"/>
              <a:buNone/>
            </a:pPr>
            <a:r>
              <a:rPr lang="en-US" altLang="en-US" sz="2600" dirty="0">
                <a:sym typeface="Symbol" pitchFamily="2" charset="2"/>
              </a:rPr>
              <a:t>If: </a:t>
            </a:r>
            <a:r>
              <a:rPr lang="en-US" altLang="en-US" sz="2600" baseline="-25000" dirty="0">
                <a:sym typeface="Symbol" pitchFamily="2" charset="2"/>
              </a:rPr>
              <a:t>1,2 </a:t>
            </a:r>
            <a:r>
              <a:rPr lang="en-US" altLang="en-US" sz="2600" dirty="0">
                <a:sym typeface="Symbol" pitchFamily="2" charset="2"/>
              </a:rPr>
              <a:t>= </a:t>
            </a:r>
            <a:r>
              <a:rPr lang="en-US" altLang="en-US" sz="2600" dirty="0">
                <a:solidFill>
                  <a:srgbClr val="0070C0"/>
                </a:solidFill>
                <a:sym typeface="Symbol" pitchFamily="2" charset="2"/>
              </a:rPr>
              <a:t>+1</a:t>
            </a:r>
          </a:p>
          <a:p>
            <a:pPr>
              <a:lnSpc>
                <a:spcPct val="150000"/>
              </a:lnSpc>
              <a:spcAft>
                <a:spcPts val="600"/>
              </a:spcAft>
              <a:buFont typeface="Monotype Sorts" pitchFamily="2" charset="2"/>
              <a:buNone/>
            </a:pPr>
            <a:r>
              <a:rPr lang="en-US" altLang="en-US" sz="2600" dirty="0">
                <a:sym typeface="Symbol" pitchFamily="2" charset="2"/>
              </a:rPr>
              <a:t>Then:  </a:t>
            </a:r>
            <a:r>
              <a:rPr lang="en-US" altLang="en-US" sz="2600" baseline="-25000" dirty="0">
                <a:sym typeface="Symbol" pitchFamily="2" charset="2"/>
              </a:rPr>
              <a:t>p</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w</a:t>
            </a:r>
            <a:r>
              <a:rPr lang="en-US" altLang="en-US" sz="2600" baseline="-25000" dirty="0">
                <a:sym typeface="Symbol" pitchFamily="2" charset="2"/>
              </a:rPr>
              <a:t>1</a:t>
            </a:r>
            <a:r>
              <a:rPr lang="en-US" altLang="en-US" sz="2600" baseline="30000" dirty="0">
                <a:sym typeface="Symbol" pitchFamily="2" charset="2"/>
              </a:rPr>
              <a:t>2</a:t>
            </a:r>
            <a:r>
              <a:rPr lang="en-US" altLang="en-US" sz="2600" dirty="0">
                <a:sym typeface="Symbol" pitchFamily="2" charset="2"/>
              </a:rPr>
              <a:t> </a:t>
            </a:r>
            <a:r>
              <a:rPr lang="en-US" altLang="en-US" sz="2600" baseline="-25000" dirty="0">
                <a:sym typeface="Symbol" pitchFamily="2" charset="2"/>
              </a:rPr>
              <a:t>1</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w</a:t>
            </a:r>
            <a:r>
              <a:rPr lang="en-US" altLang="en-US" sz="2600" baseline="-25000" dirty="0">
                <a:sym typeface="Symbol" pitchFamily="2" charset="2"/>
              </a:rPr>
              <a:t>2</a:t>
            </a:r>
            <a:r>
              <a:rPr lang="en-US" altLang="en-US" sz="2600" baseline="30000" dirty="0">
                <a:sym typeface="Symbol" pitchFamily="2" charset="2"/>
              </a:rPr>
              <a:t>2</a:t>
            </a:r>
            <a:r>
              <a:rPr lang="en-US" altLang="en-US" sz="2600" dirty="0">
                <a:sym typeface="Symbol" pitchFamily="2" charset="2"/>
              </a:rPr>
              <a:t> </a:t>
            </a:r>
            <a:r>
              <a:rPr lang="en-US" altLang="en-US" sz="2600" baseline="-25000" dirty="0">
                <a:sym typeface="Symbol" pitchFamily="2" charset="2"/>
              </a:rPr>
              <a:t>2</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+ 2w</a:t>
            </a:r>
            <a:r>
              <a:rPr lang="en-US" altLang="en-US" sz="2600" baseline="-25000" dirty="0">
                <a:sym typeface="Symbol" pitchFamily="2" charset="2"/>
              </a:rPr>
              <a:t>1</a:t>
            </a:r>
            <a:r>
              <a:rPr lang="en-US" altLang="en-US" sz="2600" dirty="0">
                <a:sym typeface="Symbol" pitchFamily="2" charset="2"/>
              </a:rPr>
              <a:t>w</a:t>
            </a:r>
            <a:r>
              <a:rPr lang="en-US" altLang="en-US" sz="2600" baseline="-25000" dirty="0">
                <a:sym typeface="Symbol" pitchFamily="2" charset="2"/>
              </a:rPr>
              <a:t>2</a:t>
            </a:r>
            <a:r>
              <a:rPr lang="en-US" altLang="en-US" sz="2600" dirty="0">
                <a:sym typeface="Symbol" pitchFamily="2" charset="2"/>
              </a:rPr>
              <a:t></a:t>
            </a:r>
            <a:r>
              <a:rPr lang="en-US" altLang="en-US" sz="2600" baseline="-25000" dirty="0">
                <a:sym typeface="Symbol" pitchFamily="2" charset="2"/>
              </a:rPr>
              <a:t>1 </a:t>
            </a:r>
            <a:r>
              <a:rPr lang="en-US" altLang="en-US" sz="2600" dirty="0">
                <a:sym typeface="Symbol" pitchFamily="2" charset="2"/>
              </a:rPr>
              <a:t></a:t>
            </a:r>
            <a:r>
              <a:rPr lang="en-US" altLang="en-US" sz="2600" baseline="-25000" dirty="0">
                <a:sym typeface="Symbol" pitchFamily="2" charset="2"/>
              </a:rPr>
              <a:t>2</a:t>
            </a:r>
          </a:p>
          <a:p>
            <a:pPr>
              <a:lnSpc>
                <a:spcPct val="150000"/>
              </a:lnSpc>
              <a:spcAft>
                <a:spcPts val="600"/>
              </a:spcAft>
              <a:buFont typeface="Monotype Sorts" pitchFamily="2" charset="2"/>
              <a:buNone/>
            </a:pPr>
            <a:r>
              <a:rPr lang="en-US" altLang="en-US" sz="2600" dirty="0">
                <a:sym typeface="Symbol" pitchFamily="2" charset="2"/>
              </a:rPr>
              <a:t>           </a:t>
            </a:r>
            <a:r>
              <a:rPr lang="en-US" altLang="en-US" sz="2600" baseline="-25000" dirty="0">
                <a:sym typeface="Symbol" pitchFamily="2" charset="2"/>
              </a:rPr>
              <a:t>p</a:t>
            </a:r>
            <a:r>
              <a:rPr lang="en-US" altLang="en-US" sz="2600" baseline="30000" dirty="0">
                <a:sym typeface="Symbol" pitchFamily="2" charset="2"/>
              </a:rPr>
              <a:t>2</a:t>
            </a:r>
            <a:r>
              <a:rPr lang="en-US" altLang="en-US" sz="2600" baseline="-25000" dirty="0">
                <a:sym typeface="Symbol" pitchFamily="2" charset="2"/>
              </a:rPr>
              <a:t> </a:t>
            </a:r>
            <a:r>
              <a:rPr lang="en-US" altLang="en-US" sz="2600" dirty="0">
                <a:sym typeface="Symbol" pitchFamily="2" charset="2"/>
              </a:rPr>
              <a:t>=[ w</a:t>
            </a:r>
            <a:r>
              <a:rPr lang="en-US" altLang="en-US" sz="2600" baseline="-25000" dirty="0">
                <a:sym typeface="Symbol" pitchFamily="2" charset="2"/>
              </a:rPr>
              <a:t>1</a:t>
            </a:r>
            <a:r>
              <a:rPr lang="en-US" altLang="en-US" sz="2600" dirty="0">
                <a:sym typeface="Symbol" pitchFamily="2" charset="2"/>
              </a:rPr>
              <a:t> </a:t>
            </a:r>
            <a:r>
              <a:rPr lang="en-US" altLang="en-US" sz="2600" baseline="-25000" dirty="0">
                <a:sym typeface="Symbol" pitchFamily="2" charset="2"/>
              </a:rPr>
              <a:t>1 </a:t>
            </a:r>
            <a:r>
              <a:rPr lang="en-US" altLang="en-US" sz="2600" dirty="0">
                <a:sym typeface="Symbol" pitchFamily="2" charset="2"/>
              </a:rPr>
              <a:t>+ w</a:t>
            </a:r>
            <a:r>
              <a:rPr lang="en-US" altLang="en-US" sz="2600" baseline="-25000" dirty="0">
                <a:sym typeface="Symbol" pitchFamily="2" charset="2"/>
              </a:rPr>
              <a:t>2</a:t>
            </a:r>
            <a:r>
              <a:rPr lang="en-US" altLang="en-US" sz="2600" dirty="0">
                <a:sym typeface="Symbol" pitchFamily="2" charset="2"/>
              </a:rPr>
              <a:t> </a:t>
            </a:r>
            <a:r>
              <a:rPr lang="en-US" altLang="en-US" sz="2600" baseline="-25000" dirty="0">
                <a:sym typeface="Symbol" pitchFamily="2" charset="2"/>
              </a:rPr>
              <a:t>2</a:t>
            </a:r>
            <a:r>
              <a:rPr lang="en-US" altLang="en-US" sz="2600" dirty="0">
                <a:sym typeface="Symbol" pitchFamily="2" charset="2"/>
              </a:rPr>
              <a:t>] </a:t>
            </a:r>
            <a:r>
              <a:rPr lang="en-US" altLang="en-US" sz="2600" baseline="30000" dirty="0">
                <a:sym typeface="Symbol" pitchFamily="2" charset="2"/>
              </a:rPr>
              <a:t>2</a:t>
            </a:r>
          </a:p>
          <a:p>
            <a:pPr>
              <a:lnSpc>
                <a:spcPct val="150000"/>
              </a:lnSpc>
              <a:spcAft>
                <a:spcPts val="600"/>
              </a:spcAft>
              <a:buFont typeface="Monotype Sorts" pitchFamily="2" charset="2"/>
              <a:buNone/>
            </a:pPr>
            <a:r>
              <a:rPr lang="en-US" altLang="en-US" sz="2600" dirty="0">
                <a:sym typeface="Symbol" pitchFamily="2" charset="2"/>
              </a:rPr>
              <a:t>And     </a:t>
            </a:r>
            <a:r>
              <a:rPr lang="en-US" altLang="en-US" sz="2600" baseline="-25000" dirty="0">
                <a:sym typeface="Symbol" pitchFamily="2" charset="2"/>
              </a:rPr>
              <a:t>p  </a:t>
            </a:r>
            <a:r>
              <a:rPr lang="en-US" altLang="en-US" sz="2600" dirty="0">
                <a:sym typeface="Symbol" pitchFamily="2" charset="2"/>
              </a:rPr>
              <a:t>= w</a:t>
            </a:r>
            <a:r>
              <a:rPr lang="en-US" altLang="en-US" sz="2600" baseline="-25000" dirty="0">
                <a:sym typeface="Symbol" pitchFamily="2" charset="2"/>
              </a:rPr>
              <a:t>1</a:t>
            </a:r>
            <a:r>
              <a:rPr lang="en-US" altLang="en-US" sz="2600" dirty="0">
                <a:sym typeface="Symbol" pitchFamily="2" charset="2"/>
              </a:rPr>
              <a:t> </a:t>
            </a:r>
            <a:r>
              <a:rPr lang="en-US" altLang="en-US" sz="2600" baseline="-25000" dirty="0">
                <a:sym typeface="Symbol" pitchFamily="2" charset="2"/>
              </a:rPr>
              <a:t>1 </a:t>
            </a:r>
            <a:r>
              <a:rPr lang="en-US" altLang="en-US" sz="2600" dirty="0">
                <a:sym typeface="Symbol" pitchFamily="2" charset="2"/>
              </a:rPr>
              <a:t>+ w</a:t>
            </a:r>
            <a:r>
              <a:rPr lang="en-US" altLang="en-US" sz="2600" baseline="-25000" dirty="0">
                <a:sym typeface="Symbol" pitchFamily="2" charset="2"/>
              </a:rPr>
              <a:t>2</a:t>
            </a:r>
            <a:r>
              <a:rPr lang="en-US" altLang="en-US" sz="2600" dirty="0">
                <a:sym typeface="Symbol" pitchFamily="2" charset="2"/>
              </a:rPr>
              <a:t> </a:t>
            </a:r>
            <a:r>
              <a:rPr lang="en-US" altLang="en-US" sz="2600" baseline="-25000" dirty="0">
                <a:sym typeface="Symbol" pitchFamily="2" charset="2"/>
              </a:rPr>
              <a:t>2</a:t>
            </a:r>
            <a:endParaRPr lang="en-US" altLang="en-US" sz="2600" dirty="0">
              <a:sym typeface="Symbol" pitchFamily="2" charset="2"/>
            </a:endParaRPr>
          </a:p>
          <a:p>
            <a:pPr>
              <a:lnSpc>
                <a:spcPct val="150000"/>
              </a:lnSpc>
              <a:spcAft>
                <a:spcPts val="600"/>
              </a:spcAft>
            </a:pPr>
            <a:r>
              <a:rPr lang="en-US" altLang="en-US" sz="2600" dirty="0">
                <a:solidFill>
                  <a:srgbClr val="0070C0"/>
                </a:solidFill>
              </a:rPr>
              <a:t>The standard deviation of a portfolio is equal to the weighted average of the standard deviation of the component securities when correlation = +1</a:t>
            </a:r>
          </a:p>
          <a:p>
            <a:pPr>
              <a:buFont typeface="Monotype Sorts" pitchFamily="2" charset="2"/>
              <a:buNone/>
            </a:pPr>
            <a:endParaRPr lang="en-US" altLang="en-US" sz="2400" baseline="30000" dirty="0">
              <a:latin typeface="Times New Roman" panose="02020603050405020304" pitchFamily="18" charset="0"/>
              <a:sym typeface="Symbol" pitchFamily="2" charset="2"/>
            </a:endParaRPr>
          </a:p>
        </p:txBody>
      </p:sp>
    </p:spTree>
    <p:extLst>
      <p:ext uri="{BB962C8B-B14F-4D97-AF65-F5344CB8AC3E}">
        <p14:creationId xmlns:p14="http://schemas.microsoft.com/office/powerpoint/2010/main" val="1157653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2EEB608-D7FF-F04E-A330-C25FF1A9E7DB}"/>
              </a:ext>
            </a:extLst>
          </p:cNvPr>
          <p:cNvSpPr>
            <a:spLocks noGrp="1" noChangeArrowheads="1"/>
          </p:cNvSpPr>
          <p:nvPr>
            <p:ph type="title"/>
          </p:nvPr>
        </p:nvSpPr>
        <p:spPr>
          <a:xfrm>
            <a:off x="780245" y="406400"/>
            <a:ext cx="10752625" cy="785542"/>
          </a:xfrm>
        </p:spPr>
        <p:txBody>
          <a:bodyPr>
            <a:normAutofit fontScale="90000"/>
          </a:bodyPr>
          <a:lstStyle/>
          <a:p>
            <a:r>
              <a:rPr lang="en-US" altLang="en-US" sz="3200" dirty="0">
                <a:latin typeface="+mn-lt"/>
              </a:rPr>
              <a:t>Two-asset portfolios efficient set: perfectly positively </a:t>
            </a:r>
            <a:br>
              <a:rPr lang="en-US" altLang="en-US" sz="3200" dirty="0">
                <a:latin typeface="+mn-lt"/>
              </a:rPr>
            </a:br>
            <a:r>
              <a:rPr lang="en-US" altLang="en-US" sz="3200" dirty="0">
                <a:latin typeface="+mn-lt"/>
              </a:rPr>
              <a:t>correlated assets</a:t>
            </a:r>
          </a:p>
        </p:txBody>
      </p:sp>
      <p:sp>
        <p:nvSpPr>
          <p:cNvPr id="9219" name="Rectangle 3">
            <a:extLst>
              <a:ext uri="{FF2B5EF4-FFF2-40B4-BE49-F238E27FC236}">
                <a16:creationId xmlns:a16="http://schemas.microsoft.com/office/drawing/2014/main" id="{D11C3711-ECFF-9E4C-8830-49AF75871537}"/>
              </a:ext>
            </a:extLst>
          </p:cNvPr>
          <p:cNvSpPr>
            <a:spLocks noGrp="1" noChangeArrowheads="1"/>
          </p:cNvSpPr>
          <p:nvPr>
            <p:ph idx="1"/>
          </p:nvPr>
        </p:nvSpPr>
        <p:spPr>
          <a:xfrm>
            <a:off x="780245" y="1519881"/>
            <a:ext cx="9497367" cy="4588819"/>
          </a:xfrm>
        </p:spPr>
        <p:txBody>
          <a:bodyPr/>
          <a:lstStyle/>
          <a:p>
            <a:pPr>
              <a:lnSpc>
                <a:spcPct val="150000"/>
              </a:lnSpc>
            </a:pPr>
            <a:r>
              <a:rPr lang="en-US" altLang="en-US" sz="2000" dirty="0"/>
              <a:t>Key point: </a:t>
            </a:r>
            <a:r>
              <a:rPr lang="en-US" altLang="en-US" sz="2000" dirty="0">
                <a:solidFill>
                  <a:srgbClr val="0070C0"/>
                </a:solidFill>
              </a:rPr>
              <a:t>the risk is not reduced when assets are perfectly positively correlated </a:t>
            </a:r>
            <a:r>
              <a:rPr lang="en-US" altLang="en-US" sz="2000" dirty="0"/>
              <a:t>- it is a linear combination of the assets in the portfolio</a:t>
            </a:r>
          </a:p>
          <a:p>
            <a:pPr>
              <a:lnSpc>
                <a:spcPct val="150000"/>
              </a:lnSpc>
            </a:pPr>
            <a:r>
              <a:rPr lang="en-US" altLang="en-US" sz="2000" dirty="0"/>
              <a:t>Example: </a:t>
            </a:r>
          </a:p>
          <a:p>
            <a:pPr>
              <a:lnSpc>
                <a:spcPct val="150000"/>
              </a:lnSpc>
            </a:pPr>
            <a:endParaRPr lang="en-US" altLang="en-US" sz="2000" dirty="0"/>
          </a:p>
          <a:p>
            <a:pPr>
              <a:lnSpc>
                <a:spcPct val="150000"/>
              </a:lnSpc>
            </a:pPr>
            <a:endParaRPr lang="en-US" altLang="en-US" sz="2000" dirty="0"/>
          </a:p>
          <a:p>
            <a:pPr>
              <a:lnSpc>
                <a:spcPct val="150000"/>
              </a:lnSpc>
            </a:pPr>
            <a:endParaRPr lang="en-US" altLang="en-US" sz="2000" dirty="0"/>
          </a:p>
          <a:p>
            <a:pPr>
              <a:lnSpc>
                <a:spcPct val="150000"/>
              </a:lnSpc>
            </a:pPr>
            <a:r>
              <a:rPr lang="en-US" altLang="en-US" sz="2000" dirty="0"/>
              <a:t>For </a:t>
            </a:r>
            <a:r>
              <a:rPr lang="en-US" altLang="en-US" sz="2000" dirty="0">
                <a:sym typeface="Symbol" pitchFamily="2" charset="2"/>
              </a:rPr>
              <a:t></a:t>
            </a:r>
            <a:r>
              <a:rPr lang="en-US" altLang="en-US" sz="2000" baseline="-25000" dirty="0">
                <a:sym typeface="Symbol" pitchFamily="2" charset="2"/>
              </a:rPr>
              <a:t>1,2 </a:t>
            </a:r>
            <a:r>
              <a:rPr lang="en-US" altLang="en-US" sz="2000" dirty="0">
                <a:sym typeface="Symbol" pitchFamily="2" charset="2"/>
              </a:rPr>
              <a:t>= +1</a:t>
            </a:r>
            <a:r>
              <a:rPr lang="en-US" altLang="en-US" sz="2000" dirty="0"/>
              <a:t>, Variance-Covariance matrix =  </a:t>
            </a:r>
          </a:p>
        </p:txBody>
      </p:sp>
      <p:graphicFrame>
        <p:nvGraphicFramePr>
          <p:cNvPr id="2" name="Table 1">
            <a:extLst>
              <a:ext uri="{FF2B5EF4-FFF2-40B4-BE49-F238E27FC236}">
                <a16:creationId xmlns:a16="http://schemas.microsoft.com/office/drawing/2014/main" id="{48D58CAE-700B-0347-95C1-EC7B399ED3D9}"/>
              </a:ext>
            </a:extLst>
          </p:cNvPr>
          <p:cNvGraphicFramePr>
            <a:graphicFrameLocks noGrp="1"/>
          </p:cNvGraphicFramePr>
          <p:nvPr>
            <p:extLst>
              <p:ext uri="{D42A27DB-BD31-4B8C-83A1-F6EECF244321}">
                <p14:modId xmlns:p14="http://schemas.microsoft.com/office/powerpoint/2010/main" val="2162103043"/>
              </p:ext>
            </p:extLst>
          </p:nvPr>
        </p:nvGraphicFramePr>
        <p:xfrm>
          <a:off x="2619632" y="2859378"/>
          <a:ext cx="5189838" cy="1490584"/>
        </p:xfrm>
        <a:graphic>
          <a:graphicData uri="http://schemas.openxmlformats.org/drawingml/2006/table">
            <a:tbl>
              <a:tblPr>
                <a:tableStyleId>{5C22544A-7EE6-4342-B048-85BDC9FD1C3A}</a:tableStyleId>
              </a:tblPr>
              <a:tblGrid>
                <a:gridCol w="3205488">
                  <a:extLst>
                    <a:ext uri="{9D8B030D-6E8A-4147-A177-3AD203B41FA5}">
                      <a16:colId xmlns:a16="http://schemas.microsoft.com/office/drawing/2014/main" val="3364816532"/>
                    </a:ext>
                  </a:extLst>
                </a:gridCol>
                <a:gridCol w="992175">
                  <a:extLst>
                    <a:ext uri="{9D8B030D-6E8A-4147-A177-3AD203B41FA5}">
                      <a16:colId xmlns:a16="http://schemas.microsoft.com/office/drawing/2014/main" val="3942048313"/>
                    </a:ext>
                  </a:extLst>
                </a:gridCol>
                <a:gridCol w="992175">
                  <a:extLst>
                    <a:ext uri="{9D8B030D-6E8A-4147-A177-3AD203B41FA5}">
                      <a16:colId xmlns:a16="http://schemas.microsoft.com/office/drawing/2014/main" val="3322757679"/>
                    </a:ext>
                  </a:extLst>
                </a:gridCol>
              </a:tblGrid>
              <a:tr h="372646">
                <a:tc>
                  <a:txBody>
                    <a:bodyPr/>
                    <a:lstStyle/>
                    <a:p>
                      <a:pPr algn="just">
                        <a:lnSpc>
                          <a:spcPct val="150000"/>
                        </a:lnSpc>
                        <a:spcAft>
                          <a:spcPts val="0"/>
                        </a:spcAft>
                      </a:pPr>
                      <a:r>
                        <a:rPr lang="en-GB" sz="1600" dirty="0">
                          <a:effectLst/>
                        </a:rPr>
                        <a:t> </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Equity (E)</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Bond (B)</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974413138"/>
                  </a:ext>
                </a:extLst>
              </a:tr>
              <a:tr h="372646">
                <a:tc>
                  <a:txBody>
                    <a:bodyPr/>
                    <a:lstStyle/>
                    <a:p>
                      <a:pPr algn="just">
                        <a:lnSpc>
                          <a:spcPct val="150000"/>
                        </a:lnSpc>
                        <a:spcAft>
                          <a:spcPts val="0"/>
                        </a:spcAft>
                      </a:pPr>
                      <a:r>
                        <a:rPr lang="en-GB" sz="1600" dirty="0">
                          <a:effectLst/>
                        </a:rPr>
                        <a:t>Expected Return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18%</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7.5%</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466774206"/>
                  </a:ext>
                </a:extLst>
              </a:tr>
              <a:tr h="372646">
                <a:tc>
                  <a:txBody>
                    <a:bodyPr/>
                    <a:lstStyle/>
                    <a:p>
                      <a:pPr algn="just">
                        <a:lnSpc>
                          <a:spcPct val="150000"/>
                        </a:lnSpc>
                        <a:spcAft>
                          <a:spcPts val="0"/>
                        </a:spcAft>
                      </a:pPr>
                      <a:r>
                        <a:rPr lang="en-GB" sz="1600">
                          <a:effectLst/>
                        </a:rPr>
                        <a:t>Risk (Standard Deviation)</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24%</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12%</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950786225"/>
                  </a:ext>
                </a:extLst>
              </a:tr>
              <a:tr h="372646">
                <a:tc>
                  <a:txBody>
                    <a:bodyPr/>
                    <a:lstStyle/>
                    <a:p>
                      <a:pPr algn="just">
                        <a:lnSpc>
                          <a:spcPct val="150000"/>
                        </a:lnSpc>
                        <a:spcAft>
                          <a:spcPts val="0"/>
                        </a:spcAft>
                      </a:pPr>
                      <a:r>
                        <a:rPr lang="en-GB" sz="1600">
                          <a:effectLst/>
                        </a:rPr>
                        <a:t>Variance</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5.76</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1.44</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914287805"/>
                  </a:ext>
                </a:extLst>
              </a:tr>
            </a:tbl>
          </a:graphicData>
        </a:graphic>
      </p:graphicFrame>
      <p:sp>
        <p:nvSpPr>
          <p:cNvPr id="5" name="Rectangle 4">
            <a:extLst>
              <a:ext uri="{FF2B5EF4-FFF2-40B4-BE49-F238E27FC236}">
                <a16:creationId xmlns:a16="http://schemas.microsoft.com/office/drawing/2014/main" id="{C206F135-DA80-5D41-8498-A97CF2CF02F9}"/>
              </a:ext>
            </a:extLst>
          </p:cNvPr>
          <p:cNvSpPr>
            <a:spLocks noChangeArrowheads="1"/>
          </p:cNvSpPr>
          <p:nvPr/>
        </p:nvSpPr>
        <p:spPr bwMode="auto">
          <a:xfrm>
            <a:off x="5004485" y="4576412"/>
            <a:ext cx="14532740" cy="52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6" name="Object 5">
            <a:extLst>
              <a:ext uri="{FF2B5EF4-FFF2-40B4-BE49-F238E27FC236}">
                <a16:creationId xmlns:a16="http://schemas.microsoft.com/office/drawing/2014/main" id="{E639C84D-0780-1E46-9C31-8BD65DCC4062}"/>
              </a:ext>
            </a:extLst>
          </p:cNvPr>
          <p:cNvGraphicFramePr>
            <a:graphicFrameLocks noChangeAspect="1"/>
          </p:cNvGraphicFramePr>
          <p:nvPr>
            <p:extLst>
              <p:ext uri="{D42A27DB-BD31-4B8C-83A1-F6EECF244321}">
                <p14:modId xmlns:p14="http://schemas.microsoft.com/office/powerpoint/2010/main" val="4148321475"/>
              </p:ext>
            </p:extLst>
          </p:nvPr>
        </p:nvGraphicFramePr>
        <p:xfrm>
          <a:off x="6096000" y="5055256"/>
          <a:ext cx="3710040" cy="742008"/>
        </p:xfrm>
        <a:graphic>
          <a:graphicData uri="http://schemas.openxmlformats.org/presentationml/2006/ole">
            <mc:AlternateContent xmlns:mc="http://schemas.openxmlformats.org/markup-compatibility/2006">
              <mc:Choice xmlns:v="urn:schemas-microsoft-com:vml" Requires="v">
                <p:oleObj r:id="rId2" imgW="2413000" imgH="482600" progId="Equation.3">
                  <p:embed/>
                </p:oleObj>
              </mc:Choice>
              <mc:Fallback>
                <p:oleObj r:id="rId2" imgW="2413000" imgH="482600" progId="Equation.3">
                  <p:embed/>
                  <p:pic>
                    <p:nvPicPr>
                      <p:cNvPr id="6" name="Object 5">
                        <a:extLst>
                          <a:ext uri="{FF2B5EF4-FFF2-40B4-BE49-F238E27FC236}">
                            <a16:creationId xmlns:a16="http://schemas.microsoft.com/office/drawing/2014/main" id="{E639C84D-0780-1E46-9C31-8BD65DCC4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055256"/>
                        <a:ext cx="3710040" cy="742008"/>
                      </a:xfrm>
                      <a:prstGeom prst="rect">
                        <a:avLst/>
                      </a:prstGeom>
                      <a:noFill/>
                    </p:spPr>
                  </p:pic>
                </p:oleObj>
              </mc:Fallback>
            </mc:AlternateContent>
          </a:graphicData>
        </a:graphic>
      </p:graphicFrame>
    </p:spTree>
    <p:extLst>
      <p:ext uri="{BB962C8B-B14F-4D97-AF65-F5344CB8AC3E}">
        <p14:creationId xmlns:p14="http://schemas.microsoft.com/office/powerpoint/2010/main" val="2849512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9928E12-8BB3-D142-87F2-B955EE4E553B}"/>
              </a:ext>
            </a:extLst>
          </p:cNvPr>
          <p:cNvGraphicFramePr>
            <a:graphicFrameLocks noGrp="1"/>
          </p:cNvGraphicFramePr>
          <p:nvPr/>
        </p:nvGraphicFramePr>
        <p:xfrm>
          <a:off x="622933" y="1813637"/>
          <a:ext cx="5224965" cy="4419598"/>
        </p:xfrm>
        <a:graphic>
          <a:graphicData uri="http://schemas.openxmlformats.org/drawingml/2006/table">
            <a:tbl>
              <a:tblPr>
                <a:tableStyleId>{5C22544A-7EE6-4342-B048-85BDC9FD1C3A}</a:tableStyleId>
              </a:tblPr>
              <a:tblGrid>
                <a:gridCol w="985843">
                  <a:extLst>
                    <a:ext uri="{9D8B030D-6E8A-4147-A177-3AD203B41FA5}">
                      <a16:colId xmlns:a16="http://schemas.microsoft.com/office/drawing/2014/main" val="61629572"/>
                    </a:ext>
                  </a:extLst>
                </a:gridCol>
                <a:gridCol w="985843">
                  <a:extLst>
                    <a:ext uri="{9D8B030D-6E8A-4147-A177-3AD203B41FA5}">
                      <a16:colId xmlns:a16="http://schemas.microsoft.com/office/drawing/2014/main" val="2634462243"/>
                    </a:ext>
                  </a:extLst>
                </a:gridCol>
                <a:gridCol w="1076316">
                  <a:extLst>
                    <a:ext uri="{9D8B030D-6E8A-4147-A177-3AD203B41FA5}">
                      <a16:colId xmlns:a16="http://schemas.microsoft.com/office/drawing/2014/main" val="2465922837"/>
                    </a:ext>
                  </a:extLst>
                </a:gridCol>
                <a:gridCol w="924070">
                  <a:extLst>
                    <a:ext uri="{9D8B030D-6E8A-4147-A177-3AD203B41FA5}">
                      <a16:colId xmlns:a16="http://schemas.microsoft.com/office/drawing/2014/main" val="2347138498"/>
                    </a:ext>
                  </a:extLst>
                </a:gridCol>
                <a:gridCol w="1252893">
                  <a:extLst>
                    <a:ext uri="{9D8B030D-6E8A-4147-A177-3AD203B41FA5}">
                      <a16:colId xmlns:a16="http://schemas.microsoft.com/office/drawing/2014/main" val="4173427768"/>
                    </a:ext>
                  </a:extLst>
                </a:gridCol>
              </a:tblGrid>
              <a:tr h="1530854">
                <a:tc>
                  <a:txBody>
                    <a:bodyPr/>
                    <a:lstStyle/>
                    <a:p>
                      <a:pPr algn="just">
                        <a:lnSpc>
                          <a:spcPct val="150000"/>
                        </a:lnSpc>
                        <a:spcAft>
                          <a:spcPts val="0"/>
                        </a:spcAft>
                      </a:pPr>
                      <a:r>
                        <a:rPr lang="en-GB" sz="1600" dirty="0">
                          <a:effectLst/>
                        </a:rPr>
                        <a:t>Equity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Bond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Portfolio Return</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Portfolio Variance</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Portfolio Std. deviation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019494521"/>
                  </a:ext>
                </a:extLst>
              </a:tr>
              <a:tr h="722186">
                <a:tc>
                  <a:txBody>
                    <a:bodyPr/>
                    <a:lstStyle/>
                    <a:p>
                      <a:pPr algn="just">
                        <a:lnSpc>
                          <a:spcPct val="150000"/>
                        </a:lnSpc>
                        <a:spcAft>
                          <a:spcPts val="0"/>
                        </a:spcAft>
                      </a:pPr>
                      <a:r>
                        <a:rPr lang="en-GB" sz="1600">
                          <a:effectLst/>
                        </a:rPr>
                        <a:t>0.000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1.000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7.5%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12.00%</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712457065"/>
                  </a:ext>
                </a:extLst>
              </a:tr>
              <a:tr h="722186">
                <a:tc>
                  <a:txBody>
                    <a:bodyPr/>
                    <a:lstStyle/>
                    <a:p>
                      <a:pPr algn="just">
                        <a:lnSpc>
                          <a:spcPct val="150000"/>
                        </a:lnSpc>
                        <a:spcAft>
                          <a:spcPts val="0"/>
                        </a:spcAft>
                      </a:pPr>
                      <a:r>
                        <a:rPr lang="en-GB" sz="1600">
                          <a:effectLst/>
                        </a:rPr>
                        <a:t>0.238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0.762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2.2%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14.86%</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484185188"/>
                  </a:ext>
                </a:extLst>
              </a:tr>
              <a:tr h="722186">
                <a:tc>
                  <a:txBody>
                    <a:bodyPr/>
                    <a:lstStyle/>
                    <a:p>
                      <a:pPr algn="just">
                        <a:lnSpc>
                          <a:spcPct val="150000"/>
                        </a:lnSpc>
                        <a:spcAft>
                          <a:spcPts val="0"/>
                        </a:spcAft>
                      </a:pPr>
                      <a:r>
                        <a:rPr lang="en-GB" sz="1600">
                          <a:effectLst/>
                        </a:rPr>
                        <a:t>0.619</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0.381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14.0%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3.8%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19.43%</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8035143"/>
                  </a:ext>
                </a:extLst>
              </a:tr>
              <a:tr h="722186">
                <a:tc>
                  <a:txBody>
                    <a:bodyPr/>
                    <a:lstStyle/>
                    <a:p>
                      <a:pPr algn="just">
                        <a:lnSpc>
                          <a:spcPct val="150000"/>
                        </a:lnSpc>
                        <a:spcAft>
                          <a:spcPts val="0"/>
                        </a:spcAft>
                      </a:pPr>
                      <a:r>
                        <a:rPr lang="en-GB" sz="1600">
                          <a:effectLst/>
                        </a:rPr>
                        <a:t>1.000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0.000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18.0%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5.8%</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24.00%</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381125473"/>
                  </a:ext>
                </a:extLst>
              </a:tr>
            </a:tbl>
          </a:graphicData>
        </a:graphic>
      </p:graphicFrame>
      <p:sp>
        <p:nvSpPr>
          <p:cNvPr id="3" name="Title 2">
            <a:extLst>
              <a:ext uri="{FF2B5EF4-FFF2-40B4-BE49-F238E27FC236}">
                <a16:creationId xmlns:a16="http://schemas.microsoft.com/office/drawing/2014/main" id="{87411448-ABB2-BA4F-96FB-5EAB7E4DDA7C}"/>
              </a:ext>
            </a:extLst>
          </p:cNvPr>
          <p:cNvSpPr>
            <a:spLocks noGrp="1"/>
          </p:cNvSpPr>
          <p:nvPr>
            <p:ph type="title"/>
          </p:nvPr>
        </p:nvSpPr>
        <p:spPr>
          <a:xfrm>
            <a:off x="641873" y="436223"/>
            <a:ext cx="10711928" cy="785542"/>
          </a:xfrm>
        </p:spPr>
        <p:txBody>
          <a:bodyPr>
            <a:noAutofit/>
          </a:bodyPr>
          <a:lstStyle/>
          <a:p>
            <a:r>
              <a:rPr lang="en-US" altLang="en-US" sz="3000" dirty="0"/>
              <a:t>Two-asset portfolios efficient set shape: </a:t>
            </a:r>
            <a:br>
              <a:rPr lang="en-US" altLang="en-US" sz="3000" dirty="0"/>
            </a:br>
            <a:r>
              <a:rPr lang="en-US" altLang="en-US" sz="3000" dirty="0"/>
              <a:t>perfectly positively correlated assets</a:t>
            </a:r>
            <a:endParaRPr lang="en-US" sz="3000" dirty="0"/>
          </a:p>
        </p:txBody>
      </p:sp>
      <p:sp>
        <p:nvSpPr>
          <p:cNvPr id="8" name="Rectangle 4">
            <a:extLst>
              <a:ext uri="{FF2B5EF4-FFF2-40B4-BE49-F238E27FC236}">
                <a16:creationId xmlns:a16="http://schemas.microsoft.com/office/drawing/2014/main" id="{DDCAA7A7-104F-094A-AE7D-01C04CD5DFAE}"/>
              </a:ext>
            </a:extLst>
          </p:cNvPr>
          <p:cNvSpPr>
            <a:spLocks noChangeArrowheads="1"/>
          </p:cNvSpPr>
          <p:nvPr/>
        </p:nvSpPr>
        <p:spPr bwMode="auto">
          <a:xfrm>
            <a:off x="5425245" y="2329360"/>
            <a:ext cx="14486828" cy="51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Object 8">
            <a:extLst>
              <a:ext uri="{FF2B5EF4-FFF2-40B4-BE49-F238E27FC236}">
                <a16:creationId xmlns:a16="http://schemas.microsoft.com/office/drawing/2014/main" id="{C1E9F48E-6695-DB4B-A03E-9BAE81AD6797}"/>
              </a:ext>
            </a:extLst>
          </p:cNvPr>
          <p:cNvGraphicFramePr>
            <a:graphicFrameLocks noChangeAspect="1"/>
          </p:cNvGraphicFramePr>
          <p:nvPr/>
        </p:nvGraphicFramePr>
        <p:xfrm>
          <a:off x="6128837" y="1837054"/>
          <a:ext cx="5224964" cy="4351337"/>
        </p:xfrm>
        <a:graphic>
          <a:graphicData uri="http://schemas.openxmlformats.org/presentationml/2006/ole">
            <mc:AlternateContent xmlns:mc="http://schemas.openxmlformats.org/markup-compatibility/2006">
              <mc:Choice xmlns:v="urn:schemas-microsoft-com:vml" Requires="v">
                <p:oleObj name="Chart" r:id="rId2" imgW="3606800" imgH="2705100" progId="Excel.Chart.8">
                  <p:embed/>
                </p:oleObj>
              </mc:Choice>
              <mc:Fallback>
                <p:oleObj name="Chart" r:id="rId2" imgW="3606800" imgH="2705100" progId="Excel.Chart.8">
                  <p:embed/>
                  <p:pic>
                    <p:nvPicPr>
                      <p:cNvPr id="9" name="Object 8">
                        <a:extLst>
                          <a:ext uri="{FF2B5EF4-FFF2-40B4-BE49-F238E27FC236}">
                            <a16:creationId xmlns:a16="http://schemas.microsoft.com/office/drawing/2014/main" id="{C1E9F48E-6695-DB4B-A03E-9BAE81AD6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8837" y="1837054"/>
                        <a:ext cx="5224964" cy="4351337"/>
                      </a:xfrm>
                      <a:prstGeom prst="rect">
                        <a:avLst/>
                      </a:prstGeom>
                      <a:noFill/>
                    </p:spPr>
                  </p:pic>
                </p:oleObj>
              </mc:Fallback>
            </mc:AlternateContent>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4">
            <p14:nvContentPartPr>
              <p14:cNvPr id="4" name="Ink 3">
                <a:extLst>
                  <a:ext uri="{FF2B5EF4-FFF2-40B4-BE49-F238E27FC236}">
                    <a16:creationId xmlns:a16="http://schemas.microsoft.com/office/drawing/2014/main" id="{02A44C92-CC66-B445-92CC-39479160E2A9}"/>
                  </a:ext>
                </a:extLst>
              </p14:cNvPr>
              <p14:cNvContentPartPr/>
              <p14:nvPr/>
            </p14:nvContentPartPr>
            <p14:xfrm>
              <a:off x="7393118" y="4211104"/>
              <a:ext cx="44280" cy="74160"/>
            </p14:xfrm>
          </p:contentPart>
        </mc:Choice>
        <mc:Fallback xmlns="">
          <p:pic>
            <p:nvPicPr>
              <p:cNvPr id="4" name="Ink 3">
                <a:extLst>
                  <a:ext uri="{FF2B5EF4-FFF2-40B4-BE49-F238E27FC236}">
                    <a16:creationId xmlns:a16="http://schemas.microsoft.com/office/drawing/2014/main" id="{02A44C92-CC66-B445-92CC-39479160E2A9}"/>
                  </a:ext>
                </a:extLst>
              </p:cNvPr>
              <p:cNvPicPr/>
              <p:nvPr/>
            </p:nvPicPr>
            <p:blipFill>
              <a:blip r:embed="rId6"/>
              <a:stretch>
                <a:fillRect/>
              </a:stretch>
            </p:blipFill>
            <p:spPr>
              <a:xfrm>
                <a:off x="7375478" y="4103104"/>
                <a:ext cx="79920" cy="2898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3" name="Ink 12">
                <a:extLst>
                  <a:ext uri="{FF2B5EF4-FFF2-40B4-BE49-F238E27FC236}">
                    <a16:creationId xmlns:a16="http://schemas.microsoft.com/office/drawing/2014/main" id="{34E39E2C-77DE-D045-BAC6-2551BBD62312}"/>
                  </a:ext>
                </a:extLst>
              </p14:cNvPr>
              <p14:cNvContentPartPr/>
              <p14:nvPr/>
            </p14:nvContentPartPr>
            <p14:xfrm>
              <a:off x="10610438" y="2521984"/>
              <a:ext cx="66240" cy="55800"/>
            </p14:xfrm>
          </p:contentPart>
        </mc:Choice>
        <mc:Fallback xmlns="">
          <p:pic>
            <p:nvPicPr>
              <p:cNvPr id="13" name="Ink 12">
                <a:extLst>
                  <a:ext uri="{FF2B5EF4-FFF2-40B4-BE49-F238E27FC236}">
                    <a16:creationId xmlns:a16="http://schemas.microsoft.com/office/drawing/2014/main" id="{34E39E2C-77DE-D045-BAC6-2551BBD62312}"/>
                  </a:ext>
                </a:extLst>
              </p:cNvPr>
              <p:cNvPicPr/>
              <p:nvPr/>
            </p:nvPicPr>
            <p:blipFill>
              <a:blip r:embed="rId8"/>
              <a:stretch>
                <a:fillRect/>
              </a:stretch>
            </p:blipFill>
            <p:spPr>
              <a:xfrm>
                <a:off x="10574438" y="2305984"/>
                <a:ext cx="137880" cy="487440"/>
              </a:xfrm>
              <a:prstGeom prst="rect">
                <a:avLst/>
              </a:prstGeom>
            </p:spPr>
          </p:pic>
        </mc:Fallback>
      </mc:AlternateContent>
      <p:sp>
        <p:nvSpPr>
          <p:cNvPr id="20" name="TextBox 19">
            <a:extLst>
              <a:ext uri="{FF2B5EF4-FFF2-40B4-BE49-F238E27FC236}">
                <a16:creationId xmlns:a16="http://schemas.microsoft.com/office/drawing/2014/main" id="{7503E48B-6DFF-0D44-AA79-57A6190C5C94}"/>
              </a:ext>
            </a:extLst>
          </p:cNvPr>
          <p:cNvSpPr txBox="1"/>
          <p:nvPr/>
        </p:nvSpPr>
        <p:spPr>
          <a:xfrm>
            <a:off x="7265096" y="4211104"/>
            <a:ext cx="510856" cy="369332"/>
          </a:xfrm>
          <a:prstGeom prst="rect">
            <a:avLst/>
          </a:prstGeom>
          <a:noFill/>
        </p:spPr>
        <p:txBody>
          <a:bodyPr wrap="square" rtlCol="0">
            <a:spAutoFit/>
          </a:bodyPr>
          <a:lstStyle/>
          <a:p>
            <a:r>
              <a:rPr lang="en-US" dirty="0">
                <a:solidFill>
                  <a:srgbClr val="FF0000"/>
                </a:solidFill>
              </a:rPr>
              <a:t>B</a:t>
            </a:r>
          </a:p>
        </p:txBody>
      </p:sp>
      <p:sp>
        <p:nvSpPr>
          <p:cNvPr id="21" name="TextBox 20">
            <a:extLst>
              <a:ext uri="{FF2B5EF4-FFF2-40B4-BE49-F238E27FC236}">
                <a16:creationId xmlns:a16="http://schemas.microsoft.com/office/drawing/2014/main" id="{1A67097F-B0C9-0645-8E73-035780390B69}"/>
              </a:ext>
            </a:extLst>
          </p:cNvPr>
          <p:cNvSpPr txBox="1"/>
          <p:nvPr/>
        </p:nvSpPr>
        <p:spPr>
          <a:xfrm>
            <a:off x="10610438" y="2432932"/>
            <a:ext cx="404794" cy="369332"/>
          </a:xfrm>
          <a:prstGeom prst="rect">
            <a:avLst/>
          </a:prstGeom>
          <a:noFill/>
        </p:spPr>
        <p:txBody>
          <a:bodyPr wrap="square" rtlCol="0">
            <a:spAutoFit/>
          </a:bodyPr>
          <a:lstStyle/>
          <a:p>
            <a:r>
              <a:rPr lang="en-US" dirty="0">
                <a:solidFill>
                  <a:srgbClr val="FF0000"/>
                </a:solidFill>
              </a:rPr>
              <a:t>E</a:t>
            </a:r>
          </a:p>
        </p:txBody>
      </p:sp>
    </p:spTree>
    <p:extLst>
      <p:ext uri="{BB962C8B-B14F-4D97-AF65-F5344CB8AC3E}">
        <p14:creationId xmlns:p14="http://schemas.microsoft.com/office/powerpoint/2010/main" val="1082114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9FC11B-189E-D449-B76F-83B55DA1E0E5}"/>
              </a:ext>
            </a:extLst>
          </p:cNvPr>
          <p:cNvSpPr>
            <a:spLocks noGrp="1"/>
          </p:cNvSpPr>
          <p:nvPr>
            <p:ph type="title"/>
          </p:nvPr>
        </p:nvSpPr>
        <p:spPr>
          <a:xfrm>
            <a:off x="405064" y="389188"/>
            <a:ext cx="10637520" cy="785542"/>
          </a:xfrm>
        </p:spPr>
        <p:txBody>
          <a:bodyPr>
            <a:noAutofit/>
          </a:bodyPr>
          <a:lstStyle/>
          <a:p>
            <a:r>
              <a:rPr lang="en-US" altLang="en-US" sz="3000" dirty="0"/>
              <a:t>Two-asset portfolios efficient set: zero correlation </a:t>
            </a:r>
            <a:br>
              <a:rPr lang="en-US" altLang="en-US" sz="3000" dirty="0"/>
            </a:br>
            <a:r>
              <a:rPr lang="en-US" altLang="en-US" sz="3000" dirty="0"/>
              <a:t>between assets</a:t>
            </a:r>
            <a:endParaRPr lang="en-US" sz="3000"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6860CD4C-46C3-0248-A3B3-870B605C1188}"/>
                  </a:ext>
                </a:extLst>
              </p:cNvPr>
              <p:cNvSpPr>
                <a:spLocks noGrp="1"/>
              </p:cNvSpPr>
              <p:nvPr>
                <p:ph idx="1"/>
              </p:nvPr>
            </p:nvSpPr>
            <p:spPr>
              <a:xfrm>
                <a:off x="466024" y="1523632"/>
                <a:ext cx="10515600" cy="4667250"/>
              </a:xfrm>
            </p:spPr>
            <p:txBody>
              <a:bodyPr>
                <a:normAutofit lnSpcReduction="10000"/>
              </a:bodyPr>
              <a:lstStyle/>
              <a:p>
                <a:pPr>
                  <a:lnSpc>
                    <a:spcPct val="150000"/>
                  </a:lnSpc>
                  <a:spcAft>
                    <a:spcPts val="600"/>
                  </a:spcAft>
                </a:pPr>
                <a:r>
                  <a:rPr lang="en-US" altLang="en-US" sz="2400" dirty="0">
                    <a:sym typeface="Symbol" pitchFamily="2" charset="2"/>
                  </a:rPr>
                  <a:t>Since:  </a:t>
                </a:r>
                <a:r>
                  <a:rPr lang="en-US" altLang="en-US" sz="2400" baseline="-25000" dirty="0">
                    <a:sym typeface="Symbol" pitchFamily="2" charset="2"/>
                  </a:rPr>
                  <a:t>p</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w</a:t>
                </a:r>
                <a:r>
                  <a:rPr lang="en-US" altLang="en-US" sz="2400" baseline="-25000" dirty="0">
                    <a:sym typeface="Symbol" pitchFamily="2" charset="2"/>
                  </a:rPr>
                  <a:t>1</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1</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w</a:t>
                </a:r>
                <a:r>
                  <a:rPr lang="en-US" altLang="en-US" sz="2400" baseline="-25000" dirty="0">
                    <a:sym typeface="Symbol" pitchFamily="2" charset="2"/>
                  </a:rPr>
                  <a:t>2</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2</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+ 2w</a:t>
                </a:r>
                <a:r>
                  <a:rPr lang="en-US" altLang="en-US" sz="2400" baseline="-25000" dirty="0">
                    <a:sym typeface="Symbol" pitchFamily="2" charset="2"/>
                  </a:rPr>
                  <a:t>1</a:t>
                </a:r>
                <a:r>
                  <a:rPr lang="en-US" altLang="en-US" sz="2400" dirty="0">
                    <a:sym typeface="Symbol" pitchFamily="2" charset="2"/>
                  </a:rPr>
                  <a:t>w</a:t>
                </a:r>
                <a:r>
                  <a:rPr lang="en-US" altLang="en-US" sz="2400" baseline="-25000" dirty="0">
                    <a:sym typeface="Symbol" pitchFamily="2" charset="2"/>
                  </a:rPr>
                  <a:t>2</a:t>
                </a:r>
                <a:r>
                  <a:rPr lang="en-US" altLang="en-US" sz="2400" dirty="0">
                    <a:sym typeface="Symbol" pitchFamily="2" charset="2"/>
                  </a:rPr>
                  <a:t></a:t>
                </a:r>
                <a:r>
                  <a:rPr lang="en-US" altLang="en-US" sz="2400" baseline="-25000" dirty="0">
                    <a:sym typeface="Symbol" pitchFamily="2" charset="2"/>
                  </a:rPr>
                  <a:t>1,2 </a:t>
                </a:r>
                <a:r>
                  <a:rPr lang="en-US" altLang="en-US" sz="2400" dirty="0">
                    <a:sym typeface="Symbol" pitchFamily="2" charset="2"/>
                  </a:rPr>
                  <a:t></a:t>
                </a:r>
                <a:r>
                  <a:rPr lang="en-US" altLang="en-US" sz="2400" baseline="-25000" dirty="0">
                    <a:sym typeface="Symbol" pitchFamily="2" charset="2"/>
                  </a:rPr>
                  <a:t>1 </a:t>
                </a:r>
                <a:r>
                  <a:rPr lang="en-US" altLang="en-US" sz="2400" dirty="0">
                    <a:sym typeface="Symbol" pitchFamily="2" charset="2"/>
                  </a:rPr>
                  <a:t></a:t>
                </a:r>
                <a:r>
                  <a:rPr lang="en-US" altLang="en-US" sz="2400" baseline="-25000" dirty="0">
                    <a:sym typeface="Symbol" pitchFamily="2" charset="2"/>
                  </a:rPr>
                  <a:t>2</a:t>
                </a:r>
              </a:p>
              <a:p>
                <a:pPr>
                  <a:lnSpc>
                    <a:spcPct val="150000"/>
                  </a:lnSpc>
                  <a:spcAft>
                    <a:spcPts val="600"/>
                  </a:spcAft>
                </a:pPr>
                <a:r>
                  <a:rPr lang="en-US" altLang="en-US" sz="2400" dirty="0">
                    <a:sym typeface="Symbol" pitchFamily="2" charset="2"/>
                  </a:rPr>
                  <a:t>When: </a:t>
                </a:r>
                <a:r>
                  <a:rPr lang="en-US" altLang="en-US" sz="2400" baseline="-25000" dirty="0">
                    <a:sym typeface="Symbol" pitchFamily="2" charset="2"/>
                  </a:rPr>
                  <a:t>1,2 </a:t>
                </a:r>
                <a:r>
                  <a:rPr lang="en-US" altLang="en-US" sz="2400" dirty="0">
                    <a:sym typeface="Symbol" pitchFamily="2" charset="2"/>
                  </a:rPr>
                  <a:t>= 0</a:t>
                </a:r>
              </a:p>
              <a:p>
                <a:pPr>
                  <a:lnSpc>
                    <a:spcPct val="150000"/>
                  </a:lnSpc>
                  <a:spcAft>
                    <a:spcPts val="600"/>
                  </a:spcAft>
                </a:pPr>
                <a:r>
                  <a:rPr lang="en-US" altLang="en-US" sz="2400" dirty="0">
                    <a:sym typeface="Symbol" pitchFamily="2" charset="2"/>
                  </a:rPr>
                  <a:t>Then:   </a:t>
                </a:r>
                <a:r>
                  <a:rPr lang="en-US" altLang="en-US" sz="2400" baseline="-25000" dirty="0">
                    <a:sym typeface="Symbol" pitchFamily="2" charset="2"/>
                  </a:rPr>
                  <a:t>p</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w</a:t>
                </a:r>
                <a:r>
                  <a:rPr lang="en-US" altLang="en-US" sz="2400" baseline="-25000" dirty="0">
                    <a:sym typeface="Symbol" pitchFamily="2" charset="2"/>
                  </a:rPr>
                  <a:t>1</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1</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w</a:t>
                </a:r>
                <a:r>
                  <a:rPr lang="en-US" altLang="en-US" sz="2400" baseline="-25000" dirty="0">
                    <a:sym typeface="Symbol" pitchFamily="2" charset="2"/>
                  </a:rPr>
                  <a:t>2</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2</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note that is</a:t>
                </a:r>
                <a:r>
                  <a:rPr lang="en-US" altLang="en-US" sz="2400" baseline="-25000" dirty="0">
                    <a:sym typeface="Symbol" pitchFamily="2" charset="2"/>
                  </a:rPr>
                  <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sym typeface="Symbol" pitchFamily="2" charset="2"/>
                      </a:rPr>
                      <m:t>≠</m:t>
                    </m:r>
                  </m:oMath>
                </a14:m>
                <a:r>
                  <a:rPr lang="en-US" altLang="en-US" sz="2400" dirty="0">
                    <a:sym typeface="Symbol" pitchFamily="2" charset="2"/>
                  </a:rPr>
                  <a:t>[ w</a:t>
                </a:r>
                <a:r>
                  <a:rPr lang="en-US" altLang="en-US" sz="2400" baseline="-25000" dirty="0">
                    <a:sym typeface="Symbol" pitchFamily="2" charset="2"/>
                  </a:rPr>
                  <a:t>1</a:t>
                </a:r>
                <a:r>
                  <a:rPr lang="en-US" altLang="en-US" sz="2400" dirty="0">
                    <a:sym typeface="Symbol" pitchFamily="2" charset="2"/>
                  </a:rPr>
                  <a:t> </a:t>
                </a:r>
                <a:r>
                  <a:rPr lang="en-US" altLang="en-US" sz="2400" baseline="-25000" dirty="0">
                    <a:sym typeface="Symbol" pitchFamily="2" charset="2"/>
                  </a:rPr>
                  <a:t>1 </a:t>
                </a:r>
                <a:r>
                  <a:rPr lang="en-US" altLang="en-US" sz="2400" dirty="0">
                    <a:sym typeface="Symbol" pitchFamily="2" charset="2"/>
                  </a:rPr>
                  <a:t>+ w</a:t>
                </a:r>
                <a:r>
                  <a:rPr lang="en-US" altLang="en-US" sz="2400" baseline="-25000" dirty="0">
                    <a:sym typeface="Symbol" pitchFamily="2" charset="2"/>
                  </a:rPr>
                  <a:t>2</a:t>
                </a:r>
                <a:r>
                  <a:rPr lang="en-US" altLang="en-US" sz="2400" dirty="0">
                    <a:sym typeface="Symbol" pitchFamily="2" charset="2"/>
                  </a:rPr>
                  <a:t> </a:t>
                </a:r>
                <a:r>
                  <a:rPr lang="en-US" altLang="en-US" sz="2400" baseline="-25000" dirty="0">
                    <a:sym typeface="Symbol" pitchFamily="2" charset="2"/>
                  </a:rPr>
                  <a:t>2</a:t>
                </a:r>
                <a:r>
                  <a:rPr lang="en-US" altLang="en-US" sz="2400" dirty="0">
                    <a:sym typeface="Symbol" pitchFamily="2" charset="2"/>
                  </a:rPr>
                  <a:t>] </a:t>
                </a:r>
                <a:r>
                  <a:rPr lang="en-US" altLang="en-US" sz="2400" baseline="30000" dirty="0">
                    <a:sym typeface="Symbol" pitchFamily="2" charset="2"/>
                  </a:rPr>
                  <a:t>2</a:t>
                </a:r>
              </a:p>
              <a:p>
                <a:pPr>
                  <a:lnSpc>
                    <a:spcPct val="150000"/>
                  </a:lnSpc>
                  <a:spcAft>
                    <a:spcPts val="600"/>
                  </a:spcAft>
                </a:pPr>
                <a:r>
                  <a:rPr lang="en-US" altLang="en-US" sz="2400" dirty="0">
                    <a:sym typeface="Symbol" pitchFamily="2" charset="2"/>
                  </a:rPr>
                  <a:t>And:      </a:t>
                </a:r>
                <a:r>
                  <a:rPr lang="en-US" altLang="en-US" sz="2400" baseline="-25000" dirty="0">
                    <a:sym typeface="Symbol" pitchFamily="2" charset="2"/>
                  </a:rPr>
                  <a:t>p </a:t>
                </a:r>
                <a:r>
                  <a:rPr lang="en-US" altLang="en-US" sz="2400" dirty="0">
                    <a:sym typeface="Symbol" pitchFamily="2" charset="2"/>
                  </a:rPr>
                  <a:t>=[w</a:t>
                </a:r>
                <a:r>
                  <a:rPr lang="en-US" altLang="en-US" sz="2400" baseline="-25000" dirty="0">
                    <a:sym typeface="Symbol" pitchFamily="2" charset="2"/>
                  </a:rPr>
                  <a:t>1</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1</a:t>
                </a:r>
                <a:r>
                  <a:rPr lang="en-US" altLang="en-US" sz="2400" baseline="30000" dirty="0">
                    <a:sym typeface="Symbol" pitchFamily="2" charset="2"/>
                  </a:rPr>
                  <a:t>2</a:t>
                </a:r>
                <a:r>
                  <a:rPr lang="en-US" altLang="en-US" sz="2400" baseline="-25000" dirty="0">
                    <a:sym typeface="Symbol" pitchFamily="2" charset="2"/>
                  </a:rPr>
                  <a:t> </a:t>
                </a:r>
                <a:r>
                  <a:rPr lang="en-US" altLang="en-US" sz="2400" dirty="0">
                    <a:sym typeface="Symbol" pitchFamily="2" charset="2"/>
                  </a:rPr>
                  <a:t>+ w</a:t>
                </a:r>
                <a:r>
                  <a:rPr lang="en-US" altLang="en-US" sz="2400" baseline="-25000" dirty="0">
                    <a:sym typeface="Symbol" pitchFamily="2" charset="2"/>
                  </a:rPr>
                  <a:t>2</a:t>
                </a:r>
                <a:r>
                  <a:rPr lang="en-US" altLang="en-US" sz="2400" baseline="30000" dirty="0">
                    <a:sym typeface="Symbol" pitchFamily="2" charset="2"/>
                  </a:rPr>
                  <a:t>2</a:t>
                </a:r>
                <a:r>
                  <a:rPr lang="en-US" altLang="en-US" sz="2400" dirty="0">
                    <a:sym typeface="Symbol" pitchFamily="2" charset="2"/>
                  </a:rPr>
                  <a:t> </a:t>
                </a:r>
                <a:r>
                  <a:rPr lang="en-US" altLang="en-US" sz="2400" baseline="-25000" dirty="0">
                    <a:sym typeface="Symbol" pitchFamily="2" charset="2"/>
                  </a:rPr>
                  <a:t>2</a:t>
                </a:r>
                <a:r>
                  <a:rPr lang="en-US" altLang="en-US" sz="2400" baseline="30000" dirty="0">
                    <a:sym typeface="Symbol" pitchFamily="2" charset="2"/>
                  </a:rPr>
                  <a:t>2</a:t>
                </a:r>
                <a:r>
                  <a:rPr lang="en-US" altLang="en-US" sz="2400" dirty="0">
                    <a:sym typeface="Symbol" pitchFamily="2" charset="2"/>
                  </a:rPr>
                  <a:t>] </a:t>
                </a:r>
                <a:r>
                  <a:rPr lang="en-US" altLang="en-US" sz="2400" baseline="30000" dirty="0">
                    <a:sym typeface="Symbol" pitchFamily="2" charset="2"/>
                  </a:rPr>
                  <a:t>½</a:t>
                </a:r>
              </a:p>
              <a:p>
                <a:pPr>
                  <a:lnSpc>
                    <a:spcPct val="150000"/>
                  </a:lnSpc>
                  <a:spcAft>
                    <a:spcPts val="600"/>
                  </a:spcAft>
                </a:pPr>
                <a:r>
                  <a:rPr lang="en-US" altLang="en-US" sz="2400" dirty="0">
                    <a:solidFill>
                      <a:srgbClr val="0070C0"/>
                    </a:solidFill>
                    <a:sym typeface="Symbol" pitchFamily="2" charset="2"/>
                  </a:rPr>
                  <a:t>There is diversification with 0 correlation coefficient. The standard deviation when correlation is 0 is always lower than standard deviation when correlation in +1, for any positive weight, </a:t>
                </a:r>
                <a:r>
                  <a:rPr lang="en-US" altLang="en-US" sz="2400" dirty="0" err="1">
                    <a:solidFill>
                      <a:srgbClr val="0070C0"/>
                    </a:solidFill>
                    <a:sym typeface="Symbol" pitchFamily="2" charset="2"/>
                  </a:rPr>
                  <a:t>w</a:t>
                </a:r>
                <a:r>
                  <a:rPr lang="en-US" altLang="en-US" sz="2400" baseline="-25000" dirty="0" err="1">
                    <a:solidFill>
                      <a:srgbClr val="0070C0"/>
                    </a:solidFill>
                    <a:sym typeface="Symbol" pitchFamily="2" charset="2"/>
                  </a:rPr>
                  <a:t>i</a:t>
                </a:r>
                <a:r>
                  <a:rPr lang="en-US" altLang="en-US" sz="2400" baseline="-25000" dirty="0">
                    <a:solidFill>
                      <a:srgbClr val="0070C0"/>
                    </a:solidFill>
                    <a:sym typeface="Symbol" pitchFamily="2" charset="2"/>
                  </a:rPr>
                  <a:t> </a:t>
                </a:r>
                <a:r>
                  <a:rPr lang="en-US" altLang="en-US" sz="2400" dirty="0">
                    <a:solidFill>
                      <a:srgbClr val="0070C0"/>
                    </a:solidFill>
                    <a:sym typeface="Symbol" pitchFamily="2" charset="2"/>
                  </a:rPr>
                  <a:t>&gt;0</a:t>
                </a:r>
                <a:endParaRPr lang="en-US" altLang="en-US" sz="2400" baseline="30000" dirty="0">
                  <a:solidFill>
                    <a:srgbClr val="0070C0"/>
                  </a:solidFill>
                  <a:sym typeface="Symbol" pitchFamily="2" charset="2"/>
                </a:endParaRPr>
              </a:p>
              <a:p>
                <a:endParaRPr lang="en-US" dirty="0"/>
              </a:p>
            </p:txBody>
          </p:sp>
        </mc:Choice>
        <mc:Fallback xmlns="">
          <p:sp>
            <p:nvSpPr>
              <p:cNvPr id="6" name="Content Placeholder 5">
                <a:extLst>
                  <a:ext uri="{FF2B5EF4-FFF2-40B4-BE49-F238E27FC236}">
                    <a16:creationId xmlns:a16="http://schemas.microsoft.com/office/drawing/2014/main" id="{6860CD4C-46C3-0248-A3B3-870B605C1188}"/>
                  </a:ext>
                </a:extLst>
              </p:cNvPr>
              <p:cNvSpPr>
                <a:spLocks noGrp="1" noRot="1" noChangeAspect="1" noMove="1" noResize="1" noEditPoints="1" noAdjustHandles="1" noChangeArrowheads="1" noChangeShapeType="1" noTextEdit="1"/>
              </p:cNvSpPr>
              <p:nvPr>
                <p:ph idx="1"/>
              </p:nvPr>
            </p:nvSpPr>
            <p:spPr>
              <a:xfrm>
                <a:off x="466024" y="1523632"/>
                <a:ext cx="10515600" cy="4667250"/>
              </a:xfrm>
              <a:blipFill>
                <a:blip r:embed="rId2"/>
                <a:stretch>
                  <a:fillRect l="-844" r="-1448"/>
                </a:stretch>
              </a:blipFill>
            </p:spPr>
            <p:txBody>
              <a:bodyPr/>
              <a:lstStyle/>
              <a:p>
                <a:r>
                  <a:rPr lang="en-US">
                    <a:noFill/>
                  </a:rPr>
                  <a:t> </a:t>
                </a:r>
              </a:p>
            </p:txBody>
          </p:sp>
        </mc:Fallback>
      </mc:AlternateContent>
    </p:spTree>
    <p:extLst>
      <p:ext uri="{BB962C8B-B14F-4D97-AF65-F5344CB8AC3E}">
        <p14:creationId xmlns:p14="http://schemas.microsoft.com/office/powerpoint/2010/main" val="4293567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9C5E-A924-B841-AF51-22EFD49F2007}"/>
              </a:ext>
            </a:extLst>
          </p:cNvPr>
          <p:cNvSpPr>
            <a:spLocks noGrp="1"/>
          </p:cNvSpPr>
          <p:nvPr>
            <p:ph type="title"/>
          </p:nvPr>
        </p:nvSpPr>
        <p:spPr>
          <a:xfrm>
            <a:off x="676925" y="315922"/>
            <a:ext cx="11315248" cy="785542"/>
          </a:xfrm>
        </p:spPr>
        <p:txBody>
          <a:bodyPr>
            <a:noAutofit/>
          </a:bodyPr>
          <a:lstStyle/>
          <a:p>
            <a:r>
              <a:rPr lang="en-US" altLang="en-US" sz="3200" dirty="0"/>
              <a:t>Two-asset portfolios efficient set shape: </a:t>
            </a:r>
            <a:br>
              <a:rPr lang="en-US" altLang="en-US" sz="3200" dirty="0"/>
            </a:br>
            <a:r>
              <a:rPr lang="en-US" altLang="en-US" sz="3200" dirty="0"/>
              <a:t>zero correlation between assets</a:t>
            </a:r>
            <a:endParaRPr lang="en-US" sz="3200" dirty="0"/>
          </a:p>
        </p:txBody>
      </p:sp>
      <p:sp>
        <p:nvSpPr>
          <p:cNvPr id="3" name="Content Placeholder 2">
            <a:extLst>
              <a:ext uri="{FF2B5EF4-FFF2-40B4-BE49-F238E27FC236}">
                <a16:creationId xmlns:a16="http://schemas.microsoft.com/office/drawing/2014/main" id="{FD94C7C4-098A-074A-97C0-18502C2464FB}"/>
              </a:ext>
            </a:extLst>
          </p:cNvPr>
          <p:cNvSpPr>
            <a:spLocks noGrp="1"/>
          </p:cNvSpPr>
          <p:nvPr>
            <p:ph idx="1"/>
          </p:nvPr>
        </p:nvSpPr>
        <p:spPr>
          <a:xfrm>
            <a:off x="838200" y="1571655"/>
            <a:ext cx="5658453" cy="4794250"/>
          </a:xfrm>
        </p:spPr>
        <p:txBody>
          <a:bodyPr/>
          <a:lstStyle/>
          <a:p>
            <a:pPr marL="0" indent="0">
              <a:buNone/>
            </a:pPr>
            <a:r>
              <a:rPr lang="en-US" altLang="en-US" sz="2400" dirty="0">
                <a:sym typeface="Symbol" pitchFamily="2" charset="2"/>
              </a:rPr>
              <a:t></a:t>
            </a:r>
            <a:r>
              <a:rPr lang="en-US" altLang="en-US" sz="2400" baseline="-25000" dirty="0">
                <a:sym typeface="Symbol" pitchFamily="2" charset="2"/>
              </a:rPr>
              <a:t>1,2 </a:t>
            </a:r>
            <a:r>
              <a:rPr lang="en-US" altLang="en-US" sz="2400" dirty="0">
                <a:sym typeface="Symbol" pitchFamily="2" charset="2"/>
              </a:rPr>
              <a:t>= 0, so Variance-covariance matrix = </a:t>
            </a:r>
          </a:p>
          <a:p>
            <a:endParaRPr lang="en-US" dirty="0"/>
          </a:p>
        </p:txBody>
      </p:sp>
      <p:sp>
        <p:nvSpPr>
          <p:cNvPr id="4" name="Rectangle 2">
            <a:extLst>
              <a:ext uri="{FF2B5EF4-FFF2-40B4-BE49-F238E27FC236}">
                <a16:creationId xmlns:a16="http://schemas.microsoft.com/office/drawing/2014/main" id="{DBBF2328-9F26-DA48-8CBB-CBF3CCB69AE3}"/>
              </a:ext>
            </a:extLst>
          </p:cNvPr>
          <p:cNvSpPr>
            <a:spLocks noChangeArrowheads="1"/>
          </p:cNvSpPr>
          <p:nvPr/>
        </p:nvSpPr>
        <p:spPr bwMode="auto">
          <a:xfrm>
            <a:off x="5424616" y="1825624"/>
            <a:ext cx="1517149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5" name="Object 4">
            <a:extLst>
              <a:ext uri="{FF2B5EF4-FFF2-40B4-BE49-F238E27FC236}">
                <a16:creationId xmlns:a16="http://schemas.microsoft.com/office/drawing/2014/main" id="{E6102C37-55A0-7743-9894-334C44B0A520}"/>
              </a:ext>
            </a:extLst>
          </p:cNvPr>
          <p:cNvGraphicFramePr>
            <a:graphicFrameLocks noChangeAspect="1"/>
          </p:cNvGraphicFramePr>
          <p:nvPr>
            <p:extLst>
              <p:ext uri="{D42A27DB-BD31-4B8C-83A1-F6EECF244321}">
                <p14:modId xmlns:p14="http://schemas.microsoft.com/office/powerpoint/2010/main" val="1033619910"/>
              </p:ext>
            </p:extLst>
          </p:nvPr>
        </p:nvGraphicFramePr>
        <p:xfrm>
          <a:off x="6496653" y="1420845"/>
          <a:ext cx="3439646" cy="704256"/>
        </p:xfrm>
        <a:graphic>
          <a:graphicData uri="http://schemas.openxmlformats.org/presentationml/2006/ole">
            <mc:AlternateContent xmlns:mc="http://schemas.openxmlformats.org/markup-compatibility/2006">
              <mc:Choice xmlns:v="urn:schemas-microsoft-com:vml" Requires="v">
                <p:oleObj r:id="rId2" imgW="2413000" imgH="482600" progId="Equation.3">
                  <p:embed/>
                </p:oleObj>
              </mc:Choice>
              <mc:Fallback>
                <p:oleObj r:id="rId2" imgW="2413000" imgH="482600" progId="Equation.3">
                  <p:embed/>
                  <p:pic>
                    <p:nvPicPr>
                      <p:cNvPr id="5" name="Object 4">
                        <a:extLst>
                          <a:ext uri="{FF2B5EF4-FFF2-40B4-BE49-F238E27FC236}">
                            <a16:creationId xmlns:a16="http://schemas.microsoft.com/office/drawing/2014/main" id="{E6102C37-55A0-7743-9894-334C44B0A5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653" y="1420845"/>
                        <a:ext cx="3439646" cy="704256"/>
                      </a:xfrm>
                      <a:prstGeom prst="rect">
                        <a:avLst/>
                      </a:prstGeom>
                      <a:noFill/>
                    </p:spPr>
                  </p:pic>
                </p:oleObj>
              </mc:Fallback>
            </mc:AlternateContent>
          </a:graphicData>
        </a:graphic>
      </p:graphicFrame>
      <p:graphicFrame>
        <p:nvGraphicFramePr>
          <p:cNvPr id="6" name="Table 5">
            <a:extLst>
              <a:ext uri="{FF2B5EF4-FFF2-40B4-BE49-F238E27FC236}">
                <a16:creationId xmlns:a16="http://schemas.microsoft.com/office/drawing/2014/main" id="{60C65684-91EE-944D-AE76-9353D61EA4BE}"/>
              </a:ext>
            </a:extLst>
          </p:cNvPr>
          <p:cNvGraphicFramePr>
            <a:graphicFrameLocks noGrp="1"/>
          </p:cNvGraphicFramePr>
          <p:nvPr/>
        </p:nvGraphicFramePr>
        <p:xfrm>
          <a:off x="838200" y="2595503"/>
          <a:ext cx="5317490" cy="3675376"/>
        </p:xfrm>
        <a:graphic>
          <a:graphicData uri="http://schemas.openxmlformats.org/drawingml/2006/table">
            <a:tbl>
              <a:tblPr>
                <a:tableStyleId>{5C22544A-7EE6-4342-B048-85BDC9FD1C3A}</a:tableStyleId>
              </a:tblPr>
              <a:tblGrid>
                <a:gridCol w="1062990">
                  <a:extLst>
                    <a:ext uri="{9D8B030D-6E8A-4147-A177-3AD203B41FA5}">
                      <a16:colId xmlns:a16="http://schemas.microsoft.com/office/drawing/2014/main" val="4154885476"/>
                    </a:ext>
                  </a:extLst>
                </a:gridCol>
                <a:gridCol w="1064260">
                  <a:extLst>
                    <a:ext uri="{9D8B030D-6E8A-4147-A177-3AD203B41FA5}">
                      <a16:colId xmlns:a16="http://schemas.microsoft.com/office/drawing/2014/main" val="1617152988"/>
                    </a:ext>
                  </a:extLst>
                </a:gridCol>
                <a:gridCol w="1062990">
                  <a:extLst>
                    <a:ext uri="{9D8B030D-6E8A-4147-A177-3AD203B41FA5}">
                      <a16:colId xmlns:a16="http://schemas.microsoft.com/office/drawing/2014/main" val="3275716140"/>
                    </a:ext>
                  </a:extLst>
                </a:gridCol>
                <a:gridCol w="1064260">
                  <a:extLst>
                    <a:ext uri="{9D8B030D-6E8A-4147-A177-3AD203B41FA5}">
                      <a16:colId xmlns:a16="http://schemas.microsoft.com/office/drawing/2014/main" val="2843513292"/>
                    </a:ext>
                  </a:extLst>
                </a:gridCol>
                <a:gridCol w="1062990">
                  <a:extLst>
                    <a:ext uri="{9D8B030D-6E8A-4147-A177-3AD203B41FA5}">
                      <a16:colId xmlns:a16="http://schemas.microsoft.com/office/drawing/2014/main" val="695528666"/>
                    </a:ext>
                  </a:extLst>
                </a:gridCol>
              </a:tblGrid>
              <a:tr h="735076">
                <a:tc>
                  <a:txBody>
                    <a:bodyPr/>
                    <a:lstStyle/>
                    <a:p>
                      <a:pPr algn="just">
                        <a:lnSpc>
                          <a:spcPct val="100000"/>
                        </a:lnSpc>
                        <a:spcAft>
                          <a:spcPts val="0"/>
                        </a:spcAft>
                      </a:pPr>
                      <a:r>
                        <a:rPr lang="en-GB" sz="1600" dirty="0">
                          <a:effectLst/>
                        </a:rPr>
                        <a:t>Equity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Bond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Portfolio Return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Portfolio Variance</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Portfolio Standard deviation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147181045"/>
                  </a:ext>
                </a:extLst>
              </a:tr>
              <a:tr h="245025">
                <a:tc>
                  <a:txBody>
                    <a:bodyPr/>
                    <a:lstStyle/>
                    <a:p>
                      <a:pPr algn="just">
                        <a:lnSpc>
                          <a:spcPct val="100000"/>
                        </a:lnSpc>
                        <a:spcAft>
                          <a:spcPts val="0"/>
                        </a:spcAft>
                      </a:pPr>
                      <a:r>
                        <a:rPr lang="en-GB" sz="1600">
                          <a:effectLst/>
                        </a:rPr>
                        <a:t>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7.5%</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1.44%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12.00%</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250858261"/>
                  </a:ext>
                </a:extLst>
              </a:tr>
              <a:tr h="245025">
                <a:tc>
                  <a:txBody>
                    <a:bodyPr/>
                    <a:lstStyle/>
                    <a:p>
                      <a:pPr algn="just">
                        <a:lnSpc>
                          <a:spcPct val="100000"/>
                        </a:lnSpc>
                        <a:spcAft>
                          <a:spcPts val="0"/>
                        </a:spcAft>
                      </a:pPr>
                      <a:r>
                        <a:rPr lang="en-GB" sz="1600">
                          <a:effectLst/>
                        </a:rPr>
                        <a:t>0.0476</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0.9524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8%</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1.32%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11.49%</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749701070"/>
                  </a:ext>
                </a:extLst>
              </a:tr>
              <a:tr h="245025">
                <a:tc>
                  <a:txBody>
                    <a:bodyPr/>
                    <a:lstStyle/>
                    <a:p>
                      <a:pPr algn="just">
                        <a:lnSpc>
                          <a:spcPct val="100000"/>
                        </a:lnSpc>
                        <a:spcAft>
                          <a:spcPts val="0"/>
                        </a:spcAft>
                      </a:pPr>
                      <a:r>
                        <a:rPr lang="en-GB" sz="1600">
                          <a:effectLst/>
                        </a:rPr>
                        <a:t>0.1429</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0.8571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9%</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1.18%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10.84%</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427594526"/>
                  </a:ext>
                </a:extLst>
              </a:tr>
              <a:tr h="245025">
                <a:tc>
                  <a:txBody>
                    <a:bodyPr/>
                    <a:lstStyle/>
                    <a:p>
                      <a:pPr algn="just">
                        <a:lnSpc>
                          <a:spcPct val="100000"/>
                        </a:lnSpc>
                        <a:spcAft>
                          <a:spcPts val="0"/>
                        </a:spcAft>
                      </a:pPr>
                      <a:r>
                        <a:rPr lang="en-GB" sz="1600">
                          <a:effectLst/>
                        </a:rPr>
                        <a:t>0.2381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0.7619</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1.16%</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10.78%</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996507697"/>
                  </a:ext>
                </a:extLst>
              </a:tr>
              <a:tr h="245025">
                <a:tc>
                  <a:txBody>
                    <a:bodyPr/>
                    <a:lstStyle/>
                    <a:p>
                      <a:pPr algn="just">
                        <a:lnSpc>
                          <a:spcPct val="100000"/>
                        </a:lnSpc>
                        <a:spcAft>
                          <a:spcPts val="0"/>
                        </a:spcAft>
                      </a:pPr>
                      <a:r>
                        <a:rPr lang="en-GB" sz="1600">
                          <a:effectLst/>
                        </a:rPr>
                        <a:t>0.3333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0.6667</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1.28%</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11.31%</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39657900"/>
                  </a:ext>
                </a:extLst>
              </a:tr>
              <a:tr h="245025">
                <a:tc>
                  <a:txBody>
                    <a:bodyPr/>
                    <a:lstStyle/>
                    <a:p>
                      <a:pPr algn="just">
                        <a:lnSpc>
                          <a:spcPct val="100000"/>
                        </a:lnSpc>
                        <a:spcAft>
                          <a:spcPts val="0"/>
                        </a:spcAft>
                      </a:pPr>
                      <a:r>
                        <a:rPr lang="en-GB" sz="1600">
                          <a:effectLst/>
                        </a:rPr>
                        <a:t>0.4286</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0.5714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1.53%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12.36%</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672846209"/>
                  </a:ext>
                </a:extLst>
              </a:tr>
              <a:tr h="245025">
                <a:tc>
                  <a:txBody>
                    <a:bodyPr/>
                    <a:lstStyle/>
                    <a:p>
                      <a:pPr algn="just">
                        <a:lnSpc>
                          <a:spcPct val="100000"/>
                        </a:lnSpc>
                        <a:spcAft>
                          <a:spcPts val="0"/>
                        </a:spcAft>
                      </a:pPr>
                      <a:r>
                        <a:rPr lang="en-GB" sz="1600">
                          <a:effectLst/>
                        </a:rPr>
                        <a:t>0.5238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0.4762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1.91%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13.81%</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902400277"/>
                  </a:ext>
                </a:extLst>
              </a:tr>
              <a:tr h="245025">
                <a:tc>
                  <a:txBody>
                    <a:bodyPr/>
                    <a:lstStyle/>
                    <a:p>
                      <a:pPr algn="just">
                        <a:lnSpc>
                          <a:spcPct val="100000"/>
                        </a:lnSpc>
                        <a:spcAft>
                          <a:spcPts val="0"/>
                        </a:spcAft>
                      </a:pPr>
                      <a:r>
                        <a:rPr lang="en-GB" sz="1600">
                          <a:effectLst/>
                        </a:rPr>
                        <a:t>0.6190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0.3810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2.42%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15.54%</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952294400"/>
                  </a:ext>
                </a:extLst>
              </a:tr>
              <a:tr h="245025">
                <a:tc>
                  <a:txBody>
                    <a:bodyPr/>
                    <a:lstStyle/>
                    <a:p>
                      <a:pPr algn="just">
                        <a:lnSpc>
                          <a:spcPct val="100000"/>
                        </a:lnSpc>
                        <a:spcAft>
                          <a:spcPts val="0"/>
                        </a:spcAft>
                      </a:pPr>
                      <a:r>
                        <a:rPr lang="en-GB" sz="1600">
                          <a:effectLst/>
                        </a:rPr>
                        <a:t>0.7143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0.2857</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3.06%</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17.48%</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224451992"/>
                  </a:ext>
                </a:extLst>
              </a:tr>
              <a:tr h="245025">
                <a:tc>
                  <a:txBody>
                    <a:bodyPr/>
                    <a:lstStyle/>
                    <a:p>
                      <a:pPr algn="just">
                        <a:lnSpc>
                          <a:spcPct val="100000"/>
                        </a:lnSpc>
                        <a:spcAft>
                          <a:spcPts val="0"/>
                        </a:spcAft>
                      </a:pPr>
                      <a:r>
                        <a:rPr lang="en-GB" sz="1600">
                          <a:effectLst/>
                        </a:rPr>
                        <a:t>0.8095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0.1905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16%</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3.83%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19.56%</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966594173"/>
                  </a:ext>
                </a:extLst>
              </a:tr>
              <a:tr h="245025">
                <a:tc>
                  <a:txBody>
                    <a:bodyPr/>
                    <a:lstStyle/>
                    <a:p>
                      <a:pPr algn="just">
                        <a:lnSpc>
                          <a:spcPct val="100000"/>
                        </a:lnSpc>
                        <a:spcAft>
                          <a:spcPts val="0"/>
                        </a:spcAft>
                      </a:pPr>
                      <a:r>
                        <a:rPr lang="en-GB" sz="1600">
                          <a:effectLst/>
                        </a:rPr>
                        <a:t>0.9048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0.0952</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17%</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4.73%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21.74%</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654457405"/>
                  </a:ext>
                </a:extLst>
              </a:tr>
              <a:tr h="245025">
                <a:tc>
                  <a:txBody>
                    <a:bodyPr/>
                    <a:lstStyle/>
                    <a:p>
                      <a:pPr algn="just">
                        <a:lnSpc>
                          <a:spcPct val="100000"/>
                        </a:lnSpc>
                        <a:spcAft>
                          <a:spcPts val="0"/>
                        </a:spcAft>
                      </a:pPr>
                      <a:r>
                        <a:rPr lang="en-GB" sz="1600">
                          <a:effectLst/>
                        </a:rPr>
                        <a:t>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18%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a:effectLst/>
                        </a:rPr>
                        <a:t>5.76%</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00000"/>
                        </a:lnSpc>
                        <a:spcAft>
                          <a:spcPts val="0"/>
                        </a:spcAft>
                      </a:pPr>
                      <a:r>
                        <a:rPr lang="en-GB" sz="1600" dirty="0">
                          <a:effectLst/>
                        </a:rPr>
                        <a:t>24.00%</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165291340"/>
                  </a:ext>
                </a:extLst>
              </a:tr>
            </a:tbl>
          </a:graphicData>
        </a:graphic>
      </p:graphicFrame>
      <p:sp>
        <p:nvSpPr>
          <p:cNvPr id="7" name="Rectangle 4">
            <a:extLst>
              <a:ext uri="{FF2B5EF4-FFF2-40B4-BE49-F238E27FC236}">
                <a16:creationId xmlns:a16="http://schemas.microsoft.com/office/drawing/2014/main" id="{059C62E7-C01B-CD40-BA20-0757F52D005B}"/>
              </a:ext>
            </a:extLst>
          </p:cNvPr>
          <p:cNvSpPr>
            <a:spLocks noChangeArrowheads="1"/>
          </p:cNvSpPr>
          <p:nvPr/>
        </p:nvSpPr>
        <p:spPr bwMode="auto">
          <a:xfrm flipV="1">
            <a:off x="6196135" y="2885389"/>
            <a:ext cx="15463459" cy="5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8" name="Object 7">
            <a:extLst>
              <a:ext uri="{FF2B5EF4-FFF2-40B4-BE49-F238E27FC236}">
                <a16:creationId xmlns:a16="http://schemas.microsoft.com/office/drawing/2014/main" id="{521F7A20-0508-074C-A472-00D7BBB531E7}"/>
              </a:ext>
            </a:extLst>
          </p:cNvPr>
          <p:cNvGraphicFramePr>
            <a:graphicFrameLocks noChangeAspect="1"/>
          </p:cNvGraphicFramePr>
          <p:nvPr/>
        </p:nvGraphicFramePr>
        <p:xfrm>
          <a:off x="6334549" y="2613282"/>
          <a:ext cx="4835959" cy="3626969"/>
        </p:xfrm>
        <a:graphic>
          <a:graphicData uri="http://schemas.openxmlformats.org/presentationml/2006/ole">
            <mc:AlternateContent xmlns:mc="http://schemas.openxmlformats.org/markup-compatibility/2006">
              <mc:Choice xmlns:v="urn:schemas-microsoft-com:vml" Requires="v">
                <p:oleObj name="Chart" r:id="rId4" imgW="3606800" imgH="2705100" progId="Excel.Chart.8">
                  <p:embed/>
                </p:oleObj>
              </mc:Choice>
              <mc:Fallback>
                <p:oleObj name="Chart" r:id="rId4" imgW="3606800" imgH="2705100" progId="Excel.Chart.8">
                  <p:embed/>
                  <p:pic>
                    <p:nvPicPr>
                      <p:cNvPr id="8" name="Object 7">
                        <a:extLst>
                          <a:ext uri="{FF2B5EF4-FFF2-40B4-BE49-F238E27FC236}">
                            <a16:creationId xmlns:a16="http://schemas.microsoft.com/office/drawing/2014/main" id="{521F7A20-0508-074C-A472-00D7BBB531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4549" y="2613282"/>
                        <a:ext cx="4835959" cy="3626969"/>
                      </a:xfrm>
                      <a:prstGeom prst="rect">
                        <a:avLst/>
                      </a:prstGeom>
                      <a:noFill/>
                    </p:spPr>
                  </p:pic>
                </p:oleObj>
              </mc:Fallback>
            </mc:AlternateContent>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6">
            <p14:nvContentPartPr>
              <p14:cNvPr id="9" name="Ink 8">
                <a:extLst>
                  <a:ext uri="{FF2B5EF4-FFF2-40B4-BE49-F238E27FC236}">
                    <a16:creationId xmlns:a16="http://schemas.microsoft.com/office/drawing/2014/main" id="{B251BCB9-1788-F649-A379-257DA3C448C2}"/>
                  </a:ext>
                </a:extLst>
              </p14:cNvPr>
              <p14:cNvContentPartPr/>
              <p14:nvPr/>
            </p14:nvContentPartPr>
            <p14:xfrm>
              <a:off x="7524878" y="4655344"/>
              <a:ext cx="26640" cy="22680"/>
            </p14:xfrm>
          </p:contentPart>
        </mc:Choice>
        <mc:Fallback xmlns="">
          <p:pic>
            <p:nvPicPr>
              <p:cNvPr id="9" name="Ink 8">
                <a:extLst>
                  <a:ext uri="{FF2B5EF4-FFF2-40B4-BE49-F238E27FC236}">
                    <a16:creationId xmlns:a16="http://schemas.microsoft.com/office/drawing/2014/main" id="{B251BCB9-1788-F649-A379-257DA3C448C2}"/>
                  </a:ext>
                </a:extLst>
              </p:cNvPr>
              <p:cNvPicPr/>
              <p:nvPr/>
            </p:nvPicPr>
            <p:blipFill>
              <a:blip r:embed="rId8"/>
              <a:stretch>
                <a:fillRect/>
              </a:stretch>
            </p:blipFill>
            <p:spPr>
              <a:xfrm>
                <a:off x="7489238" y="4439704"/>
                <a:ext cx="98280" cy="454320"/>
              </a:xfrm>
              <a:prstGeom prst="rect">
                <a:avLst/>
              </a:prstGeom>
            </p:spPr>
          </p:pic>
        </mc:Fallback>
      </mc:AlternateContent>
      <p:sp>
        <p:nvSpPr>
          <p:cNvPr id="11" name="TextBox 10">
            <a:extLst>
              <a:ext uri="{FF2B5EF4-FFF2-40B4-BE49-F238E27FC236}">
                <a16:creationId xmlns:a16="http://schemas.microsoft.com/office/drawing/2014/main" id="{5EA2C926-E2C8-1D4C-ACBF-2AD2CEF4A3A6}"/>
              </a:ext>
            </a:extLst>
          </p:cNvPr>
          <p:cNvSpPr txBox="1"/>
          <p:nvPr/>
        </p:nvSpPr>
        <p:spPr>
          <a:xfrm>
            <a:off x="7382241" y="4630190"/>
            <a:ext cx="338554" cy="369332"/>
          </a:xfrm>
          <a:prstGeom prst="rect">
            <a:avLst/>
          </a:prstGeom>
          <a:noFill/>
        </p:spPr>
        <p:txBody>
          <a:bodyPr wrap="none" rtlCol="0">
            <a:spAutoFit/>
          </a:bodyPr>
          <a:lstStyle/>
          <a:p>
            <a:r>
              <a:rPr lang="en-US" dirty="0">
                <a:solidFill>
                  <a:srgbClr val="FF0000"/>
                </a:solidFill>
              </a:rPr>
              <a:t>B</a:t>
            </a:r>
          </a:p>
        </p:txBody>
      </p:sp>
      <p:sp>
        <p:nvSpPr>
          <p:cNvPr id="15" name="TextBox 14">
            <a:extLst>
              <a:ext uri="{FF2B5EF4-FFF2-40B4-BE49-F238E27FC236}">
                <a16:creationId xmlns:a16="http://schemas.microsoft.com/office/drawing/2014/main" id="{0959A752-80EC-764A-B1D8-CA2922F3487B}"/>
              </a:ext>
            </a:extLst>
          </p:cNvPr>
          <p:cNvSpPr txBox="1"/>
          <p:nvPr/>
        </p:nvSpPr>
        <p:spPr>
          <a:xfrm>
            <a:off x="10549890" y="3274547"/>
            <a:ext cx="424508" cy="369332"/>
          </a:xfrm>
          <a:prstGeom prst="rect">
            <a:avLst/>
          </a:prstGeom>
          <a:noFill/>
        </p:spPr>
        <p:txBody>
          <a:bodyPr wrap="square" rtlCol="0">
            <a:spAutoFit/>
          </a:bodyPr>
          <a:lstStyle/>
          <a:p>
            <a:r>
              <a:rPr lang="en-US" dirty="0">
                <a:solidFill>
                  <a:srgbClr val="FF0000"/>
                </a:solidFill>
              </a:rPr>
              <a:t>E</a:t>
            </a:r>
          </a:p>
        </p:txBody>
      </p:sp>
    </p:spTree>
    <p:extLst>
      <p:ext uri="{BB962C8B-B14F-4D97-AF65-F5344CB8AC3E}">
        <p14:creationId xmlns:p14="http://schemas.microsoft.com/office/powerpoint/2010/main" val="3354733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F0BA8D19-86CF-F94B-BF08-BD36B88B6ABA}"/>
              </a:ext>
            </a:extLst>
          </p:cNvPr>
          <p:cNvSpPr>
            <a:spLocks noGrp="1" noChangeArrowheads="1"/>
          </p:cNvSpPr>
          <p:nvPr>
            <p:ph type="title"/>
          </p:nvPr>
        </p:nvSpPr>
        <p:spPr>
          <a:xfrm>
            <a:off x="578919" y="384142"/>
            <a:ext cx="11315248" cy="785542"/>
          </a:xfrm>
        </p:spPr>
        <p:txBody>
          <a:bodyPr>
            <a:noAutofit/>
          </a:bodyPr>
          <a:lstStyle/>
          <a:p>
            <a:r>
              <a:rPr lang="en-US" altLang="en-US" sz="3000" dirty="0"/>
              <a:t>Two-asset portfolios efficient set: perfectly negatively </a:t>
            </a:r>
            <a:br>
              <a:rPr lang="en-US" altLang="en-US" sz="3000" dirty="0"/>
            </a:br>
            <a:r>
              <a:rPr lang="en-US" altLang="en-US" sz="3000" dirty="0"/>
              <a:t>correlated assets</a:t>
            </a:r>
          </a:p>
        </p:txBody>
      </p:sp>
      <p:sp>
        <p:nvSpPr>
          <p:cNvPr id="15362" name="Rectangle 2">
            <a:extLst>
              <a:ext uri="{FF2B5EF4-FFF2-40B4-BE49-F238E27FC236}">
                <a16:creationId xmlns:a16="http://schemas.microsoft.com/office/drawing/2014/main" id="{C55A48C4-29BD-4046-BE8D-92862EE2FA39}"/>
              </a:ext>
            </a:extLst>
          </p:cNvPr>
          <p:cNvSpPr>
            <a:spLocks noGrp="1" noChangeArrowheads="1"/>
          </p:cNvSpPr>
          <p:nvPr>
            <p:ph idx="1"/>
          </p:nvPr>
        </p:nvSpPr>
        <p:spPr>
          <a:xfrm>
            <a:off x="578920" y="1645920"/>
            <a:ext cx="9641746" cy="4827938"/>
          </a:xfrm>
        </p:spPr>
        <p:txBody>
          <a:bodyPr>
            <a:normAutofit fontScale="92500" lnSpcReduction="20000"/>
          </a:bodyPr>
          <a:lstStyle/>
          <a:p>
            <a:pPr>
              <a:lnSpc>
                <a:spcPct val="150000"/>
              </a:lnSpc>
            </a:pPr>
            <a:r>
              <a:rPr lang="en-US" altLang="en-US" sz="2000" dirty="0">
                <a:solidFill>
                  <a:srgbClr val="0070C0"/>
                </a:solidFill>
              </a:rPr>
              <a:t>Possibility to form a risk-free portfolio consisting of two risky assets – maximum risk reduction</a:t>
            </a:r>
          </a:p>
          <a:p>
            <a:pPr>
              <a:lnSpc>
                <a:spcPct val="150000"/>
              </a:lnSpc>
            </a:pPr>
            <a:r>
              <a:rPr lang="en-US" altLang="en-US" sz="2000" dirty="0"/>
              <a:t>If we set the standard deviation of the portfolio to be zero, we can calculate the proportion we need to invest in each asset, to form a zero-variance portfolio.</a:t>
            </a:r>
          </a:p>
          <a:p>
            <a:pPr lvl="1">
              <a:lnSpc>
                <a:spcPct val="150000"/>
              </a:lnSpc>
            </a:pPr>
            <a:r>
              <a:rPr lang="en-US" altLang="en-US" sz="2000" dirty="0"/>
              <a:t>Using the previous example, but changing the correlation to -1:</a:t>
            </a:r>
          </a:p>
          <a:p>
            <a:pPr lvl="1">
              <a:lnSpc>
                <a:spcPct val="150000"/>
              </a:lnSpc>
              <a:buFont typeface="Monotype Sorts" pitchFamily="2" charset="2"/>
              <a:buNone/>
            </a:pPr>
            <a:r>
              <a:rPr lang="en-US" altLang="en-US" sz="1900" dirty="0">
                <a:sym typeface="Symbol" pitchFamily="2" charset="2"/>
              </a:rPr>
              <a:t></a:t>
            </a:r>
            <a:r>
              <a:rPr lang="en-US" altLang="en-US" sz="1900" baseline="-25000" dirty="0">
                <a:sym typeface="Symbol" pitchFamily="2" charset="2"/>
              </a:rPr>
              <a:t>p</a:t>
            </a:r>
            <a:r>
              <a:rPr lang="en-US" altLang="en-US" sz="1900" baseline="30000" dirty="0">
                <a:sym typeface="Symbol" pitchFamily="2" charset="2"/>
              </a:rPr>
              <a:t>2</a:t>
            </a:r>
            <a:r>
              <a:rPr lang="en-US" altLang="en-US" sz="1900" baseline="-25000" dirty="0">
                <a:sym typeface="Symbol" pitchFamily="2" charset="2"/>
              </a:rPr>
              <a:t> </a:t>
            </a:r>
            <a:r>
              <a:rPr lang="en-US" altLang="en-US" sz="1900" dirty="0">
                <a:sym typeface="Symbol" pitchFamily="2" charset="2"/>
              </a:rPr>
              <a:t>= w</a:t>
            </a:r>
            <a:r>
              <a:rPr lang="en-US" altLang="en-US" sz="1900" baseline="-25000" dirty="0">
                <a:sym typeface="Symbol" pitchFamily="2" charset="2"/>
              </a:rPr>
              <a:t>1</a:t>
            </a:r>
            <a:r>
              <a:rPr lang="en-US" altLang="en-US" sz="1900" baseline="30000" dirty="0">
                <a:sym typeface="Symbol" pitchFamily="2" charset="2"/>
              </a:rPr>
              <a:t>2</a:t>
            </a:r>
            <a:r>
              <a:rPr lang="en-US" altLang="en-US" sz="1900" dirty="0">
                <a:sym typeface="Symbol" pitchFamily="2" charset="2"/>
              </a:rPr>
              <a:t> </a:t>
            </a:r>
            <a:r>
              <a:rPr lang="en-US" altLang="en-US" sz="1900" baseline="-25000" dirty="0">
                <a:sym typeface="Symbol" pitchFamily="2" charset="2"/>
              </a:rPr>
              <a:t>1</a:t>
            </a:r>
            <a:r>
              <a:rPr lang="en-US" altLang="en-US" sz="1900" baseline="30000" dirty="0">
                <a:sym typeface="Symbol" pitchFamily="2" charset="2"/>
              </a:rPr>
              <a:t>2</a:t>
            </a:r>
            <a:r>
              <a:rPr lang="en-US" altLang="en-US" sz="1900" baseline="-25000" dirty="0">
                <a:sym typeface="Symbol" pitchFamily="2" charset="2"/>
              </a:rPr>
              <a:t> </a:t>
            </a:r>
            <a:r>
              <a:rPr lang="en-US" altLang="en-US" sz="1900" dirty="0">
                <a:sym typeface="Symbol" pitchFamily="2" charset="2"/>
              </a:rPr>
              <a:t>+ w</a:t>
            </a:r>
            <a:r>
              <a:rPr lang="en-US" altLang="en-US" sz="1900" baseline="-25000" dirty="0">
                <a:sym typeface="Symbol" pitchFamily="2" charset="2"/>
              </a:rPr>
              <a:t>2</a:t>
            </a:r>
            <a:r>
              <a:rPr lang="en-US" altLang="en-US" sz="1900" baseline="30000" dirty="0">
                <a:sym typeface="Symbol" pitchFamily="2" charset="2"/>
              </a:rPr>
              <a:t>2</a:t>
            </a:r>
            <a:r>
              <a:rPr lang="en-US" altLang="en-US" sz="1900" dirty="0">
                <a:sym typeface="Symbol" pitchFamily="2" charset="2"/>
              </a:rPr>
              <a:t> </a:t>
            </a:r>
            <a:r>
              <a:rPr lang="en-US" altLang="en-US" sz="1900" baseline="-25000" dirty="0">
                <a:sym typeface="Symbol" pitchFamily="2" charset="2"/>
              </a:rPr>
              <a:t>2</a:t>
            </a:r>
            <a:r>
              <a:rPr lang="en-US" altLang="en-US" sz="1900" baseline="30000" dirty="0">
                <a:sym typeface="Symbol" pitchFamily="2" charset="2"/>
              </a:rPr>
              <a:t>2</a:t>
            </a:r>
            <a:r>
              <a:rPr lang="en-US" altLang="en-US" sz="1900" baseline="-25000" dirty="0">
                <a:sym typeface="Symbol" pitchFamily="2" charset="2"/>
              </a:rPr>
              <a:t> </a:t>
            </a:r>
            <a:r>
              <a:rPr lang="en-US" altLang="en-US" sz="1900" dirty="0">
                <a:sym typeface="Symbol" pitchFamily="2" charset="2"/>
              </a:rPr>
              <a:t>- 2w</a:t>
            </a:r>
            <a:r>
              <a:rPr lang="en-US" altLang="en-US" sz="1900" baseline="-25000" dirty="0">
                <a:sym typeface="Symbol" pitchFamily="2" charset="2"/>
              </a:rPr>
              <a:t>1</a:t>
            </a:r>
            <a:r>
              <a:rPr lang="en-US" altLang="en-US" sz="1900" dirty="0">
                <a:sym typeface="Symbol" pitchFamily="2" charset="2"/>
              </a:rPr>
              <a:t>w</a:t>
            </a:r>
            <a:r>
              <a:rPr lang="en-US" altLang="en-US" sz="1900" baseline="-25000" dirty="0">
                <a:sym typeface="Symbol" pitchFamily="2" charset="2"/>
              </a:rPr>
              <a:t>2</a:t>
            </a:r>
            <a:r>
              <a:rPr lang="en-US" altLang="en-US" sz="1900" dirty="0">
                <a:sym typeface="Symbol" pitchFamily="2" charset="2"/>
              </a:rPr>
              <a:t></a:t>
            </a:r>
            <a:r>
              <a:rPr lang="en-US" altLang="en-US" sz="1900" baseline="-25000" dirty="0">
                <a:sym typeface="Symbol" pitchFamily="2" charset="2"/>
              </a:rPr>
              <a:t>1 </a:t>
            </a:r>
            <a:r>
              <a:rPr lang="en-US" altLang="en-US" sz="1900" dirty="0">
                <a:sym typeface="Symbol" pitchFamily="2" charset="2"/>
              </a:rPr>
              <a:t></a:t>
            </a:r>
            <a:r>
              <a:rPr lang="en-US" altLang="en-US" sz="1900" baseline="-25000" dirty="0">
                <a:sym typeface="Symbol" pitchFamily="2" charset="2"/>
              </a:rPr>
              <a:t>2 </a:t>
            </a:r>
            <a:r>
              <a:rPr lang="en-US" altLang="en-US" sz="1900" dirty="0">
                <a:sym typeface="Symbol" pitchFamily="2" charset="2"/>
              </a:rPr>
              <a:t>= [ w</a:t>
            </a:r>
            <a:r>
              <a:rPr lang="en-US" altLang="en-US" sz="1900" baseline="-25000" dirty="0">
                <a:sym typeface="Symbol" pitchFamily="2" charset="2"/>
              </a:rPr>
              <a:t>1</a:t>
            </a:r>
            <a:r>
              <a:rPr lang="en-US" altLang="en-US" sz="1900" dirty="0">
                <a:sym typeface="Symbol" pitchFamily="2" charset="2"/>
              </a:rPr>
              <a:t> </a:t>
            </a:r>
            <a:r>
              <a:rPr lang="en-US" altLang="en-US" sz="1900" baseline="-25000" dirty="0">
                <a:sym typeface="Symbol" pitchFamily="2" charset="2"/>
              </a:rPr>
              <a:t>1 </a:t>
            </a:r>
            <a:r>
              <a:rPr lang="en-US" altLang="en-US" sz="1900" dirty="0">
                <a:sym typeface="Symbol" pitchFamily="2" charset="2"/>
              </a:rPr>
              <a:t>- w</a:t>
            </a:r>
            <a:r>
              <a:rPr lang="en-US" altLang="en-US" sz="1900" baseline="-25000" dirty="0">
                <a:sym typeface="Symbol" pitchFamily="2" charset="2"/>
              </a:rPr>
              <a:t>2</a:t>
            </a:r>
            <a:r>
              <a:rPr lang="en-US" altLang="en-US" sz="1900" dirty="0">
                <a:sym typeface="Symbol" pitchFamily="2" charset="2"/>
              </a:rPr>
              <a:t> </a:t>
            </a:r>
            <a:r>
              <a:rPr lang="en-US" altLang="en-US" sz="1900" baseline="-25000" dirty="0">
                <a:sym typeface="Symbol" pitchFamily="2" charset="2"/>
              </a:rPr>
              <a:t>2</a:t>
            </a:r>
            <a:r>
              <a:rPr lang="en-US" altLang="en-US" sz="1900" dirty="0">
                <a:sym typeface="Symbol" pitchFamily="2" charset="2"/>
              </a:rPr>
              <a:t>] </a:t>
            </a:r>
            <a:r>
              <a:rPr lang="en-US" altLang="en-US" sz="1900" baseline="30000" dirty="0">
                <a:sym typeface="Symbol" pitchFamily="2" charset="2"/>
              </a:rPr>
              <a:t>2</a:t>
            </a:r>
            <a:r>
              <a:rPr lang="en-US" altLang="en-US" sz="1900" dirty="0">
                <a:sym typeface="Symbol" pitchFamily="2" charset="2"/>
              </a:rPr>
              <a:t> = 0</a:t>
            </a:r>
          </a:p>
          <a:p>
            <a:pPr lvl="1">
              <a:lnSpc>
                <a:spcPct val="150000"/>
              </a:lnSpc>
              <a:buFont typeface="Monotype Sorts" pitchFamily="2" charset="2"/>
              <a:buNone/>
            </a:pPr>
            <a:r>
              <a:rPr lang="en-US" altLang="en-US" sz="1900" dirty="0">
                <a:sym typeface="Symbol" pitchFamily="2" charset="2"/>
              </a:rPr>
              <a:t>w</a:t>
            </a:r>
            <a:r>
              <a:rPr lang="en-US" altLang="en-US" sz="1900" baseline="-25000" dirty="0">
                <a:sym typeface="Symbol" pitchFamily="2" charset="2"/>
              </a:rPr>
              <a:t>1</a:t>
            </a:r>
            <a:r>
              <a:rPr lang="en-US" altLang="en-US" sz="1900" dirty="0">
                <a:sym typeface="Symbol" pitchFamily="2" charset="2"/>
              </a:rPr>
              <a:t> * 0.24</a:t>
            </a:r>
            <a:r>
              <a:rPr lang="en-US" altLang="en-US" sz="1900" baseline="-25000" dirty="0">
                <a:sym typeface="Symbol" pitchFamily="2" charset="2"/>
              </a:rPr>
              <a:t>  </a:t>
            </a:r>
            <a:r>
              <a:rPr lang="en-US" altLang="en-US" sz="1900" dirty="0">
                <a:sym typeface="Symbol" pitchFamily="2" charset="2"/>
              </a:rPr>
              <a:t>- (1- w</a:t>
            </a:r>
            <a:r>
              <a:rPr lang="en-US" altLang="en-US" sz="1900" baseline="-25000" dirty="0">
                <a:sym typeface="Symbol" pitchFamily="2" charset="2"/>
              </a:rPr>
              <a:t>1</a:t>
            </a:r>
            <a:r>
              <a:rPr lang="en-US" altLang="en-US" sz="1900" dirty="0">
                <a:sym typeface="Symbol" pitchFamily="2" charset="2"/>
              </a:rPr>
              <a:t>) * 0.12 = 0</a:t>
            </a:r>
          </a:p>
          <a:p>
            <a:pPr lvl="1">
              <a:lnSpc>
                <a:spcPct val="150000"/>
              </a:lnSpc>
              <a:buFont typeface="Monotype Sorts" pitchFamily="2" charset="2"/>
              <a:buNone/>
            </a:pPr>
            <a:r>
              <a:rPr lang="en-US" altLang="en-US" sz="1900" dirty="0">
                <a:sym typeface="Symbol" pitchFamily="2" charset="2"/>
              </a:rPr>
              <a:t>0.24w</a:t>
            </a:r>
            <a:r>
              <a:rPr lang="en-US" altLang="en-US" sz="1900" baseline="-25000" dirty="0">
                <a:sym typeface="Symbol" pitchFamily="2" charset="2"/>
              </a:rPr>
              <a:t>1</a:t>
            </a:r>
            <a:r>
              <a:rPr lang="en-US" altLang="en-US" sz="1900" dirty="0">
                <a:sym typeface="Symbol" pitchFamily="2" charset="2"/>
              </a:rPr>
              <a:t> - 0.12 + 0.12 w</a:t>
            </a:r>
            <a:r>
              <a:rPr lang="en-US" altLang="en-US" sz="1900" baseline="-25000" dirty="0">
                <a:sym typeface="Symbol" pitchFamily="2" charset="2"/>
              </a:rPr>
              <a:t>1</a:t>
            </a:r>
            <a:r>
              <a:rPr lang="en-US" altLang="en-US" sz="1900" dirty="0">
                <a:sym typeface="Symbol" pitchFamily="2" charset="2"/>
              </a:rPr>
              <a:t> = 0</a:t>
            </a:r>
          </a:p>
          <a:p>
            <a:pPr lvl="1">
              <a:lnSpc>
                <a:spcPct val="150000"/>
              </a:lnSpc>
              <a:buFont typeface="Monotype Sorts" pitchFamily="2" charset="2"/>
              <a:buNone/>
            </a:pPr>
            <a:r>
              <a:rPr lang="en-US" altLang="en-US" sz="1900" dirty="0"/>
              <a:t>0.36w</a:t>
            </a:r>
            <a:r>
              <a:rPr lang="en-US" altLang="en-US" sz="1900" baseline="-25000" dirty="0"/>
              <a:t>1</a:t>
            </a:r>
            <a:r>
              <a:rPr lang="en-US" altLang="en-US" sz="1900" dirty="0"/>
              <a:t> = 0.12</a:t>
            </a:r>
          </a:p>
          <a:p>
            <a:pPr lvl="1">
              <a:lnSpc>
                <a:spcPct val="150000"/>
              </a:lnSpc>
              <a:buFont typeface="Monotype Sorts" pitchFamily="2" charset="2"/>
              <a:buNone/>
            </a:pPr>
            <a:r>
              <a:rPr lang="en-US" altLang="en-US" sz="1900" dirty="0"/>
              <a:t>w</a:t>
            </a:r>
            <a:r>
              <a:rPr lang="en-US" altLang="en-US" sz="1900" baseline="-25000" dirty="0"/>
              <a:t>1</a:t>
            </a:r>
            <a:r>
              <a:rPr lang="en-US" altLang="en-US" sz="1900" dirty="0"/>
              <a:t> = 0.3333 = 33.33%</a:t>
            </a:r>
          </a:p>
          <a:p>
            <a:pPr lvl="1">
              <a:lnSpc>
                <a:spcPct val="150000"/>
              </a:lnSpc>
              <a:buFont typeface="Monotype Sorts" pitchFamily="2" charset="2"/>
              <a:buNone/>
            </a:pPr>
            <a:r>
              <a:rPr lang="en-US" altLang="en-US" sz="1900" dirty="0"/>
              <a:t>w</a:t>
            </a:r>
            <a:r>
              <a:rPr lang="en-US" altLang="en-US" sz="1900" baseline="-25000" dirty="0"/>
              <a:t>2</a:t>
            </a:r>
            <a:r>
              <a:rPr lang="en-US" altLang="en-US" sz="1900" dirty="0"/>
              <a:t> = 1-w</a:t>
            </a:r>
            <a:r>
              <a:rPr lang="en-US" altLang="en-US" sz="1900" baseline="-25000" dirty="0"/>
              <a:t>1</a:t>
            </a:r>
            <a:r>
              <a:rPr lang="en-US" altLang="en-US" sz="1900" dirty="0"/>
              <a:t> = 0.6667 = 66.67%</a:t>
            </a:r>
          </a:p>
          <a:p>
            <a:pPr>
              <a:lnSpc>
                <a:spcPct val="100000"/>
              </a:lnSpc>
            </a:pPr>
            <a:endParaRPr lang="en-US" altLang="en-US" sz="2400" dirty="0"/>
          </a:p>
        </p:txBody>
      </p:sp>
    </p:spTree>
    <p:extLst>
      <p:ext uri="{BB962C8B-B14F-4D97-AF65-F5344CB8AC3E}">
        <p14:creationId xmlns:p14="http://schemas.microsoft.com/office/powerpoint/2010/main" val="397202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9C5E-A924-B841-AF51-22EFD49F2007}"/>
              </a:ext>
            </a:extLst>
          </p:cNvPr>
          <p:cNvSpPr>
            <a:spLocks noGrp="1"/>
          </p:cNvSpPr>
          <p:nvPr>
            <p:ph type="title"/>
          </p:nvPr>
        </p:nvSpPr>
        <p:spPr>
          <a:xfrm>
            <a:off x="538511" y="453491"/>
            <a:ext cx="11315248" cy="785542"/>
          </a:xfrm>
        </p:spPr>
        <p:txBody>
          <a:bodyPr>
            <a:noAutofit/>
          </a:bodyPr>
          <a:lstStyle/>
          <a:p>
            <a:r>
              <a:rPr lang="en-US" altLang="en-US" sz="3000" dirty="0"/>
              <a:t>Two-asset portfolios efficient set: perfectly negatively </a:t>
            </a:r>
            <a:br>
              <a:rPr lang="en-US" altLang="en-US" sz="3000" dirty="0"/>
            </a:br>
            <a:r>
              <a:rPr lang="en-US" altLang="en-US" sz="3000" dirty="0"/>
              <a:t>correlated assets</a:t>
            </a:r>
            <a:endParaRPr lang="en-US" sz="3000" dirty="0"/>
          </a:p>
        </p:txBody>
      </p:sp>
      <p:sp>
        <p:nvSpPr>
          <p:cNvPr id="3" name="Content Placeholder 2">
            <a:extLst>
              <a:ext uri="{FF2B5EF4-FFF2-40B4-BE49-F238E27FC236}">
                <a16:creationId xmlns:a16="http://schemas.microsoft.com/office/drawing/2014/main" id="{FD94C7C4-098A-074A-97C0-18502C2464FB}"/>
              </a:ext>
            </a:extLst>
          </p:cNvPr>
          <p:cNvSpPr>
            <a:spLocks noGrp="1"/>
          </p:cNvSpPr>
          <p:nvPr>
            <p:ph idx="1"/>
          </p:nvPr>
        </p:nvSpPr>
        <p:spPr>
          <a:xfrm>
            <a:off x="655215" y="1619857"/>
            <a:ext cx="5658453" cy="4419600"/>
          </a:xfrm>
        </p:spPr>
        <p:txBody>
          <a:bodyPr/>
          <a:lstStyle/>
          <a:p>
            <a:pPr marL="0" indent="0">
              <a:buNone/>
            </a:pPr>
            <a:r>
              <a:rPr lang="en-US" altLang="en-US" sz="2400" dirty="0">
                <a:sym typeface="Symbol" pitchFamily="2" charset="2"/>
              </a:rPr>
              <a:t></a:t>
            </a:r>
            <a:r>
              <a:rPr lang="en-US" altLang="en-US" sz="2400" baseline="-25000" dirty="0">
                <a:sym typeface="Symbol" pitchFamily="2" charset="2"/>
              </a:rPr>
              <a:t>1,2 </a:t>
            </a:r>
            <a:r>
              <a:rPr lang="en-US" altLang="en-US" sz="2400" dirty="0">
                <a:sym typeface="Symbol" pitchFamily="2" charset="2"/>
              </a:rPr>
              <a:t>= -1, so Variance-covariance matrix = </a:t>
            </a:r>
          </a:p>
          <a:p>
            <a:endParaRPr lang="en-US" dirty="0"/>
          </a:p>
        </p:txBody>
      </p:sp>
      <p:sp>
        <p:nvSpPr>
          <p:cNvPr id="4" name="Rectangle 2">
            <a:extLst>
              <a:ext uri="{FF2B5EF4-FFF2-40B4-BE49-F238E27FC236}">
                <a16:creationId xmlns:a16="http://schemas.microsoft.com/office/drawing/2014/main" id="{DBBF2328-9F26-DA48-8CBB-CBF3CCB69AE3}"/>
              </a:ext>
            </a:extLst>
          </p:cNvPr>
          <p:cNvSpPr>
            <a:spLocks noChangeArrowheads="1"/>
          </p:cNvSpPr>
          <p:nvPr/>
        </p:nvSpPr>
        <p:spPr bwMode="auto">
          <a:xfrm>
            <a:off x="5424616" y="1825624"/>
            <a:ext cx="1517149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Rectangle 4">
            <a:extLst>
              <a:ext uri="{FF2B5EF4-FFF2-40B4-BE49-F238E27FC236}">
                <a16:creationId xmlns:a16="http://schemas.microsoft.com/office/drawing/2014/main" id="{059C62E7-C01B-CD40-BA20-0757F52D005B}"/>
              </a:ext>
            </a:extLst>
          </p:cNvPr>
          <p:cNvSpPr>
            <a:spLocks noChangeArrowheads="1"/>
          </p:cNvSpPr>
          <p:nvPr/>
        </p:nvSpPr>
        <p:spPr bwMode="auto">
          <a:xfrm flipV="1">
            <a:off x="6196135" y="2885389"/>
            <a:ext cx="15463459" cy="51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a16="http://schemas.microsoft.com/office/drawing/2014/main" id="{D0522C20-9F39-5642-8A4D-25F444D464FE}"/>
              </a:ext>
            </a:extLst>
          </p:cNvPr>
          <p:cNvGraphicFramePr>
            <a:graphicFrameLocks noGrp="1"/>
          </p:cNvGraphicFramePr>
          <p:nvPr/>
        </p:nvGraphicFramePr>
        <p:xfrm>
          <a:off x="609368" y="2428316"/>
          <a:ext cx="5406919" cy="3626967"/>
        </p:xfrm>
        <a:graphic>
          <a:graphicData uri="http://schemas.openxmlformats.org/drawingml/2006/table">
            <a:tbl>
              <a:tblPr>
                <a:tableStyleId>{5C22544A-7EE6-4342-B048-85BDC9FD1C3A}</a:tableStyleId>
              </a:tblPr>
              <a:tblGrid>
                <a:gridCol w="1080867">
                  <a:extLst>
                    <a:ext uri="{9D8B030D-6E8A-4147-A177-3AD203B41FA5}">
                      <a16:colId xmlns:a16="http://schemas.microsoft.com/office/drawing/2014/main" val="1225009435"/>
                    </a:ext>
                  </a:extLst>
                </a:gridCol>
                <a:gridCol w="1082159">
                  <a:extLst>
                    <a:ext uri="{9D8B030D-6E8A-4147-A177-3AD203B41FA5}">
                      <a16:colId xmlns:a16="http://schemas.microsoft.com/office/drawing/2014/main" val="3568003832"/>
                    </a:ext>
                  </a:extLst>
                </a:gridCol>
                <a:gridCol w="1080867">
                  <a:extLst>
                    <a:ext uri="{9D8B030D-6E8A-4147-A177-3AD203B41FA5}">
                      <a16:colId xmlns:a16="http://schemas.microsoft.com/office/drawing/2014/main" val="1604470655"/>
                    </a:ext>
                  </a:extLst>
                </a:gridCol>
                <a:gridCol w="1082159">
                  <a:extLst>
                    <a:ext uri="{9D8B030D-6E8A-4147-A177-3AD203B41FA5}">
                      <a16:colId xmlns:a16="http://schemas.microsoft.com/office/drawing/2014/main" val="2025425589"/>
                    </a:ext>
                  </a:extLst>
                </a:gridCol>
                <a:gridCol w="1080867">
                  <a:extLst>
                    <a:ext uri="{9D8B030D-6E8A-4147-A177-3AD203B41FA5}">
                      <a16:colId xmlns:a16="http://schemas.microsoft.com/office/drawing/2014/main" val="1616258192"/>
                    </a:ext>
                  </a:extLst>
                </a:gridCol>
              </a:tblGrid>
              <a:tr h="1271667">
                <a:tc>
                  <a:txBody>
                    <a:bodyPr/>
                    <a:lstStyle/>
                    <a:p>
                      <a:pPr algn="just">
                        <a:lnSpc>
                          <a:spcPct val="150000"/>
                        </a:lnSpc>
                        <a:spcAft>
                          <a:spcPts val="0"/>
                        </a:spcAft>
                      </a:pPr>
                      <a:r>
                        <a:rPr lang="en-GB" sz="1600" dirty="0">
                          <a:effectLst/>
                        </a:rPr>
                        <a:t>Equity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Bond Allocation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Portfolio Return</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Portfolio Variance</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Portfolio Standard deviation</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475889555"/>
                  </a:ext>
                </a:extLst>
              </a:tr>
              <a:tr h="392550">
                <a:tc>
                  <a:txBody>
                    <a:bodyPr/>
                    <a:lstStyle/>
                    <a:p>
                      <a:pPr algn="just">
                        <a:lnSpc>
                          <a:spcPct val="150000"/>
                        </a:lnSpc>
                        <a:spcAft>
                          <a:spcPts val="0"/>
                        </a:spcAft>
                      </a:pPr>
                      <a:r>
                        <a:rPr lang="en-GB" sz="1600">
                          <a:effectLst/>
                        </a:rPr>
                        <a:t>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7.5%</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1.4%</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12%</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647262400"/>
                  </a:ext>
                </a:extLst>
              </a:tr>
              <a:tr h="392550">
                <a:tc>
                  <a:txBody>
                    <a:bodyPr/>
                    <a:lstStyle/>
                    <a:p>
                      <a:pPr algn="just">
                        <a:lnSpc>
                          <a:spcPct val="150000"/>
                        </a:lnSpc>
                        <a:spcAft>
                          <a:spcPts val="0"/>
                        </a:spcAft>
                      </a:pPr>
                      <a:r>
                        <a:rPr lang="en-GB" sz="1600">
                          <a:effectLst/>
                        </a:rPr>
                        <a:t>0.143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0.857</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9.0%</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7%</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1176642455"/>
                  </a:ext>
                </a:extLst>
              </a:tr>
              <a:tr h="392550">
                <a:tc>
                  <a:txBody>
                    <a:bodyPr/>
                    <a:lstStyle/>
                    <a:p>
                      <a:pPr algn="just">
                        <a:lnSpc>
                          <a:spcPct val="150000"/>
                        </a:lnSpc>
                        <a:spcAft>
                          <a:spcPts val="0"/>
                        </a:spcAft>
                      </a:pPr>
                      <a:r>
                        <a:rPr lang="en-GB" sz="1600">
                          <a:effectLst/>
                        </a:rPr>
                        <a:t>0.333</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0.667</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11.0%</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3315478466"/>
                  </a:ext>
                </a:extLst>
              </a:tr>
              <a:tr h="392550">
                <a:tc>
                  <a:txBody>
                    <a:bodyPr/>
                    <a:lstStyle/>
                    <a:p>
                      <a:pPr algn="just">
                        <a:lnSpc>
                          <a:spcPct val="150000"/>
                        </a:lnSpc>
                        <a:spcAft>
                          <a:spcPts val="0"/>
                        </a:spcAft>
                      </a:pPr>
                      <a:r>
                        <a:rPr lang="en-GB" sz="1600">
                          <a:effectLst/>
                        </a:rPr>
                        <a:t>0.619</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0.381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14.0%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1.1%</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10%</a:t>
                      </a:r>
                      <a:endParaRPr lang="en-GB" sz="160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114876322"/>
                  </a:ext>
                </a:extLst>
              </a:tr>
              <a:tr h="392550">
                <a:tc>
                  <a:txBody>
                    <a:bodyPr/>
                    <a:lstStyle/>
                    <a:p>
                      <a:pPr algn="just">
                        <a:lnSpc>
                          <a:spcPct val="150000"/>
                        </a:lnSpc>
                        <a:spcAft>
                          <a:spcPts val="0"/>
                        </a:spcAft>
                      </a:pPr>
                      <a:r>
                        <a:rPr lang="en-GB" sz="1600">
                          <a:effectLst/>
                        </a:rPr>
                        <a:t>0.905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0.095</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17.0%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4.2%</a:t>
                      </a:r>
                      <a:endParaRPr lang="en-GB" sz="1600" dirty="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21%</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4211523841"/>
                  </a:ext>
                </a:extLst>
              </a:tr>
              <a:tr h="392550">
                <a:tc>
                  <a:txBody>
                    <a:bodyPr/>
                    <a:lstStyle/>
                    <a:p>
                      <a:pPr algn="just">
                        <a:lnSpc>
                          <a:spcPct val="150000"/>
                        </a:lnSpc>
                        <a:spcAft>
                          <a:spcPts val="0"/>
                        </a:spcAft>
                      </a:pPr>
                      <a:r>
                        <a:rPr lang="en-GB" sz="1600">
                          <a:effectLst/>
                        </a:rPr>
                        <a:t>1</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18.0%</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a:effectLst/>
                        </a:rPr>
                        <a:t>5.8%</a:t>
                      </a:r>
                      <a:endParaRPr lang="en-GB" sz="1600">
                        <a:effectLst/>
                        <a:latin typeface="Times New Roman" panose="02020603050405020304" pitchFamily="18" charset="0"/>
                        <a:ea typeface="Times New Roman" panose="02020603050405020304" pitchFamily="18" charset="0"/>
                      </a:endParaRPr>
                    </a:p>
                  </a:txBody>
                  <a:tcPr marL="19050" marR="19050" marT="0" marB="0"/>
                </a:tc>
                <a:tc>
                  <a:txBody>
                    <a:bodyPr/>
                    <a:lstStyle/>
                    <a:p>
                      <a:pPr algn="just">
                        <a:lnSpc>
                          <a:spcPct val="150000"/>
                        </a:lnSpc>
                        <a:spcAft>
                          <a:spcPts val="0"/>
                        </a:spcAft>
                      </a:pPr>
                      <a:r>
                        <a:rPr lang="en-GB" sz="1600" dirty="0">
                          <a:effectLst/>
                        </a:rPr>
                        <a:t>24%</a:t>
                      </a:r>
                      <a:endParaRPr lang="en-GB" sz="1600" dirty="0">
                        <a:effectLst/>
                        <a:latin typeface="Times New Roman" panose="02020603050405020304" pitchFamily="18" charset="0"/>
                        <a:ea typeface="Times New Roman" panose="02020603050405020304" pitchFamily="18" charset="0"/>
                      </a:endParaRPr>
                    </a:p>
                  </a:txBody>
                  <a:tcPr marL="19050" marR="19050" marT="0" marB="0"/>
                </a:tc>
                <a:extLst>
                  <a:ext uri="{0D108BD9-81ED-4DB2-BD59-A6C34878D82A}">
                    <a16:rowId xmlns:a16="http://schemas.microsoft.com/office/drawing/2014/main" val="211397379"/>
                  </a:ext>
                </a:extLst>
              </a:tr>
            </a:tbl>
          </a:graphicData>
        </a:graphic>
      </p:graphicFrame>
      <p:sp>
        <p:nvSpPr>
          <p:cNvPr id="10" name="Rectangle 2">
            <a:extLst>
              <a:ext uri="{FF2B5EF4-FFF2-40B4-BE49-F238E27FC236}">
                <a16:creationId xmlns:a16="http://schemas.microsoft.com/office/drawing/2014/main" id="{338DC449-8803-CD49-9571-0FE3D8E45AAA}"/>
              </a:ext>
            </a:extLst>
          </p:cNvPr>
          <p:cNvSpPr>
            <a:spLocks noChangeArrowheads="1"/>
          </p:cNvSpPr>
          <p:nvPr/>
        </p:nvSpPr>
        <p:spPr bwMode="auto">
          <a:xfrm>
            <a:off x="6334548" y="2626335"/>
            <a:ext cx="1585975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1" name="Object 10">
            <a:extLst>
              <a:ext uri="{FF2B5EF4-FFF2-40B4-BE49-F238E27FC236}">
                <a16:creationId xmlns:a16="http://schemas.microsoft.com/office/drawing/2014/main" id="{05579F4F-2623-8743-88CA-A0F66C652771}"/>
              </a:ext>
            </a:extLst>
          </p:cNvPr>
          <p:cNvGraphicFramePr>
            <a:graphicFrameLocks noChangeAspect="1"/>
          </p:cNvGraphicFramePr>
          <p:nvPr/>
        </p:nvGraphicFramePr>
        <p:xfrm>
          <a:off x="6334548" y="2626335"/>
          <a:ext cx="4717500" cy="3550627"/>
        </p:xfrm>
        <a:graphic>
          <a:graphicData uri="http://schemas.openxmlformats.org/presentationml/2006/ole">
            <mc:AlternateContent xmlns:mc="http://schemas.openxmlformats.org/markup-compatibility/2006">
              <mc:Choice xmlns:v="urn:schemas-microsoft-com:vml" Requires="v">
                <p:oleObj name="Chart" r:id="rId2" imgW="3606800" imgH="2705100" progId="Excel.Chart.8">
                  <p:embed/>
                </p:oleObj>
              </mc:Choice>
              <mc:Fallback>
                <p:oleObj name="Chart" r:id="rId2" imgW="3606800" imgH="2705100" progId="Excel.Chart.8">
                  <p:embed/>
                  <p:pic>
                    <p:nvPicPr>
                      <p:cNvPr id="11" name="Object 10">
                        <a:extLst>
                          <a:ext uri="{FF2B5EF4-FFF2-40B4-BE49-F238E27FC236}">
                            <a16:creationId xmlns:a16="http://schemas.microsoft.com/office/drawing/2014/main" id="{05579F4F-2623-8743-88CA-A0F66C652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548" y="2626335"/>
                        <a:ext cx="4717500" cy="3550627"/>
                      </a:xfrm>
                      <a:prstGeom prst="rect">
                        <a:avLst/>
                      </a:prstGeom>
                      <a:noFill/>
                    </p:spPr>
                  </p:pic>
                </p:oleObj>
              </mc:Fallback>
            </mc:AlternateContent>
          </a:graphicData>
        </a:graphic>
      </p:graphicFrame>
      <p:sp>
        <p:nvSpPr>
          <p:cNvPr id="12" name="Rectangle 4">
            <a:extLst>
              <a:ext uri="{FF2B5EF4-FFF2-40B4-BE49-F238E27FC236}">
                <a16:creationId xmlns:a16="http://schemas.microsoft.com/office/drawing/2014/main" id="{A950628B-1864-D947-B23B-167D99553A56}"/>
              </a:ext>
            </a:extLst>
          </p:cNvPr>
          <p:cNvSpPr>
            <a:spLocks noChangeArrowheads="1"/>
          </p:cNvSpPr>
          <p:nvPr/>
        </p:nvSpPr>
        <p:spPr bwMode="auto">
          <a:xfrm>
            <a:off x="6334549" y="1619857"/>
            <a:ext cx="1732734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3" name="Object 12">
            <a:extLst>
              <a:ext uri="{FF2B5EF4-FFF2-40B4-BE49-F238E27FC236}">
                <a16:creationId xmlns:a16="http://schemas.microsoft.com/office/drawing/2014/main" id="{A4EC9ED9-1D86-FE46-BD91-A0D3FC830BEF}"/>
              </a:ext>
            </a:extLst>
          </p:cNvPr>
          <p:cNvGraphicFramePr>
            <a:graphicFrameLocks noChangeAspect="1"/>
          </p:cNvGraphicFramePr>
          <p:nvPr/>
        </p:nvGraphicFramePr>
        <p:xfrm>
          <a:off x="6334548" y="1619858"/>
          <a:ext cx="3736209" cy="685874"/>
        </p:xfrm>
        <a:graphic>
          <a:graphicData uri="http://schemas.openxmlformats.org/presentationml/2006/ole">
            <mc:AlternateContent xmlns:mc="http://schemas.openxmlformats.org/markup-compatibility/2006">
              <mc:Choice xmlns:v="urn:schemas-microsoft-com:vml" Requires="v">
                <p:oleObj r:id="rId4" imgW="2628900" imgH="482600" progId="Equation.3">
                  <p:embed/>
                </p:oleObj>
              </mc:Choice>
              <mc:Fallback>
                <p:oleObj r:id="rId4" imgW="2628900" imgH="482600" progId="Equation.3">
                  <p:embed/>
                  <p:pic>
                    <p:nvPicPr>
                      <p:cNvPr id="13" name="Object 12">
                        <a:extLst>
                          <a:ext uri="{FF2B5EF4-FFF2-40B4-BE49-F238E27FC236}">
                            <a16:creationId xmlns:a16="http://schemas.microsoft.com/office/drawing/2014/main" id="{A4EC9ED9-1D86-FE46-BD91-A0D3FC830B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4548" y="1619858"/>
                        <a:ext cx="3736209" cy="685874"/>
                      </a:xfrm>
                      <a:prstGeom prst="rect">
                        <a:avLst/>
                      </a:prstGeom>
                      <a:noFill/>
                    </p:spPr>
                  </p:pic>
                </p:oleObj>
              </mc:Fallback>
            </mc:AlternateContent>
          </a:graphicData>
        </a:graphic>
      </p:graphicFrame>
      <mc:AlternateContent xmlns:mc="http://schemas.openxmlformats.org/markup-compatibility/2006" xmlns:p14="http://schemas.microsoft.com/office/powerpoint/2010/main" xmlns:aink="http://schemas.microsoft.com/office/drawing/2016/ink">
        <mc:Choice Requires="p14 aink">
          <p:contentPart p14:bwMode="auto" r:id="rId6">
            <p14:nvContentPartPr>
              <p14:cNvPr id="5" name="Ink 4">
                <a:extLst>
                  <a:ext uri="{FF2B5EF4-FFF2-40B4-BE49-F238E27FC236}">
                    <a16:creationId xmlns:a16="http://schemas.microsoft.com/office/drawing/2014/main" id="{EAA16D0A-C3DC-1A40-95A7-F3D484D2B068}"/>
                  </a:ext>
                </a:extLst>
              </p14:cNvPr>
              <p14:cNvContentPartPr/>
              <p14:nvPr/>
            </p14:nvContentPartPr>
            <p14:xfrm>
              <a:off x="8708558" y="4600264"/>
              <a:ext cx="48600" cy="49320"/>
            </p14:xfrm>
          </p:contentPart>
        </mc:Choice>
        <mc:Fallback xmlns="">
          <p:pic>
            <p:nvPicPr>
              <p:cNvPr id="5" name="Ink 4">
                <a:extLst>
                  <a:ext uri="{FF2B5EF4-FFF2-40B4-BE49-F238E27FC236}">
                    <a16:creationId xmlns:a16="http://schemas.microsoft.com/office/drawing/2014/main" id="{EAA16D0A-C3DC-1A40-95A7-F3D484D2B068}"/>
                  </a:ext>
                </a:extLst>
              </p:cNvPr>
              <p:cNvPicPr/>
              <p:nvPr/>
            </p:nvPicPr>
            <p:blipFill>
              <a:blip r:embed="rId8"/>
              <a:stretch>
                <a:fillRect/>
              </a:stretch>
            </p:blipFill>
            <p:spPr>
              <a:xfrm>
                <a:off x="8672558" y="4384264"/>
                <a:ext cx="120240" cy="480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7" name="Ink 16">
                <a:extLst>
                  <a:ext uri="{FF2B5EF4-FFF2-40B4-BE49-F238E27FC236}">
                    <a16:creationId xmlns:a16="http://schemas.microsoft.com/office/drawing/2014/main" id="{42D6E620-6D96-F94C-96A7-E376C45B7920}"/>
                  </a:ext>
                </a:extLst>
              </p14:cNvPr>
              <p14:cNvContentPartPr/>
              <p14:nvPr/>
            </p14:nvContentPartPr>
            <p14:xfrm>
              <a:off x="10485878" y="3191224"/>
              <a:ext cx="15120" cy="86760"/>
            </p14:xfrm>
          </p:contentPart>
        </mc:Choice>
        <mc:Fallback xmlns="">
          <p:pic>
            <p:nvPicPr>
              <p:cNvPr id="17" name="Ink 16">
                <a:extLst>
                  <a:ext uri="{FF2B5EF4-FFF2-40B4-BE49-F238E27FC236}">
                    <a16:creationId xmlns:a16="http://schemas.microsoft.com/office/drawing/2014/main" id="{42D6E620-6D96-F94C-96A7-E376C45B7920}"/>
                  </a:ext>
                </a:extLst>
              </p:cNvPr>
              <p:cNvPicPr/>
              <p:nvPr/>
            </p:nvPicPr>
            <p:blipFill>
              <a:blip r:embed="rId10"/>
              <a:stretch>
                <a:fillRect/>
              </a:stretch>
            </p:blipFill>
            <p:spPr>
              <a:xfrm>
                <a:off x="10449000" y="2975224"/>
                <a:ext cx="88507" cy="518400"/>
              </a:xfrm>
              <a:prstGeom prst="rect">
                <a:avLst/>
              </a:prstGeom>
            </p:spPr>
          </p:pic>
        </mc:Fallback>
      </mc:AlternateContent>
      <p:sp>
        <p:nvSpPr>
          <p:cNvPr id="16" name="TextBox 15">
            <a:extLst>
              <a:ext uri="{FF2B5EF4-FFF2-40B4-BE49-F238E27FC236}">
                <a16:creationId xmlns:a16="http://schemas.microsoft.com/office/drawing/2014/main" id="{CDABEA1D-9CF8-4747-A92F-D06B88223296}"/>
              </a:ext>
            </a:extLst>
          </p:cNvPr>
          <p:cNvSpPr txBox="1"/>
          <p:nvPr/>
        </p:nvSpPr>
        <p:spPr>
          <a:xfrm>
            <a:off x="8587881" y="4624924"/>
            <a:ext cx="338554" cy="369332"/>
          </a:xfrm>
          <a:prstGeom prst="rect">
            <a:avLst/>
          </a:prstGeom>
          <a:noFill/>
        </p:spPr>
        <p:txBody>
          <a:bodyPr wrap="none" rtlCol="0">
            <a:spAutoFit/>
          </a:bodyPr>
          <a:lstStyle/>
          <a:p>
            <a:r>
              <a:rPr lang="en-US" dirty="0">
                <a:solidFill>
                  <a:srgbClr val="FF0000"/>
                </a:solidFill>
              </a:rPr>
              <a:t>B</a:t>
            </a:r>
          </a:p>
        </p:txBody>
      </p:sp>
      <p:sp>
        <p:nvSpPr>
          <p:cNvPr id="19" name="TextBox 18">
            <a:extLst>
              <a:ext uri="{FF2B5EF4-FFF2-40B4-BE49-F238E27FC236}">
                <a16:creationId xmlns:a16="http://schemas.microsoft.com/office/drawing/2014/main" id="{464B793E-20D6-7E4D-BD84-6DCC3624AFD1}"/>
              </a:ext>
            </a:extLst>
          </p:cNvPr>
          <p:cNvSpPr txBox="1"/>
          <p:nvPr/>
        </p:nvSpPr>
        <p:spPr>
          <a:xfrm>
            <a:off x="10485878" y="3067045"/>
            <a:ext cx="338554" cy="369332"/>
          </a:xfrm>
          <a:prstGeom prst="rect">
            <a:avLst/>
          </a:prstGeom>
          <a:noFill/>
        </p:spPr>
        <p:txBody>
          <a:bodyPr wrap="none" rtlCol="0">
            <a:spAutoFit/>
          </a:bodyPr>
          <a:lstStyle/>
          <a:p>
            <a:r>
              <a:rPr lang="en-US" dirty="0">
                <a:solidFill>
                  <a:srgbClr val="FF0000"/>
                </a:solidFill>
              </a:rPr>
              <a:t>E</a:t>
            </a:r>
          </a:p>
        </p:txBody>
      </p:sp>
    </p:spTree>
    <p:extLst>
      <p:ext uri="{BB962C8B-B14F-4D97-AF65-F5344CB8AC3E}">
        <p14:creationId xmlns:p14="http://schemas.microsoft.com/office/powerpoint/2010/main" val="19616008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17AFCD9-4BD1-A84D-BF23-7269B0FBF204}"/>
              </a:ext>
            </a:extLst>
          </p:cNvPr>
          <p:cNvSpPr>
            <a:spLocks noGrp="1" noChangeArrowheads="1"/>
          </p:cNvSpPr>
          <p:nvPr>
            <p:ph type="title"/>
          </p:nvPr>
        </p:nvSpPr>
        <p:spPr>
          <a:xfrm>
            <a:off x="558767" y="474067"/>
            <a:ext cx="11315248" cy="785542"/>
          </a:xfrm>
        </p:spPr>
        <p:txBody>
          <a:bodyPr>
            <a:noAutofit/>
          </a:bodyPr>
          <a:lstStyle/>
          <a:p>
            <a:pPr>
              <a:lnSpc>
                <a:spcPct val="100000"/>
              </a:lnSpc>
            </a:pPr>
            <a:r>
              <a:rPr lang="en-US" altLang="en-US" sz="3000" dirty="0"/>
              <a:t>Realistic scenario: e.g. intermediate</a:t>
            </a:r>
            <a:r>
              <a:rPr lang="en-US" altLang="en-US" sz="3200" dirty="0">
                <a:solidFill>
                  <a:srgbClr val="0070C0"/>
                </a:solidFill>
                <a:sym typeface="Symbol" pitchFamily="2" charset="2"/>
              </a:rPr>
              <a:t> </a:t>
            </a:r>
            <a:r>
              <a:rPr lang="en-US" altLang="en-US" sz="3000" dirty="0"/>
              <a:t>correlation </a:t>
            </a:r>
            <a:br>
              <a:rPr lang="en-US" altLang="en-US" sz="3000" dirty="0"/>
            </a:br>
            <a:r>
              <a:rPr lang="en-US" altLang="en-US" sz="2800" dirty="0"/>
              <a:t>(-1&lt;</a:t>
            </a:r>
            <a:r>
              <a:rPr lang="en-US" altLang="en-US" sz="2800" dirty="0">
                <a:solidFill>
                  <a:srgbClr val="0070C0"/>
                </a:solidFill>
                <a:sym typeface="Symbol" pitchFamily="2" charset="2"/>
              </a:rPr>
              <a:t> </a:t>
            </a:r>
            <a:r>
              <a:rPr lang="en-US" altLang="en-US" sz="2800" dirty="0">
                <a:sym typeface="Symbol" pitchFamily="2" charset="2"/>
              </a:rPr>
              <a:t></a:t>
            </a:r>
            <a:r>
              <a:rPr lang="en-US" altLang="en-US" sz="2800" baseline="-25000" dirty="0">
                <a:sym typeface="Symbol" pitchFamily="2" charset="2"/>
              </a:rPr>
              <a:t>1,2</a:t>
            </a:r>
            <a:r>
              <a:rPr lang="en-US" altLang="en-US" sz="2800" dirty="0">
                <a:sym typeface="Symbol" pitchFamily="2" charset="2"/>
              </a:rPr>
              <a:t> &lt;+1) </a:t>
            </a:r>
            <a:r>
              <a:rPr lang="en-US" altLang="en-US" sz="3000" dirty="0"/>
              <a:t>between assets</a:t>
            </a:r>
          </a:p>
        </p:txBody>
      </p:sp>
      <p:sp>
        <p:nvSpPr>
          <p:cNvPr id="20483" name="Rectangle 3">
            <a:extLst>
              <a:ext uri="{FF2B5EF4-FFF2-40B4-BE49-F238E27FC236}">
                <a16:creationId xmlns:a16="http://schemas.microsoft.com/office/drawing/2014/main" id="{585B104E-0279-B64A-9C80-5F7974FC4FEC}"/>
              </a:ext>
            </a:extLst>
          </p:cNvPr>
          <p:cNvSpPr>
            <a:spLocks noGrp="1" noChangeArrowheads="1"/>
          </p:cNvSpPr>
          <p:nvPr>
            <p:ph idx="1"/>
          </p:nvPr>
        </p:nvSpPr>
        <p:spPr>
          <a:xfrm>
            <a:off x="835494" y="1666240"/>
            <a:ext cx="9497367" cy="4419600"/>
          </a:xfrm>
        </p:spPr>
        <p:txBody>
          <a:bodyPr/>
          <a:lstStyle/>
          <a:p>
            <a:pPr>
              <a:lnSpc>
                <a:spcPct val="150000"/>
              </a:lnSpc>
            </a:pPr>
            <a:r>
              <a:rPr lang="en-US" altLang="en-US" sz="2400" dirty="0"/>
              <a:t>MVP = Minimum Variance Portfolio</a:t>
            </a:r>
          </a:p>
          <a:p>
            <a:pPr>
              <a:lnSpc>
                <a:spcPct val="150000"/>
              </a:lnSpc>
            </a:pPr>
            <a:r>
              <a:rPr lang="en-US" altLang="en-US" sz="2400" dirty="0"/>
              <a:t>Intermediate correlation, e.g. </a:t>
            </a:r>
            <a:r>
              <a:rPr lang="en-US" altLang="en-US" sz="2400" dirty="0">
                <a:sym typeface="Symbol" pitchFamily="2" charset="2"/>
              </a:rPr>
              <a:t></a:t>
            </a:r>
            <a:r>
              <a:rPr lang="en-US" altLang="en-US" sz="2400" baseline="-25000" dirty="0">
                <a:sym typeface="Symbol" pitchFamily="2" charset="2"/>
              </a:rPr>
              <a:t>1,2</a:t>
            </a:r>
            <a:r>
              <a:rPr lang="en-US" altLang="en-US" sz="2400" dirty="0">
                <a:sym typeface="Symbol" pitchFamily="2" charset="2"/>
              </a:rPr>
              <a:t> =</a:t>
            </a:r>
            <a:r>
              <a:rPr lang="en-US" altLang="en-US" sz="2400" dirty="0"/>
              <a:t>0.5</a:t>
            </a:r>
          </a:p>
          <a:p>
            <a:pPr lvl="1">
              <a:buFont typeface="Monotype Sorts" pitchFamily="2" charset="2"/>
              <a:buNone/>
            </a:pPr>
            <a:r>
              <a:rPr lang="en-US" altLang="en-US" sz="1400" dirty="0">
                <a:latin typeface="Times New Roman" panose="02020603050405020304" pitchFamily="18" charset="0"/>
              </a:rPr>
              <a:t>			</a:t>
            </a:r>
            <a:endParaRPr lang="en-US" altLang="en-US" sz="2400" dirty="0">
              <a:latin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CB46E4E-9D8E-E544-A5FC-B465847271B9}"/>
                  </a:ext>
                </a:extLst>
              </p14:cNvPr>
              <p14:cNvContentPartPr/>
              <p14:nvPr/>
            </p14:nvContentPartPr>
            <p14:xfrm>
              <a:off x="6455678" y="4410904"/>
              <a:ext cx="360" cy="55080"/>
            </p14:xfrm>
          </p:contentPart>
        </mc:Choice>
        <mc:Fallback xmlns="">
          <p:pic>
            <p:nvPicPr>
              <p:cNvPr id="3" name="Ink 2">
                <a:extLst>
                  <a:ext uri="{FF2B5EF4-FFF2-40B4-BE49-F238E27FC236}">
                    <a16:creationId xmlns:a16="http://schemas.microsoft.com/office/drawing/2014/main" id="{DCB46E4E-9D8E-E544-A5FC-B465847271B9}"/>
                  </a:ext>
                </a:extLst>
              </p:cNvPr>
              <p:cNvPicPr/>
              <p:nvPr/>
            </p:nvPicPr>
            <p:blipFill>
              <a:blip r:embed="rId3"/>
              <a:stretch>
                <a:fillRect/>
              </a:stretch>
            </p:blipFill>
            <p:spPr>
              <a:xfrm>
                <a:off x="6451358" y="4406584"/>
                <a:ext cx="90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DA1D7BAF-63BD-5040-8A63-10791F13097D}"/>
                  </a:ext>
                </a:extLst>
              </p14:cNvPr>
              <p14:cNvContentPartPr/>
              <p14:nvPr/>
            </p14:nvContentPartPr>
            <p14:xfrm>
              <a:off x="6416798" y="4438624"/>
              <a:ext cx="76320" cy="9000"/>
            </p14:xfrm>
          </p:contentPart>
        </mc:Choice>
        <mc:Fallback xmlns="">
          <p:pic>
            <p:nvPicPr>
              <p:cNvPr id="4" name="Ink 3">
                <a:extLst>
                  <a:ext uri="{FF2B5EF4-FFF2-40B4-BE49-F238E27FC236}">
                    <a16:creationId xmlns:a16="http://schemas.microsoft.com/office/drawing/2014/main" id="{DA1D7BAF-63BD-5040-8A63-10791F13097D}"/>
                  </a:ext>
                </a:extLst>
              </p:cNvPr>
              <p:cNvPicPr/>
              <p:nvPr/>
            </p:nvPicPr>
            <p:blipFill>
              <a:blip r:embed="rId5"/>
              <a:stretch>
                <a:fillRect/>
              </a:stretch>
            </p:blipFill>
            <p:spPr>
              <a:xfrm>
                <a:off x="6412478" y="4434304"/>
                <a:ext cx="84960" cy="17640"/>
              </a:xfrm>
              <a:prstGeom prst="rect">
                <a:avLst/>
              </a:prstGeom>
            </p:spPr>
          </p:pic>
        </mc:Fallback>
      </mc:AlternateContent>
      <p:pic>
        <p:nvPicPr>
          <p:cNvPr id="5" name="Picture 4">
            <a:extLst>
              <a:ext uri="{FF2B5EF4-FFF2-40B4-BE49-F238E27FC236}">
                <a16:creationId xmlns:a16="http://schemas.microsoft.com/office/drawing/2014/main" id="{EC5B5269-70D5-9F49-BE49-65ECFC2CE8FA}"/>
              </a:ext>
            </a:extLst>
          </p:cNvPr>
          <p:cNvPicPr>
            <a:picLocks noChangeAspect="1"/>
          </p:cNvPicPr>
          <p:nvPr/>
        </p:nvPicPr>
        <p:blipFill>
          <a:blip r:embed="rId6"/>
          <a:stretch>
            <a:fillRect/>
          </a:stretch>
        </p:blipFill>
        <p:spPr>
          <a:xfrm>
            <a:off x="2610005" y="2856416"/>
            <a:ext cx="5541536" cy="3766871"/>
          </a:xfrm>
          <a:prstGeom prst="rect">
            <a:avLst/>
          </a:prstGeom>
        </p:spPr>
      </p:pic>
    </p:spTree>
    <p:extLst>
      <p:ext uri="{BB962C8B-B14F-4D97-AF65-F5344CB8AC3E}">
        <p14:creationId xmlns:p14="http://schemas.microsoft.com/office/powerpoint/2010/main" val="1749857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D4ED-3C72-8845-9F2C-4759D99736DF}"/>
              </a:ext>
            </a:extLst>
          </p:cNvPr>
          <p:cNvSpPr>
            <a:spLocks noGrp="1"/>
          </p:cNvSpPr>
          <p:nvPr>
            <p:ph type="title"/>
          </p:nvPr>
        </p:nvSpPr>
        <p:spPr/>
        <p:txBody>
          <a:bodyPr/>
          <a:lstStyle/>
          <a:p>
            <a:r>
              <a:rPr lang="en-US" dirty="0"/>
              <a:t>Determining the efficient set of N-asset portfolio</a:t>
            </a:r>
          </a:p>
        </p:txBody>
      </p:sp>
      <p:sp>
        <p:nvSpPr>
          <p:cNvPr id="3" name="Subtitle 2">
            <a:extLst>
              <a:ext uri="{FF2B5EF4-FFF2-40B4-BE49-F238E27FC236}">
                <a16:creationId xmlns:a16="http://schemas.microsoft.com/office/drawing/2014/main" id="{E593CF06-9BD0-DC41-B5C1-C6A7A567BB4E}"/>
              </a:ext>
            </a:extLst>
          </p:cNvPr>
          <p:cNvSpPr>
            <a:spLocks noGrp="1"/>
          </p:cNvSpPr>
          <p:nvPr>
            <p:ph type="body" sz="half" idx="2"/>
          </p:nvPr>
        </p:nvSpPr>
        <p:spPr/>
        <p:txBody>
          <a:bodyPr>
            <a:normAutofit/>
          </a:bodyPr>
          <a:lstStyle/>
          <a:p>
            <a:r>
              <a:rPr lang="en-US" sz="2800" dirty="0"/>
              <a:t>(Markowitz Efficient Frontier)</a:t>
            </a:r>
          </a:p>
        </p:txBody>
      </p:sp>
      <p:sp>
        <p:nvSpPr>
          <p:cNvPr id="4" name="Text Placeholder 3">
            <a:extLst>
              <a:ext uri="{FF2B5EF4-FFF2-40B4-BE49-F238E27FC236}">
                <a16:creationId xmlns:a16="http://schemas.microsoft.com/office/drawing/2014/main" id="{5E5EABC0-7B90-3F4F-8566-B8A974C97128}"/>
              </a:ext>
            </a:extLst>
          </p:cNvPr>
          <p:cNvSpPr>
            <a:spLocks noGrp="1"/>
          </p:cNvSpPr>
          <p:nvPr>
            <p:ph type="body" sz="half" idx="10"/>
          </p:nvPr>
        </p:nvSpPr>
        <p:spPr/>
        <p:txBody>
          <a:bodyPr/>
          <a:lstStyle/>
          <a:p>
            <a:endParaRPr lang="en-US"/>
          </a:p>
        </p:txBody>
      </p:sp>
    </p:spTree>
    <p:extLst>
      <p:ext uri="{BB962C8B-B14F-4D97-AF65-F5344CB8AC3E}">
        <p14:creationId xmlns:p14="http://schemas.microsoft.com/office/powerpoint/2010/main" val="748508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Rectangle 3">
            <a:extLst>
              <a:ext uri="{FF2B5EF4-FFF2-40B4-BE49-F238E27FC236}">
                <a16:creationId xmlns:a16="http://schemas.microsoft.com/office/drawing/2014/main" id="{C0763DFE-AC79-434B-9910-6783F937A968}"/>
              </a:ext>
            </a:extLst>
          </p:cNvPr>
          <p:cNvSpPr>
            <a:spLocks noGrp="1" noChangeArrowheads="1"/>
          </p:cNvSpPr>
          <p:nvPr>
            <p:ph type="title"/>
          </p:nvPr>
        </p:nvSpPr>
        <p:spPr>
          <a:xfrm>
            <a:off x="552450" y="384256"/>
            <a:ext cx="11315248" cy="785542"/>
          </a:xfrm>
        </p:spPr>
        <p:txBody>
          <a:bodyPr>
            <a:normAutofit/>
          </a:bodyPr>
          <a:lstStyle/>
          <a:p>
            <a:r>
              <a:rPr lang="en-US" altLang="en-US" sz="3000" dirty="0">
                <a:sym typeface="Symbol" pitchFamily="2" charset="2"/>
              </a:rPr>
              <a:t>N-asset portfolios: determining the efficient frontier</a:t>
            </a:r>
          </a:p>
        </p:txBody>
      </p:sp>
      <p:sp>
        <p:nvSpPr>
          <p:cNvPr id="83970" name="Rectangle 2">
            <a:extLst>
              <a:ext uri="{FF2B5EF4-FFF2-40B4-BE49-F238E27FC236}">
                <a16:creationId xmlns:a16="http://schemas.microsoft.com/office/drawing/2014/main" id="{8F6B5C4F-786F-BA4D-AF78-728AEAF3CD35}"/>
              </a:ext>
            </a:extLst>
          </p:cNvPr>
          <p:cNvSpPr>
            <a:spLocks noGrp="1" noChangeArrowheads="1"/>
          </p:cNvSpPr>
          <p:nvPr>
            <p:ph idx="1"/>
          </p:nvPr>
        </p:nvSpPr>
        <p:spPr>
          <a:xfrm>
            <a:off x="552450" y="1502610"/>
            <a:ext cx="9497367" cy="4419600"/>
          </a:xfrm>
        </p:spPr>
        <p:txBody>
          <a:bodyPr>
            <a:normAutofit lnSpcReduction="10000"/>
          </a:bodyPr>
          <a:lstStyle/>
          <a:p>
            <a:pPr>
              <a:lnSpc>
                <a:spcPct val="150000"/>
              </a:lnSpc>
              <a:spcAft>
                <a:spcPts val="600"/>
              </a:spcAft>
            </a:pPr>
            <a:r>
              <a:rPr lang="en-US" altLang="en-US" sz="2000" dirty="0">
                <a:sym typeface="Symbol" pitchFamily="2" charset="2"/>
              </a:rPr>
              <a:t>Feasible set or opportunity set: all combinations of portfolios formed from N securities available to an investor</a:t>
            </a:r>
          </a:p>
          <a:p>
            <a:pPr>
              <a:lnSpc>
                <a:spcPct val="150000"/>
              </a:lnSpc>
              <a:spcAft>
                <a:spcPts val="600"/>
              </a:spcAft>
            </a:pPr>
            <a:r>
              <a:rPr lang="en-US" altLang="en-US" sz="2000" dirty="0">
                <a:sym typeface="Symbol" pitchFamily="2" charset="2"/>
              </a:rPr>
              <a:t>Efficient set: portfolios at the top part of feasible set, i.e. portfolios with minimum risk and maximum return</a:t>
            </a:r>
          </a:p>
          <a:p>
            <a:pPr>
              <a:lnSpc>
                <a:spcPct val="150000"/>
              </a:lnSpc>
              <a:spcAft>
                <a:spcPts val="600"/>
              </a:spcAft>
            </a:pPr>
            <a:r>
              <a:rPr lang="en-US" altLang="en-US" sz="2000" u="sng" dirty="0">
                <a:solidFill>
                  <a:srgbClr val="0070C0"/>
                </a:solidFill>
                <a:sym typeface="Symbol" pitchFamily="2" charset="2"/>
              </a:rPr>
              <a:t>Mean-variance rule:</a:t>
            </a:r>
            <a:r>
              <a:rPr lang="en-US" altLang="en-US" sz="2000" u="sng" dirty="0">
                <a:sym typeface="Symbol" pitchFamily="2" charset="2"/>
              </a:rPr>
              <a:t> </a:t>
            </a:r>
            <a:r>
              <a:rPr lang="en-US" altLang="en-US" sz="2000" dirty="0">
                <a:sym typeface="Symbol" pitchFamily="2" charset="2"/>
              </a:rPr>
              <a:t>optimal (best) portfolio is chosen from the efficient set of portfolios that</a:t>
            </a:r>
          </a:p>
          <a:p>
            <a:pPr marL="592931" lvl="1" indent="-457200">
              <a:lnSpc>
                <a:spcPct val="150000"/>
              </a:lnSpc>
              <a:spcAft>
                <a:spcPts val="600"/>
              </a:spcAft>
              <a:buFont typeface="+mj-lt"/>
              <a:buAutoNum type="arabicPeriod"/>
            </a:pPr>
            <a:r>
              <a:rPr lang="en-US" altLang="en-US" sz="2000" dirty="0">
                <a:sym typeface="Symbol" pitchFamily="2" charset="2"/>
              </a:rPr>
              <a:t>offer maximum expected return for varying levels of risk</a:t>
            </a:r>
          </a:p>
          <a:p>
            <a:pPr marL="592931" lvl="1" indent="-457200">
              <a:lnSpc>
                <a:spcPct val="150000"/>
              </a:lnSpc>
              <a:spcAft>
                <a:spcPts val="600"/>
              </a:spcAft>
              <a:buFont typeface="+mj-lt"/>
              <a:buAutoNum type="arabicPeriod"/>
            </a:pPr>
            <a:r>
              <a:rPr lang="en-US" altLang="en-US" sz="2000" dirty="0">
                <a:sym typeface="Symbol" pitchFamily="2" charset="2"/>
              </a:rPr>
              <a:t>offer minimum risk for varying levels of expected return</a:t>
            </a:r>
          </a:p>
          <a:p>
            <a:endParaRPr lang="en-US" altLang="en-US" dirty="0">
              <a:sym typeface="Symbol" pitchFamily="2" charset="2"/>
            </a:endParaRPr>
          </a:p>
        </p:txBody>
      </p:sp>
    </p:spTree>
    <p:extLst>
      <p:ext uri="{BB962C8B-B14F-4D97-AF65-F5344CB8AC3E}">
        <p14:creationId xmlns:p14="http://schemas.microsoft.com/office/powerpoint/2010/main" val="471584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D7ABF75-E86A-0A4E-B512-6CDC2F006C90}"/>
              </a:ext>
            </a:extLst>
          </p:cNvPr>
          <p:cNvSpPr>
            <a:spLocks noGrp="1"/>
          </p:cNvSpPr>
          <p:nvPr>
            <p:ph sz="half" idx="2"/>
          </p:nvPr>
        </p:nvSpPr>
        <p:spPr/>
        <p:txBody>
          <a:bodyPr/>
          <a:lstStyle/>
          <a:p>
            <a:endParaRPr lang="en-US"/>
          </a:p>
        </p:txBody>
      </p:sp>
      <p:sp>
        <p:nvSpPr>
          <p:cNvPr id="84994" name="Rectangle 2">
            <a:extLst>
              <a:ext uri="{FF2B5EF4-FFF2-40B4-BE49-F238E27FC236}">
                <a16:creationId xmlns:a16="http://schemas.microsoft.com/office/drawing/2014/main" id="{08B22953-842A-0C4D-8B9B-8FC1FFA9E5F7}"/>
              </a:ext>
            </a:extLst>
          </p:cNvPr>
          <p:cNvSpPr>
            <a:spLocks noGrp="1" noChangeArrowheads="1"/>
          </p:cNvSpPr>
          <p:nvPr>
            <p:ph type="title"/>
          </p:nvPr>
        </p:nvSpPr>
        <p:spPr>
          <a:xfrm>
            <a:off x="320160" y="439821"/>
            <a:ext cx="11315248" cy="785542"/>
          </a:xfrm>
        </p:spPr>
        <p:txBody>
          <a:bodyPr>
            <a:normAutofit/>
          </a:bodyPr>
          <a:lstStyle/>
          <a:p>
            <a:r>
              <a:rPr lang="en-US" altLang="en-US" sz="3200" dirty="0">
                <a:sym typeface="Symbol" pitchFamily="2" charset="2"/>
              </a:rPr>
              <a:t>Application of the efficient set rule to the feasible set</a:t>
            </a:r>
          </a:p>
        </p:txBody>
      </p:sp>
      <p:sp>
        <p:nvSpPr>
          <p:cNvPr id="84995" name="Rectangle 3">
            <a:extLst>
              <a:ext uri="{FF2B5EF4-FFF2-40B4-BE49-F238E27FC236}">
                <a16:creationId xmlns:a16="http://schemas.microsoft.com/office/drawing/2014/main" id="{296E1B5B-82D9-FC41-B796-A65B3A30F27D}"/>
              </a:ext>
            </a:extLst>
          </p:cNvPr>
          <p:cNvSpPr>
            <a:spLocks noGrp="1" noChangeArrowheads="1"/>
          </p:cNvSpPr>
          <p:nvPr>
            <p:ph idx="1"/>
          </p:nvPr>
        </p:nvSpPr>
        <p:spPr>
          <a:xfrm>
            <a:off x="437547" y="1897380"/>
            <a:ext cx="5254593" cy="4554220"/>
          </a:xfrm>
        </p:spPr>
        <p:txBody>
          <a:bodyPr>
            <a:normAutofit/>
          </a:bodyPr>
          <a:lstStyle/>
          <a:p>
            <a:pPr algn="just">
              <a:lnSpc>
                <a:spcPct val="150000"/>
              </a:lnSpc>
            </a:pPr>
            <a:r>
              <a:rPr lang="en-US" altLang="en-US" sz="2000" dirty="0">
                <a:sym typeface="Symbol" pitchFamily="2" charset="2"/>
              </a:rPr>
              <a:t> Application of the rule highlights four portfolios A, B, C, D</a:t>
            </a:r>
          </a:p>
          <a:p>
            <a:pPr algn="just">
              <a:lnSpc>
                <a:spcPct val="150000"/>
              </a:lnSpc>
            </a:pPr>
            <a:r>
              <a:rPr lang="en-US" altLang="en-US" sz="2000" dirty="0">
                <a:sym typeface="Symbol" pitchFamily="2" charset="2"/>
              </a:rPr>
              <a:t>Minimum Variance Frontier – portfolios with minimum risk for a given level of return</a:t>
            </a:r>
            <a:r>
              <a:rPr lang="en-US" altLang="en-US" sz="2000" dirty="0">
                <a:latin typeface="Times New Roman" panose="02020603050405020304" pitchFamily="18" charset="0"/>
                <a:sym typeface="Symbol" pitchFamily="2" charset="2"/>
              </a:rPr>
              <a:t> is </a:t>
            </a:r>
            <a:r>
              <a:rPr lang="en-US" altLang="en-US" sz="2000" dirty="0">
                <a:sym typeface="Symbol" pitchFamily="2" charset="2"/>
              </a:rPr>
              <a:t>boundary between A and C</a:t>
            </a:r>
            <a:r>
              <a:rPr lang="en-US" altLang="en-US" sz="2000" dirty="0">
                <a:latin typeface="Times New Roman" panose="02020603050405020304" pitchFamily="18" charset="0"/>
                <a:sym typeface="Symbol" pitchFamily="2" charset="2"/>
              </a:rPr>
              <a:t>             	                   </a:t>
            </a:r>
          </a:p>
          <a:p>
            <a:pPr>
              <a:lnSpc>
                <a:spcPct val="150000"/>
              </a:lnSpc>
            </a:pPr>
            <a:r>
              <a:rPr lang="en-US" altLang="en-US" sz="2000" dirty="0">
                <a:sym typeface="Symbol" pitchFamily="2" charset="2"/>
              </a:rPr>
              <a:t>Efficient Frontier – portfolios with maximum returns for given level of risk is boundary between points D and C   </a:t>
            </a:r>
            <a:br>
              <a:rPr lang="en-US" altLang="en-US" sz="2000" dirty="0">
                <a:sym typeface="Symbol" pitchFamily="2" charset="2"/>
              </a:rPr>
            </a:br>
            <a:endParaRPr lang="en-US" altLang="en-US" sz="2000" dirty="0">
              <a:sym typeface="Symbol" pitchFamily="2" charset="2"/>
            </a:endParaRPr>
          </a:p>
          <a:p>
            <a:endParaRPr lang="en-US" altLang="en-US" sz="2400" baseline="-25000" dirty="0">
              <a:latin typeface="Times New Roman" panose="02020603050405020304" pitchFamily="18" charset="0"/>
              <a:sym typeface="Symbol" pitchFamily="2" charset="2"/>
            </a:endParaRPr>
          </a:p>
        </p:txBody>
      </p:sp>
      <p:pic>
        <p:nvPicPr>
          <p:cNvPr id="2" name="Picture 1">
            <a:extLst>
              <a:ext uri="{FF2B5EF4-FFF2-40B4-BE49-F238E27FC236}">
                <a16:creationId xmlns:a16="http://schemas.microsoft.com/office/drawing/2014/main" id="{1A8152F0-0CDB-5740-9227-2DF86E141CB1}"/>
              </a:ext>
            </a:extLst>
          </p:cNvPr>
          <p:cNvPicPr>
            <a:picLocks noChangeAspect="1"/>
          </p:cNvPicPr>
          <p:nvPr/>
        </p:nvPicPr>
        <p:blipFill>
          <a:blip r:embed="rId2"/>
          <a:stretch>
            <a:fillRect/>
          </a:stretch>
        </p:blipFill>
        <p:spPr>
          <a:xfrm>
            <a:off x="6019800" y="1592468"/>
            <a:ext cx="5615608" cy="5082209"/>
          </a:xfrm>
          <a:prstGeom prst="rect">
            <a:avLst/>
          </a:prstGeom>
        </p:spPr>
      </p:pic>
    </p:spTree>
    <p:extLst>
      <p:ext uri="{BB962C8B-B14F-4D97-AF65-F5344CB8AC3E}">
        <p14:creationId xmlns:p14="http://schemas.microsoft.com/office/powerpoint/2010/main" val="1701314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A8AABF1-A034-654A-925E-3F8DF8C09CE3}"/>
              </a:ext>
            </a:extLst>
          </p:cNvPr>
          <p:cNvSpPr>
            <a:spLocks noGrp="1" noChangeArrowheads="1"/>
          </p:cNvSpPr>
          <p:nvPr>
            <p:ph type="title"/>
          </p:nvPr>
        </p:nvSpPr>
        <p:spPr>
          <a:xfrm>
            <a:off x="543214" y="337363"/>
            <a:ext cx="11315248" cy="785542"/>
          </a:xfrm>
        </p:spPr>
        <p:txBody>
          <a:bodyPr/>
          <a:lstStyle/>
          <a:p>
            <a:r>
              <a:rPr lang="en-US" altLang="en-US" sz="3200" dirty="0">
                <a:sym typeface="Symbol" pitchFamily="2" charset="2"/>
              </a:rPr>
              <a:t>The the minimum variance set and efficient set</a:t>
            </a:r>
            <a:endParaRPr lang="en-US" altLang="en-US" sz="2800" dirty="0">
              <a:sym typeface="Symbol" pitchFamily="2" charset="2"/>
            </a:endParaRPr>
          </a:p>
        </p:txBody>
      </p:sp>
      <p:sp>
        <p:nvSpPr>
          <p:cNvPr id="78851" name="Rectangle 3">
            <a:extLst>
              <a:ext uri="{FF2B5EF4-FFF2-40B4-BE49-F238E27FC236}">
                <a16:creationId xmlns:a16="http://schemas.microsoft.com/office/drawing/2014/main" id="{80AA1CA6-D11C-1A48-AF32-1975328FDD91}"/>
              </a:ext>
            </a:extLst>
          </p:cNvPr>
          <p:cNvSpPr>
            <a:spLocks noGrp="1" noChangeArrowheads="1"/>
          </p:cNvSpPr>
          <p:nvPr>
            <p:ph idx="1"/>
          </p:nvPr>
        </p:nvSpPr>
        <p:spPr>
          <a:xfrm>
            <a:off x="543214" y="1186200"/>
            <a:ext cx="9497367" cy="4419600"/>
          </a:xfrm>
        </p:spPr>
        <p:txBody>
          <a:bodyPr/>
          <a:lstStyle/>
          <a:p>
            <a:pPr>
              <a:lnSpc>
                <a:spcPct val="150000"/>
              </a:lnSpc>
            </a:pPr>
            <a:r>
              <a:rPr lang="en-US" altLang="en-US" sz="2000" dirty="0">
                <a:sym typeface="Symbol" pitchFamily="2" charset="2"/>
              </a:rPr>
              <a:t>Mean-variance rule helps investors to determine the minimum-variance set (frontier): Portfolio E dominates portfolio F</a:t>
            </a:r>
          </a:p>
          <a:p>
            <a:pPr>
              <a:lnSpc>
                <a:spcPct val="150000"/>
              </a:lnSpc>
            </a:pPr>
            <a:r>
              <a:rPr lang="en-US" altLang="en-US" sz="2000" dirty="0">
                <a:sym typeface="Symbol" pitchFamily="2" charset="2"/>
              </a:rPr>
              <a:t>GMV: Global Minimum Variance Portfolio – portfolio with minimum risk</a:t>
            </a:r>
          </a:p>
          <a:p>
            <a:pPr>
              <a:lnSpc>
                <a:spcPct val="150000"/>
              </a:lnSpc>
            </a:pPr>
            <a:r>
              <a:rPr lang="en-US" altLang="en-US" sz="2000" dirty="0">
                <a:sym typeface="Symbol" pitchFamily="2" charset="2"/>
              </a:rPr>
              <a:t>All portfolios above GMV are Efficient portfolios, i.e. efficient set</a:t>
            </a:r>
          </a:p>
          <a:p>
            <a:pPr>
              <a:buFont typeface="Monotype Sorts" pitchFamily="2" charset="2"/>
              <a:buNone/>
            </a:pPr>
            <a:endParaRPr lang="en-US" altLang="en-US" sz="2400" dirty="0">
              <a:latin typeface="Times New Roman" panose="02020603050405020304" pitchFamily="18" charset="0"/>
              <a:sym typeface="Symbol" pitchFamily="2" charset="2"/>
            </a:endParaRPr>
          </a:p>
        </p:txBody>
      </p:sp>
      <p:sp>
        <p:nvSpPr>
          <p:cNvPr id="78853" name="Line 5">
            <a:extLst>
              <a:ext uri="{FF2B5EF4-FFF2-40B4-BE49-F238E27FC236}">
                <a16:creationId xmlns:a16="http://schemas.microsoft.com/office/drawing/2014/main" id="{71E304AA-BE2B-D945-912D-B550C16CA029}"/>
              </a:ext>
            </a:extLst>
          </p:cNvPr>
          <p:cNvSpPr>
            <a:spLocks noChangeShapeType="1"/>
          </p:cNvSpPr>
          <p:nvPr/>
        </p:nvSpPr>
        <p:spPr bwMode="auto">
          <a:xfrm>
            <a:off x="4456044" y="5615609"/>
            <a:ext cx="381000"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 name="Picture 3">
            <a:extLst>
              <a:ext uri="{FF2B5EF4-FFF2-40B4-BE49-F238E27FC236}">
                <a16:creationId xmlns:a16="http://schemas.microsoft.com/office/drawing/2014/main" id="{42D1F663-3745-AD4E-AD1C-F722D2EC20A3}"/>
              </a:ext>
            </a:extLst>
          </p:cNvPr>
          <p:cNvPicPr>
            <a:picLocks noChangeAspect="1"/>
          </p:cNvPicPr>
          <p:nvPr/>
        </p:nvPicPr>
        <p:blipFill>
          <a:blip r:embed="rId2"/>
          <a:stretch>
            <a:fillRect/>
          </a:stretch>
        </p:blipFill>
        <p:spPr>
          <a:xfrm>
            <a:off x="2962275" y="3364978"/>
            <a:ext cx="4659244" cy="3373414"/>
          </a:xfrm>
          <a:prstGeom prst="rect">
            <a:avLst/>
          </a:prstGeom>
        </p:spPr>
      </p:pic>
      <p:cxnSp>
        <p:nvCxnSpPr>
          <p:cNvPr id="3" name="Straight Connector 2">
            <a:extLst>
              <a:ext uri="{FF2B5EF4-FFF2-40B4-BE49-F238E27FC236}">
                <a16:creationId xmlns:a16="http://schemas.microsoft.com/office/drawing/2014/main" id="{0EA50EC9-004D-C747-9BA1-F4E267B0D913}"/>
              </a:ext>
            </a:extLst>
          </p:cNvPr>
          <p:cNvCxnSpPr>
            <a:cxnSpLocks/>
          </p:cNvCxnSpPr>
          <p:nvPr/>
        </p:nvCxnSpPr>
        <p:spPr>
          <a:xfrm>
            <a:off x="4567899" y="4925361"/>
            <a:ext cx="1933605" cy="0"/>
          </a:xfrm>
          <a:prstGeom prst="line">
            <a:avLst/>
          </a:prstGeom>
          <a:ln>
            <a:solidFill>
              <a:srgbClr val="FF0000"/>
            </a:solidFill>
          </a:ln>
        </p:spPr>
        <p:style>
          <a:lnRef idx="1">
            <a:schemeClr val="accent6"/>
          </a:lnRef>
          <a:fillRef idx="0">
            <a:schemeClr val="accent6"/>
          </a:fillRef>
          <a:effectRef idx="0">
            <a:schemeClr val="accent6"/>
          </a:effectRef>
          <a:fontRef idx="minor">
            <a:schemeClr val="tx1"/>
          </a:fontRef>
        </p:style>
      </p:cxnSp>
      <p:sp>
        <p:nvSpPr>
          <p:cNvPr id="7" name="TextBox 6">
            <a:extLst>
              <a:ext uri="{FF2B5EF4-FFF2-40B4-BE49-F238E27FC236}">
                <a16:creationId xmlns:a16="http://schemas.microsoft.com/office/drawing/2014/main" id="{2C95F5DC-9044-9244-800C-97A6BC573FA4}"/>
              </a:ext>
            </a:extLst>
          </p:cNvPr>
          <p:cNvSpPr txBox="1"/>
          <p:nvPr/>
        </p:nvSpPr>
        <p:spPr>
          <a:xfrm>
            <a:off x="5720576" y="4103649"/>
            <a:ext cx="1277914" cy="369332"/>
          </a:xfrm>
          <a:prstGeom prst="rect">
            <a:avLst/>
          </a:prstGeom>
          <a:noFill/>
        </p:spPr>
        <p:txBody>
          <a:bodyPr wrap="none" rtlCol="0">
            <a:spAutoFit/>
          </a:bodyPr>
          <a:lstStyle/>
          <a:p>
            <a:r>
              <a:rPr lang="en-US" dirty="0"/>
              <a:t>Efficient set</a:t>
            </a:r>
          </a:p>
        </p:txBody>
      </p:sp>
      <p:sp>
        <p:nvSpPr>
          <p:cNvPr id="8" name="TextBox 7">
            <a:extLst>
              <a:ext uri="{FF2B5EF4-FFF2-40B4-BE49-F238E27FC236}">
                <a16:creationId xmlns:a16="http://schemas.microsoft.com/office/drawing/2014/main" id="{06B9DEE6-859C-E94E-A7DF-8DC4A23D162C}"/>
              </a:ext>
            </a:extLst>
          </p:cNvPr>
          <p:cNvSpPr txBox="1"/>
          <p:nvPr/>
        </p:nvSpPr>
        <p:spPr>
          <a:xfrm>
            <a:off x="5720576" y="5486400"/>
            <a:ext cx="1465851" cy="369332"/>
          </a:xfrm>
          <a:prstGeom prst="rect">
            <a:avLst/>
          </a:prstGeom>
          <a:noFill/>
        </p:spPr>
        <p:txBody>
          <a:bodyPr wrap="none" rtlCol="0">
            <a:spAutoFit/>
          </a:bodyPr>
          <a:lstStyle/>
          <a:p>
            <a:r>
              <a:rPr lang="en-US" dirty="0"/>
              <a:t>Inefficient set</a:t>
            </a:r>
          </a:p>
        </p:txBody>
      </p:sp>
    </p:spTree>
    <p:extLst>
      <p:ext uri="{BB962C8B-B14F-4D97-AF65-F5344CB8AC3E}">
        <p14:creationId xmlns:p14="http://schemas.microsoft.com/office/powerpoint/2010/main" val="54637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3A7-8292-C749-97E7-9F92328AF1AD}"/>
              </a:ext>
            </a:extLst>
          </p:cNvPr>
          <p:cNvSpPr>
            <a:spLocks noGrp="1"/>
          </p:cNvSpPr>
          <p:nvPr>
            <p:ph type="title"/>
          </p:nvPr>
        </p:nvSpPr>
        <p:spPr>
          <a:xfrm>
            <a:off x="750610" y="481294"/>
            <a:ext cx="11315248" cy="785542"/>
          </a:xfrm>
        </p:spPr>
        <p:txBody>
          <a:bodyPr/>
          <a:lstStyle/>
          <a:p>
            <a:r>
              <a:rPr lang="en-US" sz="3200" dirty="0"/>
              <a:t>The efficient frontier of risky assets</a:t>
            </a:r>
          </a:p>
        </p:txBody>
      </p:sp>
      <p:pic>
        <p:nvPicPr>
          <p:cNvPr id="4" name="Content Placeholder 3">
            <a:extLst>
              <a:ext uri="{FF2B5EF4-FFF2-40B4-BE49-F238E27FC236}">
                <a16:creationId xmlns:a16="http://schemas.microsoft.com/office/drawing/2014/main" id="{D7450526-D88E-C546-8822-B0C068F81685}"/>
              </a:ext>
            </a:extLst>
          </p:cNvPr>
          <p:cNvPicPr>
            <a:picLocks noGrp="1" noChangeAspect="1"/>
          </p:cNvPicPr>
          <p:nvPr>
            <p:ph sz="half" idx="1"/>
          </p:nvPr>
        </p:nvPicPr>
        <p:blipFill>
          <a:blip r:embed="rId2"/>
          <a:stretch>
            <a:fillRect/>
          </a:stretch>
        </p:blipFill>
        <p:spPr>
          <a:xfrm>
            <a:off x="6965950" y="2547144"/>
            <a:ext cx="3594100" cy="2908300"/>
          </a:xfrm>
          <a:prstGeom prst="rect">
            <a:avLst/>
          </a:prstGeom>
        </p:spPr>
      </p:pic>
      <p:sp>
        <p:nvSpPr>
          <p:cNvPr id="7" name="Content Placeholder 6">
            <a:extLst>
              <a:ext uri="{FF2B5EF4-FFF2-40B4-BE49-F238E27FC236}">
                <a16:creationId xmlns:a16="http://schemas.microsoft.com/office/drawing/2014/main" id="{A171267E-49DC-7D42-909B-6B05579A786C}"/>
              </a:ext>
            </a:extLst>
          </p:cNvPr>
          <p:cNvSpPr>
            <a:spLocks noGrp="1"/>
          </p:cNvSpPr>
          <p:nvPr>
            <p:ph sz="half" idx="2"/>
          </p:nvPr>
        </p:nvSpPr>
        <p:spPr>
          <a:xfrm>
            <a:off x="648094" y="1379511"/>
            <a:ext cx="5349240" cy="4351338"/>
          </a:xfrm>
        </p:spPr>
        <p:txBody>
          <a:bodyPr>
            <a:normAutofit/>
          </a:bodyPr>
          <a:lstStyle/>
          <a:p>
            <a:pPr>
              <a:lnSpc>
                <a:spcPct val="110000"/>
              </a:lnSpc>
            </a:pPr>
            <a:endParaRPr lang="en-US" sz="2000" dirty="0"/>
          </a:p>
          <a:p>
            <a:pPr algn="just">
              <a:lnSpc>
                <a:spcPct val="150000"/>
              </a:lnSpc>
            </a:pPr>
            <a:r>
              <a:rPr lang="en-US" sz="2000" dirty="0"/>
              <a:t>Concave curve from GMV upwards</a:t>
            </a:r>
          </a:p>
          <a:p>
            <a:pPr algn="just">
              <a:lnSpc>
                <a:spcPct val="150000"/>
              </a:lnSpc>
            </a:pPr>
            <a:r>
              <a:rPr lang="en-US" sz="2000" dirty="0"/>
              <a:t>Investing in any two portfolios on the efficient frontier (1&amp;2 on the graph) will form a third portfolio (3 on the graph), that will also be efficient. That new portfolio (3) will have to lie on the concave segment between the two portfolios (1&amp;2) used to construct it.</a:t>
            </a:r>
          </a:p>
        </p:txBody>
      </p:sp>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30532F0C-0DAA-294E-9056-4C06DE327637}"/>
                  </a:ext>
                </a:extLst>
              </p14:cNvPr>
              <p14:cNvContentPartPr/>
              <p14:nvPr/>
            </p14:nvContentPartPr>
            <p14:xfrm>
              <a:off x="8513302" y="3954780"/>
              <a:ext cx="14400" cy="16920"/>
            </p14:xfrm>
          </p:contentPart>
        </mc:Choice>
        <mc:Fallback xmlns="">
          <p:pic>
            <p:nvPicPr>
              <p:cNvPr id="9" name="Ink 8">
                <a:extLst>
                  <a:ext uri="{FF2B5EF4-FFF2-40B4-BE49-F238E27FC236}">
                    <a16:creationId xmlns:a16="http://schemas.microsoft.com/office/drawing/2014/main" id="{30532F0C-0DAA-294E-9056-4C06DE327637}"/>
                  </a:ext>
                </a:extLst>
              </p:cNvPr>
              <p:cNvPicPr/>
              <p:nvPr/>
            </p:nvPicPr>
            <p:blipFill>
              <a:blip r:embed="rId4"/>
              <a:stretch>
                <a:fillRect/>
              </a:stretch>
            </p:blipFill>
            <p:spPr>
              <a:xfrm>
                <a:off x="8504662" y="3945780"/>
                <a:ext cx="3204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8C9188A0-6E22-D54F-8C42-72059D651567}"/>
                  </a:ext>
                </a:extLst>
              </p14:cNvPr>
              <p14:cNvContentPartPr/>
              <p14:nvPr/>
            </p14:nvContentPartPr>
            <p14:xfrm>
              <a:off x="8991742" y="3486780"/>
              <a:ext cx="360" cy="13320"/>
            </p14:xfrm>
          </p:contentPart>
        </mc:Choice>
        <mc:Fallback xmlns="">
          <p:pic>
            <p:nvPicPr>
              <p:cNvPr id="10" name="Ink 9">
                <a:extLst>
                  <a:ext uri="{FF2B5EF4-FFF2-40B4-BE49-F238E27FC236}">
                    <a16:creationId xmlns:a16="http://schemas.microsoft.com/office/drawing/2014/main" id="{8C9188A0-6E22-D54F-8C42-72059D651567}"/>
                  </a:ext>
                </a:extLst>
              </p:cNvPr>
              <p:cNvPicPr/>
              <p:nvPr/>
            </p:nvPicPr>
            <p:blipFill>
              <a:blip r:embed="rId6"/>
              <a:stretch>
                <a:fillRect/>
              </a:stretch>
            </p:blipFill>
            <p:spPr>
              <a:xfrm>
                <a:off x="8983102" y="3477780"/>
                <a:ext cx="180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247DD8C8-AAB3-774B-8201-AD69791594C6}"/>
                  </a:ext>
                </a:extLst>
              </p14:cNvPr>
              <p14:cNvContentPartPr/>
              <p14:nvPr/>
            </p14:nvContentPartPr>
            <p14:xfrm>
              <a:off x="9001462" y="3480300"/>
              <a:ext cx="16560" cy="27000"/>
            </p14:xfrm>
          </p:contentPart>
        </mc:Choice>
        <mc:Fallback xmlns="">
          <p:pic>
            <p:nvPicPr>
              <p:cNvPr id="11" name="Ink 10">
                <a:extLst>
                  <a:ext uri="{FF2B5EF4-FFF2-40B4-BE49-F238E27FC236}">
                    <a16:creationId xmlns:a16="http://schemas.microsoft.com/office/drawing/2014/main" id="{247DD8C8-AAB3-774B-8201-AD69791594C6}"/>
                  </a:ext>
                </a:extLst>
              </p:cNvPr>
              <p:cNvPicPr/>
              <p:nvPr/>
            </p:nvPicPr>
            <p:blipFill>
              <a:blip r:embed="rId8"/>
              <a:stretch>
                <a:fillRect/>
              </a:stretch>
            </p:blipFill>
            <p:spPr>
              <a:xfrm>
                <a:off x="8992462" y="3471660"/>
                <a:ext cx="3420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FCCC63C4-48E2-A640-93CC-FD3F50AC1E25}"/>
                  </a:ext>
                </a:extLst>
              </p14:cNvPr>
              <p14:cNvContentPartPr/>
              <p14:nvPr/>
            </p14:nvContentPartPr>
            <p14:xfrm>
              <a:off x="8642902" y="3771900"/>
              <a:ext cx="19080" cy="15120"/>
            </p14:xfrm>
          </p:contentPart>
        </mc:Choice>
        <mc:Fallback xmlns="">
          <p:pic>
            <p:nvPicPr>
              <p:cNvPr id="12" name="Ink 11">
                <a:extLst>
                  <a:ext uri="{FF2B5EF4-FFF2-40B4-BE49-F238E27FC236}">
                    <a16:creationId xmlns:a16="http://schemas.microsoft.com/office/drawing/2014/main" id="{FCCC63C4-48E2-A640-93CC-FD3F50AC1E25}"/>
                  </a:ext>
                </a:extLst>
              </p:cNvPr>
              <p:cNvPicPr/>
              <p:nvPr/>
            </p:nvPicPr>
            <p:blipFill>
              <a:blip r:embed="rId10"/>
              <a:stretch>
                <a:fillRect/>
              </a:stretch>
            </p:blipFill>
            <p:spPr>
              <a:xfrm>
                <a:off x="8633902" y="3762900"/>
                <a:ext cx="3672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53818210-C413-CF4F-B2C3-4A1B8C52FE04}"/>
                  </a:ext>
                </a:extLst>
              </p14:cNvPr>
              <p14:cNvContentPartPr/>
              <p14:nvPr/>
            </p14:nvContentPartPr>
            <p14:xfrm>
              <a:off x="8363902" y="3847860"/>
              <a:ext cx="57960" cy="137880"/>
            </p14:xfrm>
          </p:contentPart>
        </mc:Choice>
        <mc:Fallback xmlns="">
          <p:pic>
            <p:nvPicPr>
              <p:cNvPr id="13" name="Ink 12">
                <a:extLst>
                  <a:ext uri="{FF2B5EF4-FFF2-40B4-BE49-F238E27FC236}">
                    <a16:creationId xmlns:a16="http://schemas.microsoft.com/office/drawing/2014/main" id="{53818210-C413-CF4F-B2C3-4A1B8C52FE04}"/>
                  </a:ext>
                </a:extLst>
              </p:cNvPr>
              <p:cNvPicPr/>
              <p:nvPr/>
            </p:nvPicPr>
            <p:blipFill>
              <a:blip r:embed="rId12"/>
              <a:stretch>
                <a:fillRect/>
              </a:stretch>
            </p:blipFill>
            <p:spPr>
              <a:xfrm>
                <a:off x="8355262" y="3839220"/>
                <a:ext cx="756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442CB417-DCFB-4147-BA50-2E33C5D1540A}"/>
                  </a:ext>
                </a:extLst>
              </p14:cNvPr>
              <p14:cNvContentPartPr/>
              <p14:nvPr/>
            </p14:nvContentPartPr>
            <p14:xfrm>
              <a:off x="8903182" y="3292020"/>
              <a:ext cx="162360" cy="138240"/>
            </p14:xfrm>
          </p:contentPart>
        </mc:Choice>
        <mc:Fallback xmlns="">
          <p:pic>
            <p:nvPicPr>
              <p:cNvPr id="15" name="Ink 14">
                <a:extLst>
                  <a:ext uri="{FF2B5EF4-FFF2-40B4-BE49-F238E27FC236}">
                    <a16:creationId xmlns:a16="http://schemas.microsoft.com/office/drawing/2014/main" id="{442CB417-DCFB-4147-BA50-2E33C5D1540A}"/>
                  </a:ext>
                </a:extLst>
              </p:cNvPr>
              <p:cNvPicPr/>
              <p:nvPr/>
            </p:nvPicPr>
            <p:blipFill>
              <a:blip r:embed="rId14"/>
              <a:stretch>
                <a:fillRect/>
              </a:stretch>
            </p:blipFill>
            <p:spPr>
              <a:xfrm>
                <a:off x="8894542" y="3283380"/>
                <a:ext cx="1800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26DB5870-0729-E145-BA62-65C0A2098B91}"/>
                  </a:ext>
                </a:extLst>
              </p14:cNvPr>
              <p14:cNvContentPartPr/>
              <p14:nvPr/>
            </p14:nvContentPartPr>
            <p14:xfrm>
              <a:off x="8489902" y="3555180"/>
              <a:ext cx="114480" cy="173160"/>
            </p14:xfrm>
          </p:contentPart>
        </mc:Choice>
        <mc:Fallback xmlns="">
          <p:pic>
            <p:nvPicPr>
              <p:cNvPr id="18" name="Ink 17">
                <a:extLst>
                  <a:ext uri="{FF2B5EF4-FFF2-40B4-BE49-F238E27FC236}">
                    <a16:creationId xmlns:a16="http://schemas.microsoft.com/office/drawing/2014/main" id="{26DB5870-0729-E145-BA62-65C0A2098B91}"/>
                  </a:ext>
                </a:extLst>
              </p:cNvPr>
              <p:cNvPicPr/>
              <p:nvPr/>
            </p:nvPicPr>
            <p:blipFill>
              <a:blip r:embed="rId16"/>
              <a:stretch>
                <a:fillRect/>
              </a:stretch>
            </p:blipFill>
            <p:spPr>
              <a:xfrm>
                <a:off x="8480902" y="3546180"/>
                <a:ext cx="13212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826C15B8-565F-6B4E-9C47-F358F0312622}"/>
                  </a:ext>
                </a:extLst>
              </p14:cNvPr>
              <p14:cNvContentPartPr/>
              <p14:nvPr/>
            </p14:nvContentPartPr>
            <p14:xfrm>
              <a:off x="8629942" y="3749220"/>
              <a:ext cx="24480" cy="37080"/>
            </p14:xfrm>
          </p:contentPart>
        </mc:Choice>
        <mc:Fallback xmlns="">
          <p:pic>
            <p:nvPicPr>
              <p:cNvPr id="19" name="Ink 18">
                <a:extLst>
                  <a:ext uri="{FF2B5EF4-FFF2-40B4-BE49-F238E27FC236}">
                    <a16:creationId xmlns:a16="http://schemas.microsoft.com/office/drawing/2014/main" id="{826C15B8-565F-6B4E-9C47-F358F0312622}"/>
                  </a:ext>
                </a:extLst>
              </p:cNvPr>
              <p:cNvPicPr/>
              <p:nvPr/>
            </p:nvPicPr>
            <p:blipFill>
              <a:blip r:embed="rId18"/>
              <a:stretch>
                <a:fillRect/>
              </a:stretch>
            </p:blipFill>
            <p:spPr>
              <a:xfrm>
                <a:off x="8620942" y="3740220"/>
                <a:ext cx="421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84B7A734-F112-7344-93DD-3288F56AC84D}"/>
                  </a:ext>
                </a:extLst>
              </p14:cNvPr>
              <p14:cNvContentPartPr/>
              <p14:nvPr/>
            </p14:nvContentPartPr>
            <p14:xfrm>
              <a:off x="8509702" y="3956220"/>
              <a:ext cx="24120" cy="12240"/>
            </p14:xfrm>
          </p:contentPart>
        </mc:Choice>
        <mc:Fallback xmlns="">
          <p:pic>
            <p:nvPicPr>
              <p:cNvPr id="20" name="Ink 19">
                <a:extLst>
                  <a:ext uri="{FF2B5EF4-FFF2-40B4-BE49-F238E27FC236}">
                    <a16:creationId xmlns:a16="http://schemas.microsoft.com/office/drawing/2014/main" id="{84B7A734-F112-7344-93DD-3288F56AC84D}"/>
                  </a:ext>
                </a:extLst>
              </p:cNvPr>
              <p:cNvPicPr/>
              <p:nvPr/>
            </p:nvPicPr>
            <p:blipFill>
              <a:blip r:embed="rId20"/>
              <a:stretch>
                <a:fillRect/>
              </a:stretch>
            </p:blipFill>
            <p:spPr>
              <a:xfrm>
                <a:off x="8500702" y="3947220"/>
                <a:ext cx="417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9AAE3B4D-7C42-C342-8D8B-B207DEE9AEDC}"/>
                  </a:ext>
                </a:extLst>
              </p14:cNvPr>
              <p14:cNvContentPartPr/>
              <p14:nvPr/>
            </p14:nvContentPartPr>
            <p14:xfrm>
              <a:off x="9001462" y="3476700"/>
              <a:ext cx="3960" cy="30600"/>
            </p14:xfrm>
          </p:contentPart>
        </mc:Choice>
        <mc:Fallback xmlns="">
          <p:pic>
            <p:nvPicPr>
              <p:cNvPr id="21" name="Ink 20">
                <a:extLst>
                  <a:ext uri="{FF2B5EF4-FFF2-40B4-BE49-F238E27FC236}">
                    <a16:creationId xmlns:a16="http://schemas.microsoft.com/office/drawing/2014/main" id="{9AAE3B4D-7C42-C342-8D8B-B207DEE9AEDC}"/>
                  </a:ext>
                </a:extLst>
              </p:cNvPr>
              <p:cNvPicPr/>
              <p:nvPr/>
            </p:nvPicPr>
            <p:blipFill>
              <a:blip r:embed="rId22"/>
              <a:stretch>
                <a:fillRect/>
              </a:stretch>
            </p:blipFill>
            <p:spPr>
              <a:xfrm>
                <a:off x="8992462" y="3467700"/>
                <a:ext cx="216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DFF72B34-ABA5-B848-B001-B70A20F84BAB}"/>
                  </a:ext>
                </a:extLst>
              </p14:cNvPr>
              <p14:cNvContentPartPr/>
              <p14:nvPr/>
            </p14:nvContentPartPr>
            <p14:xfrm>
              <a:off x="8409758" y="4289224"/>
              <a:ext cx="23760" cy="42120"/>
            </p14:xfrm>
          </p:contentPart>
        </mc:Choice>
        <mc:Fallback xmlns="">
          <p:pic>
            <p:nvPicPr>
              <p:cNvPr id="22" name="Ink 21">
                <a:extLst>
                  <a:ext uri="{FF2B5EF4-FFF2-40B4-BE49-F238E27FC236}">
                    <a16:creationId xmlns:a16="http://schemas.microsoft.com/office/drawing/2014/main" id="{DFF72B34-ABA5-B848-B001-B70A20F84BAB}"/>
                  </a:ext>
                </a:extLst>
              </p:cNvPr>
              <p:cNvPicPr/>
              <p:nvPr/>
            </p:nvPicPr>
            <p:blipFill>
              <a:blip r:embed="rId24"/>
              <a:stretch>
                <a:fillRect/>
              </a:stretch>
            </p:blipFill>
            <p:spPr>
              <a:xfrm>
                <a:off x="8400758" y="4280584"/>
                <a:ext cx="414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E0958C94-F356-1648-9BA4-42A815670CFC}"/>
                  </a:ext>
                </a:extLst>
              </p14:cNvPr>
              <p14:cNvContentPartPr/>
              <p14:nvPr/>
            </p14:nvContentPartPr>
            <p14:xfrm>
              <a:off x="8489318" y="3951904"/>
              <a:ext cx="38160" cy="26640"/>
            </p14:xfrm>
          </p:contentPart>
        </mc:Choice>
        <mc:Fallback xmlns="">
          <p:pic>
            <p:nvPicPr>
              <p:cNvPr id="23" name="Ink 22">
                <a:extLst>
                  <a:ext uri="{FF2B5EF4-FFF2-40B4-BE49-F238E27FC236}">
                    <a16:creationId xmlns:a16="http://schemas.microsoft.com/office/drawing/2014/main" id="{E0958C94-F356-1648-9BA4-42A815670CFC}"/>
                  </a:ext>
                </a:extLst>
              </p:cNvPr>
              <p:cNvPicPr/>
              <p:nvPr/>
            </p:nvPicPr>
            <p:blipFill>
              <a:blip r:embed="rId26"/>
              <a:stretch>
                <a:fillRect/>
              </a:stretch>
            </p:blipFill>
            <p:spPr>
              <a:xfrm>
                <a:off x="8480318" y="3942904"/>
                <a:ext cx="558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536BD5D4-964D-E44B-8B20-3438B66BDC48}"/>
                  </a:ext>
                </a:extLst>
              </p14:cNvPr>
              <p14:cNvContentPartPr/>
              <p14:nvPr/>
            </p14:nvContentPartPr>
            <p14:xfrm>
              <a:off x="8988998" y="3467704"/>
              <a:ext cx="18000" cy="21240"/>
            </p14:xfrm>
          </p:contentPart>
        </mc:Choice>
        <mc:Fallback xmlns="">
          <p:pic>
            <p:nvPicPr>
              <p:cNvPr id="24" name="Ink 23">
                <a:extLst>
                  <a:ext uri="{FF2B5EF4-FFF2-40B4-BE49-F238E27FC236}">
                    <a16:creationId xmlns:a16="http://schemas.microsoft.com/office/drawing/2014/main" id="{536BD5D4-964D-E44B-8B20-3438B66BDC48}"/>
                  </a:ext>
                </a:extLst>
              </p:cNvPr>
              <p:cNvPicPr/>
              <p:nvPr/>
            </p:nvPicPr>
            <p:blipFill>
              <a:blip r:embed="rId28"/>
              <a:stretch>
                <a:fillRect/>
              </a:stretch>
            </p:blipFill>
            <p:spPr>
              <a:xfrm>
                <a:off x="8980358" y="3459064"/>
                <a:ext cx="356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75A9BEB2-1F50-A347-9BB0-324ED95EEF27}"/>
                  </a:ext>
                </a:extLst>
              </p14:cNvPr>
              <p14:cNvContentPartPr/>
              <p14:nvPr/>
            </p14:nvContentPartPr>
            <p14:xfrm>
              <a:off x="8508398" y="3946144"/>
              <a:ext cx="20520" cy="16200"/>
            </p14:xfrm>
          </p:contentPart>
        </mc:Choice>
        <mc:Fallback xmlns="">
          <p:pic>
            <p:nvPicPr>
              <p:cNvPr id="25" name="Ink 24">
                <a:extLst>
                  <a:ext uri="{FF2B5EF4-FFF2-40B4-BE49-F238E27FC236}">
                    <a16:creationId xmlns:a16="http://schemas.microsoft.com/office/drawing/2014/main" id="{75A9BEB2-1F50-A347-9BB0-324ED95EEF27}"/>
                  </a:ext>
                </a:extLst>
              </p:cNvPr>
              <p:cNvPicPr/>
              <p:nvPr/>
            </p:nvPicPr>
            <p:blipFill>
              <a:blip r:embed="rId30"/>
              <a:stretch>
                <a:fillRect/>
              </a:stretch>
            </p:blipFill>
            <p:spPr>
              <a:xfrm>
                <a:off x="8499758" y="3937144"/>
                <a:ext cx="38160" cy="33840"/>
              </a:xfrm>
              <a:prstGeom prst="rect">
                <a:avLst/>
              </a:prstGeom>
            </p:spPr>
          </p:pic>
        </mc:Fallback>
      </mc:AlternateContent>
    </p:spTree>
    <p:extLst>
      <p:ext uri="{BB962C8B-B14F-4D97-AF65-F5344CB8AC3E}">
        <p14:creationId xmlns:p14="http://schemas.microsoft.com/office/powerpoint/2010/main" val="8047441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B19BA07-15EC-4545-A35F-C95F2F99BE99}"/>
              </a:ext>
            </a:extLst>
          </p:cNvPr>
          <p:cNvSpPr>
            <a:spLocks noGrp="1"/>
          </p:cNvSpPr>
          <p:nvPr>
            <p:ph sz="half" idx="2"/>
          </p:nvPr>
        </p:nvSpPr>
        <p:spPr>
          <a:xfrm>
            <a:off x="642701" y="2055991"/>
            <a:ext cx="5453299" cy="2880000"/>
          </a:xfrm>
        </p:spPr>
        <p:txBody>
          <a:bodyPr>
            <a:normAutofit fontScale="92500" lnSpcReduction="10000"/>
          </a:bodyPr>
          <a:lstStyle/>
          <a:p>
            <a:pPr>
              <a:lnSpc>
                <a:spcPct val="150000"/>
              </a:lnSpc>
            </a:pPr>
            <a:r>
              <a:rPr lang="en-US" sz="2000" dirty="0"/>
              <a:t>The minimum variance/efficient set extends, so both maximum return and risk are increased.</a:t>
            </a:r>
          </a:p>
          <a:p>
            <a:pPr>
              <a:lnSpc>
                <a:spcPct val="150000"/>
              </a:lnSpc>
            </a:pPr>
            <a:r>
              <a:rPr lang="en-US" sz="2000" dirty="0"/>
              <a:t>e.g. short-sell B, invest proceeds in A and extend the frontier towards Z’</a:t>
            </a:r>
          </a:p>
          <a:p>
            <a:pPr>
              <a:lnSpc>
                <a:spcPct val="150000"/>
              </a:lnSpc>
            </a:pPr>
            <a:r>
              <a:rPr lang="en-US" sz="2000" dirty="0"/>
              <a:t>In theory there is no limit as to how much one can short-sell, in reality there are constraints.</a:t>
            </a:r>
          </a:p>
        </p:txBody>
      </p:sp>
      <p:sp>
        <p:nvSpPr>
          <p:cNvPr id="2" name="Title 1">
            <a:extLst>
              <a:ext uri="{FF2B5EF4-FFF2-40B4-BE49-F238E27FC236}">
                <a16:creationId xmlns:a16="http://schemas.microsoft.com/office/drawing/2014/main" id="{94F2D636-86EF-664C-AFF1-C29F63D26702}"/>
              </a:ext>
            </a:extLst>
          </p:cNvPr>
          <p:cNvSpPr>
            <a:spLocks noGrp="1"/>
          </p:cNvSpPr>
          <p:nvPr>
            <p:ph type="title"/>
          </p:nvPr>
        </p:nvSpPr>
        <p:spPr>
          <a:xfrm>
            <a:off x="277528" y="414334"/>
            <a:ext cx="9986612" cy="752127"/>
          </a:xfrm>
        </p:spPr>
        <p:txBody>
          <a:bodyPr>
            <a:noAutofit/>
          </a:bodyPr>
          <a:lstStyle/>
          <a:p>
            <a:pPr>
              <a:lnSpc>
                <a:spcPct val="100000"/>
              </a:lnSpc>
            </a:pPr>
            <a:r>
              <a:rPr lang="en-US" sz="3000" dirty="0"/>
              <a:t>Minimum variance set and efficient set with short-selling of risky assets</a:t>
            </a:r>
          </a:p>
        </p:txBody>
      </p:sp>
      <p:pic>
        <p:nvPicPr>
          <p:cNvPr id="4" name="Content Placeholder 3">
            <a:extLst>
              <a:ext uri="{FF2B5EF4-FFF2-40B4-BE49-F238E27FC236}">
                <a16:creationId xmlns:a16="http://schemas.microsoft.com/office/drawing/2014/main" id="{EE5D7230-58F9-D94E-B391-F33A3434BD1D}"/>
              </a:ext>
            </a:extLst>
          </p:cNvPr>
          <p:cNvPicPr>
            <a:picLocks noGrp="1" noChangeAspect="1"/>
          </p:cNvPicPr>
          <p:nvPr>
            <p:ph idx="1"/>
          </p:nvPr>
        </p:nvPicPr>
        <p:blipFill>
          <a:blip r:embed="rId2"/>
          <a:stretch>
            <a:fillRect/>
          </a:stretch>
        </p:blipFill>
        <p:spPr>
          <a:xfrm>
            <a:off x="6359622" y="2055991"/>
            <a:ext cx="4561566" cy="2746017"/>
          </a:xfrm>
          <a:prstGeom prst="rect">
            <a:avLst/>
          </a:prstGeom>
        </p:spPr>
      </p:pic>
    </p:spTree>
    <p:extLst>
      <p:ext uri="{BB962C8B-B14F-4D97-AF65-F5344CB8AC3E}">
        <p14:creationId xmlns:p14="http://schemas.microsoft.com/office/powerpoint/2010/main" val="1393247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38C7697B-3D36-A844-8EB1-B7F7817CBF2B}"/>
              </a:ext>
            </a:extLst>
          </p:cNvPr>
          <p:cNvSpPr>
            <a:spLocks noGrp="1"/>
          </p:cNvSpPr>
          <p:nvPr>
            <p:ph sz="half" idx="2"/>
          </p:nvPr>
        </p:nvSpPr>
        <p:spPr/>
        <p:txBody>
          <a:bodyPr/>
          <a:lstStyle/>
          <a:p>
            <a:endParaRPr lang="en-US"/>
          </a:p>
        </p:txBody>
      </p:sp>
      <p:sp>
        <p:nvSpPr>
          <p:cNvPr id="90115" name="Rectangle 3">
            <a:extLst>
              <a:ext uri="{FF2B5EF4-FFF2-40B4-BE49-F238E27FC236}">
                <a16:creationId xmlns:a16="http://schemas.microsoft.com/office/drawing/2014/main" id="{4F7C0837-3E23-1745-BEB3-43A210AA52A0}"/>
              </a:ext>
            </a:extLst>
          </p:cNvPr>
          <p:cNvSpPr>
            <a:spLocks noGrp="1" noChangeArrowheads="1"/>
          </p:cNvSpPr>
          <p:nvPr>
            <p:ph type="title"/>
          </p:nvPr>
        </p:nvSpPr>
        <p:spPr>
          <a:xfrm>
            <a:off x="438376" y="406400"/>
            <a:ext cx="11315248" cy="785542"/>
          </a:xfrm>
        </p:spPr>
        <p:txBody>
          <a:bodyPr>
            <a:normAutofit fontScale="90000"/>
          </a:bodyPr>
          <a:lstStyle/>
          <a:p>
            <a:pPr>
              <a:lnSpc>
                <a:spcPct val="100000"/>
              </a:lnSpc>
            </a:pPr>
            <a:r>
              <a:rPr lang="en-US" altLang="en-US" sz="3000" dirty="0">
                <a:sym typeface="Symbol" pitchFamily="2" charset="2"/>
              </a:rPr>
              <a:t>The shape of the efficient frontier - impossibility of </a:t>
            </a:r>
            <a:br>
              <a:rPr lang="en-US" altLang="en-US" sz="3000" dirty="0">
                <a:sym typeface="Symbol" pitchFamily="2" charset="2"/>
              </a:rPr>
            </a:br>
            <a:r>
              <a:rPr lang="en-US" altLang="en-US" sz="3000" dirty="0">
                <a:sym typeface="Symbol" pitchFamily="2" charset="2"/>
              </a:rPr>
              <a:t>having ‘dents’</a:t>
            </a:r>
          </a:p>
        </p:txBody>
      </p:sp>
      <p:sp>
        <p:nvSpPr>
          <p:cNvPr id="90114" name="Rectangle 2">
            <a:extLst>
              <a:ext uri="{FF2B5EF4-FFF2-40B4-BE49-F238E27FC236}">
                <a16:creationId xmlns:a16="http://schemas.microsoft.com/office/drawing/2014/main" id="{537C6C8B-D2CE-DD4A-8F4B-2930BDC76922}"/>
              </a:ext>
            </a:extLst>
          </p:cNvPr>
          <p:cNvSpPr>
            <a:spLocks noGrp="1" noChangeArrowheads="1"/>
          </p:cNvSpPr>
          <p:nvPr>
            <p:ph idx="1"/>
          </p:nvPr>
        </p:nvSpPr>
        <p:spPr>
          <a:xfrm>
            <a:off x="439204" y="1772920"/>
            <a:ext cx="5658453" cy="4419600"/>
          </a:xfrm>
        </p:spPr>
        <p:txBody>
          <a:bodyPr>
            <a:normAutofit/>
          </a:bodyPr>
          <a:lstStyle/>
          <a:p>
            <a:pPr>
              <a:lnSpc>
                <a:spcPct val="150000"/>
              </a:lnSpc>
            </a:pPr>
            <a:r>
              <a:rPr lang="en-US" altLang="en-US" sz="2000" dirty="0">
                <a:sym typeface="Symbol" pitchFamily="2" charset="2"/>
              </a:rPr>
              <a:t>Consider efficient frontier with a dent between D and T</a:t>
            </a:r>
          </a:p>
          <a:p>
            <a:pPr algn="just">
              <a:lnSpc>
                <a:spcPct val="150000"/>
              </a:lnSpc>
            </a:pPr>
            <a:r>
              <a:rPr lang="en-US" altLang="en-US" sz="2000" dirty="0">
                <a:sym typeface="Symbol" pitchFamily="2" charset="2"/>
              </a:rPr>
              <a:t>When investing partly in D and partly in T, the DT portfolio would have to be to the left of the efficient set presented (because correlations of less than +1 reduce risk in a portfolio and shift it to the left on the E(R)/risk graph)</a:t>
            </a:r>
          </a:p>
          <a:p>
            <a:pPr>
              <a:buFont typeface="Monotype Sorts" pitchFamily="2" charset="2"/>
              <a:buNone/>
            </a:pPr>
            <a:endParaRPr lang="en-US" altLang="en-US" sz="2400" dirty="0">
              <a:latin typeface="Times New Roman" panose="02020603050405020304" pitchFamily="18" charset="0"/>
              <a:sym typeface="Symbol" pitchFamily="2" charset="2"/>
            </a:endParaRPr>
          </a:p>
        </p:txBody>
      </p:sp>
      <p:sp>
        <p:nvSpPr>
          <p:cNvPr id="90119" name="Line 7">
            <a:extLst>
              <a:ext uri="{FF2B5EF4-FFF2-40B4-BE49-F238E27FC236}">
                <a16:creationId xmlns:a16="http://schemas.microsoft.com/office/drawing/2014/main" id="{4D430BCF-8AA9-4946-AE1D-81968CE19FE5}"/>
              </a:ext>
            </a:extLst>
          </p:cNvPr>
          <p:cNvSpPr>
            <a:spLocks noChangeShapeType="1"/>
          </p:cNvSpPr>
          <p:nvPr/>
        </p:nvSpPr>
        <p:spPr bwMode="auto">
          <a:xfrm>
            <a:off x="2667000" y="60960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 name="Picture 1">
            <a:extLst>
              <a:ext uri="{FF2B5EF4-FFF2-40B4-BE49-F238E27FC236}">
                <a16:creationId xmlns:a16="http://schemas.microsoft.com/office/drawing/2014/main" id="{28FDEE77-7BFC-D14F-8F12-E28DD3A4CEA7}"/>
              </a:ext>
            </a:extLst>
          </p:cNvPr>
          <p:cNvPicPr>
            <a:picLocks noChangeAspect="1"/>
          </p:cNvPicPr>
          <p:nvPr/>
        </p:nvPicPr>
        <p:blipFill>
          <a:blip r:embed="rId2"/>
          <a:stretch>
            <a:fillRect/>
          </a:stretch>
        </p:blipFill>
        <p:spPr>
          <a:xfrm>
            <a:off x="6324600" y="1825625"/>
            <a:ext cx="5181600" cy="4346575"/>
          </a:xfrm>
          <a:prstGeom prst="rect">
            <a:avLst/>
          </a:prstGeom>
        </p:spPr>
      </p:pic>
    </p:spTree>
    <p:extLst>
      <p:ext uri="{BB962C8B-B14F-4D97-AF65-F5344CB8AC3E}">
        <p14:creationId xmlns:p14="http://schemas.microsoft.com/office/powerpoint/2010/main" val="1037882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391CD8A-BD9E-A749-BA94-9299DE17A5CF}"/>
              </a:ext>
            </a:extLst>
          </p:cNvPr>
          <p:cNvSpPr>
            <a:spLocks noGrp="1"/>
          </p:cNvSpPr>
          <p:nvPr>
            <p:ph sz="half" idx="2"/>
          </p:nvPr>
        </p:nvSpPr>
        <p:spPr/>
        <p:txBody>
          <a:bodyPr/>
          <a:lstStyle/>
          <a:p>
            <a:endParaRPr lang="en-US"/>
          </a:p>
        </p:txBody>
      </p:sp>
      <p:sp>
        <p:nvSpPr>
          <p:cNvPr id="92162" name="Rectangle 2">
            <a:extLst>
              <a:ext uri="{FF2B5EF4-FFF2-40B4-BE49-F238E27FC236}">
                <a16:creationId xmlns:a16="http://schemas.microsoft.com/office/drawing/2014/main" id="{4C74AB50-FCA9-1349-8320-9386DC9EFA53}"/>
              </a:ext>
            </a:extLst>
          </p:cNvPr>
          <p:cNvSpPr>
            <a:spLocks noGrp="1" noChangeArrowheads="1"/>
          </p:cNvSpPr>
          <p:nvPr>
            <p:ph type="title"/>
          </p:nvPr>
        </p:nvSpPr>
        <p:spPr>
          <a:xfrm>
            <a:off x="438376" y="377051"/>
            <a:ext cx="11315248" cy="785542"/>
          </a:xfrm>
        </p:spPr>
        <p:txBody>
          <a:bodyPr>
            <a:noAutofit/>
          </a:bodyPr>
          <a:lstStyle/>
          <a:p>
            <a:pPr>
              <a:lnSpc>
                <a:spcPct val="100000"/>
              </a:lnSpc>
            </a:pPr>
            <a:r>
              <a:rPr lang="en-US" altLang="en-US" sz="3000" dirty="0">
                <a:sym typeface="Symbol" pitchFamily="2" charset="2"/>
              </a:rPr>
              <a:t>The shape of the efficient frontier - impossibility of </a:t>
            </a:r>
            <a:br>
              <a:rPr lang="en-US" altLang="en-US" sz="3000" dirty="0">
                <a:sym typeface="Symbol" pitchFamily="2" charset="2"/>
              </a:rPr>
            </a:br>
            <a:r>
              <a:rPr lang="en-US" altLang="en-US" sz="3000" dirty="0">
                <a:sym typeface="Symbol" pitchFamily="2" charset="2"/>
              </a:rPr>
              <a:t>having ‘dents’, cont.</a:t>
            </a:r>
          </a:p>
        </p:txBody>
      </p:sp>
      <p:sp>
        <p:nvSpPr>
          <p:cNvPr id="92163" name="Rectangle 3">
            <a:extLst>
              <a:ext uri="{FF2B5EF4-FFF2-40B4-BE49-F238E27FC236}">
                <a16:creationId xmlns:a16="http://schemas.microsoft.com/office/drawing/2014/main" id="{0CE2F76B-C62E-6140-BF24-EAC61E3D697E}"/>
              </a:ext>
            </a:extLst>
          </p:cNvPr>
          <p:cNvSpPr>
            <a:spLocks noGrp="1" noChangeArrowheads="1"/>
          </p:cNvSpPr>
          <p:nvPr>
            <p:ph idx="1"/>
          </p:nvPr>
        </p:nvSpPr>
        <p:spPr>
          <a:xfrm>
            <a:off x="450098" y="1553774"/>
            <a:ext cx="5658453" cy="4748171"/>
          </a:xfrm>
        </p:spPr>
        <p:txBody>
          <a:bodyPr>
            <a:normAutofit fontScale="85000" lnSpcReduction="20000"/>
          </a:bodyPr>
          <a:lstStyle/>
          <a:p>
            <a:pPr algn="just">
              <a:lnSpc>
                <a:spcPct val="150000"/>
              </a:lnSpc>
            </a:pPr>
            <a:r>
              <a:rPr lang="en-US" altLang="en-US" sz="2000" dirty="0">
                <a:sym typeface="Symbol" pitchFamily="2" charset="2"/>
              </a:rPr>
              <a:t>According to the graph, portfolio N is an efficient portfolio</a:t>
            </a:r>
          </a:p>
          <a:p>
            <a:pPr algn="just">
              <a:lnSpc>
                <a:spcPct val="150000"/>
              </a:lnSpc>
            </a:pPr>
            <a:r>
              <a:rPr lang="en-US" altLang="en-US" sz="2000" dirty="0">
                <a:sym typeface="Symbol" pitchFamily="2" charset="2"/>
              </a:rPr>
              <a:t>Note that we can construct portfolio E (combination of D and T in the worst-case scenario for diversification, i.e. when </a:t>
            </a:r>
            <a:r>
              <a:rPr lang="en-US" altLang="en-US" sz="2000" baseline="-25000" dirty="0">
                <a:sym typeface="Symbol" pitchFamily="2" charset="2"/>
              </a:rPr>
              <a:t>D,T </a:t>
            </a:r>
            <a:r>
              <a:rPr lang="en-US" altLang="en-US" sz="2000" dirty="0">
                <a:sym typeface="Symbol" pitchFamily="2" charset="2"/>
              </a:rPr>
              <a:t>= +1)  that has the same expected return but lower standard deviation than N</a:t>
            </a:r>
          </a:p>
          <a:p>
            <a:pPr algn="just">
              <a:lnSpc>
                <a:spcPct val="150000"/>
              </a:lnSpc>
            </a:pPr>
            <a:r>
              <a:rPr lang="en-US" altLang="en-US" sz="2000" dirty="0">
                <a:sym typeface="Symbol" pitchFamily="2" charset="2"/>
              </a:rPr>
              <a:t>Then, N cannot be efficient as it does not have lower risk risk given the same level of return as E.</a:t>
            </a:r>
          </a:p>
          <a:p>
            <a:pPr algn="just">
              <a:lnSpc>
                <a:spcPct val="150000"/>
              </a:lnSpc>
            </a:pPr>
            <a:r>
              <a:rPr lang="en-US" altLang="en-US" sz="2000" b="1" dirty="0">
                <a:solidFill>
                  <a:srgbClr val="0070C0"/>
                </a:solidFill>
                <a:sym typeface="Symbol" pitchFamily="2" charset="2"/>
              </a:rPr>
              <a:t>That means, the reason why efficient frontier of risky assets must be concave lies in the fact that correlation coefficients of any two assets forming portfolios on the frontier is between -1 and +1.</a:t>
            </a:r>
          </a:p>
          <a:p>
            <a:pPr algn="just">
              <a:lnSpc>
                <a:spcPct val="150000"/>
              </a:lnSpc>
            </a:pPr>
            <a:endParaRPr lang="en-US" altLang="en-US" sz="1850" dirty="0">
              <a:sym typeface="Symbol" pitchFamily="2" charset="2"/>
            </a:endParaRPr>
          </a:p>
          <a:p>
            <a:pPr>
              <a:buFont typeface="Monotype Sorts" pitchFamily="2" charset="2"/>
              <a:buNone/>
            </a:pPr>
            <a:endParaRPr lang="en-US" altLang="en-US" sz="2400" dirty="0">
              <a:latin typeface="Times New Roman" panose="02020603050405020304" pitchFamily="18" charset="0"/>
              <a:sym typeface="Symbol" pitchFamily="2" charset="2"/>
            </a:endParaRPr>
          </a:p>
        </p:txBody>
      </p:sp>
      <p:pic>
        <p:nvPicPr>
          <p:cNvPr id="2" name="Picture 1">
            <a:extLst>
              <a:ext uri="{FF2B5EF4-FFF2-40B4-BE49-F238E27FC236}">
                <a16:creationId xmlns:a16="http://schemas.microsoft.com/office/drawing/2014/main" id="{6F656227-1AB0-E146-B610-EE332E80419A}"/>
              </a:ext>
            </a:extLst>
          </p:cNvPr>
          <p:cNvPicPr>
            <a:picLocks noChangeAspect="1"/>
          </p:cNvPicPr>
          <p:nvPr/>
        </p:nvPicPr>
        <p:blipFill>
          <a:blip r:embed="rId2"/>
          <a:stretch>
            <a:fillRect/>
          </a:stretch>
        </p:blipFill>
        <p:spPr>
          <a:xfrm>
            <a:off x="6172200" y="1825624"/>
            <a:ext cx="5277677" cy="4351338"/>
          </a:xfrm>
          <a:prstGeom prst="rect">
            <a:avLst/>
          </a:prstGeom>
        </p:spPr>
      </p:pic>
    </p:spTree>
    <p:extLst>
      <p:ext uri="{BB962C8B-B14F-4D97-AF65-F5344CB8AC3E}">
        <p14:creationId xmlns:p14="http://schemas.microsoft.com/office/powerpoint/2010/main" val="11605294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3D8796-85CD-4D47-B0CD-A7BE2CAEB4AB}"/>
              </a:ext>
            </a:extLst>
          </p:cNvPr>
          <p:cNvSpPr>
            <a:spLocks noGrp="1"/>
          </p:cNvSpPr>
          <p:nvPr>
            <p:ph type="title"/>
          </p:nvPr>
        </p:nvSpPr>
        <p:spPr>
          <a:xfrm>
            <a:off x="608998" y="539463"/>
            <a:ext cx="11315248" cy="785542"/>
          </a:xfrm>
        </p:spPr>
        <p:txBody>
          <a:bodyPr/>
          <a:lstStyle/>
          <a:p>
            <a:r>
              <a:rPr lang="en-US" sz="3200" dirty="0"/>
              <a:t>Reading</a:t>
            </a:r>
          </a:p>
        </p:txBody>
      </p:sp>
      <p:sp>
        <p:nvSpPr>
          <p:cNvPr id="6" name="Content Placeholder 5">
            <a:extLst>
              <a:ext uri="{FF2B5EF4-FFF2-40B4-BE49-F238E27FC236}">
                <a16:creationId xmlns:a16="http://schemas.microsoft.com/office/drawing/2014/main" id="{C6F0C7D5-7623-3D4F-8A56-0063D5FE99D6}"/>
              </a:ext>
            </a:extLst>
          </p:cNvPr>
          <p:cNvSpPr>
            <a:spLocks noGrp="1"/>
          </p:cNvSpPr>
          <p:nvPr>
            <p:ph idx="1"/>
          </p:nvPr>
        </p:nvSpPr>
        <p:spPr>
          <a:xfrm>
            <a:off x="608998" y="1711960"/>
            <a:ext cx="9497367" cy="4419600"/>
          </a:xfrm>
        </p:spPr>
        <p:txBody>
          <a:bodyPr/>
          <a:lstStyle/>
          <a:p>
            <a:pPr>
              <a:lnSpc>
                <a:spcPct val="150000"/>
              </a:lnSpc>
              <a:spcAft>
                <a:spcPts val="600"/>
              </a:spcAft>
            </a:pPr>
            <a:r>
              <a:rPr lang="en-US" sz="2000" dirty="0"/>
              <a:t>Elton, Gruber, Brown and </a:t>
            </a:r>
            <a:r>
              <a:rPr lang="en-US" sz="2000" dirty="0" err="1"/>
              <a:t>Goetzmann</a:t>
            </a:r>
            <a:r>
              <a:rPr lang="en-US" sz="2000" dirty="0"/>
              <a:t>, relevant parts of Chapter 4 “The Characteristics of Opportunity Sets under Risk” and parts of Chapter 5 “Delineating Efficient Portfolios” in “Modern Portfolio Theory and Investment Analysis”</a:t>
            </a:r>
          </a:p>
          <a:p>
            <a:pPr>
              <a:lnSpc>
                <a:spcPct val="150000"/>
              </a:lnSpc>
              <a:spcAft>
                <a:spcPts val="600"/>
              </a:spcAft>
            </a:pPr>
            <a:r>
              <a:rPr lang="en-US" sz="2000" dirty="0"/>
              <a:t>Bodie, Kane and Marcus, ”Investments” : Ch 5 “Risk, Return and Historical Record” (for risk and return) and parts of Ch 7 “Optimal Risky </a:t>
            </a:r>
            <a:r>
              <a:rPr lang="en-US" sz="2000"/>
              <a:t>Portfolios”</a:t>
            </a:r>
            <a:endParaRPr lang="en-US" sz="2000" dirty="0"/>
          </a:p>
        </p:txBody>
      </p:sp>
    </p:spTree>
    <p:extLst>
      <p:ext uri="{BB962C8B-B14F-4D97-AF65-F5344CB8AC3E}">
        <p14:creationId xmlns:p14="http://schemas.microsoft.com/office/powerpoint/2010/main" val="2770904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04B69EF-BA4E-184F-97D7-A3645CFD8A8B}"/>
              </a:ext>
            </a:extLst>
          </p:cNvPr>
          <p:cNvSpPr>
            <a:spLocks noGrp="1"/>
          </p:cNvSpPr>
          <p:nvPr>
            <p:ph type="body" sz="half" idx="2"/>
          </p:nvPr>
        </p:nvSpPr>
        <p:spPr/>
        <p:txBody>
          <a:bodyPr>
            <a:normAutofit/>
          </a:bodyPr>
          <a:lstStyle/>
          <a:p>
            <a:pPr lvl="0">
              <a:lnSpc>
                <a:spcPct val="150000"/>
              </a:lnSpc>
            </a:pPr>
            <a:r>
              <a:rPr lang="en-US" sz="1800" dirty="0"/>
              <a:t> Contact: </a:t>
            </a:r>
            <a:r>
              <a:rPr lang="en-US" sz="1800" dirty="0">
                <a:hlinkClick r:id="rId2"/>
              </a:rPr>
              <a:t>natasha.todorovic.1@city.ac.uk</a:t>
            </a:r>
            <a:endParaRPr lang="en-US" sz="1800" dirty="0"/>
          </a:p>
          <a:p>
            <a:pPr lvl="0">
              <a:lnSpc>
                <a:spcPct val="150000"/>
              </a:lnSpc>
            </a:pPr>
            <a:r>
              <a:rPr lang="en-US" sz="1800" dirty="0"/>
              <a:t>Room 4031 </a:t>
            </a:r>
          </a:p>
          <a:p>
            <a:pPr lvl="0">
              <a:lnSpc>
                <a:spcPct val="150000"/>
              </a:lnSpc>
            </a:pPr>
            <a:r>
              <a:rPr lang="en-US" sz="1800" dirty="0"/>
              <a:t>Bayes Business School, Bunhill Row, Level 4</a:t>
            </a:r>
          </a:p>
          <a:p>
            <a:pPr lvl="0">
              <a:lnSpc>
                <a:spcPct val="150000"/>
              </a:lnSpc>
            </a:pPr>
            <a:endParaRPr lang="en-US" sz="1800" dirty="0">
              <a:solidFill>
                <a:srgbClr val="0070C0"/>
              </a:solidFill>
            </a:endParaRPr>
          </a:p>
          <a:p>
            <a:pPr lvl="0"/>
            <a:endParaRPr lang="en-US" sz="1800" dirty="0"/>
          </a:p>
        </p:txBody>
      </p:sp>
    </p:spTree>
    <p:extLst>
      <p:ext uri="{BB962C8B-B14F-4D97-AF65-F5344CB8AC3E}">
        <p14:creationId xmlns:p14="http://schemas.microsoft.com/office/powerpoint/2010/main" val="6713465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ayes_PP_Template" id="{ACDB4250-AEAB-3845-99F8-305C0D54AF46}" vid="{BF418155-9E7F-8A43-95E0-3E210703B4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D636429A6E36D4181F2717D9C82FA19" ma:contentTypeVersion="18" ma:contentTypeDescription="Create a new document." ma:contentTypeScope="" ma:versionID="3495257934bf8a2aadcd26b39434f447">
  <xsd:schema xmlns:xsd="http://www.w3.org/2001/XMLSchema" xmlns:xs="http://www.w3.org/2001/XMLSchema" xmlns:p="http://schemas.microsoft.com/office/2006/metadata/properties" xmlns:ns2="51947a9a-b379-44ec-ba92-0b580fcd88c6" xmlns:ns3="35bd5d15-c8c7-4a08-a581-ad858f9537bc" targetNamespace="http://schemas.microsoft.com/office/2006/metadata/properties" ma:root="true" ma:fieldsID="df7ca6b90c74802e8c59c9d6e21929b2" ns2:_="" ns3:_="">
    <xsd:import namespace="51947a9a-b379-44ec-ba92-0b580fcd88c6"/>
    <xsd:import namespace="35bd5d15-c8c7-4a08-a581-ad858f9537b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47a9a-b379-44ec-ba92-0b580fcd88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60370ab-239c-4f69-b9f9-a829e5a5e9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bd5d15-c8c7-4a08-a581-ad858f9537b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5f2df4c-31ca-49d4-a813-e4ccb5e76347}" ma:internalName="TaxCatchAll" ma:showField="CatchAllData" ma:web="35bd5d15-c8c7-4a08-a581-ad858f953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5bd5d15-c8c7-4a08-a581-ad858f9537bc" xsi:nil="true"/>
    <lcf76f155ced4ddcb4097134ff3c332f xmlns="51947a9a-b379-44ec-ba92-0b580fcd88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20FFB76-CCE5-4D43-89A2-3DA16FC4EBE1}">
  <ds:schemaRefs>
    <ds:schemaRef ds:uri="http://schemas.microsoft.com/sharepoint/v3/contenttype/forms"/>
  </ds:schemaRefs>
</ds:datastoreItem>
</file>

<file path=customXml/itemProps2.xml><?xml version="1.0" encoding="utf-8"?>
<ds:datastoreItem xmlns:ds="http://schemas.openxmlformats.org/officeDocument/2006/customXml" ds:itemID="{87C0D5ED-1E5F-47F0-9FE5-043EE2756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47a9a-b379-44ec-ba92-0b580fcd88c6"/>
    <ds:schemaRef ds:uri="35bd5d15-c8c7-4a08-a581-ad858f9537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A59FC1F-AC2E-46FB-8A96-03F812DE5545}">
  <ds:schemaRefs>
    <ds:schemaRef ds:uri="http://schemas.microsoft.com/office/2006/metadata/properties"/>
    <ds:schemaRef ds:uri="http://schemas.microsoft.com/office/infopath/2007/PartnerControls"/>
    <ds:schemaRef ds:uri="35bd5d15-c8c7-4a08-a581-ad858f9537bc"/>
    <ds:schemaRef ds:uri="51947a9a-b379-44ec-ba92-0b580fcd88c6"/>
  </ds:schemaRefs>
</ds:datastoreItem>
</file>

<file path=docProps/app.xml><?xml version="1.0" encoding="utf-8"?>
<Properties xmlns="http://schemas.openxmlformats.org/officeDocument/2006/extended-properties" xmlns:vt="http://schemas.openxmlformats.org/officeDocument/2006/docPropsVTypes">
  <Template>City-St-Georges-Bayes-powerpoint-template_2024</Template>
  <TotalTime>1499</TotalTime>
  <Words>3300</Words>
  <Application>Microsoft Macintosh PowerPoint</Application>
  <PresentationFormat>Widescreen</PresentationFormat>
  <Paragraphs>370</Paragraphs>
  <Slides>42</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4</vt:i4>
      </vt:variant>
      <vt:variant>
        <vt:lpstr>Slide Titles</vt:lpstr>
      </vt:variant>
      <vt:variant>
        <vt:i4>42</vt:i4>
      </vt:variant>
    </vt:vector>
  </HeadingPairs>
  <TitlesOfParts>
    <vt:vector size="55" baseType="lpstr">
      <vt:lpstr>Aptos</vt:lpstr>
      <vt:lpstr>Arial</vt:lpstr>
      <vt:lpstr>Cambria Math</vt:lpstr>
      <vt:lpstr>Lucida Grande</vt:lpstr>
      <vt:lpstr>Monotype Sorts</vt:lpstr>
      <vt:lpstr>Symbol</vt:lpstr>
      <vt:lpstr>Times New Roman</vt:lpstr>
      <vt:lpstr>Wingdings</vt:lpstr>
      <vt:lpstr>Office Theme</vt:lpstr>
      <vt:lpstr>Equation</vt:lpstr>
      <vt:lpstr>Equation.3</vt:lpstr>
      <vt:lpstr>Document</vt:lpstr>
      <vt:lpstr>Chart</vt:lpstr>
      <vt:lpstr>Portfolio Theory I: Diversification and Characteristics of Portfolios of Risky Assets</vt:lpstr>
      <vt:lpstr>Two-asset Portfolio Return and Risk</vt:lpstr>
      <vt:lpstr>Calculating the Expected Return of a Portfolio</vt:lpstr>
      <vt:lpstr>Expected return of a two-asset portfolio</vt:lpstr>
      <vt:lpstr>Calculating the Expected Return of a Portfolio, cont.</vt:lpstr>
      <vt:lpstr>Portfolio Return With Short-selling</vt:lpstr>
      <vt:lpstr>Variance and standard deviation</vt:lpstr>
      <vt:lpstr>Variance and standard deviation of a two-asset portfolio</vt:lpstr>
      <vt:lpstr>Variance  and standard deviation of a two-asset portfolio</vt:lpstr>
      <vt:lpstr>Diversification</vt:lpstr>
      <vt:lpstr>Diversification</vt:lpstr>
      <vt:lpstr>Covariance and correlation coefficient</vt:lpstr>
      <vt:lpstr>Correlation coefficient</vt:lpstr>
      <vt:lpstr>The impact of correlation coefficient/covariance on diversification</vt:lpstr>
      <vt:lpstr>Risk Reduction With Low Covariance (Correlation) </vt:lpstr>
      <vt:lpstr>Correlation and risk reduction</vt:lpstr>
      <vt:lpstr>Diversification and large number of assets</vt:lpstr>
      <vt:lpstr>Total risk of a portfolio</vt:lpstr>
      <vt:lpstr>Diversification and the number of assets held in the  portfolio, cont.</vt:lpstr>
      <vt:lpstr>  Needed for excel files and video on Moodle: Portfolios of N-assets: How many variances and  covariances do we need? Variance-Covariance Matrix (VCV)</vt:lpstr>
      <vt:lpstr>Diversification and the number of assets held in the  portfolio, cont.</vt:lpstr>
      <vt:lpstr>Diversification - concluding comments</vt:lpstr>
      <vt:lpstr>Determining the efficient sets of two-asset portfolios and proof of how correlation is impacting two-asset portfolio risk</vt:lpstr>
      <vt:lpstr>Determining the efficient set (efficient frontier)</vt:lpstr>
      <vt:lpstr>Two-asset portfolios efficient set: perfectly positively  correlated assets</vt:lpstr>
      <vt:lpstr>Two-asset portfolios efficient set: perfectly positively  correlated assets</vt:lpstr>
      <vt:lpstr>Two-asset portfolios efficient set shape:  perfectly positively correlated assets</vt:lpstr>
      <vt:lpstr>Two-asset portfolios efficient set: zero correlation  between assets</vt:lpstr>
      <vt:lpstr>Two-asset portfolios efficient set shape:  zero correlation between assets</vt:lpstr>
      <vt:lpstr>Two-asset portfolios efficient set: perfectly negatively  correlated assets</vt:lpstr>
      <vt:lpstr>Two-asset portfolios efficient set: perfectly negatively  correlated assets</vt:lpstr>
      <vt:lpstr>Realistic scenario: e.g. intermediate correlation  (-1&lt; 1,2 &lt;+1) between assets</vt:lpstr>
      <vt:lpstr>Determining the efficient set of N-asset portfolio</vt:lpstr>
      <vt:lpstr>N-asset portfolios: determining the efficient frontier</vt:lpstr>
      <vt:lpstr>Application of the efficient set rule to the feasible set</vt:lpstr>
      <vt:lpstr>The the minimum variance set and efficient set</vt:lpstr>
      <vt:lpstr>The efficient frontier of risky assets</vt:lpstr>
      <vt:lpstr>Minimum variance set and efficient set with short-selling of risky assets</vt:lpstr>
      <vt:lpstr>The shape of the efficient frontier - impossibility of  having ‘dents’</vt:lpstr>
      <vt:lpstr>The shape of the efficient frontier - impossibility of  having ‘dents’, cont.</vt:lpstr>
      <vt:lpstr>Reading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Owen, Zoe</dc:creator>
  <cp:lastModifiedBy>PG-Zhong, Yuguang</cp:lastModifiedBy>
  <cp:revision>20</cp:revision>
  <dcterms:created xsi:type="dcterms:W3CDTF">2024-07-17T12:41:19Z</dcterms:created>
  <dcterms:modified xsi:type="dcterms:W3CDTF">2026-10-16T11:38:51Z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6c24981-b6df-48f8-949b-0896357b9b03_Enabled">
    <vt:lpwstr>true</vt:lpwstr>
  </property>
  <property fmtid="{D5CDD505-2E9C-101B-9397-08002B2CF9AE}" pid="3" name="MSIP_Label_06c24981-b6df-48f8-949b-0896357b9b03_SetDate">
    <vt:lpwstr>2024-07-09T13:37:50Z</vt:lpwstr>
  </property>
  <property fmtid="{D5CDD505-2E9C-101B-9397-08002B2CF9AE}" pid="4" name="MSIP_Label_06c24981-b6df-48f8-949b-0896357b9b03_Method">
    <vt:lpwstr>Standard</vt:lpwstr>
  </property>
  <property fmtid="{D5CDD505-2E9C-101B-9397-08002B2CF9AE}" pid="5" name="MSIP_Label_06c24981-b6df-48f8-949b-0896357b9b03_Name">
    <vt:lpwstr>Official</vt:lpwstr>
  </property>
  <property fmtid="{D5CDD505-2E9C-101B-9397-08002B2CF9AE}" pid="6" name="MSIP_Label_06c24981-b6df-48f8-949b-0896357b9b03_SiteId">
    <vt:lpwstr>dd615949-5bd0-4da0-ac52-28ef8d336373</vt:lpwstr>
  </property>
  <property fmtid="{D5CDD505-2E9C-101B-9397-08002B2CF9AE}" pid="7" name="MSIP_Label_06c24981-b6df-48f8-949b-0896357b9b03_ActionId">
    <vt:lpwstr>31af5868-b9af-4160-8bf7-e70a2e425d89</vt:lpwstr>
  </property>
  <property fmtid="{D5CDD505-2E9C-101B-9397-08002B2CF9AE}" pid="8" name="MSIP_Label_06c24981-b6df-48f8-949b-0896357b9b03_ContentBits">
    <vt:lpwstr>0</vt:lpwstr>
  </property>
  <property fmtid="{D5CDD505-2E9C-101B-9397-08002B2CF9AE}" pid="9" name="ContentTypeId">
    <vt:lpwstr>0x010100FD636429A6E36D4181F2717D9C82FA19</vt:lpwstr>
  </property>
</Properties>
</file>