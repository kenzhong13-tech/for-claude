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70" r:id="rId2"/>
    <p:sldId id="258" r:id="rId3"/>
    <p:sldId id="259" r:id="rId4"/>
    <p:sldId id="262" r:id="rId5"/>
    <p:sldId id="290" r:id="rId6"/>
    <p:sldId id="264" r:id="rId7"/>
    <p:sldId id="267" r:id="rId8"/>
    <p:sldId id="292" r:id="rId9"/>
    <p:sldId id="355" r:id="rId10"/>
    <p:sldId id="268" r:id="rId11"/>
    <p:sldId id="271" r:id="rId12"/>
    <p:sldId id="269" r:id="rId13"/>
    <p:sldId id="275" r:id="rId14"/>
    <p:sldId id="362" r:id="rId15"/>
    <p:sldId id="349" r:id="rId16"/>
    <p:sldId id="277" r:id="rId17"/>
    <p:sldId id="356" r:id="rId18"/>
    <p:sldId id="350" r:id="rId19"/>
    <p:sldId id="279" r:id="rId20"/>
    <p:sldId id="351" r:id="rId21"/>
    <p:sldId id="281" r:id="rId22"/>
    <p:sldId id="364" r:id="rId23"/>
    <p:sldId id="380" r:id="rId24"/>
    <p:sldId id="376" r:id="rId25"/>
    <p:sldId id="394" r:id="rId26"/>
    <p:sldId id="372" r:id="rId27"/>
    <p:sldId id="367" r:id="rId28"/>
    <p:sldId id="368" r:id="rId29"/>
    <p:sldId id="282" r:id="rId30"/>
    <p:sldId id="366" r:id="rId31"/>
    <p:sldId id="284" r:id="rId32"/>
    <p:sldId id="369" r:id="rId33"/>
    <p:sldId id="373" r:id="rId34"/>
    <p:sldId id="392" r:id="rId35"/>
    <p:sldId id="285" r:id="rId36"/>
    <p:sldId id="263" r:id="rId37"/>
    <p:sldId id="307" r:id="rId38"/>
    <p:sldId id="315" r:id="rId39"/>
    <p:sldId id="387" r:id="rId40"/>
    <p:sldId id="314" r:id="rId41"/>
    <p:sldId id="287" r:id="rId42"/>
    <p:sldId id="37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178"/>
  </p:normalViewPr>
  <p:slideViewPr>
    <p:cSldViewPr snapToGrid="0">
      <p:cViewPr varScale="1">
        <p:scale>
          <a:sx n="119" d="100"/>
          <a:sy n="119" d="100"/>
        </p:scale>
        <p:origin x="7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DFCC53-D8D9-C946-8C84-33BCC87BD6F1}" type="datetimeFigureOut">
              <a:rPr lang="en-US" smtClean="0"/>
              <a:t>10/16/26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7DAE58-8D8D-A14A-8031-30271B940915}" type="slidenum">
              <a:rPr lang="en-US" smtClean="0"/>
              <a:t>‹#›</a:t>
            </a:fld>
            <a:endParaRPr lang="en-US"/>
          </a:p>
        </p:txBody>
      </p:sp>
    </p:spTree>
    <p:extLst>
      <p:ext uri="{BB962C8B-B14F-4D97-AF65-F5344CB8AC3E}">
        <p14:creationId xmlns:p14="http://schemas.microsoft.com/office/powerpoint/2010/main" val="3653230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1EFF9-0505-8F4F-B1BF-AA20F9E0A1D7}" type="slidenum">
              <a:rPr lang="en-US" smtClean="0"/>
              <a:t>12</a:t>
            </a:fld>
            <a:endParaRPr lang="en-US"/>
          </a:p>
        </p:txBody>
      </p:sp>
    </p:spTree>
    <p:extLst>
      <p:ext uri="{BB962C8B-B14F-4D97-AF65-F5344CB8AC3E}">
        <p14:creationId xmlns:p14="http://schemas.microsoft.com/office/powerpoint/2010/main" val="2129050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51EFF9-0505-8F4F-B1BF-AA20F9E0A1D7}" type="slidenum">
              <a:rPr lang="en-US" smtClean="0"/>
              <a:t>13</a:t>
            </a:fld>
            <a:endParaRPr lang="en-US"/>
          </a:p>
        </p:txBody>
      </p:sp>
    </p:spTree>
    <p:extLst>
      <p:ext uri="{BB962C8B-B14F-4D97-AF65-F5344CB8AC3E}">
        <p14:creationId xmlns:p14="http://schemas.microsoft.com/office/powerpoint/2010/main" val="44435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C0D0B4F-37AF-F844-AE7D-75CDB1355ABF}"/>
              </a:ext>
            </a:extLst>
          </p:cNvPr>
          <p:cNvSpPr>
            <a:spLocks noGrp="1" noChangeArrowheads="1"/>
          </p:cNvSpPr>
          <p:nvPr>
            <p:ph type="sldNum" sz="quarter" idx="5"/>
          </p:nvPr>
        </p:nvSpPr>
        <p:spPr>
          <a:ln/>
        </p:spPr>
        <p:txBody>
          <a:bodyPr/>
          <a:lstStyle/>
          <a:p>
            <a:fld id="{1FA30A89-D373-A14E-9F74-CF12FFC99887}" type="slidenum">
              <a:rPr lang="en-US" altLang="en-US"/>
              <a:pPr/>
              <a:t>24</a:t>
            </a:fld>
            <a:endParaRPr lang="en-US" altLang="en-US"/>
          </a:p>
        </p:txBody>
      </p:sp>
      <p:sp>
        <p:nvSpPr>
          <p:cNvPr id="23554" name="Rectangle 2">
            <a:extLst>
              <a:ext uri="{FF2B5EF4-FFF2-40B4-BE49-F238E27FC236}">
                <a16:creationId xmlns:a16="http://schemas.microsoft.com/office/drawing/2014/main" id="{C35143D4-7FFF-444A-BB89-51109ACD8DE2}"/>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80AA9B16-478A-304F-8997-CA193AEF5730}"/>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30213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E4AB-538B-054B-3504-F345C20E5EE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94A6FAF-83E8-BC98-32FD-095702BE09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AEB9AA5-2345-8046-06C4-1CFE03B71F7C}"/>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5" name="Footer Placeholder 4">
            <a:extLst>
              <a:ext uri="{FF2B5EF4-FFF2-40B4-BE49-F238E27FC236}">
                <a16:creationId xmlns:a16="http://schemas.microsoft.com/office/drawing/2014/main" id="{7B292261-C992-B7C4-E5AA-A49CC4F6B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CF6CE-8156-1BE9-C9F4-4F72C2DE292C}"/>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1635851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E0B0-6F2D-0976-5CF9-D0C9557C73D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850C965-733C-B9B8-75F4-4CDE908C35E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F24F168-EEC5-0E7F-BFE8-E64F5546A2B0}"/>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5" name="Footer Placeholder 4">
            <a:extLst>
              <a:ext uri="{FF2B5EF4-FFF2-40B4-BE49-F238E27FC236}">
                <a16:creationId xmlns:a16="http://schemas.microsoft.com/office/drawing/2014/main" id="{E3E1B8EE-4F6C-8D42-583A-46ABF7FE9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9B1B40-2076-F073-B4D6-0976F134FAB0}"/>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3490893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3CF0C-9D49-CD20-731D-49C9EE50B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303B760-75AB-5685-2D63-29FF065BD5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90636B0-D245-1C88-2A14-E659ADEECB24}"/>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5" name="Footer Placeholder 4">
            <a:extLst>
              <a:ext uri="{FF2B5EF4-FFF2-40B4-BE49-F238E27FC236}">
                <a16:creationId xmlns:a16="http://schemas.microsoft.com/office/drawing/2014/main" id="{BC6365EA-45F6-139E-1F1F-3C9BA458F3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FDCBC-8C28-A920-15EC-76E00A54D247}"/>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2578227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8E4BF-BC4E-02EA-8BFD-9A2082C718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DC02EB0-18C7-03B6-E103-AD8321F1820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C861836-C253-FB4B-43BE-39156DFD865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B3F1708-799E-C601-F17B-BD965B17774B}"/>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6" name="Footer Placeholder 5">
            <a:extLst>
              <a:ext uri="{FF2B5EF4-FFF2-40B4-BE49-F238E27FC236}">
                <a16:creationId xmlns:a16="http://schemas.microsoft.com/office/drawing/2014/main" id="{4C1EF90C-884D-9A1C-3144-6BB418F9D0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4B3198-A1EE-35AB-943B-075C58062F24}"/>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189516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D76CF-621B-BD73-7F6B-1744DC62E03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9B1B7AB-F713-6E32-8EB4-ACED911889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E675DCA-0C35-7CD9-5D4E-7E2B09B04EB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EF7684D-3A49-47C9-4314-8A01897F1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04F515A-B7B8-4A16-366D-A48E2A19BEF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D00725E-3FE8-8572-ECA1-AB84111F54CB}"/>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8" name="Footer Placeholder 7">
            <a:extLst>
              <a:ext uri="{FF2B5EF4-FFF2-40B4-BE49-F238E27FC236}">
                <a16:creationId xmlns:a16="http://schemas.microsoft.com/office/drawing/2014/main" id="{A2031F96-508E-9C24-0C29-8077A58613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CF3B82-8056-9BAB-7DE1-15F52F1D2398}"/>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2270745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0DBF-749E-20E2-EEC5-F9E3086F69F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9980A34-A345-B324-F9EB-1DD0DEA55B8D}"/>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4" name="Footer Placeholder 3">
            <a:extLst>
              <a:ext uri="{FF2B5EF4-FFF2-40B4-BE49-F238E27FC236}">
                <a16:creationId xmlns:a16="http://schemas.microsoft.com/office/drawing/2014/main" id="{6C5DB999-BA56-F942-72FD-D7B2D88356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B5460C-BB12-C79D-95BE-DABA5C5870DA}"/>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1941815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5865BE-84F1-F4C6-F08F-E849EB5A1FEA}"/>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3" name="Footer Placeholder 2">
            <a:extLst>
              <a:ext uri="{FF2B5EF4-FFF2-40B4-BE49-F238E27FC236}">
                <a16:creationId xmlns:a16="http://schemas.microsoft.com/office/drawing/2014/main" id="{1E06A637-1475-DEF9-CDEC-F41B19CA8C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B712B4-E544-D5F6-587D-B3DDC4E1EB46}"/>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2936472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36C92-B790-7D05-C9D8-DB868A4736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2EF4C42-16E3-F8A5-EE6E-E5427CD789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15FBE8E-A9E4-6028-2E7B-1709D9770B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171651-FF43-5B3D-9FF3-A3EB46AE1BCE}"/>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6" name="Footer Placeholder 5">
            <a:extLst>
              <a:ext uri="{FF2B5EF4-FFF2-40B4-BE49-F238E27FC236}">
                <a16:creationId xmlns:a16="http://schemas.microsoft.com/office/drawing/2014/main" id="{B20622F4-C706-3317-0711-14BC27EADC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BF926-6538-EF4D-D382-CEA68331AFCC}"/>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1036837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9065B-BB67-EC24-E123-4E228A9D71E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50D1EEF-6075-7392-005C-30F80D7296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268C79-BAA6-B44F-D601-089FE2AD73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23E1CC5-7708-E04B-804F-9A8AD8C477BF}"/>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6" name="Footer Placeholder 5">
            <a:extLst>
              <a:ext uri="{FF2B5EF4-FFF2-40B4-BE49-F238E27FC236}">
                <a16:creationId xmlns:a16="http://schemas.microsoft.com/office/drawing/2014/main" id="{A8CB34D4-85A4-9890-7BC7-BE63B1AD5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738F0B-911F-7D7B-C54C-190BC2C0A74F}"/>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1508998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607C-79FD-3696-13B0-0C0C844E57E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FDECCF8-8A02-C09E-475C-76DF8751C5E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F10C86-EF5C-369A-E827-EC3D99161218}"/>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5" name="Footer Placeholder 4">
            <a:extLst>
              <a:ext uri="{FF2B5EF4-FFF2-40B4-BE49-F238E27FC236}">
                <a16:creationId xmlns:a16="http://schemas.microsoft.com/office/drawing/2014/main" id="{287298D8-C73C-CB35-F3BF-9E1F732DB7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808920-472B-719B-3831-7E2A0E46AC19}"/>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1246732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72DCF3-6887-FAB5-3E79-0855DF7B6EB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696F8BA-7C5E-0261-C2A9-D0E27C4CA27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E1FEEFB-B557-3D5E-22BF-EC29C4A1BC6A}"/>
              </a:ext>
            </a:extLst>
          </p:cNvPr>
          <p:cNvSpPr>
            <a:spLocks noGrp="1"/>
          </p:cNvSpPr>
          <p:nvPr>
            <p:ph type="dt" sz="half" idx="10"/>
          </p:nvPr>
        </p:nvSpPr>
        <p:spPr/>
        <p:txBody>
          <a:bodyPr/>
          <a:lstStyle/>
          <a:p>
            <a:fld id="{27E60153-6A30-3440-87D7-0F0D53D329DC}" type="datetimeFigureOut">
              <a:rPr lang="en-US" smtClean="0"/>
              <a:t>10/16/26</a:t>
            </a:fld>
            <a:endParaRPr lang="en-US"/>
          </a:p>
        </p:txBody>
      </p:sp>
      <p:sp>
        <p:nvSpPr>
          <p:cNvPr id="5" name="Footer Placeholder 4">
            <a:extLst>
              <a:ext uri="{FF2B5EF4-FFF2-40B4-BE49-F238E27FC236}">
                <a16:creationId xmlns:a16="http://schemas.microsoft.com/office/drawing/2014/main" id="{4ABB4CB8-FC8F-FDC9-9B43-46301D11F7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E6DA43-37D7-5465-E40A-864D50E6EB64}"/>
              </a:ext>
            </a:extLst>
          </p:cNvPr>
          <p:cNvSpPr>
            <a:spLocks noGrp="1"/>
          </p:cNvSpPr>
          <p:nvPr>
            <p:ph type="sldNum" sz="quarter" idx="12"/>
          </p:nvPr>
        </p:nvSpPr>
        <p:spPr/>
        <p:txBody>
          <a:bodyPr/>
          <a:lstStyle/>
          <a:p>
            <a:fld id="{87AB9E61-AD91-E149-A83A-64113D72AC2C}" type="slidenum">
              <a:rPr lang="en-US" smtClean="0"/>
              <a:t>‹#›</a:t>
            </a:fld>
            <a:endParaRPr lang="en-US"/>
          </a:p>
        </p:txBody>
      </p:sp>
    </p:spTree>
    <p:extLst>
      <p:ext uri="{BB962C8B-B14F-4D97-AF65-F5344CB8AC3E}">
        <p14:creationId xmlns:p14="http://schemas.microsoft.com/office/powerpoint/2010/main" val="2109792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Divider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2870EF4-331B-1641-B431-8906530116AF}"/>
              </a:ext>
            </a:extLst>
          </p:cNvPr>
          <p:cNvSpPr>
            <a:spLocks noGrp="1"/>
          </p:cNvSpPr>
          <p:nvPr>
            <p:ph type="title"/>
          </p:nvPr>
        </p:nvSpPr>
        <p:spPr>
          <a:xfrm>
            <a:off x="0" y="2420888"/>
            <a:ext cx="5769429" cy="1008112"/>
          </a:xfrm>
          <a:noFill/>
        </p:spPr>
        <p:txBody>
          <a:bodyPr anchor="ctr"/>
          <a:lstStyle>
            <a:lvl1pPr algn="ctr">
              <a:defRPr sz="2800">
                <a:solidFill>
                  <a:schemeClr val="tx1"/>
                </a:solidFill>
              </a:defRPr>
            </a:lvl1pPr>
          </a:lstStyle>
          <a:p>
            <a:r>
              <a:rPr lang="en-GB"/>
              <a:t>Click to edit Master title style</a:t>
            </a:r>
            <a:endParaRPr lang="en-US" dirty="0"/>
          </a:p>
        </p:txBody>
      </p:sp>
      <p:sp>
        <p:nvSpPr>
          <p:cNvPr id="10" name="Text Placeholder 3">
            <a:extLst>
              <a:ext uri="{FF2B5EF4-FFF2-40B4-BE49-F238E27FC236}">
                <a16:creationId xmlns:a16="http://schemas.microsoft.com/office/drawing/2014/main" id="{7889D59F-9699-EC45-9CCC-C83B922D854F}"/>
              </a:ext>
            </a:extLst>
          </p:cNvPr>
          <p:cNvSpPr>
            <a:spLocks noGrp="1"/>
          </p:cNvSpPr>
          <p:nvPr>
            <p:ph type="body" sz="half" idx="2"/>
          </p:nvPr>
        </p:nvSpPr>
        <p:spPr>
          <a:xfrm>
            <a:off x="0" y="3556049"/>
            <a:ext cx="5769429" cy="881062"/>
          </a:xfrm>
          <a:noFill/>
        </p:spPr>
        <p:txBody>
          <a:bodyPr anchor="ctr"/>
          <a:lstStyle>
            <a:lvl1pPr marL="0" indent="0" algn="ctr">
              <a:buNone/>
              <a:defRPr sz="200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Text Placeholder 3">
            <a:extLst>
              <a:ext uri="{FF2B5EF4-FFF2-40B4-BE49-F238E27FC236}">
                <a16:creationId xmlns:a16="http://schemas.microsoft.com/office/drawing/2014/main" id="{5E2D951E-9554-8F4A-A8DB-C0A96A57E94A}"/>
              </a:ext>
            </a:extLst>
          </p:cNvPr>
          <p:cNvSpPr>
            <a:spLocks noGrp="1"/>
          </p:cNvSpPr>
          <p:nvPr>
            <p:ph type="body" sz="half" idx="10" hasCustomPrompt="1"/>
          </p:nvPr>
        </p:nvSpPr>
        <p:spPr>
          <a:xfrm>
            <a:off x="0" y="6381549"/>
            <a:ext cx="5769430" cy="311082"/>
          </a:xfrm>
          <a:noFill/>
        </p:spPr>
        <p:txBody>
          <a:bodyPr anchor="ctr"/>
          <a:lstStyle>
            <a:lvl1pPr marL="0" indent="0" algn="ctr">
              <a:buNone/>
              <a:defRPr sz="1200">
                <a:solidFill>
                  <a:srgbClr val="999999"/>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dirty="0"/>
              <a:t>Bayes Business School (formerly Cass)</a:t>
            </a:r>
          </a:p>
        </p:txBody>
      </p:sp>
    </p:spTree>
    <p:extLst>
      <p:ext uri="{BB962C8B-B14F-4D97-AF65-F5344CB8AC3E}">
        <p14:creationId xmlns:p14="http://schemas.microsoft.com/office/powerpoint/2010/main" val="3562476534"/>
      </p:ext>
    </p:extLst>
  </p:cSld>
  <p:clrMapOvr>
    <a:masterClrMapping/>
  </p:clrMapOvr>
  <p:extLst>
    <p:ext uri="{DCECCB84-F9BA-43D5-87BE-67443E8EF086}">
      <p15:sldGuideLst xmlns:p15="http://schemas.microsoft.com/office/powerpoint/2012/main">
        <p15:guide id="1" orient="horz" pos="2160">
          <p15:clr>
            <a:srgbClr val="FBAE40"/>
          </p15:clr>
        </p15:guide>
        <p15:guide id="2" pos="604">
          <p15:clr>
            <a:srgbClr val="FBAE40"/>
          </p15:clr>
        </p15:guide>
        <p15:guide id="3" pos="7076">
          <p15:clr>
            <a:srgbClr val="FBAE40"/>
          </p15:clr>
        </p15:guide>
        <p15:guide id="4" pos="907">
          <p15:clr>
            <a:srgbClr val="FBAE40"/>
          </p15:clr>
        </p15:guide>
        <p15:guide id="5" pos="677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Two Content">
    <p:bg>
      <p:bgPr>
        <a:solidFill>
          <a:schemeClr val="bg1"/>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C8CFC670-7372-8B41-AFE2-250E7D755F28}"/>
              </a:ext>
            </a:extLst>
          </p:cNvPr>
          <p:cNvSpPr>
            <a:spLocks/>
          </p:cNvSpPr>
          <p:nvPr userDrawn="1"/>
        </p:nvSpPr>
        <p:spPr bwMode="auto">
          <a:xfrm>
            <a:off x="0" y="0"/>
            <a:ext cx="739763" cy="720000"/>
          </a:xfrm>
          <a:custGeom>
            <a:avLst/>
            <a:gdLst/>
            <a:ahLst/>
            <a:cxnLst>
              <a:cxn ang="0">
                <a:pos x="1012" y="0"/>
              </a:cxn>
              <a:cxn ang="0">
                <a:pos x="506" y="0"/>
              </a:cxn>
              <a:cxn ang="0">
                <a:pos x="0" y="0"/>
              </a:cxn>
              <a:cxn ang="0">
                <a:pos x="0" y="506"/>
              </a:cxn>
              <a:cxn ang="0">
                <a:pos x="0" y="1013"/>
              </a:cxn>
              <a:cxn ang="0">
                <a:pos x="506" y="1013"/>
              </a:cxn>
              <a:cxn ang="0">
                <a:pos x="506" y="506"/>
              </a:cxn>
              <a:cxn ang="0">
                <a:pos x="1012" y="506"/>
              </a:cxn>
              <a:cxn ang="0">
                <a:pos x="1012" y="0"/>
              </a:cxn>
            </a:cxnLst>
            <a:rect l="0" t="0" r="r" b="b"/>
            <a:pathLst>
              <a:path w="1012" h="1013">
                <a:moveTo>
                  <a:pt x="1012" y="0"/>
                </a:moveTo>
                <a:lnTo>
                  <a:pt x="506" y="0"/>
                </a:lnTo>
                <a:lnTo>
                  <a:pt x="0" y="0"/>
                </a:lnTo>
                <a:lnTo>
                  <a:pt x="0" y="506"/>
                </a:lnTo>
                <a:lnTo>
                  <a:pt x="0" y="1013"/>
                </a:lnTo>
                <a:lnTo>
                  <a:pt x="506" y="1013"/>
                </a:lnTo>
                <a:lnTo>
                  <a:pt x="506" y="506"/>
                </a:lnTo>
                <a:lnTo>
                  <a:pt x="1012" y="506"/>
                </a:lnTo>
                <a:lnTo>
                  <a:pt x="1012" y="0"/>
                </a:lnTo>
                <a:close/>
              </a:path>
            </a:pathLst>
          </a:custGeom>
          <a:solidFill>
            <a:srgbClr val="B0AAA7"/>
          </a:solidFill>
          <a:ln w="9525">
            <a:noFill/>
            <a:round/>
            <a:headEnd/>
            <a:tailEnd/>
          </a:ln>
        </p:spPr>
        <p:txBody>
          <a:bodyPr vert="horz" wrap="square" lIns="68580" tIns="34290" rIns="68580" bIns="34290" numCol="1" anchor="t" anchorCtr="0" compatLnSpc="1">
            <a:prstTxWarp prst="textNoShape">
              <a:avLst/>
            </a:prstTxWarp>
          </a:bodyPr>
          <a:lstStyle/>
          <a:p>
            <a:endParaRPr lang="en-GB" dirty="0"/>
          </a:p>
        </p:txBody>
      </p:sp>
      <p:sp>
        <p:nvSpPr>
          <p:cNvPr id="12" name="Content Placeholder 3">
            <a:extLst>
              <a:ext uri="{FF2B5EF4-FFF2-40B4-BE49-F238E27FC236}">
                <a16:creationId xmlns:a16="http://schemas.microsoft.com/office/drawing/2014/main" id="{C6F6B355-92FE-8F40-AFC6-7F97430F3C44}"/>
              </a:ext>
            </a:extLst>
          </p:cNvPr>
          <p:cNvSpPr>
            <a:spLocks noGrp="1"/>
          </p:cNvSpPr>
          <p:nvPr>
            <p:ph sz="half" idx="2"/>
          </p:nvPr>
        </p:nvSpPr>
        <p:spPr>
          <a:xfrm>
            <a:off x="6299497" y="2032000"/>
            <a:ext cx="5453299" cy="4419600"/>
          </a:xfrm>
        </p:spPr>
        <p:txBody>
          <a:bodyPr/>
          <a:lstStyle>
            <a:lvl1pPr marL="134541" indent="-134541">
              <a:buClr>
                <a:srgbClr val="C9122B"/>
              </a:buClr>
              <a:buFont typeface="Lucida Grande"/>
              <a:buChar char="■"/>
              <a:defRPr sz="1800"/>
            </a:lvl1pPr>
            <a:lvl2pPr marL="260747" indent="-125016">
              <a:buClr>
                <a:srgbClr val="C9122B"/>
              </a:buClr>
              <a:buFont typeface="Lucida Grande"/>
              <a:buChar char="■"/>
              <a:defRPr sz="1650"/>
            </a:lvl2pPr>
            <a:lvl3pPr marL="403622" indent="-141685">
              <a:buClr>
                <a:srgbClr val="C9122B"/>
              </a:buClr>
              <a:buFont typeface="Lucida Grande"/>
              <a:buChar char="■"/>
              <a:defRPr sz="1500"/>
            </a:lvl3pPr>
            <a:lvl4pPr marL="534591" indent="-129779">
              <a:buClr>
                <a:srgbClr val="C9122B"/>
              </a:buClr>
              <a:buFont typeface="Lucida Grande"/>
              <a:buChar char="■"/>
              <a:defRPr sz="1350"/>
            </a:lvl4pPr>
            <a:lvl5pPr marL="673894" indent="-138113">
              <a:buClr>
                <a:srgbClr val="C9122B"/>
              </a:buClr>
              <a:buFont typeface="Lucida Grande"/>
              <a:buChar char="■"/>
              <a:defRPr sz="120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4" name="Title 1">
            <a:extLst>
              <a:ext uri="{FF2B5EF4-FFF2-40B4-BE49-F238E27FC236}">
                <a16:creationId xmlns:a16="http://schemas.microsoft.com/office/drawing/2014/main" id="{6B37A479-2A14-1544-9DFD-0E49B60F4DD8}"/>
              </a:ext>
            </a:extLst>
          </p:cNvPr>
          <p:cNvSpPr>
            <a:spLocks noGrp="1"/>
          </p:cNvSpPr>
          <p:nvPr>
            <p:ph type="title"/>
          </p:nvPr>
        </p:nvSpPr>
        <p:spPr>
          <a:xfrm>
            <a:off x="437548" y="1076673"/>
            <a:ext cx="11315248" cy="785542"/>
          </a:xfrm>
          <a:noFill/>
        </p:spPr>
        <p:txBody>
          <a:bodyPr/>
          <a:lstStyle>
            <a:lvl1pPr>
              <a:defRPr>
                <a:solidFill>
                  <a:schemeClr val="tx1"/>
                </a:solidFill>
              </a:defRPr>
            </a:lvl1pPr>
          </a:lstStyle>
          <a:p>
            <a:r>
              <a:rPr lang="en-GB"/>
              <a:t>Click to edit Master title style</a:t>
            </a:r>
            <a:endParaRPr lang="en-US" dirty="0"/>
          </a:p>
        </p:txBody>
      </p:sp>
      <p:sp>
        <p:nvSpPr>
          <p:cNvPr id="15" name="Content Placeholder 2">
            <a:extLst>
              <a:ext uri="{FF2B5EF4-FFF2-40B4-BE49-F238E27FC236}">
                <a16:creationId xmlns:a16="http://schemas.microsoft.com/office/drawing/2014/main" id="{23517C1E-EE6F-E246-8DCE-66C8D904C87E}"/>
              </a:ext>
            </a:extLst>
          </p:cNvPr>
          <p:cNvSpPr>
            <a:spLocks noGrp="1"/>
          </p:cNvSpPr>
          <p:nvPr>
            <p:ph idx="1"/>
          </p:nvPr>
        </p:nvSpPr>
        <p:spPr>
          <a:xfrm>
            <a:off x="437547" y="2032000"/>
            <a:ext cx="5658453" cy="4419600"/>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021438738"/>
      </p:ext>
    </p:extLst>
  </p:cSld>
  <p:clrMapOvr>
    <a:masterClrMapping/>
  </p:clrMapOvr>
  <p:extLst>
    <p:ext uri="{DCECCB84-F9BA-43D5-87BE-67443E8EF086}">
      <p15:sldGuideLst xmlns:p15="http://schemas.microsoft.com/office/powerpoint/2012/main">
        <p15:guide id="1" orient="horz" pos="4133">
          <p15:clr>
            <a:srgbClr val="FBAE40"/>
          </p15:clr>
        </p15:guide>
        <p15:guide id="2" pos="7379">
          <p15:clr>
            <a:srgbClr val="FBAE40"/>
          </p15:clr>
        </p15:guide>
        <p15:guide id="3" pos="3719">
          <p15:clr>
            <a:srgbClr val="FBAE40"/>
          </p15:clr>
        </p15:guide>
        <p15:guide id="4" pos="3961">
          <p15:clr>
            <a:srgbClr val="FBAE40"/>
          </p15:clr>
        </p15:guide>
        <p15:guide id="5" orient="horz" pos="324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7548" y="1076673"/>
            <a:ext cx="11315248" cy="785542"/>
          </a:xfrm>
          <a:noFill/>
        </p:spPr>
        <p:txBody>
          <a:bodyPr/>
          <a:lstStyle>
            <a:lvl1pPr>
              <a:defRPr>
                <a:solidFill>
                  <a:schemeClr val="tx1"/>
                </a:solidFill>
              </a:defRPr>
            </a:lvl1pPr>
          </a:lstStyle>
          <a:p>
            <a:r>
              <a:rPr lang="en-GB"/>
              <a:t>Click to edit Master title style</a:t>
            </a:r>
            <a:endParaRPr lang="en-US" dirty="0"/>
          </a:p>
        </p:txBody>
      </p:sp>
      <p:sp>
        <p:nvSpPr>
          <p:cNvPr id="3" name="Content Placeholder 2"/>
          <p:cNvSpPr>
            <a:spLocks noGrp="1"/>
          </p:cNvSpPr>
          <p:nvPr>
            <p:ph idx="1"/>
          </p:nvPr>
        </p:nvSpPr>
        <p:spPr>
          <a:xfrm>
            <a:off x="437547" y="2032000"/>
            <a:ext cx="11315248" cy="4419600"/>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reeform 6">
            <a:extLst>
              <a:ext uri="{FF2B5EF4-FFF2-40B4-BE49-F238E27FC236}">
                <a16:creationId xmlns:a16="http://schemas.microsoft.com/office/drawing/2014/main" id="{70AB6B20-3894-8747-812B-5A06C85618D6}"/>
              </a:ext>
            </a:extLst>
          </p:cNvPr>
          <p:cNvSpPr>
            <a:spLocks/>
          </p:cNvSpPr>
          <p:nvPr userDrawn="1"/>
        </p:nvSpPr>
        <p:spPr bwMode="auto">
          <a:xfrm>
            <a:off x="0" y="0"/>
            <a:ext cx="739763" cy="720000"/>
          </a:xfrm>
          <a:custGeom>
            <a:avLst/>
            <a:gdLst/>
            <a:ahLst/>
            <a:cxnLst>
              <a:cxn ang="0">
                <a:pos x="1012" y="0"/>
              </a:cxn>
              <a:cxn ang="0">
                <a:pos x="506" y="0"/>
              </a:cxn>
              <a:cxn ang="0">
                <a:pos x="0" y="0"/>
              </a:cxn>
              <a:cxn ang="0">
                <a:pos x="0" y="506"/>
              </a:cxn>
              <a:cxn ang="0">
                <a:pos x="0" y="1013"/>
              </a:cxn>
              <a:cxn ang="0">
                <a:pos x="506" y="1013"/>
              </a:cxn>
              <a:cxn ang="0">
                <a:pos x="506" y="506"/>
              </a:cxn>
              <a:cxn ang="0">
                <a:pos x="1012" y="506"/>
              </a:cxn>
              <a:cxn ang="0">
                <a:pos x="1012" y="0"/>
              </a:cxn>
            </a:cxnLst>
            <a:rect l="0" t="0" r="r" b="b"/>
            <a:pathLst>
              <a:path w="1012" h="1013">
                <a:moveTo>
                  <a:pt x="1012" y="0"/>
                </a:moveTo>
                <a:lnTo>
                  <a:pt x="506" y="0"/>
                </a:lnTo>
                <a:lnTo>
                  <a:pt x="0" y="0"/>
                </a:lnTo>
                <a:lnTo>
                  <a:pt x="0" y="506"/>
                </a:lnTo>
                <a:lnTo>
                  <a:pt x="0" y="1013"/>
                </a:lnTo>
                <a:lnTo>
                  <a:pt x="506" y="1013"/>
                </a:lnTo>
                <a:lnTo>
                  <a:pt x="506" y="506"/>
                </a:lnTo>
                <a:lnTo>
                  <a:pt x="1012" y="506"/>
                </a:lnTo>
                <a:lnTo>
                  <a:pt x="1012" y="0"/>
                </a:lnTo>
                <a:close/>
              </a:path>
            </a:pathLst>
          </a:custGeom>
          <a:solidFill>
            <a:srgbClr val="B0AAA7"/>
          </a:solidFill>
          <a:ln w="9525">
            <a:noFill/>
            <a:round/>
            <a:headEnd/>
            <a:tailEnd/>
          </a:ln>
        </p:spPr>
        <p:txBody>
          <a:bodyPr vert="horz" wrap="square" lIns="68580" tIns="34290" rIns="68580" bIns="3429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461539927"/>
      </p:ext>
    </p:extLst>
  </p:cSld>
  <p:clrMapOvr>
    <a:masterClrMapping/>
  </p:clrMapOvr>
  <p:extLst>
    <p:ext uri="{DCECCB84-F9BA-43D5-87BE-67443E8EF086}">
      <p15:sldGuideLst xmlns:p15="http://schemas.microsoft.com/office/powerpoint/2012/main">
        <p15:guide id="1" orient="horz" pos="799">
          <p15:clr>
            <a:srgbClr val="FBAE40"/>
          </p15:clr>
        </p15:guide>
        <p15:guide id="2" pos="301">
          <p15:clr>
            <a:srgbClr val="FBAE40"/>
          </p15:clr>
        </p15:guide>
        <p15:guide id="3" pos="737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0DDA1CF-CC3B-52BE-93DB-F49F04C33559}"/>
              </a:ext>
            </a:extLst>
          </p:cNvPr>
          <p:cNvSpPr>
            <a:spLocks noGrp="1"/>
          </p:cNvSpPr>
          <p:nvPr>
            <p:ph type="title" hasCustomPrompt="1"/>
          </p:nvPr>
        </p:nvSpPr>
        <p:spPr>
          <a:xfrm>
            <a:off x="296561" y="2331889"/>
            <a:ext cx="4707924" cy="1296144"/>
          </a:xfrm>
        </p:spPr>
        <p:txBody>
          <a:bodyPr/>
          <a:lstStyle>
            <a:lvl1pPr algn="l">
              <a:defRPr sz="4000" b="1" i="0">
                <a:solidFill>
                  <a:schemeClr val="bg1"/>
                </a:solidFill>
                <a:latin typeface="Arial" charset="0"/>
                <a:ea typeface="Arial" charset="0"/>
                <a:cs typeface="Arial" charset="0"/>
              </a:defRPr>
            </a:lvl1pPr>
          </a:lstStyle>
          <a:p>
            <a:r>
              <a:rPr lang="en-US" dirty="0"/>
              <a:t>Title here </a:t>
            </a:r>
            <a:br>
              <a:rPr lang="en-US" dirty="0"/>
            </a:br>
            <a:r>
              <a:rPr lang="en-US" dirty="0"/>
              <a:t>(Cover option 2)</a:t>
            </a:r>
          </a:p>
        </p:txBody>
      </p:sp>
      <p:sp>
        <p:nvSpPr>
          <p:cNvPr id="8" name="Content Placeholder 2">
            <a:extLst>
              <a:ext uri="{FF2B5EF4-FFF2-40B4-BE49-F238E27FC236}">
                <a16:creationId xmlns:a16="http://schemas.microsoft.com/office/drawing/2014/main" id="{E4F37063-BEEF-7D62-9408-D095FAB10455}"/>
              </a:ext>
            </a:extLst>
          </p:cNvPr>
          <p:cNvSpPr>
            <a:spLocks noGrp="1"/>
          </p:cNvSpPr>
          <p:nvPr>
            <p:ph idx="1" hasCustomPrompt="1"/>
          </p:nvPr>
        </p:nvSpPr>
        <p:spPr>
          <a:xfrm>
            <a:off x="295749" y="3988073"/>
            <a:ext cx="4707924" cy="485073"/>
          </a:xfrm>
        </p:spPr>
        <p:txBody>
          <a:bodyPr/>
          <a:lstStyle>
            <a:lvl1pPr marL="0" indent="0" algn="l">
              <a:buClr>
                <a:srgbClr val="C9122B"/>
              </a:buClr>
              <a:buFont typeface="Lucida Grande"/>
              <a:buNone/>
              <a:defRPr sz="2800">
                <a:solidFill>
                  <a:schemeClr val="bg1"/>
                </a:solidFill>
              </a:defRPr>
            </a:lvl1pPr>
            <a:lvl2pPr marL="347659" indent="-166686">
              <a:buClr>
                <a:srgbClr val="C9122B"/>
              </a:buClr>
              <a:buFont typeface="Lucida Grande"/>
              <a:buChar char="■"/>
              <a:defRPr/>
            </a:lvl2pPr>
            <a:lvl3pPr marL="538158" indent="-188911">
              <a:buClr>
                <a:srgbClr val="C9122B"/>
              </a:buClr>
              <a:buFont typeface="Lucida Grande"/>
              <a:buChar char="■"/>
              <a:defRPr/>
            </a:lvl3pPr>
            <a:lvl4pPr marL="712781" indent="-173037">
              <a:buClr>
                <a:srgbClr val="C9122B"/>
              </a:buClr>
              <a:buFont typeface="Lucida Grande"/>
              <a:buChar char="■"/>
              <a:defRPr sz="1800"/>
            </a:lvl4pPr>
            <a:lvl5pPr marL="898516" indent="-184148">
              <a:buClr>
                <a:srgbClr val="C9122B"/>
              </a:buClr>
              <a:buFont typeface="Lucida Grande"/>
              <a:buChar char="■"/>
              <a:defRPr sz="1800"/>
            </a:lvl5pPr>
          </a:lstStyle>
          <a:p>
            <a:pPr lvl="0"/>
            <a:r>
              <a:rPr lang="en-US" dirty="0"/>
              <a:t>Subtitle here</a:t>
            </a:r>
          </a:p>
        </p:txBody>
      </p:sp>
    </p:spTree>
    <p:extLst>
      <p:ext uri="{BB962C8B-B14F-4D97-AF65-F5344CB8AC3E}">
        <p14:creationId xmlns:p14="http://schemas.microsoft.com/office/powerpoint/2010/main" val="748127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B328AB-A542-B5D3-E446-10C03A491A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304F890-0E02-803A-D587-2FDB4D9B21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C130B6C-3C10-6596-752B-368550D6CD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E60153-6A30-3440-87D7-0F0D53D329DC}" type="datetimeFigureOut">
              <a:rPr lang="en-US" smtClean="0"/>
              <a:t>10/16/26</a:t>
            </a:fld>
            <a:endParaRPr lang="en-US"/>
          </a:p>
        </p:txBody>
      </p:sp>
      <p:sp>
        <p:nvSpPr>
          <p:cNvPr id="5" name="Footer Placeholder 4">
            <a:extLst>
              <a:ext uri="{FF2B5EF4-FFF2-40B4-BE49-F238E27FC236}">
                <a16:creationId xmlns:a16="http://schemas.microsoft.com/office/drawing/2014/main" id="{EF188265-F9D2-0FDE-4450-573AEC8B97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734EBC4-C100-021C-1BD0-BCD6BC7F5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AB9E61-AD91-E149-A83A-64113D72AC2C}" type="slidenum">
              <a:rPr lang="en-US" smtClean="0"/>
              <a:t>‹#›</a:t>
            </a:fld>
            <a:endParaRPr lang="en-US"/>
          </a:p>
        </p:txBody>
      </p:sp>
    </p:spTree>
    <p:extLst>
      <p:ext uri="{BB962C8B-B14F-4D97-AF65-F5344CB8AC3E}">
        <p14:creationId xmlns:p14="http://schemas.microsoft.com/office/powerpoint/2010/main" val="1119842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4" r:id="rId14"/>
    <p:sldLayoutId id="214748366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atasha.Todorovic.1@city.ac.uk" TargetMode="Externa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0.emf"/><Relationship Id="rId5" Type="http://schemas.openxmlformats.org/officeDocument/2006/relationships/oleObject" Target="../embeddings/oleObject3.bin"/><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2.e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5.emf"/><Relationship Id="rId3" Type="http://schemas.openxmlformats.org/officeDocument/2006/relationships/image" Target="../media/image20.emf"/><Relationship Id="rId7" Type="http://schemas.openxmlformats.org/officeDocument/2006/relationships/image" Target="../media/image22.emf"/><Relationship Id="rId12" Type="http://schemas.openxmlformats.org/officeDocument/2006/relationships/oleObject" Target="../embeddings/oleObject15.bin"/><Relationship Id="rId17" Type="http://schemas.openxmlformats.org/officeDocument/2006/relationships/image" Target="../media/image27.emf"/><Relationship Id="rId2" Type="http://schemas.openxmlformats.org/officeDocument/2006/relationships/oleObject" Target="../embeddings/oleObject10.bin"/><Relationship Id="rId16" Type="http://schemas.openxmlformats.org/officeDocument/2006/relationships/oleObject" Target="../embeddings/oleObject17.bin"/><Relationship Id="rId20"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image" Target="../media/image24.emf"/><Relationship Id="rId5" Type="http://schemas.openxmlformats.org/officeDocument/2006/relationships/image" Target="../media/image21.emf"/><Relationship Id="rId15" Type="http://schemas.openxmlformats.org/officeDocument/2006/relationships/image" Target="../media/image26.e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3.emf"/><Relationship Id="rId14" Type="http://schemas.openxmlformats.org/officeDocument/2006/relationships/oleObject" Target="../embeddings/oleObject16.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sz="3200" dirty="0">
                <a:effectLst>
                  <a:outerShdw blurRad="38100" dist="38100" dir="2700000" algn="tl">
                    <a:srgbClr val="000000">
                      <a:alpha val="43137"/>
                    </a:srgbClr>
                  </a:outerShdw>
                </a:effectLst>
                <a:latin typeface="Arial" charset="0"/>
              </a:rPr>
              <a:t>Capital Asset Pricing Model (CAPM) and </a:t>
            </a:r>
            <a:br>
              <a:rPr lang="en-GB" sz="3200" dirty="0">
                <a:effectLst>
                  <a:outerShdw blurRad="38100" dist="38100" dir="2700000" algn="tl">
                    <a:srgbClr val="000000">
                      <a:alpha val="43137"/>
                    </a:srgbClr>
                  </a:outerShdw>
                </a:effectLst>
                <a:latin typeface="Arial" charset="0"/>
              </a:rPr>
            </a:br>
            <a:r>
              <a:rPr lang="en-GB" sz="3200" dirty="0">
                <a:effectLst>
                  <a:outerShdw blurRad="38100" dist="38100" dir="2700000" algn="tl">
                    <a:srgbClr val="000000">
                      <a:alpha val="43137"/>
                    </a:srgbClr>
                  </a:outerShdw>
                </a:effectLst>
                <a:latin typeface="Arial" charset="0"/>
              </a:rPr>
              <a:t>Multi-Factor Models</a:t>
            </a:r>
            <a:br>
              <a:rPr lang="en-GB" sz="3200" dirty="0">
                <a:effectLst>
                  <a:outerShdw blurRad="38100" dist="38100" dir="2700000" algn="tl">
                    <a:srgbClr val="000000">
                      <a:alpha val="43137"/>
                    </a:srgbClr>
                  </a:outerShdw>
                </a:effectLst>
                <a:latin typeface="Arial" charset="0"/>
              </a:rPr>
            </a:br>
            <a:endParaRPr lang="en-US" sz="1800" dirty="0"/>
          </a:p>
        </p:txBody>
      </p:sp>
      <p:sp>
        <p:nvSpPr>
          <p:cNvPr id="2" name="Text Placeholder 1"/>
          <p:cNvSpPr>
            <a:spLocks noGrp="1"/>
          </p:cNvSpPr>
          <p:nvPr>
            <p:ph idx="1"/>
          </p:nvPr>
        </p:nvSpPr>
        <p:spPr>
          <a:xfrm>
            <a:off x="295749" y="3988073"/>
            <a:ext cx="4707924" cy="730231"/>
          </a:xfrm>
        </p:spPr>
        <p:txBody>
          <a:bodyPr>
            <a:normAutofit fontScale="77500" lnSpcReduction="20000"/>
          </a:bodyPr>
          <a:lstStyle/>
          <a:p>
            <a:r>
              <a:rPr lang="en-US" dirty="0"/>
              <a:t>Dr. Natasha Todorovic</a:t>
            </a:r>
          </a:p>
          <a:p>
            <a:r>
              <a:rPr lang="en-US" dirty="0"/>
              <a:t>(</a:t>
            </a:r>
            <a:r>
              <a:rPr lang="en-US" dirty="0">
                <a:hlinkClick r:id="rId2"/>
              </a:rPr>
              <a:t>natasha.Todorovic.1@city.ac.uk</a:t>
            </a:r>
            <a:r>
              <a:rPr lang="en-US" dirty="0"/>
              <a:t>)</a:t>
            </a:r>
          </a:p>
          <a:p>
            <a:endParaRPr lang="en-US" dirty="0"/>
          </a:p>
        </p:txBody>
      </p:sp>
    </p:spTree>
    <p:extLst>
      <p:ext uri="{BB962C8B-B14F-4D97-AF65-F5344CB8AC3E}">
        <p14:creationId xmlns:p14="http://schemas.microsoft.com/office/powerpoint/2010/main" val="2034241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B9D38B1-6A1B-694A-8828-9BEFC80FB944}"/>
              </a:ext>
            </a:extLst>
          </p:cNvPr>
          <p:cNvSpPr>
            <a:spLocks noGrp="1" noChangeArrowheads="1"/>
          </p:cNvSpPr>
          <p:nvPr>
            <p:ph type="title"/>
          </p:nvPr>
        </p:nvSpPr>
        <p:spPr>
          <a:xfrm>
            <a:off x="537756" y="436539"/>
            <a:ext cx="11315248" cy="785542"/>
          </a:xfrm>
        </p:spPr>
        <p:txBody>
          <a:bodyPr>
            <a:normAutofit/>
          </a:bodyPr>
          <a:lstStyle/>
          <a:p>
            <a:r>
              <a:rPr lang="en-US" altLang="en-US" sz="3600" dirty="0">
                <a:latin typeface="+mn-lt"/>
              </a:rPr>
              <a:t>Portfolio Theory vs. Capital Markets Theory</a:t>
            </a:r>
          </a:p>
        </p:txBody>
      </p:sp>
      <p:sp>
        <p:nvSpPr>
          <p:cNvPr id="5123" name="Rectangle 3">
            <a:extLst>
              <a:ext uri="{FF2B5EF4-FFF2-40B4-BE49-F238E27FC236}">
                <a16:creationId xmlns:a16="http://schemas.microsoft.com/office/drawing/2014/main" id="{807A09D2-85CA-0B4D-A7F4-27B748E00FDF}"/>
              </a:ext>
            </a:extLst>
          </p:cNvPr>
          <p:cNvSpPr>
            <a:spLocks noGrp="1" noChangeArrowheads="1"/>
          </p:cNvSpPr>
          <p:nvPr>
            <p:ph idx="1"/>
          </p:nvPr>
        </p:nvSpPr>
        <p:spPr>
          <a:xfrm>
            <a:off x="537756" y="1305682"/>
            <a:ext cx="10046738" cy="4723008"/>
          </a:xfrm>
        </p:spPr>
        <p:txBody>
          <a:bodyPr>
            <a:normAutofit lnSpcReduction="10000"/>
          </a:bodyPr>
          <a:lstStyle/>
          <a:p>
            <a:r>
              <a:rPr lang="en-US" altLang="en-US" sz="2000" dirty="0">
                <a:latin typeface="+mj-lt"/>
              </a:rPr>
              <a:t>Portfolio Theory - normative economics</a:t>
            </a:r>
          </a:p>
          <a:p>
            <a:pPr lvl="1"/>
            <a:r>
              <a:rPr lang="en-US" altLang="en-US" sz="1800" dirty="0">
                <a:latin typeface="+mj-lt"/>
              </a:rPr>
              <a:t>investors are told how to invest, i.e. identify the optimal portfolio </a:t>
            </a:r>
          </a:p>
          <a:p>
            <a:pPr lvl="2"/>
            <a:r>
              <a:rPr lang="en-US" altLang="en-US" sz="1800" dirty="0">
                <a:latin typeface="+mj-lt"/>
              </a:rPr>
              <a:t>optimal portfolio is where investors indifference curve is tangent to the efficient set</a:t>
            </a:r>
          </a:p>
          <a:p>
            <a:pPr marL="914400" lvl="2" indent="0">
              <a:buNone/>
            </a:pPr>
            <a:endParaRPr lang="en-US" altLang="en-US" sz="1800" dirty="0">
              <a:latin typeface="+mj-lt"/>
            </a:endParaRPr>
          </a:p>
          <a:p>
            <a:r>
              <a:rPr lang="en-US" altLang="en-US" sz="2000" dirty="0">
                <a:latin typeface="+mj-lt"/>
              </a:rPr>
              <a:t>Capital Market Theory - positive economics</a:t>
            </a:r>
          </a:p>
          <a:p>
            <a:pPr lvl="1"/>
            <a:r>
              <a:rPr lang="en-US" altLang="en-US" sz="1800" dirty="0">
                <a:latin typeface="+mj-lt"/>
              </a:rPr>
              <a:t>describes how the assets are priced</a:t>
            </a:r>
          </a:p>
          <a:p>
            <a:pPr lvl="1"/>
            <a:r>
              <a:rPr lang="en-US" altLang="en-US" sz="1800" dirty="0">
                <a:latin typeface="+mj-lt"/>
              </a:rPr>
              <a:t>assumes that all investors use Markowitz  approach in investing</a:t>
            </a:r>
          </a:p>
          <a:p>
            <a:pPr lvl="1"/>
            <a:r>
              <a:rPr lang="en-US" altLang="en-US" sz="1800" dirty="0">
                <a:latin typeface="+mj-lt"/>
              </a:rPr>
              <a:t>equilibrium models : </a:t>
            </a:r>
          </a:p>
          <a:p>
            <a:pPr marL="135731" lvl="1" indent="0">
              <a:buNone/>
            </a:pPr>
            <a:r>
              <a:rPr lang="en-US" altLang="en-US" sz="1800" dirty="0">
                <a:solidFill>
                  <a:srgbClr val="0070C0"/>
                </a:solidFill>
                <a:latin typeface="+mj-lt"/>
              </a:rPr>
              <a:t>1. Capital Asset Pricing Model (CAPM)</a:t>
            </a:r>
          </a:p>
          <a:p>
            <a:pPr lvl="2"/>
            <a:r>
              <a:rPr lang="en-US" altLang="en-US" sz="1800" dirty="0">
                <a:latin typeface="+mj-lt"/>
              </a:rPr>
              <a:t>used to assess the relationship between the expected return and risk of a security measured by beta</a:t>
            </a:r>
          </a:p>
          <a:p>
            <a:pPr lvl="2"/>
            <a:r>
              <a:rPr lang="en-US" altLang="en-US" sz="1800" b="1" dirty="0">
                <a:latin typeface="+mj-lt"/>
              </a:rPr>
              <a:t>Single factor model</a:t>
            </a:r>
          </a:p>
          <a:p>
            <a:pPr marL="135731" lvl="1" indent="0">
              <a:buNone/>
            </a:pPr>
            <a:r>
              <a:rPr lang="en-US" altLang="en-US" sz="1800" dirty="0">
                <a:solidFill>
                  <a:srgbClr val="0070C0"/>
                </a:solidFill>
                <a:latin typeface="+mj-lt"/>
              </a:rPr>
              <a:t>2. Arbitrage Pricing Theory (APT)</a:t>
            </a:r>
          </a:p>
          <a:p>
            <a:pPr lvl="2"/>
            <a:r>
              <a:rPr lang="en-US" altLang="en-US" sz="1800" dirty="0">
                <a:latin typeface="+mj-lt"/>
              </a:rPr>
              <a:t>Used to assess relationship betw</a:t>
            </a:r>
            <a:r>
              <a:rPr lang="en-US" altLang="en-US" sz="2000" dirty="0">
                <a:latin typeface="+mj-lt"/>
              </a:rPr>
              <a:t>een the expected return of a security and a number of factors</a:t>
            </a:r>
          </a:p>
          <a:p>
            <a:pPr lvl="2"/>
            <a:r>
              <a:rPr lang="en-US" altLang="en-US" sz="1800" b="1" dirty="0">
                <a:latin typeface="+mj-lt"/>
              </a:rPr>
              <a:t>Multifactor models</a:t>
            </a:r>
          </a:p>
        </p:txBody>
      </p:sp>
    </p:spTree>
    <p:extLst>
      <p:ext uri="{BB962C8B-B14F-4D97-AF65-F5344CB8AC3E}">
        <p14:creationId xmlns:p14="http://schemas.microsoft.com/office/powerpoint/2010/main" val="3727968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9F915E8-FEAB-2B45-A8DC-9C798D45AB38}"/>
              </a:ext>
            </a:extLst>
          </p:cNvPr>
          <p:cNvSpPr>
            <a:spLocks noGrp="1" noChangeArrowheads="1"/>
          </p:cNvSpPr>
          <p:nvPr>
            <p:ph type="title"/>
          </p:nvPr>
        </p:nvSpPr>
        <p:spPr>
          <a:xfrm>
            <a:off x="437547" y="573753"/>
            <a:ext cx="11315248" cy="785542"/>
          </a:xfrm>
        </p:spPr>
        <p:txBody>
          <a:bodyPr>
            <a:normAutofit/>
          </a:bodyPr>
          <a:lstStyle/>
          <a:p>
            <a:r>
              <a:rPr lang="en-US" altLang="en-US" sz="3200" dirty="0">
                <a:latin typeface="+mn-lt"/>
              </a:rPr>
              <a:t>CAPM Assumptions</a:t>
            </a:r>
          </a:p>
        </p:txBody>
      </p:sp>
      <p:sp>
        <p:nvSpPr>
          <p:cNvPr id="8195" name="Rectangle 3">
            <a:extLst>
              <a:ext uri="{FF2B5EF4-FFF2-40B4-BE49-F238E27FC236}">
                <a16:creationId xmlns:a16="http://schemas.microsoft.com/office/drawing/2014/main" id="{E2CC770A-42F3-5642-BA33-87398B9313F4}"/>
              </a:ext>
            </a:extLst>
          </p:cNvPr>
          <p:cNvSpPr>
            <a:spLocks noGrp="1" noChangeArrowheads="1"/>
          </p:cNvSpPr>
          <p:nvPr>
            <p:ph idx="1"/>
          </p:nvPr>
        </p:nvSpPr>
        <p:spPr>
          <a:xfrm>
            <a:off x="437547" y="1359294"/>
            <a:ext cx="9497367" cy="5102465"/>
          </a:xfrm>
        </p:spPr>
        <p:txBody>
          <a:bodyPr>
            <a:normAutofit fontScale="92500" lnSpcReduction="10000"/>
          </a:bodyPr>
          <a:lstStyle/>
          <a:p>
            <a:pPr>
              <a:lnSpc>
                <a:spcPct val="150000"/>
              </a:lnSpc>
            </a:pPr>
            <a:r>
              <a:rPr lang="en-US" altLang="en-US" dirty="0">
                <a:latin typeface="Times New Roman" panose="02020603050405020304" pitchFamily="18" charset="0"/>
              </a:rPr>
              <a:t> </a:t>
            </a:r>
            <a:r>
              <a:rPr lang="en-US" altLang="en-US" sz="2000" dirty="0">
                <a:latin typeface="Arial" panose="020B0604020202020204" pitchFamily="34" charset="0"/>
                <a:cs typeface="Arial" panose="020B0604020202020204" pitchFamily="34" charset="0"/>
              </a:rPr>
              <a:t>Original CAPM derived by Sharpe, Lintner and </a:t>
            </a:r>
            <a:r>
              <a:rPr lang="en-US" altLang="en-US" sz="2000" dirty="0" err="1">
                <a:latin typeface="Arial" panose="020B0604020202020204" pitchFamily="34" charset="0"/>
                <a:cs typeface="Arial" panose="020B0604020202020204" pitchFamily="34" charset="0"/>
              </a:rPr>
              <a:t>Mossin</a:t>
            </a:r>
            <a:r>
              <a:rPr lang="en-US" altLang="en-US" sz="2000" dirty="0">
                <a:latin typeface="Arial" panose="020B0604020202020204" pitchFamily="34" charset="0"/>
                <a:cs typeface="Arial" panose="020B0604020202020204" pitchFamily="34" charset="0"/>
              </a:rPr>
              <a:t> in 1964.</a:t>
            </a:r>
          </a:p>
          <a:p>
            <a:pPr>
              <a:lnSpc>
                <a:spcPct val="150000"/>
              </a:lnSpc>
            </a:pPr>
            <a:r>
              <a:rPr lang="en-US" altLang="en-US" sz="2000" dirty="0">
                <a:latin typeface="Arial" panose="020B0604020202020204" pitchFamily="34" charset="0"/>
                <a:cs typeface="Arial" panose="020B0604020202020204" pitchFamily="34" charset="0"/>
              </a:rPr>
              <a:t>Requires simplifying assumptions because of the complexity of the real world, the essential ones are:</a:t>
            </a:r>
          </a:p>
          <a:p>
            <a:pPr>
              <a:lnSpc>
                <a:spcPct val="150000"/>
              </a:lnSpc>
              <a:buFontTx/>
              <a:buNone/>
            </a:pPr>
            <a:r>
              <a:rPr lang="en-US" altLang="en-US" sz="2000" dirty="0">
                <a:latin typeface="Arial" panose="020B0604020202020204" pitchFamily="34" charset="0"/>
                <a:cs typeface="Arial" panose="020B0604020202020204" pitchFamily="34" charset="0"/>
              </a:rPr>
              <a:t>1. </a:t>
            </a:r>
            <a:r>
              <a:rPr lang="en-US" altLang="en-US" sz="2000" dirty="0">
                <a:solidFill>
                  <a:srgbClr val="0070C0"/>
                </a:solidFill>
                <a:latin typeface="Arial" panose="020B0604020202020204" pitchFamily="34" charset="0"/>
                <a:cs typeface="Arial" panose="020B0604020202020204" pitchFamily="34" charset="0"/>
              </a:rPr>
              <a:t>Existence of the single-period horizon</a:t>
            </a:r>
            <a:r>
              <a:rPr lang="en-US" altLang="en-US" sz="2000" dirty="0">
                <a:latin typeface="Arial" panose="020B0604020202020204" pitchFamily="34" charset="0"/>
                <a:cs typeface="Arial" panose="020B0604020202020204" pitchFamily="34" charset="0"/>
              </a:rPr>
              <a:t>. All investors have the same one period horizon.</a:t>
            </a:r>
          </a:p>
          <a:p>
            <a:pPr>
              <a:lnSpc>
                <a:spcPct val="150000"/>
              </a:lnSpc>
              <a:buFontTx/>
              <a:buNone/>
            </a:pPr>
            <a:r>
              <a:rPr lang="en-US" altLang="en-US" sz="2000" dirty="0">
                <a:latin typeface="Arial" panose="020B0604020202020204" pitchFamily="34" charset="0"/>
                <a:cs typeface="Arial" panose="020B0604020202020204" pitchFamily="34" charset="0"/>
              </a:rPr>
              <a:t>2. Investors are rational and risk averse</a:t>
            </a:r>
          </a:p>
          <a:p>
            <a:pPr>
              <a:lnSpc>
                <a:spcPct val="150000"/>
              </a:lnSpc>
              <a:buFontTx/>
              <a:buNone/>
            </a:pPr>
            <a:r>
              <a:rPr lang="en-US" altLang="en-US" sz="2000" dirty="0">
                <a:latin typeface="Arial" panose="020B0604020202020204" pitchFamily="34" charset="0"/>
                <a:cs typeface="Arial" panose="020B0604020202020204" pitchFamily="34" charset="0"/>
              </a:rPr>
              <a:t>3. </a:t>
            </a:r>
            <a:r>
              <a:rPr lang="en-US" altLang="en-US" sz="2000" dirty="0">
                <a:solidFill>
                  <a:srgbClr val="0070C0"/>
                </a:solidFill>
                <a:latin typeface="+mj-lt"/>
              </a:rPr>
              <a:t>Unlimited borrowing and lending is allowed at a risk-free rate that is the same for all investors</a:t>
            </a:r>
          </a:p>
          <a:p>
            <a:pPr>
              <a:lnSpc>
                <a:spcPct val="150000"/>
              </a:lnSpc>
              <a:buFontTx/>
              <a:buNone/>
            </a:pPr>
            <a:r>
              <a:rPr lang="en-US" altLang="en-US" sz="2000" dirty="0">
                <a:solidFill>
                  <a:srgbClr val="0070C0"/>
                </a:solidFill>
                <a:latin typeface="+mj-lt"/>
              </a:rPr>
              <a:t>4. Homogeneity of expectations: all investors have the same mean/variance/covariance expectations</a:t>
            </a:r>
          </a:p>
          <a:p>
            <a:pPr>
              <a:lnSpc>
                <a:spcPct val="150000"/>
              </a:lnSpc>
              <a:buFontTx/>
              <a:buNone/>
            </a:pPr>
            <a:r>
              <a:rPr lang="en-US" altLang="en-US" sz="2000" dirty="0">
                <a:latin typeface="+mj-lt"/>
                <a:cs typeface="Arial" panose="020B0604020202020204" pitchFamily="34" charset="0"/>
              </a:rPr>
              <a:t>5. Other: no taxes, no costs, no inflation, all securities are marketable etc.</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4876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75C8EF48-5651-D940-92D7-8A2EA799DE37}"/>
              </a:ext>
            </a:extLst>
          </p:cNvPr>
          <p:cNvSpPr>
            <a:spLocks noGrp="1" noChangeArrowheads="1"/>
          </p:cNvSpPr>
          <p:nvPr>
            <p:ph type="title"/>
          </p:nvPr>
        </p:nvSpPr>
        <p:spPr>
          <a:xfrm>
            <a:off x="437547" y="563106"/>
            <a:ext cx="11315248" cy="785542"/>
          </a:xfrm>
        </p:spPr>
        <p:txBody>
          <a:bodyPr>
            <a:noAutofit/>
          </a:bodyPr>
          <a:lstStyle/>
          <a:p>
            <a:r>
              <a:rPr lang="en-US" altLang="en-US" sz="2800" dirty="0">
                <a:latin typeface="Arial" panose="020B0604020202020204" pitchFamily="34" charset="0"/>
                <a:cs typeface="Arial" panose="020B0604020202020204" pitchFamily="34" charset="0"/>
              </a:rPr>
              <a:t>Implications of the CAPM assumptions – the same Efficient Frontier for all investors – </a:t>
            </a:r>
            <a:r>
              <a:rPr lang="en-US" altLang="en-US" sz="2800" dirty="0">
                <a:solidFill>
                  <a:srgbClr val="0070C0"/>
                </a:solidFill>
                <a:latin typeface="Arial" panose="020B0604020202020204" pitchFamily="34" charset="0"/>
                <a:cs typeface="Arial" panose="020B0604020202020204" pitchFamily="34" charset="0"/>
              </a:rPr>
              <a:t>the best CAL</a:t>
            </a:r>
          </a:p>
        </p:txBody>
      </p:sp>
      <p:sp>
        <p:nvSpPr>
          <p:cNvPr id="14338" name="Rectangle 2">
            <a:extLst>
              <a:ext uri="{FF2B5EF4-FFF2-40B4-BE49-F238E27FC236}">
                <a16:creationId xmlns:a16="http://schemas.microsoft.com/office/drawing/2014/main" id="{54F30BC6-6241-9241-B522-B47E917711BC}"/>
              </a:ext>
            </a:extLst>
          </p:cNvPr>
          <p:cNvSpPr>
            <a:spLocks noGrp="1" noChangeArrowheads="1"/>
          </p:cNvSpPr>
          <p:nvPr>
            <p:ph idx="1"/>
          </p:nvPr>
        </p:nvSpPr>
        <p:spPr/>
        <p:txBody>
          <a:bodyPr>
            <a:normAutofit/>
          </a:bodyPr>
          <a:lstStyle/>
          <a:p>
            <a:pPr>
              <a:lnSpc>
                <a:spcPct val="120000"/>
              </a:lnSpc>
            </a:pPr>
            <a:r>
              <a:rPr lang="en-US" altLang="en-US" sz="2000" dirty="0"/>
              <a:t>Agreement on expected returns, variances, covariances (assumption 4) will make </a:t>
            </a:r>
            <a:r>
              <a:rPr lang="en-US" altLang="en-US" sz="2000" dirty="0">
                <a:solidFill>
                  <a:srgbClr val="0070C0"/>
                </a:solidFill>
              </a:rPr>
              <a:t>all investors face the same efficient frontier of risky assets</a:t>
            </a:r>
          </a:p>
          <a:p>
            <a:pPr>
              <a:lnSpc>
                <a:spcPct val="120000"/>
              </a:lnSpc>
            </a:pPr>
            <a:r>
              <a:rPr lang="en-US" altLang="en-US" sz="2000" dirty="0"/>
              <a:t>Agreement on risk free rates, that are the same for borrowing and lending (assumption 3) and singe period horizon (Assumption 1) will make </a:t>
            </a:r>
            <a:r>
              <a:rPr lang="en-US" altLang="en-US" sz="2000" dirty="0">
                <a:solidFill>
                  <a:srgbClr val="0070C0"/>
                </a:solidFill>
              </a:rPr>
              <a:t>all investors hold the same risk-free rate</a:t>
            </a:r>
          </a:p>
          <a:p>
            <a:pPr marL="0" indent="0">
              <a:lnSpc>
                <a:spcPct val="120000"/>
              </a:lnSpc>
              <a:buNone/>
            </a:pPr>
            <a:r>
              <a:rPr lang="en-US" altLang="en-US" sz="2000" dirty="0"/>
              <a:t>Therefore, the main implication is that:</a:t>
            </a:r>
          </a:p>
          <a:p>
            <a:pPr>
              <a:lnSpc>
                <a:spcPct val="120000"/>
              </a:lnSpc>
            </a:pPr>
            <a:r>
              <a:rPr lang="en-US" altLang="en-US" sz="2000" dirty="0">
                <a:solidFill>
                  <a:srgbClr val="0070C0"/>
                </a:solidFill>
              </a:rPr>
              <a:t>All investors in the CAPM will face the same linear efficient frontier and the same tangency portfolio, </a:t>
            </a:r>
            <a:r>
              <a:rPr lang="en-US" altLang="en-US" sz="2000" dirty="0"/>
              <a:t>which is called the </a:t>
            </a:r>
            <a:r>
              <a:rPr lang="en-US" altLang="en-US" sz="2000" dirty="0">
                <a:solidFill>
                  <a:srgbClr val="0070C0"/>
                </a:solidFill>
              </a:rPr>
              <a:t>Market Portfolio </a:t>
            </a:r>
          </a:p>
          <a:p>
            <a:pPr>
              <a:lnSpc>
                <a:spcPct val="120000"/>
              </a:lnSpc>
            </a:pPr>
            <a:r>
              <a:rPr lang="en-US" altLang="en-US" sz="2000" dirty="0"/>
              <a:t>However, different indifference curves (risk aversion) will investors them to choose </a:t>
            </a:r>
            <a:r>
              <a:rPr lang="en-US" altLang="en-US" sz="2000" dirty="0">
                <a:solidFill>
                  <a:srgbClr val="0070C0"/>
                </a:solidFill>
              </a:rPr>
              <a:t>different portfolios on that frontier</a:t>
            </a:r>
          </a:p>
        </p:txBody>
      </p:sp>
    </p:spTree>
    <p:extLst>
      <p:ext uri="{BB962C8B-B14F-4D97-AF65-F5344CB8AC3E}">
        <p14:creationId xmlns:p14="http://schemas.microsoft.com/office/powerpoint/2010/main" val="4031965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2088B-CE81-2943-BE01-CD7580830450}"/>
              </a:ext>
            </a:extLst>
          </p:cNvPr>
          <p:cNvSpPr>
            <a:spLocks noGrp="1"/>
          </p:cNvSpPr>
          <p:nvPr>
            <p:ph type="title"/>
          </p:nvPr>
        </p:nvSpPr>
        <p:spPr>
          <a:xfrm>
            <a:off x="438376" y="644759"/>
            <a:ext cx="11315248" cy="785542"/>
          </a:xfrm>
        </p:spPr>
        <p:txBody>
          <a:bodyPr>
            <a:noAutofit/>
          </a:bodyPr>
          <a:lstStyle/>
          <a:p>
            <a:r>
              <a:rPr lang="en-US" altLang="en-US" sz="2800" dirty="0">
                <a:latin typeface="Arial" panose="020B0604020202020204" pitchFamily="34" charset="0"/>
                <a:cs typeface="Arial" panose="020B0604020202020204" pitchFamily="34" charset="0"/>
              </a:rPr>
              <a:t>Implications of the CAPM assumptions – the same Efficient Frontier for all investors – the best Capital Allocation Line</a:t>
            </a:r>
            <a:endParaRPr lang="en-US" sz="2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8867B14-8589-1246-A235-E185E44A750F}"/>
              </a:ext>
            </a:extLst>
          </p:cNvPr>
          <p:cNvPicPr>
            <a:picLocks noChangeAspect="1"/>
          </p:cNvPicPr>
          <p:nvPr/>
        </p:nvPicPr>
        <p:blipFill>
          <a:blip r:embed="rId2"/>
          <a:stretch>
            <a:fillRect/>
          </a:stretch>
        </p:blipFill>
        <p:spPr>
          <a:xfrm>
            <a:off x="3084409" y="2091046"/>
            <a:ext cx="8763000" cy="3414711"/>
          </a:xfrm>
          <a:prstGeom prst="rect">
            <a:avLst/>
          </a:prstGeom>
        </p:spPr>
      </p:pic>
      <p:sp>
        <p:nvSpPr>
          <p:cNvPr id="3" name="Arc 2">
            <a:extLst>
              <a:ext uri="{FF2B5EF4-FFF2-40B4-BE49-F238E27FC236}">
                <a16:creationId xmlns:a16="http://schemas.microsoft.com/office/drawing/2014/main" id="{56A07195-020E-9747-979B-71E41EECD559}"/>
              </a:ext>
            </a:extLst>
          </p:cNvPr>
          <p:cNvSpPr/>
          <p:nvPr/>
        </p:nvSpPr>
        <p:spPr>
          <a:xfrm rot="16005700">
            <a:off x="5301660" y="2485533"/>
            <a:ext cx="1345714" cy="2625739"/>
          </a:xfrm>
          <a:prstGeom prst="arc">
            <a:avLst>
              <a:gd name="adj1" fmla="val 16200000"/>
              <a:gd name="adj2" fmla="val 2158953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56729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01B3FFE0-7EC0-9C4C-9B54-9E1D40C15F01}"/>
              </a:ext>
            </a:extLst>
          </p:cNvPr>
          <p:cNvSpPr>
            <a:spLocks noGrp="1" noChangeArrowheads="1"/>
          </p:cNvSpPr>
          <p:nvPr>
            <p:ph type="title"/>
          </p:nvPr>
        </p:nvSpPr>
        <p:spPr>
          <a:xfrm>
            <a:off x="437547" y="665193"/>
            <a:ext cx="11315248" cy="785542"/>
          </a:xfrm>
        </p:spPr>
        <p:txBody>
          <a:bodyPr/>
          <a:lstStyle/>
          <a:p>
            <a:r>
              <a:rPr lang="en-US" altLang="en-US" sz="2800" dirty="0">
                <a:latin typeface="Arial" panose="020B0604020202020204" pitchFamily="34" charset="0"/>
                <a:cs typeface="Arial" panose="020B0604020202020204" pitchFamily="34" charset="0"/>
              </a:rPr>
              <a:t>Implications of the CAPM assumptions – the Market Portfolio</a:t>
            </a:r>
          </a:p>
        </p:txBody>
      </p:sp>
      <p:sp>
        <p:nvSpPr>
          <p:cNvPr id="19458" name="Rectangle 2">
            <a:extLst>
              <a:ext uri="{FF2B5EF4-FFF2-40B4-BE49-F238E27FC236}">
                <a16:creationId xmlns:a16="http://schemas.microsoft.com/office/drawing/2014/main" id="{BA356865-5822-FE4E-A8DA-3073CA8E1DC4}"/>
              </a:ext>
            </a:extLst>
          </p:cNvPr>
          <p:cNvSpPr>
            <a:spLocks noGrp="1" noChangeArrowheads="1"/>
          </p:cNvSpPr>
          <p:nvPr>
            <p:ph idx="1"/>
          </p:nvPr>
        </p:nvSpPr>
        <p:spPr/>
        <p:txBody>
          <a:bodyPr/>
          <a:lstStyle/>
          <a:p>
            <a:pPr>
              <a:lnSpc>
                <a:spcPct val="150000"/>
              </a:lnSpc>
            </a:pPr>
            <a:r>
              <a:rPr lang="en-US" altLang="en-US" sz="2000" dirty="0"/>
              <a:t>All investors choose the same portfolio of risky securities, which we call the Market portfolio</a:t>
            </a:r>
          </a:p>
          <a:p>
            <a:pPr>
              <a:lnSpc>
                <a:spcPct val="150000"/>
              </a:lnSpc>
            </a:pPr>
            <a:r>
              <a:rPr lang="en-US" altLang="en-US" sz="2000" dirty="0"/>
              <a:t>Market portfolio is the tangency portfolio on the linear efficient frontier </a:t>
            </a:r>
          </a:p>
          <a:p>
            <a:pPr>
              <a:lnSpc>
                <a:spcPct val="150000"/>
              </a:lnSpc>
            </a:pPr>
            <a:r>
              <a:rPr lang="en-US" altLang="en-US" sz="2000" dirty="0"/>
              <a:t>Market portfolio is a portfolio of all globally available risky assets in the proportion according to their market capitalization</a:t>
            </a:r>
          </a:p>
          <a:p>
            <a:pPr>
              <a:lnSpc>
                <a:spcPct val="150000"/>
              </a:lnSpc>
            </a:pPr>
            <a:r>
              <a:rPr lang="en-US" altLang="en-US" sz="2000" dirty="0"/>
              <a:t>Why everyone has to hold the Market? Homogeneous expectations assumption, we all have the same views.</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37599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F1C183A-83F1-EA49-B1E8-28D9061F7FA9}"/>
              </a:ext>
            </a:extLst>
          </p:cNvPr>
          <p:cNvSpPr>
            <a:spLocks noGrp="1" noChangeArrowheads="1"/>
          </p:cNvSpPr>
          <p:nvPr>
            <p:ph type="title"/>
          </p:nvPr>
        </p:nvSpPr>
        <p:spPr>
          <a:xfrm>
            <a:off x="438376" y="375139"/>
            <a:ext cx="11315248" cy="785542"/>
          </a:xfrm>
        </p:spPr>
        <p:txBody>
          <a:bodyPr/>
          <a:lstStyle/>
          <a:p>
            <a:r>
              <a:rPr lang="en-US" altLang="en-US" sz="4000" dirty="0">
                <a:latin typeface="Times New Roman" panose="02020603050405020304" pitchFamily="18" charset="0"/>
              </a:rPr>
              <a:t> </a:t>
            </a:r>
            <a:r>
              <a:rPr lang="en-US" altLang="en-US" sz="2800" dirty="0">
                <a:latin typeface="Arial" panose="020B0604020202020204" pitchFamily="34" charset="0"/>
                <a:cs typeface="Arial" panose="020B0604020202020204" pitchFamily="34" charset="0"/>
              </a:rPr>
              <a:t>The Market Portfolio (M)</a:t>
            </a:r>
          </a:p>
        </p:txBody>
      </p:sp>
      <mc:AlternateContent xmlns:mc="http://schemas.openxmlformats.org/markup-compatibility/2006" xmlns:a14="http://schemas.microsoft.com/office/drawing/2010/main">
        <mc:Choice Requires="a14">
          <p:sp>
            <p:nvSpPr>
              <p:cNvPr id="24579" name="Rectangle 3">
                <a:extLst>
                  <a:ext uri="{FF2B5EF4-FFF2-40B4-BE49-F238E27FC236}">
                    <a16:creationId xmlns:a16="http://schemas.microsoft.com/office/drawing/2014/main" id="{E8FD52D0-95FE-7C46-B513-B6AB2A22DCDF}"/>
                  </a:ext>
                </a:extLst>
              </p:cNvPr>
              <p:cNvSpPr>
                <a:spLocks noGrp="1" noChangeArrowheads="1"/>
              </p:cNvSpPr>
              <p:nvPr>
                <p:ph idx="1"/>
              </p:nvPr>
            </p:nvSpPr>
            <p:spPr>
              <a:xfrm>
                <a:off x="438376" y="1160681"/>
                <a:ext cx="10633278" cy="5066417"/>
              </a:xfrm>
            </p:spPr>
            <p:txBody>
              <a:bodyPr>
                <a:normAutofit fontScale="92500"/>
              </a:bodyPr>
              <a:lstStyle/>
              <a:p>
                <a:pPr>
                  <a:lnSpc>
                    <a:spcPct val="150000"/>
                  </a:lnSpc>
                </a:pPr>
                <a:r>
                  <a:rPr lang="en-US" altLang="en-US" sz="2000" dirty="0">
                    <a:cs typeface="Times New Roman" panose="02020603050405020304" pitchFamily="18" charset="0"/>
                  </a:rPr>
                  <a:t>When the market is in equilibrium, all risky assets will be included in the optimal risky (tangency) portfolio - the Market - in the proportions equal to their market capitalization (no of shares in issue x share price):</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𝑤</m:t>
                          </m:r>
                        </m:e>
                        <m:sub>
                          <m:r>
                            <a:rPr lang="en-US" altLang="en-US" sz="2000" b="0" i="1" smtClean="0">
                              <a:latin typeface="Cambria Math" panose="02040503050406030204" pitchFamily="18" charset="0"/>
                            </a:rPr>
                            <m:t>𝑖</m:t>
                          </m:r>
                        </m:sub>
                      </m:sSub>
                      <m:r>
                        <a:rPr lang="en-US" altLang="en-US" sz="2000" b="0" i="1" smtClean="0">
                          <a:latin typeface="Cambria Math" panose="02040503050406030204" pitchFamily="18" charset="0"/>
                        </a:rPr>
                        <m:t>=</m:t>
                      </m:r>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𝑚𝑎𝑟𝑘𝑒𝑡</m:t>
                          </m:r>
                          <m:r>
                            <a:rPr lang="en-US" altLang="en-US" sz="2000" b="0" i="1" smtClean="0">
                              <a:latin typeface="Cambria Math" panose="02040503050406030204" pitchFamily="18" charset="0"/>
                            </a:rPr>
                            <m:t> </m:t>
                          </m:r>
                          <m:r>
                            <a:rPr lang="en-GB" altLang="en-US" sz="2000" b="0" i="1" smtClean="0">
                              <a:latin typeface="Cambria Math" panose="02040503050406030204" pitchFamily="18" charset="0"/>
                            </a:rPr>
                            <m:t>𝑐𝑎𝑝</m:t>
                          </m:r>
                          <m:r>
                            <a:rPr lang="en-US" altLang="en-US" sz="2000" b="0" i="1" smtClean="0">
                              <a:latin typeface="Cambria Math" panose="02040503050406030204" pitchFamily="18" charset="0"/>
                            </a:rPr>
                            <m:t> </m:t>
                          </m:r>
                          <m:r>
                            <a:rPr lang="en-US" altLang="en-US" sz="2000" b="0" i="1" smtClean="0">
                              <a:latin typeface="Cambria Math" panose="02040503050406030204" pitchFamily="18" charset="0"/>
                            </a:rPr>
                            <m:t>𝑜𝑓</m:t>
                          </m:r>
                          <m:r>
                            <a:rPr lang="en-US" altLang="en-US" sz="2000" b="0" i="1" smtClean="0">
                              <a:latin typeface="Cambria Math" panose="02040503050406030204" pitchFamily="18" charset="0"/>
                            </a:rPr>
                            <m:t> </m:t>
                          </m:r>
                          <m:r>
                            <a:rPr lang="en-US" altLang="en-US" sz="2000" b="0" i="1" smtClean="0">
                              <a:latin typeface="Cambria Math" panose="02040503050406030204" pitchFamily="18" charset="0"/>
                            </a:rPr>
                            <m:t>𝑎𝑠𝑠𝑒𝑡</m:t>
                          </m:r>
                          <m:r>
                            <a:rPr lang="en-US" altLang="en-US" sz="2000" b="0" i="1" smtClean="0">
                              <a:latin typeface="Cambria Math" panose="02040503050406030204" pitchFamily="18" charset="0"/>
                            </a:rPr>
                            <m:t> </m:t>
                          </m:r>
                          <m:r>
                            <a:rPr lang="en-US" altLang="en-US" sz="2000" b="0" i="1" smtClean="0">
                              <a:latin typeface="Cambria Math" panose="02040503050406030204" pitchFamily="18" charset="0"/>
                            </a:rPr>
                            <m:t>𝑖</m:t>
                          </m:r>
                        </m:num>
                        <m:den>
                          <m:r>
                            <a:rPr lang="en-US" altLang="en-US" sz="2000" b="0" i="1" smtClean="0">
                              <a:latin typeface="Cambria Math" panose="02040503050406030204" pitchFamily="18" charset="0"/>
                            </a:rPr>
                            <m:t>𝑇𝑜𝑡𝑎𝑙</m:t>
                          </m:r>
                          <m:r>
                            <a:rPr lang="en-US" altLang="en-US" sz="2000" b="0" i="1" smtClean="0">
                              <a:latin typeface="Cambria Math" panose="02040503050406030204" pitchFamily="18" charset="0"/>
                            </a:rPr>
                            <m:t> </m:t>
                          </m:r>
                          <m:r>
                            <a:rPr lang="en-US" altLang="en-US" sz="2000" b="0" i="1" smtClean="0">
                              <a:latin typeface="Cambria Math" panose="02040503050406030204" pitchFamily="18" charset="0"/>
                            </a:rPr>
                            <m:t>𝑚𝑎𝑟𝑘𝑒𝑡</m:t>
                          </m:r>
                          <m:r>
                            <a:rPr lang="en-US" altLang="en-US" sz="2000" b="0" i="1" smtClean="0">
                              <a:latin typeface="Cambria Math" panose="02040503050406030204" pitchFamily="18" charset="0"/>
                            </a:rPr>
                            <m:t> </m:t>
                          </m:r>
                          <m:r>
                            <a:rPr lang="en-GB" altLang="en-US" sz="2000" b="0" i="1" smtClean="0">
                              <a:latin typeface="Cambria Math" panose="02040503050406030204" pitchFamily="18" charset="0"/>
                            </a:rPr>
                            <m:t>𝑐𝑎𝑝</m:t>
                          </m:r>
                          <m:r>
                            <a:rPr lang="en-US" altLang="en-US" sz="2000" b="0" i="1" smtClean="0">
                              <a:latin typeface="Cambria Math" panose="02040503050406030204" pitchFamily="18" charset="0"/>
                            </a:rPr>
                            <m:t> </m:t>
                          </m:r>
                          <m:r>
                            <a:rPr lang="en-US" altLang="en-US" sz="2000" b="0" i="1" smtClean="0">
                              <a:latin typeface="Cambria Math" panose="02040503050406030204" pitchFamily="18" charset="0"/>
                            </a:rPr>
                            <m:t>𝑜𝑓</m:t>
                          </m:r>
                          <m:r>
                            <a:rPr lang="en-US" altLang="en-US" sz="2000" b="0" i="1" smtClean="0">
                              <a:latin typeface="Cambria Math" panose="02040503050406030204" pitchFamily="18" charset="0"/>
                            </a:rPr>
                            <m:t> </m:t>
                          </m:r>
                          <m:r>
                            <a:rPr lang="en-US" altLang="en-US" sz="2000" b="0" i="1" smtClean="0">
                              <a:latin typeface="Cambria Math" panose="02040503050406030204" pitchFamily="18" charset="0"/>
                            </a:rPr>
                            <m:t>𝑡h𝑒</m:t>
                          </m:r>
                          <m:r>
                            <a:rPr lang="en-US" altLang="en-US" sz="2000" b="0" i="1" smtClean="0">
                              <a:latin typeface="Cambria Math" panose="02040503050406030204" pitchFamily="18" charset="0"/>
                            </a:rPr>
                            <m:t> </m:t>
                          </m:r>
                          <m:r>
                            <a:rPr lang="en-US" altLang="en-US" sz="2000" b="0" i="1" smtClean="0">
                              <a:latin typeface="Cambria Math" panose="02040503050406030204" pitchFamily="18" charset="0"/>
                            </a:rPr>
                            <m:t>𝑀𝑎𝑟𝑘𝑒𝑡</m:t>
                          </m:r>
                          <m:r>
                            <a:rPr lang="en-US" altLang="en-US" sz="2000" b="0" i="1" smtClean="0">
                              <a:latin typeface="Cambria Math" panose="02040503050406030204" pitchFamily="18" charset="0"/>
                            </a:rPr>
                            <m:t> </m:t>
                          </m:r>
                          <m:r>
                            <a:rPr lang="en-GB" altLang="en-US" sz="2000" b="0" i="1" smtClean="0">
                              <a:latin typeface="Cambria Math" panose="02040503050406030204" pitchFamily="18" charset="0"/>
                            </a:rPr>
                            <m:t>𝑃</m:t>
                          </m:r>
                          <m:r>
                            <a:rPr lang="en-US" altLang="en-US" sz="2000" b="0" i="1" smtClean="0">
                              <a:latin typeface="Cambria Math" panose="02040503050406030204" pitchFamily="18" charset="0"/>
                            </a:rPr>
                            <m:t>𝑜𝑟𝑡𝑓𝑜𝑙𝑖𝑜</m:t>
                          </m:r>
                        </m:den>
                      </m:f>
                    </m:oMath>
                  </m:oMathPara>
                </a14:m>
                <a:endParaRPr lang="en-US" altLang="en-US" sz="2000" dirty="0">
                  <a:cs typeface="Times New Roman" panose="02020603050405020304" pitchFamily="18" charset="0"/>
                </a:endParaRPr>
              </a:p>
              <a:p>
                <a:pPr>
                  <a:lnSpc>
                    <a:spcPct val="150000"/>
                  </a:lnSpc>
                </a:pPr>
                <a:r>
                  <a:rPr lang="en-US" altLang="en-US" sz="2000" dirty="0">
                    <a:cs typeface="Times New Roman" panose="02020603050405020304" pitchFamily="18" charset="0"/>
                  </a:rPr>
                  <a:t>M is completely diversified, having only systematic (market) risk</a:t>
                </a:r>
              </a:p>
              <a:p>
                <a:pPr>
                  <a:lnSpc>
                    <a:spcPct val="150000"/>
                  </a:lnSpc>
                </a:pPr>
                <a:r>
                  <a:rPr lang="en-US" altLang="en-US" sz="2000" dirty="0">
                    <a:cs typeface="Times New Roman" panose="02020603050405020304" pitchFamily="18" charset="0"/>
                  </a:rPr>
                  <a:t>In theory, it includes all risky assets worldwide but in practice M is restricted to ordinary (common) shares only </a:t>
                </a:r>
              </a:p>
              <a:p>
                <a:pPr>
                  <a:lnSpc>
                    <a:spcPct val="150000"/>
                  </a:lnSpc>
                </a:pPr>
                <a:r>
                  <a:rPr lang="en-US" altLang="en-US" sz="2000" dirty="0">
                    <a:cs typeface="Times New Roman" panose="02020603050405020304" pitchFamily="18" charset="0"/>
                  </a:rPr>
                  <a:t>Portfolio of common shares is proxied by the stock market index (e.g. S&amp;P500, FTSE All Share…)</a:t>
                </a:r>
              </a:p>
              <a:p>
                <a:pPr>
                  <a:lnSpc>
                    <a:spcPct val="150000"/>
                  </a:lnSpc>
                </a:pPr>
                <a:r>
                  <a:rPr lang="en-US" altLang="en-US" sz="2000" dirty="0">
                    <a:cs typeface="Times New Roman" panose="02020603050405020304" pitchFamily="18" charset="0"/>
                  </a:rPr>
                  <a:t>Main criticism: Market portfolio is unobservable</a:t>
                </a:r>
              </a:p>
            </p:txBody>
          </p:sp>
        </mc:Choice>
        <mc:Fallback xmlns="">
          <p:sp>
            <p:nvSpPr>
              <p:cNvPr id="24579" name="Rectangle 3">
                <a:extLst>
                  <a:ext uri="{FF2B5EF4-FFF2-40B4-BE49-F238E27FC236}">
                    <a16:creationId xmlns:a16="http://schemas.microsoft.com/office/drawing/2014/main" id="{E8FD52D0-95FE-7C46-B513-B6AB2A22DCDF}"/>
                  </a:ext>
                </a:extLst>
              </p:cNvPr>
              <p:cNvSpPr>
                <a:spLocks noGrp="1" noRot="1" noChangeAspect="1" noMove="1" noResize="1" noEditPoints="1" noAdjustHandles="1" noChangeArrowheads="1" noChangeShapeType="1" noTextEdit="1"/>
              </p:cNvSpPr>
              <p:nvPr>
                <p:ph idx="1"/>
              </p:nvPr>
            </p:nvSpPr>
            <p:spPr>
              <a:xfrm>
                <a:off x="438376" y="1160681"/>
                <a:ext cx="10633278" cy="5066417"/>
              </a:xfrm>
              <a:blipFill>
                <a:blip r:embed="rId2"/>
                <a:stretch>
                  <a:fillRect l="-358" r="-358"/>
                </a:stretch>
              </a:blipFill>
            </p:spPr>
            <p:txBody>
              <a:bodyPr/>
              <a:lstStyle/>
              <a:p>
                <a:r>
                  <a:rPr lang="en-US">
                    <a:noFill/>
                  </a:rPr>
                  <a:t> </a:t>
                </a:r>
              </a:p>
            </p:txBody>
          </p:sp>
        </mc:Fallback>
      </mc:AlternateContent>
    </p:spTree>
    <p:extLst>
      <p:ext uri="{BB962C8B-B14F-4D97-AF65-F5344CB8AC3E}">
        <p14:creationId xmlns:p14="http://schemas.microsoft.com/office/powerpoint/2010/main" val="2851292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F2FA5-6F14-0449-A837-FAC66A1EF13A}"/>
              </a:ext>
            </a:extLst>
          </p:cNvPr>
          <p:cNvSpPr>
            <a:spLocks noGrp="1"/>
          </p:cNvSpPr>
          <p:nvPr>
            <p:ph type="title"/>
          </p:nvPr>
        </p:nvSpPr>
        <p:spPr>
          <a:xfrm>
            <a:off x="445770" y="166845"/>
            <a:ext cx="11609070" cy="1325563"/>
          </a:xfrm>
        </p:spPr>
        <p:txBody>
          <a:bodyPr>
            <a:normAutofit/>
          </a:bodyPr>
          <a:lstStyle/>
          <a:p>
            <a:r>
              <a:rPr lang="en-US" sz="2800" dirty="0">
                <a:latin typeface="+mn-lt"/>
                <a:cs typeface="Arial" panose="020B0604020202020204" pitchFamily="34" charset="0"/>
              </a:rPr>
              <a:t>Implication of the CAPM assumptions: the Separation Theorem</a:t>
            </a:r>
          </a:p>
        </p:txBody>
      </p:sp>
      <p:sp>
        <p:nvSpPr>
          <p:cNvPr id="3" name="Content Placeholder 2">
            <a:extLst>
              <a:ext uri="{FF2B5EF4-FFF2-40B4-BE49-F238E27FC236}">
                <a16:creationId xmlns:a16="http://schemas.microsoft.com/office/drawing/2014/main" id="{A88B5FE2-466D-F244-83B9-103CE143E339}"/>
              </a:ext>
            </a:extLst>
          </p:cNvPr>
          <p:cNvSpPr>
            <a:spLocks noGrp="1"/>
          </p:cNvSpPr>
          <p:nvPr>
            <p:ph idx="1"/>
          </p:nvPr>
        </p:nvSpPr>
        <p:spPr>
          <a:xfrm>
            <a:off x="541020" y="1323371"/>
            <a:ext cx="10214610" cy="4705002"/>
          </a:xfrm>
        </p:spPr>
        <p:txBody>
          <a:bodyPr>
            <a:normAutofit/>
          </a:bodyPr>
          <a:lstStyle/>
          <a:p>
            <a:pPr marL="0" indent="0">
              <a:lnSpc>
                <a:spcPct val="150000"/>
              </a:lnSpc>
              <a:buNone/>
            </a:pPr>
            <a:r>
              <a:rPr lang="en-GB" sz="2000" dirty="0">
                <a:cs typeface="Arial" panose="020B0604020202020204" pitchFamily="34" charset="0"/>
              </a:rPr>
              <a:t>The investor makes two </a:t>
            </a:r>
            <a:r>
              <a:rPr lang="en-GB" sz="2000" i="1" dirty="0">
                <a:cs typeface="Arial" panose="020B0604020202020204" pitchFamily="34" charset="0"/>
              </a:rPr>
              <a:t>separate</a:t>
            </a:r>
            <a:r>
              <a:rPr lang="en-GB" sz="2000" dirty="0">
                <a:cs typeface="Arial" panose="020B0604020202020204" pitchFamily="34" charset="0"/>
              </a:rPr>
              <a:t> decisions: </a:t>
            </a:r>
          </a:p>
          <a:p>
            <a:pPr marL="571500" indent="-571500">
              <a:lnSpc>
                <a:spcPct val="150000"/>
              </a:lnSpc>
              <a:buAutoNum type="romanLcParenR"/>
            </a:pPr>
            <a:r>
              <a:rPr lang="en-GB" sz="2000" dirty="0">
                <a:cs typeface="Arial" panose="020B0604020202020204" pitchFamily="34" charset="0"/>
              </a:rPr>
              <a:t>which portfolio of risky assets to hold; which is purely a technicality as the implication of CAPM assumptions is that everyone should hold the Market portfolio, and </a:t>
            </a:r>
          </a:p>
          <a:p>
            <a:pPr marL="571500" indent="-571500">
              <a:lnSpc>
                <a:spcPct val="150000"/>
              </a:lnSpc>
              <a:buAutoNum type="romanLcParenR"/>
            </a:pPr>
            <a:r>
              <a:rPr lang="en-GB" sz="2000" dirty="0">
                <a:cs typeface="Arial" panose="020B0604020202020204" pitchFamily="34" charset="0"/>
              </a:rPr>
              <a:t>what should be the asset allocation between risky Market portfolio and the risk-free rate – that depends on investors’ risk aversion</a:t>
            </a:r>
          </a:p>
          <a:p>
            <a:pPr marL="0" indent="0">
              <a:lnSpc>
                <a:spcPct val="150000"/>
              </a:lnSpc>
              <a:buNone/>
            </a:pPr>
            <a:r>
              <a:rPr lang="en-US" altLang="en-US" sz="2000" dirty="0">
                <a:cs typeface="Arial" panose="020B0604020202020204" pitchFamily="34" charset="0"/>
              </a:rPr>
              <a:t>Note:</a:t>
            </a:r>
          </a:p>
          <a:p>
            <a:pPr marL="0" indent="0">
              <a:lnSpc>
                <a:spcPct val="150000"/>
              </a:lnSpc>
              <a:buNone/>
            </a:pPr>
            <a:r>
              <a:rPr lang="en-US" altLang="en-US" sz="2000" dirty="0">
                <a:cs typeface="Arial" panose="020B0604020202020204" pitchFamily="34" charset="0"/>
              </a:rPr>
              <a:t>In the CAPM world, one can determine the optimal combination of </a:t>
            </a:r>
            <a:r>
              <a:rPr lang="en-US" altLang="en-US" sz="2000" i="1" dirty="0">
                <a:cs typeface="Arial" panose="020B0604020202020204" pitchFamily="34" charset="0"/>
              </a:rPr>
              <a:t>risky </a:t>
            </a:r>
            <a:r>
              <a:rPr lang="en-US" altLang="en-US" sz="2000" dirty="0">
                <a:cs typeface="Arial" panose="020B0604020202020204" pitchFamily="34" charset="0"/>
              </a:rPr>
              <a:t>assets – the Market - </a:t>
            </a:r>
            <a:r>
              <a:rPr lang="en-US" altLang="en-US" sz="2000" u="sng" dirty="0">
                <a:cs typeface="Arial" panose="020B0604020202020204" pitchFamily="34" charset="0"/>
              </a:rPr>
              <a:t>without</a:t>
            </a:r>
            <a:r>
              <a:rPr lang="en-US" altLang="en-US" sz="2000" dirty="0">
                <a:cs typeface="Arial" panose="020B0604020202020204" pitchFamily="34" charset="0"/>
              </a:rPr>
              <a:t> considering risk/return preferences</a:t>
            </a:r>
          </a:p>
          <a:p>
            <a:pPr marL="0" indent="0">
              <a:lnSpc>
                <a:spcPct val="10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3206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23A8971-3951-D747-A0C8-D00FC2BECB09}"/>
              </a:ext>
            </a:extLst>
          </p:cNvPr>
          <p:cNvSpPr>
            <a:spLocks noGrp="1"/>
          </p:cNvSpPr>
          <p:nvPr>
            <p:ph type="title"/>
          </p:nvPr>
        </p:nvSpPr>
        <p:spPr/>
        <p:txBody>
          <a:bodyPr>
            <a:noAutofit/>
          </a:bodyPr>
          <a:lstStyle/>
          <a:p>
            <a:pPr algn="ctr"/>
            <a:r>
              <a:rPr lang="en-US" dirty="0">
                <a:latin typeface="+mn-lt"/>
                <a:cs typeface="Arial" panose="020B0604020202020204" pitchFamily="34" charset="0"/>
              </a:rPr>
              <a:t>Risk-return relationships defined by the CAPM: CML vs. SML</a:t>
            </a:r>
          </a:p>
        </p:txBody>
      </p:sp>
      <p:sp>
        <p:nvSpPr>
          <p:cNvPr id="2" name="Text Placeholder 1">
            <a:extLst>
              <a:ext uri="{FF2B5EF4-FFF2-40B4-BE49-F238E27FC236}">
                <a16:creationId xmlns:a16="http://schemas.microsoft.com/office/drawing/2014/main" id="{13B2F57B-B169-0E48-8FBD-40B5AC7771A9}"/>
              </a:ext>
            </a:extLst>
          </p:cNvPr>
          <p:cNvSpPr>
            <a:spLocks noGrp="1"/>
          </p:cNvSpPr>
          <p:nvPr>
            <p:ph type="body" sz="half" idx="2"/>
          </p:nvPr>
        </p:nvSpPr>
        <p:spPr/>
        <p:txBody>
          <a:bodyPr/>
          <a:lstStyle/>
          <a:p>
            <a:endParaRPr lang="en-US"/>
          </a:p>
        </p:txBody>
      </p:sp>
      <p:sp>
        <p:nvSpPr>
          <p:cNvPr id="3" name="Text Placeholder 2">
            <a:extLst>
              <a:ext uri="{FF2B5EF4-FFF2-40B4-BE49-F238E27FC236}">
                <a16:creationId xmlns:a16="http://schemas.microsoft.com/office/drawing/2014/main" id="{B38C7C20-F623-1345-95CF-60BDDE2176E1}"/>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1382211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FB4F0566-11BE-A840-BC96-800BFBB6367A}"/>
              </a:ext>
            </a:extLst>
          </p:cNvPr>
          <p:cNvSpPr>
            <a:spLocks noGrp="1" noChangeArrowheads="1"/>
          </p:cNvSpPr>
          <p:nvPr>
            <p:ph type="title"/>
          </p:nvPr>
        </p:nvSpPr>
        <p:spPr>
          <a:xfrm>
            <a:off x="438376" y="675840"/>
            <a:ext cx="11315248" cy="785542"/>
          </a:xfrm>
        </p:spPr>
        <p:txBody>
          <a:bodyPr/>
          <a:lstStyle/>
          <a:p>
            <a:r>
              <a:rPr lang="en-US" altLang="en-US" sz="3200" dirty="0">
                <a:latin typeface="+mn-lt"/>
              </a:rPr>
              <a:t>Relationships defined by CAPM</a:t>
            </a:r>
          </a:p>
        </p:txBody>
      </p:sp>
      <p:sp>
        <p:nvSpPr>
          <p:cNvPr id="26626" name="Rectangle 2">
            <a:extLst>
              <a:ext uri="{FF2B5EF4-FFF2-40B4-BE49-F238E27FC236}">
                <a16:creationId xmlns:a16="http://schemas.microsoft.com/office/drawing/2014/main" id="{B7CFC14C-85B7-1E44-9B7A-5BF9BBEA22A7}"/>
              </a:ext>
            </a:extLst>
          </p:cNvPr>
          <p:cNvSpPr>
            <a:spLocks noGrp="1" noChangeArrowheads="1"/>
          </p:cNvSpPr>
          <p:nvPr>
            <p:ph idx="1"/>
          </p:nvPr>
        </p:nvSpPr>
        <p:spPr/>
        <p:txBody>
          <a:bodyPr/>
          <a:lstStyle/>
          <a:p>
            <a:pPr marL="0" indent="0">
              <a:lnSpc>
                <a:spcPct val="150000"/>
              </a:lnSpc>
              <a:spcAft>
                <a:spcPts val="600"/>
              </a:spcAft>
              <a:buNone/>
            </a:pPr>
            <a:r>
              <a:rPr lang="en-US" altLang="en-US" sz="2000" dirty="0">
                <a:latin typeface="Arial" panose="020B0604020202020204" pitchFamily="34" charset="0"/>
                <a:cs typeface="Arial" panose="020B0604020202020204" pitchFamily="34" charset="0"/>
              </a:rPr>
              <a:t>Two relationships are derived from the CAPM:</a:t>
            </a:r>
          </a:p>
          <a:p>
            <a:pPr marL="0" indent="0">
              <a:lnSpc>
                <a:spcPct val="150000"/>
              </a:lnSpc>
              <a:spcAft>
                <a:spcPts val="600"/>
              </a:spcAft>
              <a:buNone/>
            </a:pPr>
            <a:r>
              <a:rPr lang="en-US" altLang="en-US" sz="2000" dirty="0">
                <a:latin typeface="Arial" panose="020B0604020202020204" pitchFamily="34" charset="0"/>
                <a:cs typeface="Arial" panose="020B0604020202020204" pitchFamily="34" charset="0"/>
              </a:rPr>
              <a:t>1. </a:t>
            </a:r>
            <a:r>
              <a:rPr lang="en-US" altLang="en-US" sz="2000" dirty="0">
                <a:solidFill>
                  <a:srgbClr val="0070C0"/>
                </a:solidFill>
                <a:latin typeface="Arial" panose="020B0604020202020204" pitchFamily="34" charset="0"/>
                <a:cs typeface="Arial" panose="020B0604020202020204" pitchFamily="34" charset="0"/>
              </a:rPr>
              <a:t>Capital Market Line (CML) </a:t>
            </a:r>
            <a:r>
              <a:rPr lang="en-US" altLang="en-US" sz="2000" dirty="0">
                <a:latin typeface="Arial" panose="020B0604020202020204" pitchFamily="34" charset="0"/>
                <a:cs typeface="Arial" panose="020B0604020202020204" pitchFamily="34" charset="0"/>
              </a:rPr>
              <a:t>is determining the the equilibrium relationship between the total risk and the expected return of the efficient portfolios – it is the efficient frontier in the CAPM (that we have discussed on previous slides)</a:t>
            </a:r>
          </a:p>
          <a:p>
            <a:pPr marL="0" indent="0">
              <a:lnSpc>
                <a:spcPct val="150000"/>
              </a:lnSpc>
              <a:spcAft>
                <a:spcPts val="600"/>
              </a:spcAft>
              <a:buNone/>
            </a:pPr>
            <a:r>
              <a:rPr lang="en-US" altLang="en-US" sz="2000" dirty="0">
                <a:latin typeface="Arial" panose="020B0604020202020204" pitchFamily="34" charset="0"/>
                <a:cs typeface="Arial" panose="020B0604020202020204" pitchFamily="34" charset="0"/>
              </a:rPr>
              <a:t>2. </a:t>
            </a:r>
            <a:r>
              <a:rPr lang="en-US" altLang="en-US" sz="2000" dirty="0">
                <a:solidFill>
                  <a:srgbClr val="0070C0"/>
                </a:solidFill>
                <a:latin typeface="Arial" panose="020B0604020202020204" pitchFamily="34" charset="0"/>
                <a:cs typeface="Arial" panose="020B0604020202020204" pitchFamily="34" charset="0"/>
              </a:rPr>
              <a:t>Security Market Line (SML) </a:t>
            </a:r>
            <a:r>
              <a:rPr lang="en-US" altLang="en-US" sz="2000" dirty="0">
                <a:latin typeface="Arial" panose="020B0604020202020204" pitchFamily="34" charset="0"/>
                <a:cs typeface="Arial" panose="020B0604020202020204" pitchFamily="34" charset="0"/>
              </a:rPr>
              <a:t>is determining the equilibrium relationship between systematic risk and the expected return of both individual securities and portfolios</a:t>
            </a:r>
          </a:p>
        </p:txBody>
      </p:sp>
    </p:spTree>
    <p:extLst>
      <p:ext uri="{BB962C8B-B14F-4D97-AF65-F5344CB8AC3E}">
        <p14:creationId xmlns:p14="http://schemas.microsoft.com/office/powerpoint/2010/main" val="2596545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11655C-D8E9-DF45-B5F9-45F798072460}"/>
              </a:ext>
            </a:extLst>
          </p:cNvPr>
          <p:cNvSpPr>
            <a:spLocks noGrp="1"/>
          </p:cNvSpPr>
          <p:nvPr>
            <p:ph sz="half" idx="2"/>
          </p:nvPr>
        </p:nvSpPr>
        <p:spPr/>
        <p:txBody>
          <a:bodyPr/>
          <a:lstStyle/>
          <a:p>
            <a:endParaRPr lang="en-US"/>
          </a:p>
        </p:txBody>
      </p:sp>
      <p:sp>
        <p:nvSpPr>
          <p:cNvPr id="33795" name="Rectangle 3">
            <a:extLst>
              <a:ext uri="{FF2B5EF4-FFF2-40B4-BE49-F238E27FC236}">
                <a16:creationId xmlns:a16="http://schemas.microsoft.com/office/drawing/2014/main" id="{577DE4F3-88A5-2542-A9C4-3F287A181146}"/>
              </a:ext>
            </a:extLst>
          </p:cNvPr>
          <p:cNvSpPr>
            <a:spLocks noGrp="1" noChangeArrowheads="1"/>
          </p:cNvSpPr>
          <p:nvPr>
            <p:ph type="title"/>
          </p:nvPr>
        </p:nvSpPr>
        <p:spPr>
          <a:xfrm>
            <a:off x="438376" y="599010"/>
            <a:ext cx="11315248" cy="785542"/>
          </a:xfrm>
        </p:spPr>
        <p:txBody>
          <a:bodyPr/>
          <a:lstStyle/>
          <a:p>
            <a:r>
              <a:rPr lang="en-US" altLang="en-US" sz="3200" dirty="0">
                <a:latin typeface="Arial" panose="020B0604020202020204" pitchFamily="34" charset="0"/>
                <a:cs typeface="Arial" panose="020B0604020202020204" pitchFamily="34" charset="0"/>
              </a:rPr>
              <a:t>Capital Market Line (CML), cont.</a:t>
            </a:r>
          </a:p>
        </p:txBody>
      </p:sp>
      <p:sp>
        <p:nvSpPr>
          <p:cNvPr id="33794" name="Rectangle 2">
            <a:extLst>
              <a:ext uri="{FF2B5EF4-FFF2-40B4-BE49-F238E27FC236}">
                <a16:creationId xmlns:a16="http://schemas.microsoft.com/office/drawing/2014/main" id="{78B6B79E-0C67-2D4A-824D-50F81856C3EF}"/>
              </a:ext>
            </a:extLst>
          </p:cNvPr>
          <p:cNvSpPr>
            <a:spLocks noGrp="1" noChangeArrowheads="1"/>
          </p:cNvSpPr>
          <p:nvPr>
            <p:ph idx="1"/>
          </p:nvPr>
        </p:nvSpPr>
        <p:spPr/>
        <p:txBody>
          <a:bodyPr>
            <a:normAutofit fontScale="85000" lnSpcReduction="10000"/>
          </a:bodyPr>
          <a:lstStyle/>
          <a:p>
            <a:pPr>
              <a:lnSpc>
                <a:spcPct val="150000"/>
              </a:lnSpc>
            </a:pPr>
            <a:r>
              <a:rPr lang="en-US" altLang="en-US" sz="2000" dirty="0">
                <a:latin typeface="Arial" panose="020B0604020202020204" pitchFamily="34" charset="0"/>
                <a:cs typeface="Arial" panose="020B0604020202020204" pitchFamily="34" charset="0"/>
              </a:rPr>
              <a:t>CML characterized by the intercept (Rf) and the slope</a:t>
            </a:r>
          </a:p>
          <a:p>
            <a:pPr>
              <a:lnSpc>
                <a:spcPct val="150000"/>
              </a:lnSpc>
            </a:pPr>
            <a:r>
              <a:rPr lang="en-US" altLang="en-US" sz="2000" dirty="0">
                <a:latin typeface="Arial" panose="020B0604020202020204" pitchFamily="34" charset="0"/>
                <a:cs typeface="Arial" panose="020B0604020202020204" pitchFamily="34" charset="0"/>
              </a:rPr>
              <a:t>The slope of the CML is called the expected return/risk tradeoff for efficient portfolios, i.e. the market price of risk for the efficient portfolios:      </a:t>
            </a:r>
          </a:p>
          <a:p>
            <a:pPr marL="0" indent="0">
              <a:lnSpc>
                <a:spcPct val="150000"/>
              </a:lnSpc>
              <a:buNone/>
            </a:pPr>
            <a:r>
              <a:rPr lang="en-US" altLang="en-US" sz="20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sym typeface="Symbol" pitchFamily="2" charset="2"/>
              </a:rPr>
              <a:t>E(R </a:t>
            </a:r>
            <a:r>
              <a:rPr lang="en-US" altLang="en-US" sz="2000" baseline="-25000" dirty="0">
                <a:latin typeface="Arial" panose="020B0604020202020204" pitchFamily="34" charset="0"/>
                <a:cs typeface="Arial" panose="020B0604020202020204" pitchFamily="34" charset="0"/>
                <a:sym typeface="Symbol" pitchFamily="2" charset="2"/>
              </a:rPr>
              <a:t>M</a:t>
            </a:r>
            <a:r>
              <a:rPr lang="en-US" altLang="en-US" sz="2000" dirty="0">
                <a:latin typeface="Arial" panose="020B0604020202020204" pitchFamily="34" charset="0"/>
                <a:cs typeface="Arial" panose="020B0604020202020204" pitchFamily="34" charset="0"/>
                <a:sym typeface="Symbol" pitchFamily="2" charset="2"/>
              </a:rPr>
              <a:t>) - Rf) / </a:t>
            </a:r>
            <a:r>
              <a:rPr lang="en-US" altLang="en-US" sz="2000" baseline="-25000" dirty="0">
                <a:latin typeface="Arial" panose="020B0604020202020204" pitchFamily="34" charset="0"/>
                <a:cs typeface="Arial" panose="020B0604020202020204" pitchFamily="34" charset="0"/>
                <a:sym typeface="Symbol" pitchFamily="2" charset="2"/>
              </a:rPr>
              <a:t>M</a:t>
            </a:r>
          </a:p>
          <a:p>
            <a:pPr>
              <a:lnSpc>
                <a:spcPct val="150000"/>
              </a:lnSpc>
            </a:pPr>
            <a:r>
              <a:rPr lang="en-US" altLang="en-US" sz="2000" dirty="0">
                <a:latin typeface="Arial" panose="020B0604020202020204" pitchFamily="34" charset="0"/>
                <a:cs typeface="Arial" panose="020B0604020202020204" pitchFamily="34" charset="0"/>
                <a:sym typeface="Symbol" pitchFamily="2" charset="2"/>
              </a:rPr>
              <a:t>The equation of the CML is: </a:t>
            </a:r>
          </a:p>
          <a:p>
            <a:pPr>
              <a:lnSpc>
                <a:spcPct val="150000"/>
              </a:lnSpc>
              <a:buFontTx/>
              <a:buNone/>
            </a:pPr>
            <a:r>
              <a:rPr lang="en-US" altLang="en-US" sz="2000" dirty="0">
                <a:latin typeface="Arial" panose="020B0604020202020204" pitchFamily="34" charset="0"/>
                <a:cs typeface="Arial" panose="020B0604020202020204" pitchFamily="34" charset="0"/>
                <a:sym typeface="Symbol" pitchFamily="2" charset="2"/>
              </a:rPr>
              <a:t>    E(Rp) = Rf + [</a:t>
            </a:r>
            <a:r>
              <a:rPr lang="en-US" altLang="en-US" sz="2000" dirty="0">
                <a:latin typeface="Arial" panose="020B0604020202020204" pitchFamily="34" charset="0"/>
                <a:cs typeface="Arial" panose="020B0604020202020204" pitchFamily="34" charset="0"/>
              </a:rPr>
              <a:t>(</a:t>
            </a:r>
            <a:r>
              <a:rPr lang="en-US" altLang="en-US" sz="2000" dirty="0">
                <a:latin typeface="Arial" panose="020B0604020202020204" pitchFamily="34" charset="0"/>
                <a:cs typeface="Arial" panose="020B0604020202020204" pitchFamily="34" charset="0"/>
                <a:sym typeface="Symbol" pitchFamily="2" charset="2"/>
              </a:rPr>
              <a:t>E(R </a:t>
            </a:r>
            <a:r>
              <a:rPr lang="en-US" altLang="en-US" sz="2000" baseline="-25000" dirty="0">
                <a:latin typeface="Arial" panose="020B0604020202020204" pitchFamily="34" charset="0"/>
                <a:cs typeface="Arial" panose="020B0604020202020204" pitchFamily="34" charset="0"/>
                <a:sym typeface="Symbol" pitchFamily="2" charset="2"/>
              </a:rPr>
              <a:t>M</a:t>
            </a:r>
            <a:r>
              <a:rPr lang="en-US" altLang="en-US" sz="2000" dirty="0">
                <a:latin typeface="Arial" panose="020B0604020202020204" pitchFamily="34" charset="0"/>
                <a:cs typeface="Arial" panose="020B0604020202020204" pitchFamily="34" charset="0"/>
                <a:sym typeface="Symbol" pitchFamily="2" charset="2"/>
              </a:rPr>
              <a:t>) - Rf) / </a:t>
            </a:r>
            <a:r>
              <a:rPr lang="en-US" altLang="en-US" sz="2000" baseline="-25000" dirty="0">
                <a:latin typeface="Arial" panose="020B0604020202020204" pitchFamily="34" charset="0"/>
                <a:cs typeface="Arial" panose="020B0604020202020204" pitchFamily="34" charset="0"/>
                <a:sym typeface="Symbol" pitchFamily="2" charset="2"/>
              </a:rPr>
              <a:t>M</a:t>
            </a:r>
            <a:r>
              <a:rPr lang="en-US" altLang="en-US" sz="2000" dirty="0">
                <a:latin typeface="Arial" panose="020B0604020202020204" pitchFamily="34" charset="0"/>
                <a:cs typeface="Arial" panose="020B0604020202020204" pitchFamily="34" charset="0"/>
                <a:sym typeface="Symbol" pitchFamily="2" charset="2"/>
              </a:rPr>
              <a:t> ] </a:t>
            </a:r>
            <a:r>
              <a:rPr lang="en-US" altLang="en-US" sz="2000" baseline="-25000" dirty="0">
                <a:latin typeface="Arial" panose="020B0604020202020204" pitchFamily="34" charset="0"/>
                <a:cs typeface="Arial" panose="020B0604020202020204" pitchFamily="34" charset="0"/>
                <a:sym typeface="Symbol" pitchFamily="2" charset="2"/>
              </a:rPr>
              <a:t>p</a:t>
            </a:r>
            <a:endParaRPr lang="en-US" altLang="en-US" sz="2000" dirty="0">
              <a:latin typeface="Arial" panose="020B0604020202020204" pitchFamily="34" charset="0"/>
              <a:cs typeface="Arial" panose="020B0604020202020204" pitchFamily="34" charset="0"/>
            </a:endParaRPr>
          </a:p>
          <a:p>
            <a:pPr>
              <a:lnSpc>
                <a:spcPct val="150000"/>
              </a:lnSpc>
              <a:buFontTx/>
              <a:buNone/>
            </a:pPr>
            <a:r>
              <a:rPr lang="en-US" altLang="en-US" sz="2000" dirty="0">
                <a:latin typeface="Arial" panose="020B0604020202020204" pitchFamily="34" charset="0"/>
                <a:cs typeface="Arial" panose="020B0604020202020204" pitchFamily="34" charset="0"/>
              </a:rPr>
              <a:t>   Where E(Rp) and </a:t>
            </a:r>
            <a:r>
              <a:rPr lang="en-US" altLang="en-US" sz="2000" dirty="0">
                <a:latin typeface="Arial" panose="020B0604020202020204" pitchFamily="34" charset="0"/>
                <a:cs typeface="Arial" panose="020B0604020202020204" pitchFamily="34" charset="0"/>
                <a:sym typeface="Symbol" pitchFamily="2" charset="2"/>
              </a:rPr>
              <a:t></a:t>
            </a:r>
            <a:r>
              <a:rPr lang="en-US" altLang="en-US" sz="2000" baseline="-25000" dirty="0">
                <a:latin typeface="Arial" panose="020B0604020202020204" pitchFamily="34" charset="0"/>
                <a:cs typeface="Arial" panose="020B0604020202020204" pitchFamily="34" charset="0"/>
                <a:sym typeface="Symbol" pitchFamily="2" charset="2"/>
              </a:rPr>
              <a:t>p</a:t>
            </a:r>
            <a:r>
              <a:rPr lang="en-US" altLang="en-US" sz="2000" dirty="0">
                <a:latin typeface="Arial" panose="020B0604020202020204" pitchFamily="34" charset="0"/>
                <a:cs typeface="Arial" panose="020B0604020202020204" pitchFamily="34" charset="0"/>
              </a:rPr>
              <a:t> are the expected return   and standard deviation of the efficient  portfolio</a:t>
            </a:r>
          </a:p>
        </p:txBody>
      </p:sp>
      <p:pic>
        <p:nvPicPr>
          <p:cNvPr id="5" name="Picture 4">
            <a:extLst>
              <a:ext uri="{FF2B5EF4-FFF2-40B4-BE49-F238E27FC236}">
                <a16:creationId xmlns:a16="http://schemas.microsoft.com/office/drawing/2014/main" id="{922071DE-8249-244B-B61E-89C3DF026A31}"/>
              </a:ext>
            </a:extLst>
          </p:cNvPr>
          <p:cNvPicPr>
            <a:picLocks noChangeAspect="1"/>
          </p:cNvPicPr>
          <p:nvPr/>
        </p:nvPicPr>
        <p:blipFill>
          <a:blip r:embed="rId2"/>
          <a:stretch>
            <a:fillRect/>
          </a:stretch>
        </p:blipFill>
        <p:spPr>
          <a:xfrm>
            <a:off x="6299497" y="1862215"/>
            <a:ext cx="5272424" cy="4349750"/>
          </a:xfrm>
          <a:prstGeom prst="rect">
            <a:avLst/>
          </a:prstGeom>
        </p:spPr>
      </p:pic>
    </p:spTree>
    <p:extLst>
      <p:ext uri="{BB962C8B-B14F-4D97-AF65-F5344CB8AC3E}">
        <p14:creationId xmlns:p14="http://schemas.microsoft.com/office/powerpoint/2010/main" val="1403502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4">
            <a:extLst>
              <a:ext uri="{FF2B5EF4-FFF2-40B4-BE49-F238E27FC236}">
                <a16:creationId xmlns:a16="http://schemas.microsoft.com/office/drawing/2014/main" id="{69FD29DF-24AD-174D-8CEF-75E0188754D2}"/>
              </a:ext>
            </a:extLst>
          </p:cNvPr>
          <p:cNvSpPr>
            <a:spLocks noGrp="1" noChangeArrowheads="1"/>
          </p:cNvSpPr>
          <p:nvPr>
            <p:ph type="title"/>
          </p:nvPr>
        </p:nvSpPr>
        <p:spPr>
          <a:xfrm>
            <a:off x="838200" y="331787"/>
            <a:ext cx="10515600" cy="1325563"/>
          </a:xfrm>
        </p:spPr>
        <p:txBody>
          <a:bodyPr/>
          <a:lstStyle/>
          <a:p>
            <a:r>
              <a:rPr lang="en-US" altLang="en-US" sz="3200" dirty="0">
                <a:latin typeface="Arial" panose="020B0604020202020204" pitchFamily="34" charset="0"/>
                <a:cs typeface="Arial" panose="020B0604020202020204" pitchFamily="34" charset="0"/>
              </a:rPr>
              <a:t>Capital Market Line (CML)</a:t>
            </a:r>
          </a:p>
        </p:txBody>
      </p:sp>
      <p:sp>
        <p:nvSpPr>
          <p:cNvPr id="29698" name="Rectangle 2">
            <a:extLst>
              <a:ext uri="{FF2B5EF4-FFF2-40B4-BE49-F238E27FC236}">
                <a16:creationId xmlns:a16="http://schemas.microsoft.com/office/drawing/2014/main" id="{4D973F78-BB9D-3F4D-82CB-5285606908F0}"/>
              </a:ext>
            </a:extLst>
          </p:cNvPr>
          <p:cNvSpPr>
            <a:spLocks noGrp="1" noChangeArrowheads="1"/>
          </p:cNvSpPr>
          <p:nvPr>
            <p:ph idx="1"/>
          </p:nvPr>
        </p:nvSpPr>
        <p:spPr>
          <a:xfrm>
            <a:off x="838200" y="1558926"/>
            <a:ext cx="9494520" cy="4967287"/>
          </a:xfrm>
        </p:spPr>
        <p:txBody>
          <a:bodyPr>
            <a:normAutofit/>
          </a:bodyPr>
          <a:lstStyle/>
          <a:p>
            <a:pPr>
              <a:lnSpc>
                <a:spcPct val="150000"/>
              </a:lnSpc>
            </a:pPr>
            <a:r>
              <a:rPr lang="en-US" altLang="en-US" sz="2000" dirty="0">
                <a:latin typeface="Arial" panose="020B0604020202020204" pitchFamily="34" charset="0"/>
                <a:cs typeface="Arial" panose="020B0604020202020204" pitchFamily="34" charset="0"/>
              </a:rPr>
              <a:t>CML is efficient frontier in the CAPM</a:t>
            </a:r>
          </a:p>
          <a:p>
            <a:pPr>
              <a:lnSpc>
                <a:spcPct val="150000"/>
              </a:lnSpc>
            </a:pPr>
            <a:r>
              <a:rPr lang="en-US" altLang="en-US" sz="2000" dirty="0">
                <a:latin typeface="Arial" panose="020B0604020202020204" pitchFamily="34" charset="0"/>
                <a:cs typeface="Arial" panose="020B0604020202020204" pitchFamily="34" charset="0"/>
              </a:rPr>
              <a:t>All portfolios that are not consisted from the market portfolio M and risk free lie below the CML, i.e. are inefficient</a:t>
            </a:r>
          </a:p>
          <a:p>
            <a:pPr>
              <a:lnSpc>
                <a:spcPct val="150000"/>
              </a:lnSpc>
            </a:pPr>
            <a:r>
              <a:rPr lang="en-US" altLang="en-US" sz="2000" dirty="0">
                <a:latin typeface="Arial" panose="020B0604020202020204" pitchFamily="34" charset="0"/>
                <a:cs typeface="Arial" panose="020B0604020202020204" pitchFamily="34" charset="0"/>
              </a:rPr>
              <a:t>In equilibrium, all investors hold portfolios on CML</a:t>
            </a:r>
          </a:p>
          <a:p>
            <a:pPr>
              <a:lnSpc>
                <a:spcPct val="150000"/>
              </a:lnSpc>
            </a:pPr>
            <a:r>
              <a:rPr lang="en-US" altLang="en-US" sz="2000" dirty="0">
                <a:latin typeface="Arial" panose="020B0604020202020204" pitchFamily="34" charset="0"/>
                <a:cs typeface="Arial" panose="020B0604020202020204" pitchFamily="34" charset="0"/>
              </a:rPr>
              <a:t>CML must be upward sloping (CAPM assumption: investors are risk averse)</a:t>
            </a:r>
          </a:p>
          <a:p>
            <a:pPr lvl="1">
              <a:lnSpc>
                <a:spcPct val="150000"/>
              </a:lnSpc>
            </a:pPr>
            <a:r>
              <a:rPr lang="en-US" altLang="en-US" sz="1600" dirty="0">
                <a:latin typeface="Arial" panose="020B0604020202020204" pitchFamily="34" charset="0"/>
                <a:cs typeface="Arial" panose="020B0604020202020204" pitchFamily="34" charset="0"/>
              </a:rPr>
              <a:t>In practice, historical observations have shown that CML can be downward sloping</a:t>
            </a:r>
          </a:p>
          <a:p>
            <a:pPr>
              <a:lnSpc>
                <a:spcPct val="150000"/>
              </a:lnSpc>
            </a:pPr>
            <a:r>
              <a:rPr lang="en-US" altLang="en-US" sz="2000" dirty="0">
                <a:latin typeface="Arial" panose="020B0604020202020204" pitchFamily="34" charset="0"/>
                <a:cs typeface="Arial" panose="020B0604020202020204" pitchFamily="34" charset="0"/>
              </a:rPr>
              <a:t>If a standard deviation of an efficient portfolio is known, CML enables an investor to identify the required rate of return on that portfolio</a:t>
            </a:r>
          </a:p>
        </p:txBody>
      </p:sp>
    </p:spTree>
    <p:extLst>
      <p:ext uri="{BB962C8B-B14F-4D97-AF65-F5344CB8AC3E}">
        <p14:creationId xmlns:p14="http://schemas.microsoft.com/office/powerpoint/2010/main" val="2579329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275EF092-0E3E-004D-A970-AB1F2CB7C242}"/>
              </a:ext>
            </a:extLst>
          </p:cNvPr>
          <p:cNvSpPr>
            <a:spLocks noGrp="1" noChangeArrowheads="1"/>
          </p:cNvSpPr>
          <p:nvPr>
            <p:ph type="title"/>
          </p:nvPr>
        </p:nvSpPr>
        <p:spPr>
          <a:xfrm>
            <a:off x="438376" y="680951"/>
            <a:ext cx="11315248" cy="785542"/>
          </a:xfrm>
        </p:spPr>
        <p:txBody>
          <a:bodyPr/>
          <a:lstStyle/>
          <a:p>
            <a:r>
              <a:rPr lang="en-US" altLang="en-US" sz="3200" dirty="0">
                <a:latin typeface="Arial" panose="020B0604020202020204" pitchFamily="34" charset="0"/>
                <a:cs typeface="Arial" panose="020B0604020202020204" pitchFamily="34" charset="0"/>
              </a:rPr>
              <a:t>Security Market Line (SML)</a:t>
            </a:r>
          </a:p>
        </p:txBody>
      </p:sp>
      <p:sp>
        <p:nvSpPr>
          <p:cNvPr id="43010" name="Rectangle 2">
            <a:extLst>
              <a:ext uri="{FF2B5EF4-FFF2-40B4-BE49-F238E27FC236}">
                <a16:creationId xmlns:a16="http://schemas.microsoft.com/office/drawing/2014/main" id="{0C0419A8-01DA-8F46-8D59-7F987569EC44}"/>
              </a:ext>
            </a:extLst>
          </p:cNvPr>
          <p:cNvSpPr>
            <a:spLocks noGrp="1" noChangeArrowheads="1"/>
          </p:cNvSpPr>
          <p:nvPr>
            <p:ph sz="half" idx="1"/>
          </p:nvPr>
        </p:nvSpPr>
        <p:spPr>
          <a:xfrm>
            <a:off x="437547" y="1643379"/>
            <a:ext cx="5658453" cy="5037831"/>
          </a:xfrm>
        </p:spPr>
        <p:txBody>
          <a:bodyPr>
            <a:normAutofit fontScale="85000" lnSpcReduction="20000"/>
          </a:bodyPr>
          <a:lstStyle/>
          <a:p>
            <a:pPr>
              <a:lnSpc>
                <a:spcPct val="150000"/>
              </a:lnSpc>
            </a:pPr>
            <a:r>
              <a:rPr lang="en-US" altLang="en-US" sz="2000" dirty="0">
                <a:latin typeface="Arial" panose="020B0604020202020204" pitchFamily="34" charset="0"/>
                <a:cs typeface="Arial" panose="020B0604020202020204" pitchFamily="34" charset="0"/>
              </a:rPr>
              <a:t>In a well diversified portfolio, like M, the contribution of asset risk to the portfolio risk is given through its covariance with the portfolio</a:t>
            </a:r>
          </a:p>
          <a:p>
            <a:pPr>
              <a:lnSpc>
                <a:spcPct val="150000"/>
              </a:lnSpc>
            </a:pPr>
            <a:r>
              <a:rPr lang="en-US" altLang="en-US" sz="2000" dirty="0">
                <a:latin typeface="Arial" panose="020B0604020202020204" pitchFamily="34" charset="0"/>
                <a:cs typeface="Arial" panose="020B0604020202020204" pitchFamily="34" charset="0"/>
              </a:rPr>
              <a:t>The </a:t>
            </a:r>
            <a:r>
              <a:rPr lang="en-US" altLang="en-US" sz="2000" dirty="0">
                <a:latin typeface="Arial" panose="020B0604020202020204" pitchFamily="34" charset="0"/>
                <a:cs typeface="Arial" panose="020B0604020202020204" pitchFamily="34" charset="0"/>
                <a:sym typeface="Symbol" pitchFamily="2" charset="2"/>
              </a:rPr>
              <a:t>relationship between the expected return and market risk of security can be presented in </a:t>
            </a:r>
            <a:r>
              <a:rPr lang="en-GB" sz="2000" dirty="0">
                <a:latin typeface="Arial" panose="020B0604020202020204" pitchFamily="34" charset="0"/>
                <a:cs typeface="Arial" panose="020B0604020202020204" pitchFamily="34" charset="0"/>
              </a:rPr>
              <a:t>E(</a:t>
            </a:r>
            <a:r>
              <a:rPr lang="en-GB" sz="2000" dirty="0" err="1">
                <a:latin typeface="Arial" panose="020B0604020202020204" pitchFamily="34" charset="0"/>
                <a:cs typeface="Arial" panose="020B0604020202020204" pitchFamily="34" charset="0"/>
              </a:rPr>
              <a:t>r</a:t>
            </a:r>
            <a:r>
              <a:rPr lang="en-GB" sz="2000" baseline="-25000" dirty="0" err="1">
                <a:latin typeface="Arial" panose="020B0604020202020204" pitchFamily="34" charset="0"/>
                <a:cs typeface="Arial" panose="020B0604020202020204" pitchFamily="34" charset="0"/>
              </a:rPr>
              <a:t>i</a:t>
            </a:r>
            <a:r>
              <a:rPr lang="en-GB" sz="2000" dirty="0">
                <a:latin typeface="Arial" panose="020B0604020202020204" pitchFamily="34" charset="0"/>
                <a:cs typeface="Arial" panose="020B0604020202020204" pitchFamily="34" charset="0"/>
              </a:rPr>
              <a:t>)/</a:t>
            </a:r>
            <a:r>
              <a:rPr lang="en-GB" sz="2000" dirty="0">
                <a:latin typeface="Arial" panose="020B0604020202020204" pitchFamily="34" charset="0"/>
                <a:cs typeface="Arial" panose="020B0604020202020204" pitchFamily="34" charset="0"/>
                <a:sym typeface="Symbol" pitchFamily="2" charset="2"/>
              </a:rPr>
              <a:t></a:t>
            </a:r>
            <a:r>
              <a:rPr lang="en-GB" sz="2000" baseline="-25000" dirty="0" err="1">
                <a:latin typeface="Arial" panose="020B0604020202020204" pitchFamily="34" charset="0"/>
                <a:cs typeface="Arial" panose="020B0604020202020204" pitchFamily="34" charset="0"/>
              </a:rPr>
              <a:t>im</a:t>
            </a:r>
            <a:r>
              <a:rPr lang="en-GB" sz="2000" dirty="0">
                <a:latin typeface="Arial" panose="020B0604020202020204" pitchFamily="34" charset="0"/>
                <a:cs typeface="Arial" panose="020B0604020202020204" pitchFamily="34" charset="0"/>
              </a:rPr>
              <a:t> space</a:t>
            </a:r>
            <a:endParaRPr lang="en-US" altLang="en-US" sz="2000" baseline="-25000" dirty="0">
              <a:latin typeface="Arial" panose="020B0604020202020204" pitchFamily="34" charset="0"/>
              <a:cs typeface="Arial" panose="020B0604020202020204" pitchFamily="34" charset="0"/>
              <a:sym typeface="Symbol" pitchFamily="2" charset="2"/>
            </a:endParaRPr>
          </a:p>
          <a:p>
            <a:pPr>
              <a:lnSpc>
                <a:spcPct val="150000"/>
              </a:lnSpc>
            </a:pPr>
            <a:r>
              <a:rPr lang="en-US" altLang="en-US" sz="2000" dirty="0">
                <a:latin typeface="Arial" panose="020B0604020202020204" pitchFamily="34" charset="0"/>
                <a:cs typeface="Arial" panose="020B0604020202020204" pitchFamily="34" charset="0"/>
                <a:sym typeface="Symbol" pitchFamily="2" charset="2"/>
              </a:rPr>
              <a:t>Similarly to the CML equation, the expected return of individual security known as the SML equation is: </a:t>
            </a:r>
          </a:p>
          <a:p>
            <a:pPr>
              <a:lnSpc>
                <a:spcPct val="150000"/>
              </a:lnSpc>
            </a:pPr>
            <a:endParaRPr lang="en-US" altLang="en-US" sz="2000" dirty="0">
              <a:latin typeface="Arial" panose="020B0604020202020204" pitchFamily="34" charset="0"/>
              <a:cs typeface="Arial" panose="020B0604020202020204" pitchFamily="34" charset="0"/>
              <a:sym typeface="Symbol" pitchFamily="2" charset="2"/>
            </a:endParaRPr>
          </a:p>
          <a:p>
            <a:pPr>
              <a:lnSpc>
                <a:spcPct val="150000"/>
              </a:lnSpc>
            </a:pPr>
            <a:endParaRPr lang="en-US" altLang="en-US" sz="2000" dirty="0">
              <a:latin typeface="Arial" panose="020B0604020202020204" pitchFamily="34" charset="0"/>
              <a:cs typeface="Arial" panose="020B0604020202020204" pitchFamily="34" charset="0"/>
              <a:sym typeface="Symbol" pitchFamily="2" charset="2"/>
            </a:endParaRPr>
          </a:p>
          <a:p>
            <a:pPr>
              <a:lnSpc>
                <a:spcPct val="150000"/>
              </a:lnSpc>
            </a:pPr>
            <a:r>
              <a:rPr lang="en-US" altLang="en-US" sz="2000" dirty="0">
                <a:latin typeface="Arial" panose="020B0604020202020204" pitchFamily="34" charset="0"/>
                <a:cs typeface="Arial" panose="020B0604020202020204" pitchFamily="34" charset="0"/>
                <a:sym typeface="Symbol" pitchFamily="2" charset="2"/>
              </a:rPr>
              <a:t>The slope is the market price of risk, which determines the level of risk aversion of the market as a whole</a:t>
            </a:r>
          </a:p>
          <a:p>
            <a:pPr marL="0" indent="0">
              <a:lnSpc>
                <a:spcPct val="100000"/>
              </a:lnSpc>
              <a:buNone/>
            </a:pPr>
            <a:endParaRPr lang="en-US" altLang="en-US" sz="2400" dirty="0">
              <a:latin typeface="Times New Roman" panose="02020603050405020304" pitchFamily="18" charset="0"/>
              <a:sym typeface="Symbol" pitchFamily="2" charset="2"/>
            </a:endParaRPr>
          </a:p>
        </p:txBody>
      </p:sp>
      <p:pic>
        <p:nvPicPr>
          <p:cNvPr id="5" name="Content Placeholder 4">
            <a:extLst>
              <a:ext uri="{FF2B5EF4-FFF2-40B4-BE49-F238E27FC236}">
                <a16:creationId xmlns:a16="http://schemas.microsoft.com/office/drawing/2014/main" id="{ACEDA7BB-7226-1945-88E3-7563F62E5B5F}"/>
              </a:ext>
            </a:extLst>
          </p:cNvPr>
          <p:cNvPicPr>
            <a:picLocks noGrp="1" noChangeAspect="1"/>
          </p:cNvPicPr>
          <p:nvPr>
            <p:ph sz="half" idx="2"/>
          </p:nvPr>
        </p:nvPicPr>
        <p:blipFill>
          <a:blip r:embed="rId3"/>
          <a:stretch>
            <a:fillRect/>
          </a:stretch>
        </p:blipFill>
        <p:spPr>
          <a:xfrm>
            <a:off x="6777491" y="2085181"/>
            <a:ext cx="4157209" cy="3163094"/>
          </a:xfrm>
          <a:prstGeom prst="rect">
            <a:avLst/>
          </a:prstGeom>
        </p:spPr>
      </p:pic>
      <p:sp>
        <p:nvSpPr>
          <p:cNvPr id="3" name="Rectangle 2">
            <a:extLst>
              <a:ext uri="{FF2B5EF4-FFF2-40B4-BE49-F238E27FC236}">
                <a16:creationId xmlns:a16="http://schemas.microsoft.com/office/drawing/2014/main" id="{CF6795E7-9A8D-E04E-95D3-0C94DA14EF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Object 3">
            <a:extLst>
              <a:ext uri="{FF2B5EF4-FFF2-40B4-BE49-F238E27FC236}">
                <a16:creationId xmlns:a16="http://schemas.microsoft.com/office/drawing/2014/main" id="{0D53EC05-BDD7-BF47-B39B-5F0BDBB077E6}"/>
              </a:ext>
            </a:extLst>
          </p:cNvPr>
          <p:cNvGraphicFramePr>
            <a:graphicFrameLocks noChangeAspect="1"/>
          </p:cNvGraphicFramePr>
          <p:nvPr>
            <p:extLst>
              <p:ext uri="{D42A27DB-BD31-4B8C-83A1-F6EECF244321}">
                <p14:modId xmlns:p14="http://schemas.microsoft.com/office/powerpoint/2010/main" val="942342097"/>
              </p:ext>
            </p:extLst>
          </p:nvPr>
        </p:nvGraphicFramePr>
        <p:xfrm>
          <a:off x="1738010" y="4691590"/>
          <a:ext cx="3057525" cy="776141"/>
        </p:xfrm>
        <a:graphic>
          <a:graphicData uri="http://schemas.openxmlformats.org/presentationml/2006/ole">
            <mc:AlternateContent xmlns:mc="http://schemas.openxmlformats.org/markup-compatibility/2006">
              <mc:Choice xmlns:v="urn:schemas-microsoft-com:vml" Requires="v">
                <p:oleObj r:id="rId4" imgW="1651000" imgH="419100" progId="Equation.3">
                  <p:embed/>
                </p:oleObj>
              </mc:Choice>
              <mc:Fallback>
                <p:oleObj r:id="rId4" imgW="1651000" imgH="419100" progId="Equation.3">
                  <p:embed/>
                  <p:pic>
                    <p:nvPicPr>
                      <p:cNvPr id="4" name="Object 3">
                        <a:extLst>
                          <a:ext uri="{FF2B5EF4-FFF2-40B4-BE49-F238E27FC236}">
                            <a16:creationId xmlns:a16="http://schemas.microsoft.com/office/drawing/2014/main" id="{0D53EC05-BDD7-BF47-B39B-5F0BDBB077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8010" y="4691590"/>
                        <a:ext cx="3057525" cy="776141"/>
                      </a:xfrm>
                      <a:prstGeom prst="rect">
                        <a:avLst/>
                      </a:prstGeom>
                      <a:noFill/>
                    </p:spPr>
                  </p:pic>
                </p:oleObj>
              </mc:Fallback>
            </mc:AlternateContent>
          </a:graphicData>
        </a:graphic>
      </p:graphicFrame>
    </p:spTree>
    <p:extLst>
      <p:ext uri="{BB962C8B-B14F-4D97-AF65-F5344CB8AC3E}">
        <p14:creationId xmlns:p14="http://schemas.microsoft.com/office/powerpoint/2010/main" val="2317389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a:extLst>
              <a:ext uri="{FF2B5EF4-FFF2-40B4-BE49-F238E27FC236}">
                <a16:creationId xmlns:a16="http://schemas.microsoft.com/office/drawing/2014/main" id="{750CA0F7-2E78-0F40-BB9E-A7F42BD0F95B}"/>
              </a:ext>
            </a:extLst>
          </p:cNvPr>
          <p:cNvSpPr>
            <a:spLocks noGrp="1" noChangeArrowheads="1"/>
          </p:cNvSpPr>
          <p:nvPr>
            <p:ph type="title"/>
          </p:nvPr>
        </p:nvSpPr>
        <p:spPr>
          <a:xfrm>
            <a:off x="542276" y="598139"/>
            <a:ext cx="11315248" cy="785542"/>
          </a:xfrm>
        </p:spPr>
        <p:txBody>
          <a:bodyPr/>
          <a:lstStyle/>
          <a:p>
            <a:r>
              <a:rPr lang="en-US" altLang="en-US" sz="3200" dirty="0">
                <a:latin typeface="Arial" panose="020B0604020202020204" pitchFamily="34" charset="0"/>
                <a:cs typeface="Arial" panose="020B0604020202020204" pitchFamily="34" charset="0"/>
              </a:rPr>
              <a:t>Security Market Line (SML)</a:t>
            </a:r>
          </a:p>
        </p:txBody>
      </p:sp>
      <p:sp>
        <p:nvSpPr>
          <p:cNvPr id="45058" name="Rectangle 2">
            <a:extLst>
              <a:ext uri="{FF2B5EF4-FFF2-40B4-BE49-F238E27FC236}">
                <a16:creationId xmlns:a16="http://schemas.microsoft.com/office/drawing/2014/main" id="{32E4AA74-4151-574D-BEE7-2337B21FF85B}"/>
              </a:ext>
            </a:extLst>
          </p:cNvPr>
          <p:cNvSpPr>
            <a:spLocks noGrp="1" noChangeArrowheads="1"/>
          </p:cNvSpPr>
          <p:nvPr>
            <p:ph sz="half" idx="1"/>
          </p:nvPr>
        </p:nvSpPr>
        <p:spPr>
          <a:xfrm>
            <a:off x="542276" y="1567340"/>
            <a:ext cx="5181600" cy="4486275"/>
          </a:xfrm>
        </p:spPr>
        <p:txBody>
          <a:bodyPr>
            <a:normAutofit fontScale="55000" lnSpcReduction="20000"/>
          </a:bodyPr>
          <a:lstStyle/>
          <a:p>
            <a:pPr>
              <a:lnSpc>
                <a:spcPct val="150000"/>
              </a:lnSpc>
            </a:pPr>
            <a:r>
              <a:rPr lang="en-GB" dirty="0">
                <a:latin typeface="Arial" panose="020B0604020202020204" pitchFamily="34" charset="0"/>
                <a:cs typeface="Arial" panose="020B0604020202020204" pitchFamily="34" charset="0"/>
              </a:rPr>
              <a:t>Note that: </a:t>
            </a:r>
            <a:r>
              <a:rPr lang="en-GB" dirty="0">
                <a:effectLst/>
                <a:latin typeface="Arial" panose="020B0604020202020204" pitchFamily="34" charset="0"/>
                <a:cs typeface="Arial" panose="020B0604020202020204" pitchFamily="34" charset="0"/>
              </a:rPr>
              <a:t> </a:t>
            </a:r>
            <a:endParaRPr lang="en-GB" altLang="en-US" dirty="0">
              <a:latin typeface="Arial" panose="020B0604020202020204" pitchFamily="34" charset="0"/>
              <a:cs typeface="Arial" panose="020B0604020202020204" pitchFamily="34" charset="0"/>
              <a:sym typeface="Symbol" pitchFamily="2" charset="2"/>
            </a:endParaRPr>
          </a:p>
          <a:p>
            <a:pPr>
              <a:lnSpc>
                <a:spcPct val="150000"/>
              </a:lnSpc>
            </a:pPr>
            <a:endParaRPr lang="en-GB" dirty="0">
              <a:latin typeface="Arial" panose="020B0604020202020204" pitchFamily="34" charset="0"/>
              <a:cs typeface="Arial" panose="020B0604020202020204" pitchFamily="34" charset="0"/>
            </a:endParaRPr>
          </a:p>
          <a:p>
            <a:pPr>
              <a:lnSpc>
                <a:spcPct val="150000"/>
              </a:lnSpc>
            </a:pPr>
            <a:r>
              <a:rPr lang="en-GB" dirty="0">
                <a:latin typeface="Arial" panose="020B0604020202020204" pitchFamily="34" charset="0"/>
                <a:cs typeface="Arial" panose="020B0604020202020204" pitchFamily="34" charset="0"/>
              </a:rPr>
              <a:t>We can rewrite the SML equation as:</a:t>
            </a:r>
          </a:p>
          <a:p>
            <a:pPr marL="0" indent="0">
              <a:lnSpc>
                <a:spcPct val="150000"/>
              </a:lnSpc>
              <a:buNone/>
            </a:pPr>
            <a:endParaRPr lang="en-GB" altLang="en-US" dirty="0">
              <a:latin typeface="Arial" panose="020B0604020202020204" pitchFamily="34" charset="0"/>
              <a:cs typeface="Arial" panose="020B0604020202020204" pitchFamily="34" charset="0"/>
              <a:sym typeface="Symbol" pitchFamily="2" charset="2"/>
            </a:endParaRPr>
          </a:p>
          <a:p>
            <a:pPr marL="0" indent="0">
              <a:lnSpc>
                <a:spcPct val="150000"/>
              </a:lnSpc>
              <a:buNone/>
            </a:pPr>
            <a:endParaRPr lang="en-US" altLang="en-US" dirty="0">
              <a:latin typeface="Arial" panose="020B0604020202020204" pitchFamily="34" charset="0"/>
              <a:cs typeface="Arial" panose="020B0604020202020204" pitchFamily="34" charset="0"/>
              <a:sym typeface="Symbol" pitchFamily="2" charset="2"/>
            </a:endParaRPr>
          </a:p>
          <a:p>
            <a:pPr>
              <a:lnSpc>
                <a:spcPct val="150000"/>
              </a:lnSpc>
            </a:pPr>
            <a:r>
              <a:rPr lang="en-US" altLang="en-US" dirty="0">
                <a:latin typeface="Arial" panose="020B0604020202020204" pitchFamily="34" charset="0"/>
                <a:cs typeface="Arial" panose="020B0604020202020204" pitchFamily="34" charset="0"/>
              </a:rPr>
              <a:t>Expected return of an asset = risk free rate + risk premium</a:t>
            </a:r>
          </a:p>
          <a:p>
            <a:pPr lvl="1">
              <a:lnSpc>
                <a:spcPct val="150000"/>
              </a:lnSpc>
            </a:pPr>
            <a:r>
              <a:rPr lang="en-US" altLang="en-US" sz="2500" dirty="0">
                <a:latin typeface="Arial" panose="020B0604020202020204" pitchFamily="34" charset="0"/>
                <a:cs typeface="Arial" panose="020B0604020202020204" pitchFamily="34" charset="0"/>
              </a:rPr>
              <a:t>Where E(R</a:t>
            </a:r>
            <a:r>
              <a:rPr lang="en-US" altLang="en-US" sz="2500" baseline="-25000" dirty="0">
                <a:latin typeface="Arial" panose="020B0604020202020204" pitchFamily="34" charset="0"/>
                <a:cs typeface="Arial" panose="020B0604020202020204" pitchFamily="34" charset="0"/>
              </a:rPr>
              <a:t>M</a:t>
            </a:r>
            <a:r>
              <a:rPr lang="en-US" altLang="en-US" sz="2500" dirty="0">
                <a:latin typeface="Arial" panose="020B0604020202020204" pitchFamily="34" charset="0"/>
                <a:cs typeface="Arial" panose="020B0604020202020204" pitchFamily="34" charset="0"/>
              </a:rPr>
              <a:t>) - Rf is the market risk premium and </a:t>
            </a:r>
            <a:r>
              <a:rPr lang="en-US" altLang="en-US" sz="2500" dirty="0">
                <a:latin typeface="Arial" panose="020B0604020202020204" pitchFamily="34" charset="0"/>
                <a:cs typeface="Arial" panose="020B0604020202020204" pitchFamily="34" charset="0"/>
                <a:sym typeface="Symbol" pitchFamily="2" charset="2"/>
              </a:rPr>
              <a:t>(</a:t>
            </a:r>
            <a:r>
              <a:rPr lang="en-US" altLang="en-US" sz="2500" dirty="0">
                <a:latin typeface="Arial" panose="020B0604020202020204" pitchFamily="34" charset="0"/>
                <a:cs typeface="Arial" panose="020B0604020202020204" pitchFamily="34" charset="0"/>
              </a:rPr>
              <a:t>E(R</a:t>
            </a:r>
            <a:r>
              <a:rPr lang="en-US" altLang="en-US" sz="2500" baseline="-25000" dirty="0">
                <a:latin typeface="Arial" panose="020B0604020202020204" pitchFamily="34" charset="0"/>
                <a:cs typeface="Arial" panose="020B0604020202020204" pitchFamily="34" charset="0"/>
              </a:rPr>
              <a:t>M</a:t>
            </a:r>
            <a:r>
              <a:rPr lang="en-US" altLang="en-US" sz="2500" dirty="0">
                <a:latin typeface="Arial" panose="020B0604020202020204" pitchFamily="34" charset="0"/>
                <a:cs typeface="Arial" panose="020B0604020202020204" pitchFamily="34" charset="0"/>
              </a:rPr>
              <a:t>) - Rf) is risk premium for a security  </a:t>
            </a:r>
            <a:endParaRPr lang="en-US" altLang="en-US" sz="2500" dirty="0">
              <a:latin typeface="Arial" panose="020B0604020202020204" pitchFamily="34" charset="0"/>
              <a:cs typeface="Arial" panose="020B0604020202020204" pitchFamily="34" charset="0"/>
              <a:sym typeface="Symbol" pitchFamily="2" charset="2"/>
            </a:endParaRPr>
          </a:p>
          <a:p>
            <a:pPr>
              <a:lnSpc>
                <a:spcPct val="150000"/>
              </a:lnSpc>
            </a:pPr>
            <a:r>
              <a:rPr lang="en-GB" dirty="0">
                <a:latin typeface="Arial" panose="020B0604020202020204" pitchFamily="34" charset="0"/>
                <a:cs typeface="Arial" panose="020B0604020202020204" pitchFamily="34" charset="0"/>
              </a:rPr>
              <a:t>Therefore, alternatively, SML line can be depicted in the E(</a:t>
            </a:r>
            <a:r>
              <a:rPr lang="en-GB" dirty="0" err="1">
                <a:latin typeface="Arial" panose="020B0604020202020204" pitchFamily="34" charset="0"/>
                <a:cs typeface="Arial" panose="020B0604020202020204" pitchFamily="34" charset="0"/>
              </a:rPr>
              <a:t>r</a:t>
            </a:r>
            <a:r>
              <a:rPr lang="en-GB" baseline="-25000" dirty="0" err="1">
                <a:latin typeface="Arial" panose="020B0604020202020204" pitchFamily="34" charset="0"/>
                <a:cs typeface="Arial" panose="020B0604020202020204" pitchFamily="34" charset="0"/>
              </a:rPr>
              <a:t>i</a:t>
            </a:r>
            <a:r>
              <a:rPr lang="en-GB" dirty="0">
                <a:latin typeface="Arial" panose="020B0604020202020204" pitchFamily="34" charset="0"/>
                <a:cs typeface="Arial" panose="020B0604020202020204" pitchFamily="34" charset="0"/>
              </a:rPr>
              <a:t>)/</a:t>
            </a:r>
            <a:r>
              <a:rPr lang="en-GB" dirty="0">
                <a:latin typeface="Arial" panose="020B0604020202020204" pitchFamily="34" charset="0"/>
                <a:cs typeface="Arial" panose="020B0604020202020204" pitchFamily="34" charset="0"/>
                <a:sym typeface="Symbol" pitchFamily="2" charset="2"/>
              </a:rPr>
              <a:t></a:t>
            </a:r>
            <a:r>
              <a:rPr lang="en-GB" baseline="-25000" dirty="0" err="1">
                <a:latin typeface="Arial" panose="020B0604020202020204" pitchFamily="34" charset="0"/>
                <a:cs typeface="Arial" panose="020B0604020202020204" pitchFamily="34" charset="0"/>
              </a:rPr>
              <a:t>im</a:t>
            </a:r>
            <a:r>
              <a:rPr lang="en-GB" dirty="0">
                <a:latin typeface="Arial" panose="020B0604020202020204" pitchFamily="34" charset="0"/>
                <a:cs typeface="Arial" panose="020B0604020202020204" pitchFamily="34" charset="0"/>
              </a:rPr>
              <a:t> space</a:t>
            </a:r>
            <a:r>
              <a:rPr lang="en-GB" dirty="0">
                <a:effectLst/>
                <a:latin typeface="Arial" panose="020B0604020202020204" pitchFamily="34" charset="0"/>
                <a:cs typeface="Arial" panose="020B0604020202020204" pitchFamily="34" charset="0"/>
              </a:rPr>
              <a:t> </a:t>
            </a:r>
            <a:endParaRPr lang="en-US" altLang="en-US" dirty="0">
              <a:latin typeface="Arial" panose="020B0604020202020204" pitchFamily="34" charset="0"/>
              <a:cs typeface="Arial" panose="020B0604020202020204" pitchFamily="34" charset="0"/>
              <a:sym typeface="Symbol" pitchFamily="2" charset="2"/>
            </a:endParaRPr>
          </a:p>
        </p:txBody>
      </p:sp>
      <p:pic>
        <p:nvPicPr>
          <p:cNvPr id="7" name="Content Placeholder 6">
            <a:extLst>
              <a:ext uri="{FF2B5EF4-FFF2-40B4-BE49-F238E27FC236}">
                <a16:creationId xmlns:a16="http://schemas.microsoft.com/office/drawing/2014/main" id="{BF74B2F9-DC9C-9946-B408-0AA2E2BC25FC}"/>
              </a:ext>
            </a:extLst>
          </p:cNvPr>
          <p:cNvPicPr>
            <a:picLocks noGrp="1" noChangeAspect="1"/>
          </p:cNvPicPr>
          <p:nvPr>
            <p:ph sz="half" idx="2"/>
          </p:nvPr>
        </p:nvPicPr>
        <p:blipFill>
          <a:blip r:embed="rId2"/>
          <a:stretch>
            <a:fillRect/>
          </a:stretch>
        </p:blipFill>
        <p:spPr>
          <a:xfrm>
            <a:off x="6224586" y="1795657"/>
            <a:ext cx="4351337" cy="3655123"/>
          </a:xfrm>
          <a:prstGeom prst="rect">
            <a:avLst/>
          </a:prstGeom>
        </p:spPr>
      </p:pic>
      <p:sp>
        <p:nvSpPr>
          <p:cNvPr id="3" name="Rectangle 2">
            <a:extLst>
              <a:ext uri="{FF2B5EF4-FFF2-40B4-BE49-F238E27FC236}">
                <a16:creationId xmlns:a16="http://schemas.microsoft.com/office/drawing/2014/main" id="{C45647BD-8A3C-F846-BCFB-A690EBF15FE3}"/>
              </a:ext>
            </a:extLst>
          </p:cNvPr>
          <p:cNvSpPr>
            <a:spLocks noChangeArrowheads="1"/>
          </p:cNvSpPr>
          <p:nvPr/>
        </p:nvSpPr>
        <p:spPr bwMode="auto">
          <a:xfrm>
            <a:off x="1042986" y="2357436"/>
            <a:ext cx="216290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4" name="Object 3">
            <a:extLst>
              <a:ext uri="{FF2B5EF4-FFF2-40B4-BE49-F238E27FC236}">
                <a16:creationId xmlns:a16="http://schemas.microsoft.com/office/drawing/2014/main" id="{E2C54417-4D81-1144-94A7-DABBB17B50FE}"/>
              </a:ext>
            </a:extLst>
          </p:cNvPr>
          <p:cNvGraphicFramePr>
            <a:graphicFrameLocks noChangeAspect="1"/>
          </p:cNvGraphicFramePr>
          <p:nvPr/>
        </p:nvGraphicFramePr>
        <p:xfrm>
          <a:off x="1938641" y="1430277"/>
          <a:ext cx="1171575" cy="743500"/>
        </p:xfrm>
        <a:graphic>
          <a:graphicData uri="http://schemas.openxmlformats.org/presentationml/2006/ole">
            <mc:AlternateContent xmlns:mc="http://schemas.openxmlformats.org/markup-compatibility/2006">
              <mc:Choice xmlns:v="urn:schemas-microsoft-com:vml" Requires="v">
                <p:oleObj r:id="rId3" imgW="660400" imgH="419100" progId="Equation.3">
                  <p:embed/>
                </p:oleObj>
              </mc:Choice>
              <mc:Fallback>
                <p:oleObj r:id="rId3" imgW="660400" imgH="419100" progId="Equation.3">
                  <p:embed/>
                  <p:pic>
                    <p:nvPicPr>
                      <p:cNvPr id="4" name="Object 3">
                        <a:extLst>
                          <a:ext uri="{FF2B5EF4-FFF2-40B4-BE49-F238E27FC236}">
                            <a16:creationId xmlns:a16="http://schemas.microsoft.com/office/drawing/2014/main" id="{E2C54417-4D81-1144-94A7-DABBB17B50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8641" y="1430277"/>
                        <a:ext cx="1171575" cy="743500"/>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F4F48764-9A11-AB47-90B9-6E49A82A226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a:extLst>
              <a:ext uri="{FF2B5EF4-FFF2-40B4-BE49-F238E27FC236}">
                <a16:creationId xmlns:a16="http://schemas.microsoft.com/office/drawing/2014/main" id="{4836B3CC-DF7E-8D4A-BA4A-40DF6FFEADEE}"/>
              </a:ext>
            </a:extLst>
          </p:cNvPr>
          <p:cNvGraphicFramePr>
            <a:graphicFrameLocks noChangeAspect="1"/>
          </p:cNvGraphicFramePr>
          <p:nvPr/>
        </p:nvGraphicFramePr>
        <p:xfrm>
          <a:off x="642936" y="2996478"/>
          <a:ext cx="3171828" cy="432522"/>
        </p:xfrm>
        <a:graphic>
          <a:graphicData uri="http://schemas.openxmlformats.org/presentationml/2006/ole">
            <mc:AlternateContent xmlns:mc="http://schemas.openxmlformats.org/markup-compatibility/2006">
              <mc:Choice xmlns:v="urn:schemas-microsoft-com:vml" Requires="v">
                <p:oleObj r:id="rId5" imgW="1663700" imgH="215900" progId="Equation.3">
                  <p:embed/>
                </p:oleObj>
              </mc:Choice>
              <mc:Fallback>
                <p:oleObj r:id="rId5" imgW="1663700" imgH="215900" progId="Equation.3">
                  <p:embed/>
                  <p:pic>
                    <p:nvPicPr>
                      <p:cNvPr id="6" name="Object 5">
                        <a:extLst>
                          <a:ext uri="{FF2B5EF4-FFF2-40B4-BE49-F238E27FC236}">
                            <a16:creationId xmlns:a16="http://schemas.microsoft.com/office/drawing/2014/main" id="{4836B3CC-DF7E-8D4A-BA4A-40DF6FFEAD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936" y="2996478"/>
                        <a:ext cx="3171828" cy="432522"/>
                      </a:xfrm>
                      <a:prstGeom prst="rect">
                        <a:avLst/>
                      </a:prstGeom>
                      <a:noFill/>
                      <a:ln>
                        <a:solidFill>
                          <a:srgbClr val="0070C0"/>
                        </a:solidFill>
                      </a:ln>
                    </p:spPr>
                  </p:pic>
                </p:oleObj>
              </mc:Fallback>
            </mc:AlternateContent>
          </a:graphicData>
        </a:graphic>
      </p:graphicFrame>
    </p:spTree>
    <p:extLst>
      <p:ext uri="{BB962C8B-B14F-4D97-AF65-F5344CB8AC3E}">
        <p14:creationId xmlns:p14="http://schemas.microsoft.com/office/powerpoint/2010/main" val="3016528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73DC4A0F-0F3E-BC49-A089-A9CC46F984DA}"/>
              </a:ext>
            </a:extLst>
          </p:cNvPr>
          <p:cNvSpPr>
            <a:spLocks noGrp="1" noChangeArrowheads="1"/>
          </p:cNvSpPr>
          <p:nvPr>
            <p:ph type="title"/>
          </p:nvPr>
        </p:nvSpPr>
        <p:spPr>
          <a:xfrm>
            <a:off x="778669" y="197485"/>
            <a:ext cx="10515600" cy="1325563"/>
          </a:xfrm>
        </p:spPr>
        <p:txBody>
          <a:bodyPr>
            <a:normAutofit/>
          </a:bodyPr>
          <a:lstStyle/>
          <a:p>
            <a:r>
              <a:rPr lang="en-GB" altLang="en-US" sz="3200" dirty="0">
                <a:latin typeface="Arial" panose="020B0604020202020204" pitchFamily="34" charset="0"/>
                <a:cs typeface="Arial" panose="020B0604020202020204" pitchFamily="34" charset="0"/>
              </a:rPr>
              <a:t>Interpretation of Beta</a:t>
            </a:r>
          </a:p>
        </p:txBody>
      </p:sp>
      <p:sp>
        <p:nvSpPr>
          <p:cNvPr id="263171" name="Rectangle 3">
            <a:extLst>
              <a:ext uri="{FF2B5EF4-FFF2-40B4-BE49-F238E27FC236}">
                <a16:creationId xmlns:a16="http://schemas.microsoft.com/office/drawing/2014/main" id="{F181B1F8-E80C-3648-9446-5BE3FA88C7C8}"/>
              </a:ext>
            </a:extLst>
          </p:cNvPr>
          <p:cNvSpPr>
            <a:spLocks noGrp="1" noChangeArrowheads="1"/>
          </p:cNvSpPr>
          <p:nvPr>
            <p:ph type="body" idx="1"/>
          </p:nvPr>
        </p:nvSpPr>
        <p:spPr>
          <a:xfrm>
            <a:off x="778669" y="1008856"/>
            <a:ext cx="10515600" cy="4584698"/>
          </a:xfrm>
        </p:spPr>
        <p:txBody>
          <a:bodyPr>
            <a:normAutofit/>
          </a:bodyPr>
          <a:lstStyle/>
          <a:p>
            <a:pPr>
              <a:lnSpc>
                <a:spcPct val="150000"/>
              </a:lnSpc>
            </a:pPr>
            <a:r>
              <a:rPr lang="en-GB" altLang="en-US" sz="1800" dirty="0">
                <a:latin typeface="Arial" panose="020B0604020202020204" pitchFamily="34" charset="0"/>
                <a:cs typeface="Arial" panose="020B0604020202020204" pitchFamily="34" charset="0"/>
              </a:rPr>
              <a:t>Beta measures the sensitivity of stock’s return to movements in the market return. </a:t>
            </a:r>
          </a:p>
          <a:p>
            <a:pPr>
              <a:lnSpc>
                <a:spcPct val="150000"/>
              </a:lnSpc>
            </a:pPr>
            <a:r>
              <a:rPr lang="en-GB" altLang="en-US" sz="1800" dirty="0">
                <a:latin typeface="Arial" panose="020B0604020202020204" pitchFamily="34" charset="0"/>
                <a:cs typeface="Arial" panose="020B0604020202020204" pitchFamily="34" charset="0"/>
              </a:rPr>
              <a:t>Market beta is equal to 1; Beta of the risk-free asset is 0</a:t>
            </a:r>
          </a:p>
          <a:p>
            <a:pPr>
              <a:lnSpc>
                <a:spcPct val="150000"/>
              </a:lnSpc>
            </a:pPr>
            <a:r>
              <a:rPr lang="en-GB" altLang="en-US" sz="1800" dirty="0">
                <a:latin typeface="Arial" panose="020B0604020202020204" pitchFamily="34" charset="0"/>
                <a:cs typeface="Arial" panose="020B0604020202020204" pitchFamily="34" charset="0"/>
              </a:rPr>
              <a:t>If the market return increases by 1%, then the following 5 stocks will exhibit the changes in returns as in the table below:</a:t>
            </a:r>
          </a:p>
        </p:txBody>
      </p:sp>
      <p:graphicFrame>
        <p:nvGraphicFramePr>
          <p:cNvPr id="263221" name="Group 53">
            <a:extLst>
              <a:ext uri="{FF2B5EF4-FFF2-40B4-BE49-F238E27FC236}">
                <a16:creationId xmlns:a16="http://schemas.microsoft.com/office/drawing/2014/main" id="{1E62805B-B9D5-5B4D-9D97-30DB3EFD002E}"/>
              </a:ext>
            </a:extLst>
          </p:cNvPr>
          <p:cNvGraphicFramePr>
            <a:graphicFrameLocks noGrp="1"/>
          </p:cNvGraphicFramePr>
          <p:nvPr/>
        </p:nvGraphicFramePr>
        <p:xfrm>
          <a:off x="897731" y="3022537"/>
          <a:ext cx="9386888" cy="3382388"/>
        </p:xfrm>
        <a:graphic>
          <a:graphicData uri="http://schemas.openxmlformats.org/drawingml/2006/table">
            <a:tbl>
              <a:tblPr/>
              <a:tblGrid>
                <a:gridCol w="1715762">
                  <a:extLst>
                    <a:ext uri="{9D8B030D-6E8A-4147-A177-3AD203B41FA5}">
                      <a16:colId xmlns:a16="http://schemas.microsoft.com/office/drawing/2014/main" val="305526897"/>
                    </a:ext>
                  </a:extLst>
                </a:gridCol>
                <a:gridCol w="1289411">
                  <a:extLst>
                    <a:ext uri="{9D8B030D-6E8A-4147-A177-3AD203B41FA5}">
                      <a16:colId xmlns:a16="http://schemas.microsoft.com/office/drawing/2014/main" val="7338994"/>
                    </a:ext>
                  </a:extLst>
                </a:gridCol>
                <a:gridCol w="2448150">
                  <a:extLst>
                    <a:ext uri="{9D8B030D-6E8A-4147-A177-3AD203B41FA5}">
                      <a16:colId xmlns:a16="http://schemas.microsoft.com/office/drawing/2014/main" val="2607376101"/>
                    </a:ext>
                  </a:extLst>
                </a:gridCol>
                <a:gridCol w="3933565">
                  <a:extLst>
                    <a:ext uri="{9D8B030D-6E8A-4147-A177-3AD203B41FA5}">
                      <a16:colId xmlns:a16="http://schemas.microsoft.com/office/drawing/2014/main" val="3080757801"/>
                    </a:ext>
                  </a:extLst>
                </a:gridCol>
              </a:tblGrid>
              <a:tr h="605279">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Stock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Change in the stock return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stock is: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7361277"/>
                  </a:ext>
                </a:extLst>
              </a:tr>
              <a:tr h="477714">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rgbClr val="3399FF"/>
                          </a:solidFill>
                          <a:effectLst/>
                          <a:latin typeface="Times New Roman" panose="02020603050405020304" pitchFamily="18" charset="0"/>
                          <a:cs typeface="Times New Roman" panose="02020603050405020304" pitchFamily="18" charset="0"/>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dirty="0">
                          <a:ln>
                            <a:noFill/>
                          </a:ln>
                          <a:solidFill>
                            <a:srgbClr val="3399FF"/>
                          </a:solidFill>
                          <a:effectLst/>
                          <a:latin typeface="Times New Roman" panose="02020603050405020304" pitchFamily="18" charset="0"/>
                          <a:cs typeface="Times New Roman" panose="02020603050405020304" pitchFamily="18" charset="0"/>
                        </a:rPr>
                        <a:t>Negatively correlated and LESS volatile than the market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7930177"/>
                  </a:ext>
                </a:extLst>
              </a:tr>
              <a:tr h="428625">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rgbClr val="008000"/>
                          </a:solidFill>
                          <a:effectLst/>
                          <a:latin typeface="Times New Roman" panose="02020603050405020304" pitchFamily="18" charset="0"/>
                          <a:cs typeface="Times New Roman" panose="02020603050405020304"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dirty="0">
                          <a:ln>
                            <a:noFill/>
                          </a:ln>
                          <a:solidFill>
                            <a:srgbClr val="008000"/>
                          </a:solidFill>
                          <a:effectLst/>
                          <a:latin typeface="Times New Roman" panose="02020603050405020304" pitchFamily="18" charset="0"/>
                          <a:cs typeface="Times New Roman" panose="02020603050405020304" pitchFamily="18" charset="0"/>
                        </a:rPr>
                        <a:t>Not correlated with the market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80420549"/>
                  </a:ext>
                </a:extLst>
              </a:tr>
              <a:tr h="536698">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rgbClr val="FF3399"/>
                          </a:solidFill>
                          <a:effectLst/>
                          <a:latin typeface="Times New Roman" panose="02020603050405020304" pitchFamily="18" charset="0"/>
                          <a:cs typeface="Times New Roman" panose="02020603050405020304" pitchFamily="18" charset="0"/>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dirty="0">
                          <a:ln>
                            <a:noFill/>
                          </a:ln>
                          <a:solidFill>
                            <a:srgbClr val="FF3399"/>
                          </a:solidFill>
                          <a:effectLst/>
                          <a:latin typeface="Times New Roman" panose="02020603050405020304" pitchFamily="18" charset="0"/>
                          <a:cs typeface="Times New Roman" panose="02020603050405020304" pitchFamily="18" charset="0"/>
                        </a:rPr>
                        <a:t>Positively correlated and LESS volatile than the market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58704433"/>
                  </a:ext>
                </a:extLst>
              </a:tr>
              <a:tr h="334336">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rgbClr val="CC3300"/>
                          </a:solidFill>
                          <a:effectLst/>
                          <a:latin typeface="Times New Roman" panose="02020603050405020304" pitchFamily="18" charset="0"/>
                          <a:cs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dirty="0">
                          <a:ln>
                            <a:noFill/>
                          </a:ln>
                          <a:solidFill>
                            <a:srgbClr val="CC3300"/>
                          </a:solidFill>
                          <a:effectLst/>
                          <a:latin typeface="Times New Roman" panose="02020603050405020304" pitchFamily="18" charset="0"/>
                          <a:cs typeface="Times New Roman" panose="02020603050405020304" pitchFamily="18" charset="0"/>
                        </a:rPr>
                        <a:t>Perfectly positively correlated with the market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2997866"/>
                  </a:ext>
                </a:extLst>
              </a:tr>
              <a:tr h="536698">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rgbClr val="009999"/>
                          </a:solidFill>
                          <a:effectLst/>
                          <a:latin typeface="Times New Roman" panose="02020603050405020304" pitchFamily="18" charset="0"/>
                          <a:cs typeface="Times New Roman" panose="02020603050405020304" pitchFamily="18"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05000"/>
                        </a:lnSpc>
                        <a:spcBef>
                          <a:spcPct val="45000"/>
                        </a:spcBef>
                        <a:buClr>
                          <a:schemeClr val="accent1"/>
                        </a:buClr>
                        <a:buFont typeface="Wingdings" pitchFamily="2" charset="2"/>
                        <a:defRPr sz="1600">
                          <a:solidFill>
                            <a:schemeClr val="tx1"/>
                          </a:solidFill>
                          <a:latin typeface="Arial" panose="020B0604020202020204" pitchFamily="34" charset="0"/>
                        </a:defRPr>
                      </a:lvl1pPr>
                      <a:lvl2pPr algn="l">
                        <a:lnSpc>
                          <a:spcPct val="105000"/>
                        </a:lnSpc>
                        <a:spcBef>
                          <a:spcPct val="45000"/>
                        </a:spcBef>
                        <a:buClr>
                          <a:schemeClr val="accent1"/>
                        </a:buClr>
                        <a:buFont typeface="Arial" panose="020B0604020202020204" pitchFamily="34" charset="0"/>
                        <a:defRPr sz="1600">
                          <a:solidFill>
                            <a:schemeClr val="tx1"/>
                          </a:solidFill>
                          <a:latin typeface="Arial" panose="020B0604020202020204" pitchFamily="34" charset="0"/>
                        </a:defRPr>
                      </a:lvl2pPr>
                      <a:lvl3pPr algn="l">
                        <a:lnSpc>
                          <a:spcPct val="105000"/>
                        </a:lnSpc>
                        <a:spcBef>
                          <a:spcPct val="45000"/>
                        </a:spcBef>
                        <a:buClr>
                          <a:schemeClr val="accent2"/>
                        </a:buClr>
                        <a:buFont typeface="Arial" panose="020B0604020202020204" pitchFamily="34" charset="0"/>
                        <a:defRPr sz="1600">
                          <a:solidFill>
                            <a:schemeClr val="tx1"/>
                          </a:solidFill>
                          <a:latin typeface="Arial" panose="020B0604020202020204" pitchFamily="34" charset="0"/>
                        </a:defRPr>
                      </a:lvl3pPr>
                      <a:lvl4pPr algn="l">
                        <a:lnSpc>
                          <a:spcPct val="105000"/>
                        </a:lnSpc>
                        <a:spcBef>
                          <a:spcPct val="45000"/>
                        </a:spcBef>
                        <a:buClr>
                          <a:schemeClr val="hlink"/>
                        </a:buClr>
                        <a:buFont typeface="Arial" panose="020B0604020202020204" pitchFamily="34" charset="0"/>
                        <a:defRPr sz="1600">
                          <a:solidFill>
                            <a:schemeClr val="tx1"/>
                          </a:solidFill>
                          <a:latin typeface="Arial" panose="020B0604020202020204" pitchFamily="34" charset="0"/>
                        </a:defRPr>
                      </a:lvl4pPr>
                      <a:lvl5pPr algn="l">
                        <a:lnSpc>
                          <a:spcPct val="105000"/>
                        </a:lnSpc>
                        <a:spcBef>
                          <a:spcPct val="45000"/>
                        </a:spcBef>
                        <a:buClr>
                          <a:schemeClr val="folHlink"/>
                        </a:buClr>
                        <a:buFont typeface="Arial" panose="020B0604020202020204" pitchFamily="34" charset="0"/>
                        <a:defRPr sz="1600">
                          <a:solidFill>
                            <a:schemeClr val="tx1"/>
                          </a:solidFill>
                          <a:latin typeface="Arial" panose="020B0604020202020204" pitchFamily="34" charset="0"/>
                        </a:defRPr>
                      </a:lvl5pPr>
                      <a:lvl6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6pPr>
                      <a:lvl7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7pPr>
                      <a:lvl8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8pPr>
                      <a:lvl9pPr fontAlgn="base">
                        <a:lnSpc>
                          <a:spcPct val="105000"/>
                        </a:lnSpc>
                        <a:spcBef>
                          <a:spcPct val="45000"/>
                        </a:spcBef>
                        <a:spcAft>
                          <a:spcPct val="0"/>
                        </a:spcAft>
                        <a:buClr>
                          <a:schemeClr val="folHlink"/>
                        </a:buClr>
                        <a:buFont typeface="Arial" panose="020B0604020202020204" pitchFamily="34" charset="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chemeClr val="accent1"/>
                        </a:buClr>
                        <a:buSzTx/>
                        <a:buFont typeface="Wingdings" pitchFamily="2" charset="2"/>
                        <a:buNone/>
                        <a:tabLst/>
                      </a:pPr>
                      <a:r>
                        <a:rPr kumimoji="0" lang="en-GB" altLang="en-US" sz="1600" b="1" i="0" u="none" strike="noStrike" cap="none" normalizeH="0" baseline="0" dirty="0">
                          <a:ln>
                            <a:noFill/>
                          </a:ln>
                          <a:solidFill>
                            <a:srgbClr val="009999"/>
                          </a:solidFill>
                          <a:effectLst/>
                          <a:latin typeface="Times New Roman" panose="02020603050405020304" pitchFamily="18" charset="0"/>
                          <a:cs typeface="Times New Roman" panose="02020603050405020304" pitchFamily="18" charset="0"/>
                        </a:rPr>
                        <a:t>Positively correlated and MORE volatile than the market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2752569"/>
                  </a:ext>
                </a:extLst>
              </a:tr>
            </a:tbl>
          </a:graphicData>
        </a:graphic>
      </p:graphicFrame>
    </p:spTree>
    <p:extLst>
      <p:ext uri="{BB962C8B-B14F-4D97-AF65-F5344CB8AC3E}">
        <p14:creationId xmlns:p14="http://schemas.microsoft.com/office/powerpoint/2010/main" val="3986368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42085965-D06B-3F47-BD8E-FACC7F3F5D6A}"/>
              </a:ext>
            </a:extLst>
          </p:cNvPr>
          <p:cNvSpPr>
            <a:spLocks noGrp="1" noChangeArrowheads="1"/>
          </p:cNvSpPr>
          <p:nvPr>
            <p:ph type="title"/>
          </p:nvPr>
        </p:nvSpPr>
        <p:spPr>
          <a:xfrm>
            <a:off x="438376" y="638262"/>
            <a:ext cx="11315248" cy="785542"/>
          </a:xfrm>
        </p:spPr>
        <p:txBody>
          <a:bodyPr/>
          <a:lstStyle/>
          <a:p>
            <a:r>
              <a:rPr lang="en-US" altLang="en-US" sz="3200" dirty="0">
                <a:latin typeface="Arial" panose="020B0604020202020204" pitchFamily="34" charset="0"/>
                <a:cs typeface="Arial" panose="020B0604020202020204" pitchFamily="34" charset="0"/>
              </a:rPr>
              <a:t>Security Market Line (SML), cont.</a:t>
            </a:r>
          </a:p>
        </p:txBody>
      </p:sp>
      <p:sp>
        <p:nvSpPr>
          <p:cNvPr id="47106" name="Rectangle 2">
            <a:extLst>
              <a:ext uri="{FF2B5EF4-FFF2-40B4-BE49-F238E27FC236}">
                <a16:creationId xmlns:a16="http://schemas.microsoft.com/office/drawing/2014/main" id="{B8F4DDC7-B47B-5B48-8230-F68C00DA4C60}"/>
              </a:ext>
            </a:extLst>
          </p:cNvPr>
          <p:cNvSpPr>
            <a:spLocks noGrp="1" noChangeArrowheads="1"/>
          </p:cNvSpPr>
          <p:nvPr>
            <p:ph idx="1"/>
          </p:nvPr>
        </p:nvSpPr>
        <p:spPr>
          <a:xfrm>
            <a:off x="438376" y="1529080"/>
            <a:ext cx="9497367" cy="4419600"/>
          </a:xfrm>
        </p:spPr>
        <p:txBody>
          <a:bodyPr>
            <a:normAutofit/>
          </a:bodyPr>
          <a:lstStyle/>
          <a:p>
            <a:pPr>
              <a:lnSpc>
                <a:spcPct val="150000"/>
              </a:lnSpc>
              <a:spcAft>
                <a:spcPts val="600"/>
              </a:spcAft>
            </a:pPr>
            <a:r>
              <a:rPr lang="en-US" altLang="en-US" sz="2000" dirty="0">
                <a:latin typeface="Arial" panose="020B0604020202020204" pitchFamily="34" charset="0"/>
                <a:cs typeface="Arial" panose="020B0604020202020204" pitchFamily="34" charset="0"/>
                <a:sym typeface="Symbol" pitchFamily="2" charset="2"/>
              </a:rPr>
              <a:t>SML is showing a tradeoff between risks and returns for all, where risk is measured using beta, an indicator of market risk</a:t>
            </a:r>
          </a:p>
          <a:p>
            <a:pPr>
              <a:lnSpc>
                <a:spcPct val="150000"/>
              </a:lnSpc>
              <a:spcAft>
                <a:spcPts val="600"/>
              </a:spcAft>
            </a:pPr>
            <a:r>
              <a:rPr lang="en-US" altLang="en-US" sz="2000" dirty="0">
                <a:latin typeface="Arial" panose="020B0604020202020204" pitchFamily="34" charset="0"/>
                <a:cs typeface="Arial" panose="020B0604020202020204" pitchFamily="34" charset="0"/>
              </a:rPr>
              <a:t>All securities plot on the SML, hence all portfolios plot on the SML too.</a:t>
            </a:r>
          </a:p>
          <a:p>
            <a:pPr>
              <a:lnSpc>
                <a:spcPct val="150000"/>
              </a:lnSpc>
              <a:spcAft>
                <a:spcPts val="600"/>
              </a:spcAft>
            </a:pPr>
            <a:r>
              <a:rPr lang="en-US" altLang="en-US" sz="2000" dirty="0">
                <a:latin typeface="Arial" panose="020B0604020202020204" pitchFamily="34" charset="0"/>
                <a:cs typeface="Arial" panose="020B0604020202020204" pitchFamily="34" charset="0"/>
              </a:rPr>
              <a:t>Therefore, efficient portfolios can be found on CML and SML, while the inefficient ones plot on the SML, below CML line.</a:t>
            </a:r>
          </a:p>
          <a:p>
            <a:pPr>
              <a:lnSpc>
                <a:spcPct val="150000"/>
              </a:lnSpc>
              <a:spcAft>
                <a:spcPts val="600"/>
              </a:spcAft>
            </a:pPr>
            <a:r>
              <a:rPr lang="en-US" altLang="en-US" sz="2000" dirty="0">
                <a:latin typeface="Arial" panose="020B0604020202020204" pitchFamily="34" charset="0"/>
                <a:cs typeface="Arial" panose="020B0604020202020204" pitchFamily="34" charset="0"/>
              </a:rPr>
              <a:t>If securities are not plotting on the SML line, they are undervalued (above SML) or overvalued (below SML)</a:t>
            </a:r>
          </a:p>
        </p:txBody>
      </p:sp>
    </p:spTree>
    <p:extLst>
      <p:ext uri="{BB962C8B-B14F-4D97-AF65-F5344CB8AC3E}">
        <p14:creationId xmlns:p14="http://schemas.microsoft.com/office/powerpoint/2010/main" val="638091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F52B61-5B93-E740-903D-5BB229713A69}"/>
              </a:ext>
            </a:extLst>
          </p:cNvPr>
          <p:cNvSpPr>
            <a:spLocks noGrp="1"/>
          </p:cNvSpPr>
          <p:nvPr>
            <p:ph type="title"/>
          </p:nvPr>
        </p:nvSpPr>
        <p:spPr/>
        <p:txBody>
          <a:bodyPr>
            <a:normAutofit/>
          </a:bodyPr>
          <a:lstStyle/>
          <a:p>
            <a:pPr algn="ctr"/>
            <a:r>
              <a:rPr lang="en-US" sz="3200" dirty="0">
                <a:latin typeface="Arial" panose="020B0604020202020204" pitchFamily="34" charset="0"/>
                <a:cs typeface="Arial" panose="020B0604020202020204" pitchFamily="34" charset="0"/>
              </a:rPr>
              <a:t>Prices and CAPM</a:t>
            </a:r>
          </a:p>
        </p:txBody>
      </p:sp>
      <p:sp>
        <p:nvSpPr>
          <p:cNvPr id="2" name="Text Placeholder 1">
            <a:extLst>
              <a:ext uri="{FF2B5EF4-FFF2-40B4-BE49-F238E27FC236}">
                <a16:creationId xmlns:a16="http://schemas.microsoft.com/office/drawing/2014/main" id="{D446F0A7-0F50-3A47-BD6C-D1F08173A737}"/>
              </a:ext>
            </a:extLst>
          </p:cNvPr>
          <p:cNvSpPr>
            <a:spLocks noGrp="1"/>
          </p:cNvSpPr>
          <p:nvPr>
            <p:ph type="body" sz="half" idx="2"/>
          </p:nvPr>
        </p:nvSpPr>
        <p:spPr/>
        <p:txBody>
          <a:bodyPr/>
          <a:lstStyle/>
          <a:p>
            <a:endParaRPr lang="en-US"/>
          </a:p>
        </p:txBody>
      </p:sp>
      <p:sp>
        <p:nvSpPr>
          <p:cNvPr id="3" name="Text Placeholder 2">
            <a:extLst>
              <a:ext uri="{FF2B5EF4-FFF2-40B4-BE49-F238E27FC236}">
                <a16:creationId xmlns:a16="http://schemas.microsoft.com/office/drawing/2014/main" id="{8F96182B-F245-9B46-AD59-35A4245F7EA0}"/>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1491186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56C2-7492-E54C-A677-ADBECC1F6CC3}"/>
              </a:ext>
            </a:extLst>
          </p:cNvPr>
          <p:cNvSpPr>
            <a:spLocks noGrp="1"/>
          </p:cNvSpPr>
          <p:nvPr>
            <p:ph type="title"/>
          </p:nvPr>
        </p:nvSpPr>
        <p:spPr>
          <a:xfrm>
            <a:off x="541246" y="538252"/>
            <a:ext cx="11315248" cy="785542"/>
          </a:xfrm>
        </p:spPr>
        <p:txBody>
          <a:bodyPr>
            <a:normAutofit/>
          </a:bodyPr>
          <a:lstStyle/>
          <a:p>
            <a:r>
              <a:rPr lang="en-US" sz="2800" dirty="0">
                <a:latin typeface="Arial" panose="020B0604020202020204" pitchFamily="34" charset="0"/>
                <a:cs typeface="Arial" panose="020B0604020202020204" pitchFamily="34" charset="0"/>
              </a:rPr>
              <a:t>Prices and the CAPM</a:t>
            </a:r>
          </a:p>
        </p:txBody>
      </p:sp>
      <p:sp>
        <p:nvSpPr>
          <p:cNvPr id="3" name="Content Placeholder 2">
            <a:extLst>
              <a:ext uri="{FF2B5EF4-FFF2-40B4-BE49-F238E27FC236}">
                <a16:creationId xmlns:a16="http://schemas.microsoft.com/office/drawing/2014/main" id="{7543FA12-3AE0-344D-894B-C29A75F13BEC}"/>
              </a:ext>
            </a:extLst>
          </p:cNvPr>
          <p:cNvSpPr>
            <a:spLocks noGrp="1"/>
          </p:cNvSpPr>
          <p:nvPr>
            <p:ph idx="1"/>
          </p:nvPr>
        </p:nvSpPr>
        <p:spPr>
          <a:xfrm>
            <a:off x="437547" y="1862045"/>
            <a:ext cx="9497367" cy="4589555"/>
          </a:xfrm>
        </p:spPr>
        <p:txBody>
          <a:bodyPr>
            <a:normAutofit fontScale="70000" lnSpcReduction="20000"/>
          </a:bodyPr>
          <a:lstStyle/>
          <a:p>
            <a:pPr>
              <a:lnSpc>
                <a:spcPct val="150000"/>
              </a:lnSpc>
            </a:pPr>
            <a:r>
              <a:rPr lang="en-GB" dirty="0">
                <a:latin typeface="Arial" panose="020B0604020202020204" pitchFamily="34" charset="0"/>
                <a:cs typeface="Arial" panose="020B0604020202020204" pitchFamily="34" charset="0"/>
              </a:rPr>
              <a:t>The return on asset </a:t>
            </a:r>
            <a:r>
              <a:rPr lang="en-GB" i="1" dirty="0" err="1">
                <a:latin typeface="Arial" panose="020B0604020202020204" pitchFamily="34" charset="0"/>
                <a:cs typeface="Arial" panose="020B0604020202020204" pitchFamily="34" charset="0"/>
              </a:rPr>
              <a:t>i</a:t>
            </a:r>
            <a:r>
              <a:rPr lang="en-GB" dirty="0">
                <a:latin typeface="Arial" panose="020B0604020202020204" pitchFamily="34" charset="0"/>
                <a:cs typeface="Arial" panose="020B0604020202020204" pitchFamily="34" charset="0"/>
              </a:rPr>
              <a:t> is:</a:t>
            </a:r>
          </a:p>
          <a:p>
            <a:pPr>
              <a:lnSpc>
                <a:spcPct val="150000"/>
              </a:lnSpc>
            </a:pPr>
            <a:endParaRPr lang="en-GB" dirty="0">
              <a:latin typeface="Arial" panose="020B0604020202020204" pitchFamily="34" charset="0"/>
              <a:cs typeface="Arial" panose="020B0604020202020204" pitchFamily="34" charset="0"/>
            </a:endParaRPr>
          </a:p>
          <a:p>
            <a:pPr>
              <a:lnSpc>
                <a:spcPct val="150000"/>
              </a:lnSpc>
            </a:pPr>
            <a:r>
              <a:rPr lang="en-GB" dirty="0">
                <a:latin typeface="Arial" panose="020B0604020202020204" pitchFamily="34" charset="0"/>
                <a:cs typeface="Arial" panose="020B0604020202020204" pitchFamily="34" charset="0"/>
              </a:rPr>
              <a:t>CAPM postulates that: </a:t>
            </a:r>
          </a:p>
          <a:p>
            <a:pPr>
              <a:lnSpc>
                <a:spcPct val="150000"/>
              </a:lnSpc>
            </a:pPr>
            <a:endParaRPr lang="en-GB" dirty="0">
              <a:latin typeface="Arial" panose="020B0604020202020204" pitchFamily="34" charset="0"/>
              <a:cs typeface="Arial" panose="020B0604020202020204" pitchFamily="34" charset="0"/>
            </a:endParaRPr>
          </a:p>
          <a:p>
            <a:pPr>
              <a:lnSpc>
                <a:spcPct val="150000"/>
              </a:lnSpc>
            </a:pPr>
            <a:r>
              <a:rPr lang="en-GB" dirty="0">
                <a:latin typeface="Arial" panose="020B0604020202020204" pitchFamily="34" charset="0"/>
                <a:cs typeface="Arial" panose="020B0604020202020204" pitchFamily="34" charset="0"/>
              </a:rPr>
              <a:t>So we have: </a:t>
            </a:r>
          </a:p>
          <a:p>
            <a:pPr>
              <a:lnSpc>
                <a:spcPct val="150000"/>
              </a:lnSpc>
            </a:pPr>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This is fundamental pricing equation in finance: price of an asset is a present value of its cashflows </a:t>
            </a:r>
          </a:p>
          <a:p>
            <a:pPr>
              <a:lnSpc>
                <a:spcPct val="150000"/>
              </a:lnSpc>
            </a:pPr>
            <a:r>
              <a:rPr lang="en-US" dirty="0">
                <a:latin typeface="Arial" panose="020B0604020202020204" pitchFamily="34" charset="0"/>
                <a:cs typeface="Arial" panose="020B0604020202020204" pitchFamily="34" charset="0"/>
              </a:rPr>
              <a:t>Price and expected return have an inverse relationship</a:t>
            </a:r>
          </a:p>
        </p:txBody>
      </p:sp>
      <p:sp>
        <p:nvSpPr>
          <p:cNvPr id="4" name="Rectangle 2">
            <a:extLst>
              <a:ext uri="{FF2B5EF4-FFF2-40B4-BE49-F238E27FC236}">
                <a16:creationId xmlns:a16="http://schemas.microsoft.com/office/drawing/2014/main" id="{D8CDE6EC-9D2C-4040-A79C-CD91EA4F94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C5D5B301-9B28-A64D-A7DC-931AAA0A76C5}"/>
              </a:ext>
            </a:extLst>
          </p:cNvPr>
          <p:cNvGraphicFramePr>
            <a:graphicFrameLocks noChangeAspect="1"/>
          </p:cNvGraphicFramePr>
          <p:nvPr/>
        </p:nvGraphicFramePr>
        <p:xfrm>
          <a:off x="4813300" y="1679156"/>
          <a:ext cx="2044700" cy="753311"/>
        </p:xfrm>
        <a:graphic>
          <a:graphicData uri="http://schemas.openxmlformats.org/presentationml/2006/ole">
            <mc:AlternateContent xmlns:mc="http://schemas.openxmlformats.org/markup-compatibility/2006">
              <mc:Choice xmlns:v="urn:schemas-microsoft-com:vml" Requires="v">
                <p:oleObj r:id="rId2" imgW="1206500" imgH="444500" progId="Equation.3">
                  <p:embed/>
                </p:oleObj>
              </mc:Choice>
              <mc:Fallback>
                <p:oleObj r:id="rId2" imgW="1206500" imgH="444500" progId="Equation.3">
                  <p:embed/>
                  <p:pic>
                    <p:nvPicPr>
                      <p:cNvPr id="5" name="Object 4">
                        <a:extLst>
                          <a:ext uri="{FF2B5EF4-FFF2-40B4-BE49-F238E27FC236}">
                            <a16:creationId xmlns:a16="http://schemas.microsoft.com/office/drawing/2014/main" id="{C5D5B301-9B28-A64D-A7DC-931AAA0A76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3300" y="1679156"/>
                        <a:ext cx="2044700" cy="753311"/>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7F5972EE-69DB-F641-B4C4-652D5C454CF0}"/>
              </a:ext>
            </a:extLst>
          </p:cNvPr>
          <p:cNvSpPr>
            <a:spLocks noChangeArrowheads="1"/>
          </p:cNvSpPr>
          <p:nvPr/>
        </p:nvSpPr>
        <p:spPr bwMode="auto">
          <a:xfrm>
            <a:off x="4813300" y="2674170"/>
            <a:ext cx="1953208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86320A87-0F23-674B-A106-6E20E156C9E3}"/>
              </a:ext>
            </a:extLst>
          </p:cNvPr>
          <p:cNvGraphicFramePr>
            <a:graphicFrameLocks noChangeAspect="1"/>
          </p:cNvGraphicFramePr>
          <p:nvPr/>
        </p:nvGraphicFramePr>
        <p:xfrm>
          <a:off x="4813300" y="2674170"/>
          <a:ext cx="3987800" cy="712107"/>
        </p:xfrm>
        <a:graphic>
          <a:graphicData uri="http://schemas.openxmlformats.org/presentationml/2006/ole">
            <mc:AlternateContent xmlns:mc="http://schemas.openxmlformats.org/markup-compatibility/2006">
              <mc:Choice xmlns:v="urn:schemas-microsoft-com:vml" Requires="v">
                <p:oleObj r:id="rId4" imgW="2489200" imgH="444500" progId="Equation.3">
                  <p:embed/>
                </p:oleObj>
              </mc:Choice>
              <mc:Fallback>
                <p:oleObj r:id="rId4" imgW="2489200" imgH="444500" progId="Equation.3">
                  <p:embed/>
                  <p:pic>
                    <p:nvPicPr>
                      <p:cNvPr id="7" name="Object 6">
                        <a:extLst>
                          <a:ext uri="{FF2B5EF4-FFF2-40B4-BE49-F238E27FC236}">
                            <a16:creationId xmlns:a16="http://schemas.microsoft.com/office/drawing/2014/main" id="{86320A87-0F23-674B-A106-6E20E156C9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3300" y="2674170"/>
                        <a:ext cx="3987800" cy="712107"/>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6FF547D7-99C6-6D4B-B80C-BC2818CBEFAB}"/>
              </a:ext>
            </a:extLst>
          </p:cNvPr>
          <p:cNvSpPr>
            <a:spLocks noChangeArrowheads="1"/>
          </p:cNvSpPr>
          <p:nvPr/>
        </p:nvSpPr>
        <p:spPr bwMode="auto">
          <a:xfrm>
            <a:off x="4813300" y="3755522"/>
            <a:ext cx="17359352" cy="5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4A822058-E410-9846-8D76-F5DDFCDAC4B1}"/>
              </a:ext>
            </a:extLst>
          </p:cNvPr>
          <p:cNvGraphicFramePr>
            <a:graphicFrameLocks noChangeAspect="1"/>
          </p:cNvGraphicFramePr>
          <p:nvPr>
            <p:extLst>
              <p:ext uri="{D42A27DB-BD31-4B8C-83A1-F6EECF244321}">
                <p14:modId xmlns:p14="http://schemas.microsoft.com/office/powerpoint/2010/main" val="2811663884"/>
              </p:ext>
            </p:extLst>
          </p:nvPr>
        </p:nvGraphicFramePr>
        <p:xfrm>
          <a:off x="4813300" y="3795958"/>
          <a:ext cx="3843339" cy="711730"/>
        </p:xfrm>
        <a:graphic>
          <a:graphicData uri="http://schemas.openxmlformats.org/presentationml/2006/ole">
            <mc:AlternateContent xmlns:mc="http://schemas.openxmlformats.org/markup-compatibility/2006">
              <mc:Choice xmlns:v="urn:schemas-microsoft-com:vml" Requires="v">
                <p:oleObj r:id="rId6" imgW="2400300" imgH="444500" progId="Equation.3">
                  <p:embed/>
                </p:oleObj>
              </mc:Choice>
              <mc:Fallback>
                <p:oleObj r:id="rId6" imgW="2400300" imgH="444500" progId="Equation.3">
                  <p:embed/>
                  <p:pic>
                    <p:nvPicPr>
                      <p:cNvPr id="9" name="Object 8">
                        <a:extLst>
                          <a:ext uri="{FF2B5EF4-FFF2-40B4-BE49-F238E27FC236}">
                            <a16:creationId xmlns:a16="http://schemas.microsoft.com/office/drawing/2014/main" id="{4A822058-E410-9846-8D76-F5DDFCDAC4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3300" y="3795958"/>
                        <a:ext cx="3843339" cy="711730"/>
                      </a:xfrm>
                      <a:prstGeom prst="rect">
                        <a:avLst/>
                      </a:prstGeom>
                      <a:noFill/>
                    </p:spPr>
                  </p:pic>
                </p:oleObj>
              </mc:Fallback>
            </mc:AlternateContent>
          </a:graphicData>
        </a:graphic>
      </p:graphicFrame>
    </p:spTree>
    <p:extLst>
      <p:ext uri="{BB962C8B-B14F-4D97-AF65-F5344CB8AC3E}">
        <p14:creationId xmlns:p14="http://schemas.microsoft.com/office/powerpoint/2010/main" val="3781132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a:extLst>
              <a:ext uri="{FF2B5EF4-FFF2-40B4-BE49-F238E27FC236}">
                <a16:creationId xmlns:a16="http://schemas.microsoft.com/office/drawing/2014/main" id="{E20ECF69-1A7A-9646-B79F-5D47FB192160}"/>
              </a:ext>
            </a:extLst>
          </p:cNvPr>
          <p:cNvSpPr>
            <a:spLocks noGrp="1" noChangeArrowheads="1"/>
          </p:cNvSpPr>
          <p:nvPr>
            <p:ph type="title"/>
          </p:nvPr>
        </p:nvSpPr>
        <p:spPr>
          <a:xfrm>
            <a:off x="551847" y="608043"/>
            <a:ext cx="11315248" cy="785542"/>
          </a:xfrm>
        </p:spPr>
        <p:txBody>
          <a:bodyPr/>
          <a:lstStyle/>
          <a:p>
            <a:r>
              <a:rPr lang="en-US" altLang="en-US" sz="2800" dirty="0">
                <a:latin typeface="Arial" panose="020B0604020202020204" pitchFamily="34" charset="0"/>
                <a:cs typeface="Arial" panose="020B0604020202020204" pitchFamily="34" charset="0"/>
              </a:rPr>
              <a:t>SML and undervalued/overvalued securities</a:t>
            </a:r>
          </a:p>
        </p:txBody>
      </p:sp>
      <p:sp>
        <p:nvSpPr>
          <p:cNvPr id="51202" name="Rectangle 2">
            <a:extLst>
              <a:ext uri="{FF2B5EF4-FFF2-40B4-BE49-F238E27FC236}">
                <a16:creationId xmlns:a16="http://schemas.microsoft.com/office/drawing/2014/main" id="{1ED888B0-72F7-004E-B7C5-7DEF847EFF30}"/>
              </a:ext>
            </a:extLst>
          </p:cNvPr>
          <p:cNvSpPr>
            <a:spLocks noGrp="1" noChangeArrowheads="1"/>
          </p:cNvSpPr>
          <p:nvPr>
            <p:ph idx="1"/>
          </p:nvPr>
        </p:nvSpPr>
        <p:spPr>
          <a:xfrm>
            <a:off x="437547" y="1700530"/>
            <a:ext cx="9497367" cy="4419600"/>
          </a:xfrm>
        </p:spPr>
        <p:txBody>
          <a:bodyPr/>
          <a:lstStyle/>
          <a:p>
            <a:pPr>
              <a:lnSpc>
                <a:spcPct val="150000"/>
              </a:lnSpc>
            </a:pPr>
            <a:r>
              <a:rPr lang="en-US" altLang="en-US" sz="2000" dirty="0">
                <a:solidFill>
                  <a:srgbClr val="0070C0"/>
                </a:solidFill>
                <a:latin typeface="Arial" panose="020B0604020202020204" pitchFamily="34" charset="0"/>
                <a:cs typeface="Arial" panose="020B0604020202020204" pitchFamily="34" charset="0"/>
              </a:rPr>
              <a:t>Undervalued</a:t>
            </a:r>
            <a:r>
              <a:rPr lang="en-US" altLang="en-US" sz="2000" dirty="0">
                <a:latin typeface="Arial" panose="020B0604020202020204" pitchFamily="34" charset="0"/>
                <a:cs typeface="Arial" panose="020B0604020202020204" pitchFamily="34" charset="0"/>
              </a:rPr>
              <a:t> securities are plotting </a:t>
            </a:r>
            <a:r>
              <a:rPr lang="en-US" altLang="en-US" sz="2000" dirty="0">
                <a:solidFill>
                  <a:srgbClr val="0070C0"/>
                </a:solidFill>
                <a:latin typeface="Arial" panose="020B0604020202020204" pitchFamily="34" charset="0"/>
                <a:cs typeface="Arial" panose="020B0604020202020204" pitchFamily="34" charset="0"/>
              </a:rPr>
              <a:t>above the SM</a:t>
            </a:r>
            <a:r>
              <a:rPr lang="en-US" altLang="en-US" sz="2000" dirty="0">
                <a:latin typeface="Arial" panose="020B0604020202020204" pitchFamily="34" charset="0"/>
                <a:cs typeface="Arial" panose="020B0604020202020204" pitchFamily="34" charset="0"/>
              </a:rPr>
              <a:t>L because they offer greater expected return for a given level of risk. Investors will start buying those securities, driving their prices up and returns down. Hence, the security will be driven to the SML level.</a:t>
            </a:r>
          </a:p>
          <a:p>
            <a:pPr>
              <a:lnSpc>
                <a:spcPct val="150000"/>
              </a:lnSpc>
            </a:pPr>
            <a:r>
              <a:rPr lang="en-US" altLang="en-US" sz="2000" dirty="0">
                <a:solidFill>
                  <a:srgbClr val="0070C0"/>
                </a:solidFill>
                <a:latin typeface="Arial" panose="020B0604020202020204" pitchFamily="34" charset="0"/>
                <a:cs typeface="Arial" panose="020B0604020202020204" pitchFamily="34" charset="0"/>
              </a:rPr>
              <a:t>Overvalued</a:t>
            </a:r>
            <a:r>
              <a:rPr lang="en-US" altLang="en-US" sz="2000" dirty="0">
                <a:latin typeface="Arial" panose="020B0604020202020204" pitchFamily="34" charset="0"/>
                <a:cs typeface="Arial" panose="020B0604020202020204" pitchFamily="34" charset="0"/>
              </a:rPr>
              <a:t> securities are plotting </a:t>
            </a:r>
            <a:r>
              <a:rPr lang="en-US" altLang="en-US" sz="2000" dirty="0">
                <a:solidFill>
                  <a:srgbClr val="0070C0"/>
                </a:solidFill>
                <a:latin typeface="Arial" panose="020B0604020202020204" pitchFamily="34" charset="0"/>
                <a:cs typeface="Arial" panose="020B0604020202020204" pitchFamily="34" charset="0"/>
              </a:rPr>
              <a:t>below the SML </a:t>
            </a:r>
            <a:r>
              <a:rPr lang="en-US" altLang="en-US" sz="2000" dirty="0">
                <a:latin typeface="Arial" panose="020B0604020202020204" pitchFamily="34" charset="0"/>
                <a:cs typeface="Arial" panose="020B0604020202020204" pitchFamily="34" charset="0"/>
              </a:rPr>
              <a:t>line, not offering enough return for the given level of systematic risk. Investors action will be exactly the opposite from the above case, but the security price will be brought to the equilibrium.</a:t>
            </a:r>
          </a:p>
        </p:txBody>
      </p:sp>
    </p:spTree>
    <p:extLst>
      <p:ext uri="{BB962C8B-B14F-4D97-AF65-F5344CB8AC3E}">
        <p14:creationId xmlns:p14="http://schemas.microsoft.com/office/powerpoint/2010/main" val="3703822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0008B-611A-7449-90D9-1619EE7D6560}"/>
              </a:ext>
            </a:extLst>
          </p:cNvPr>
          <p:cNvSpPr>
            <a:spLocks noGrp="1"/>
          </p:cNvSpPr>
          <p:nvPr>
            <p:ph type="title"/>
          </p:nvPr>
        </p:nvSpPr>
        <p:spPr>
          <a:xfrm>
            <a:off x="838200" y="228600"/>
            <a:ext cx="10515600" cy="1325563"/>
          </a:xfrm>
        </p:spPr>
        <p:txBody>
          <a:bodyPr>
            <a:normAutofit/>
          </a:bodyPr>
          <a:lstStyle/>
          <a:p>
            <a:r>
              <a:rPr lang="en-US" altLang="en-US" sz="2800" dirty="0">
                <a:latin typeface="Arial" panose="020B0604020202020204" pitchFamily="34" charset="0"/>
                <a:cs typeface="Arial" panose="020B0604020202020204" pitchFamily="34" charset="0"/>
              </a:rPr>
              <a:t>SML and undervalued/overvalued securities</a:t>
            </a: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2FED4B0-4673-8545-84EE-0A83D96102D3}"/>
              </a:ext>
            </a:extLst>
          </p:cNvPr>
          <p:cNvSpPr>
            <a:spLocks noGrp="1"/>
          </p:cNvSpPr>
          <p:nvPr>
            <p:ph idx="1"/>
          </p:nvPr>
        </p:nvSpPr>
        <p:spPr>
          <a:xfrm>
            <a:off x="702945" y="1274445"/>
            <a:ext cx="10668000" cy="4776788"/>
          </a:xfrm>
        </p:spPr>
        <p:txBody>
          <a:bodyPr>
            <a:normAutofit/>
          </a:bodyPr>
          <a:lstStyle/>
          <a:p>
            <a:pPr marL="0" indent="0">
              <a:buNone/>
            </a:pPr>
            <a:r>
              <a:rPr lang="en-US" sz="2400" dirty="0">
                <a:latin typeface="Arial" panose="020B0604020202020204" pitchFamily="34" charset="0"/>
                <a:cs typeface="Arial" panose="020B0604020202020204" pitchFamily="34" charset="0"/>
              </a:rPr>
              <a:t>Undervalued securities will go back to  SML line quicker than the overvalued ones </a:t>
            </a:r>
          </a:p>
        </p:txBody>
      </p:sp>
      <p:pic>
        <p:nvPicPr>
          <p:cNvPr id="7" name="Picture 6">
            <a:extLst>
              <a:ext uri="{FF2B5EF4-FFF2-40B4-BE49-F238E27FC236}">
                <a16:creationId xmlns:a16="http://schemas.microsoft.com/office/drawing/2014/main" id="{E7C6C4F4-B526-1141-8FA5-278E6E9FA6DB}"/>
              </a:ext>
            </a:extLst>
          </p:cNvPr>
          <p:cNvPicPr>
            <a:picLocks noChangeAspect="1"/>
          </p:cNvPicPr>
          <p:nvPr/>
        </p:nvPicPr>
        <p:blipFill>
          <a:blip r:embed="rId2"/>
          <a:stretch>
            <a:fillRect/>
          </a:stretch>
        </p:blipFill>
        <p:spPr>
          <a:xfrm>
            <a:off x="2303145" y="1722241"/>
            <a:ext cx="6337300" cy="4784286"/>
          </a:xfrm>
          <a:prstGeom prst="rect">
            <a:avLst/>
          </a:prstGeom>
        </p:spPr>
      </p:pic>
    </p:spTree>
    <p:extLst>
      <p:ext uri="{BB962C8B-B14F-4D97-AF65-F5344CB8AC3E}">
        <p14:creationId xmlns:p14="http://schemas.microsoft.com/office/powerpoint/2010/main" val="369981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a:extLst>
              <a:ext uri="{FF2B5EF4-FFF2-40B4-BE49-F238E27FC236}">
                <a16:creationId xmlns:a16="http://schemas.microsoft.com/office/drawing/2014/main" id="{B5092C27-6913-EC46-93C5-1F9535B4F94E}"/>
              </a:ext>
            </a:extLst>
          </p:cNvPr>
          <p:cNvSpPr>
            <a:spLocks noGrp="1" noChangeArrowheads="1"/>
          </p:cNvSpPr>
          <p:nvPr>
            <p:ph type="title"/>
          </p:nvPr>
        </p:nvSpPr>
        <p:spPr>
          <a:xfrm>
            <a:off x="438376" y="550110"/>
            <a:ext cx="11315248" cy="785542"/>
          </a:xfrm>
        </p:spPr>
        <p:txBody>
          <a:bodyPr/>
          <a:lstStyle/>
          <a:p>
            <a:r>
              <a:rPr lang="en-US" altLang="en-US" sz="3200" dirty="0">
                <a:latin typeface="Arial" panose="020B0604020202020204" pitchFamily="34" charset="0"/>
                <a:cs typeface="Arial" panose="020B0604020202020204" pitchFamily="34" charset="0"/>
              </a:rPr>
              <a:t>Estimation of the SML in practice</a:t>
            </a:r>
          </a:p>
        </p:txBody>
      </p:sp>
      <p:sp>
        <p:nvSpPr>
          <p:cNvPr id="54274" name="Rectangle 2">
            <a:extLst>
              <a:ext uri="{FF2B5EF4-FFF2-40B4-BE49-F238E27FC236}">
                <a16:creationId xmlns:a16="http://schemas.microsoft.com/office/drawing/2014/main" id="{D57CFCE1-F82C-5141-B819-9C0378620D3A}"/>
              </a:ext>
            </a:extLst>
          </p:cNvPr>
          <p:cNvSpPr>
            <a:spLocks noGrp="1" noChangeArrowheads="1"/>
          </p:cNvSpPr>
          <p:nvPr>
            <p:ph idx="1"/>
          </p:nvPr>
        </p:nvSpPr>
        <p:spPr>
          <a:xfrm>
            <a:off x="438376" y="1677670"/>
            <a:ext cx="9497367" cy="4419600"/>
          </a:xfrm>
        </p:spPr>
        <p:txBody>
          <a:bodyPr/>
          <a:lstStyle/>
          <a:p>
            <a:pPr>
              <a:lnSpc>
                <a:spcPct val="150000"/>
              </a:lnSpc>
            </a:pPr>
            <a:r>
              <a:rPr lang="en-US" altLang="en-US" sz="2000" dirty="0">
                <a:latin typeface="Arial" panose="020B0604020202020204" pitchFamily="34" charset="0"/>
                <a:cs typeface="Arial" panose="020B0604020202020204" pitchFamily="34" charset="0"/>
              </a:rPr>
              <a:t>Inputs needed: return on the risk-free asset, estimates of beta for any security in question and expected return of the market</a:t>
            </a:r>
          </a:p>
          <a:p>
            <a:pPr>
              <a:lnSpc>
                <a:spcPct val="150000"/>
              </a:lnSpc>
            </a:pPr>
            <a:r>
              <a:rPr lang="en-US" altLang="en-US" sz="2000" dirty="0">
                <a:latin typeface="Arial" panose="020B0604020202020204" pitchFamily="34" charset="0"/>
                <a:cs typeface="Arial" panose="020B0604020202020204" pitchFamily="34" charset="0"/>
              </a:rPr>
              <a:t>As an estimate for Rf returns investors use T-bills</a:t>
            </a:r>
          </a:p>
          <a:p>
            <a:pPr>
              <a:lnSpc>
                <a:spcPct val="150000"/>
              </a:lnSpc>
            </a:pPr>
            <a:r>
              <a:rPr lang="en-US" altLang="en-US" sz="2000" dirty="0">
                <a:latin typeface="Arial" panose="020B0604020202020204" pitchFamily="34" charset="0"/>
                <a:cs typeface="Arial" panose="020B0604020202020204" pitchFamily="34" charset="0"/>
              </a:rPr>
              <a:t>Estimates of the market returns: use historical data on Market Index</a:t>
            </a:r>
          </a:p>
          <a:p>
            <a:pPr>
              <a:lnSpc>
                <a:spcPct val="150000"/>
              </a:lnSpc>
            </a:pPr>
            <a:r>
              <a:rPr lang="en-US" altLang="en-US" sz="2000" dirty="0">
                <a:latin typeface="Arial" panose="020B0604020202020204" pitchFamily="34" charset="0"/>
                <a:cs typeface="Arial" panose="020B0604020202020204" pitchFamily="34" charset="0"/>
              </a:rPr>
              <a:t>Estimating the beta: unique for every asset</a:t>
            </a:r>
          </a:p>
          <a:p>
            <a:pPr lvl="1">
              <a:lnSpc>
                <a:spcPct val="150000"/>
              </a:lnSpc>
            </a:pPr>
            <a:r>
              <a:rPr lang="en-US" altLang="en-US" sz="2000" dirty="0">
                <a:latin typeface="Arial" panose="020B0604020202020204" pitchFamily="34" charset="0"/>
                <a:cs typeface="Arial" panose="020B0604020202020204" pitchFamily="34" charset="0"/>
              </a:rPr>
              <a:t>relates returns of individual security to the market returns</a:t>
            </a:r>
          </a:p>
          <a:p>
            <a:pPr lvl="1">
              <a:lnSpc>
                <a:spcPct val="150000"/>
              </a:lnSpc>
            </a:pPr>
            <a:r>
              <a:rPr lang="en-US" altLang="en-US" sz="2000" dirty="0">
                <a:latin typeface="Arial" panose="020B0604020202020204" pitchFamily="34" charset="0"/>
                <a:cs typeface="Arial" panose="020B0604020202020204" pitchFamily="34" charset="0"/>
              </a:rPr>
              <a:t>estimated using regression analysis </a:t>
            </a:r>
          </a:p>
        </p:txBody>
      </p:sp>
    </p:spTree>
    <p:extLst>
      <p:ext uri="{BB962C8B-B14F-4D97-AF65-F5344CB8AC3E}">
        <p14:creationId xmlns:p14="http://schemas.microsoft.com/office/powerpoint/2010/main" val="950634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F52B61-5B93-E740-903D-5BB229713A69}"/>
              </a:ext>
            </a:extLst>
          </p:cNvPr>
          <p:cNvSpPr>
            <a:spLocks noGrp="1"/>
          </p:cNvSpPr>
          <p:nvPr>
            <p:ph type="title"/>
          </p:nvPr>
        </p:nvSpPr>
        <p:spPr>
          <a:xfrm>
            <a:off x="181519" y="2420888"/>
            <a:ext cx="5406390" cy="1008112"/>
          </a:xfrm>
        </p:spPr>
        <p:txBody>
          <a:bodyPr>
            <a:noAutofit/>
          </a:bodyPr>
          <a:lstStyle/>
          <a:p>
            <a:pPr algn="ctr"/>
            <a:r>
              <a:rPr lang="en-US" dirty="0">
                <a:latin typeface="Arial" panose="020B0604020202020204" pitchFamily="34" charset="0"/>
                <a:cs typeface="Arial" panose="020B0604020202020204" pitchFamily="34" charset="0"/>
              </a:rPr>
              <a:t>The Single Index Model</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26EE8DD0-2816-3846-8996-0187797F1CF8}"/>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3062837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4643EE-5961-5743-B896-77D6C08504C3}"/>
              </a:ext>
            </a:extLst>
          </p:cNvPr>
          <p:cNvSpPr>
            <a:spLocks noGrp="1"/>
          </p:cNvSpPr>
          <p:nvPr>
            <p:ph type="title"/>
          </p:nvPr>
        </p:nvSpPr>
        <p:spPr>
          <a:xfrm>
            <a:off x="438376" y="444759"/>
            <a:ext cx="11315248" cy="785542"/>
          </a:xfrm>
        </p:spPr>
        <p:txBody>
          <a:bodyPr/>
          <a:lstStyle/>
          <a:p>
            <a:r>
              <a:rPr lang="en-US" sz="2800" dirty="0"/>
              <a:t>The purpose of the Single Index Model</a:t>
            </a:r>
          </a:p>
        </p:txBody>
      </p:sp>
      <p:sp>
        <p:nvSpPr>
          <p:cNvPr id="6" name="Content Placeholder 5">
            <a:extLst>
              <a:ext uri="{FF2B5EF4-FFF2-40B4-BE49-F238E27FC236}">
                <a16:creationId xmlns:a16="http://schemas.microsoft.com/office/drawing/2014/main" id="{726EFED6-C706-4B45-AAE6-6BE35FB501BC}"/>
              </a:ext>
            </a:extLst>
          </p:cNvPr>
          <p:cNvSpPr>
            <a:spLocks noGrp="1"/>
          </p:cNvSpPr>
          <p:nvPr>
            <p:ph idx="1"/>
          </p:nvPr>
        </p:nvSpPr>
        <p:spPr>
          <a:xfrm>
            <a:off x="438376" y="1403296"/>
            <a:ext cx="10460283" cy="4419600"/>
          </a:xfrm>
        </p:spPr>
        <p:txBody>
          <a:bodyPr>
            <a:normAutofit/>
          </a:bodyPr>
          <a:lstStyle/>
          <a:p>
            <a:pPr>
              <a:lnSpc>
                <a:spcPct val="150000"/>
              </a:lnSpc>
            </a:pPr>
            <a:r>
              <a:rPr lang="en-GB" sz="2000" dirty="0">
                <a:solidFill>
                  <a:srgbClr val="040C28"/>
                </a:solidFill>
                <a:cs typeface="Arial" panose="020B0604020202020204" pitchFamily="34" charset="0"/>
              </a:rPr>
              <a:t>SIM obtains</a:t>
            </a:r>
            <a:r>
              <a:rPr lang="en-GB" sz="2000" b="0" i="0" u="none" strike="noStrike" dirty="0">
                <a:solidFill>
                  <a:srgbClr val="040C28"/>
                </a:solidFill>
                <a:effectLst/>
                <a:cs typeface="Arial" panose="020B0604020202020204" pitchFamily="34" charset="0"/>
              </a:rPr>
              <a:t> solutions to the general portfolio selection problem</a:t>
            </a:r>
            <a:r>
              <a:rPr lang="en-GB" sz="2000" b="0" i="0" u="none" strike="noStrike" dirty="0">
                <a:solidFill>
                  <a:srgbClr val="1F1F1F"/>
                </a:solidFill>
                <a:effectLst/>
                <a:cs typeface="Arial" panose="020B0604020202020204" pitchFamily="34" charset="0"/>
              </a:rPr>
              <a:t> which are equivalent to those obtained by the full variance-covariance (Markowitz) portfolio selection model, but at lower cost, i.e. with less inputs</a:t>
            </a:r>
          </a:p>
          <a:p>
            <a:pPr>
              <a:lnSpc>
                <a:spcPct val="150000"/>
              </a:lnSpc>
            </a:pPr>
            <a:r>
              <a:rPr lang="en-GB" sz="2000" dirty="0">
                <a:solidFill>
                  <a:srgbClr val="1F1F1F"/>
                </a:solidFill>
                <a:cs typeface="Arial" panose="020B0604020202020204" pitchFamily="34" charset="0"/>
              </a:rPr>
              <a:t>It allows separation of total risk (variance) into systematic and unsystematic risk</a:t>
            </a:r>
            <a:endParaRPr lang="en-GB" sz="2000" b="0" i="0" u="none" strike="noStrike" dirty="0">
              <a:solidFill>
                <a:srgbClr val="1F1F1F"/>
              </a:solidFill>
              <a:effectLst/>
              <a:cs typeface="Arial" panose="020B0604020202020204" pitchFamily="34" charset="0"/>
            </a:endParaRPr>
          </a:p>
          <a:p>
            <a:pPr>
              <a:lnSpc>
                <a:spcPct val="150000"/>
              </a:lnSpc>
            </a:pPr>
            <a:r>
              <a:rPr lang="en-GB" sz="2000" dirty="0">
                <a:solidFill>
                  <a:srgbClr val="1F1F1F"/>
                </a:solidFill>
                <a:cs typeface="Arial" panose="020B0604020202020204" pitchFamily="34" charset="0"/>
              </a:rPr>
              <a:t>It improves variance-covariance matrix used in construction of efficient frontier and optimal portfolio</a:t>
            </a:r>
            <a:endParaRPr lang="en-US" sz="2000" dirty="0">
              <a:cs typeface="Arial" panose="020B0604020202020204" pitchFamily="34" charset="0"/>
            </a:endParaRPr>
          </a:p>
        </p:txBody>
      </p:sp>
    </p:spTree>
    <p:extLst>
      <p:ext uri="{BB962C8B-B14F-4D97-AF65-F5344CB8AC3E}">
        <p14:creationId xmlns:p14="http://schemas.microsoft.com/office/powerpoint/2010/main" val="47723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A3EFA4A-02D0-1D41-8E11-AD8439ADAF98}"/>
              </a:ext>
            </a:extLst>
          </p:cNvPr>
          <p:cNvSpPr>
            <a:spLocks noGrp="1" noChangeArrowheads="1"/>
          </p:cNvSpPr>
          <p:nvPr>
            <p:ph type="title"/>
          </p:nvPr>
        </p:nvSpPr>
        <p:spPr>
          <a:xfrm>
            <a:off x="437547" y="319317"/>
            <a:ext cx="11315248" cy="785542"/>
          </a:xfrm>
        </p:spPr>
        <p:txBody>
          <a:bodyPr>
            <a:normAutofit/>
          </a:bodyPr>
          <a:lstStyle/>
          <a:p>
            <a:r>
              <a:rPr lang="en-US" altLang="en-US" sz="3200" dirty="0">
                <a:latin typeface="Arial" panose="020B0604020202020204" pitchFamily="34" charset="0"/>
                <a:cs typeface="Arial" panose="020B0604020202020204" pitchFamily="34" charset="0"/>
              </a:rPr>
              <a:t>Single Index Model</a:t>
            </a:r>
          </a:p>
        </p:txBody>
      </p:sp>
      <mc:AlternateContent xmlns:mc="http://schemas.openxmlformats.org/markup-compatibility/2006" xmlns:a14="http://schemas.microsoft.com/office/drawing/2010/main">
        <mc:Choice Requires="a14">
          <p:sp>
            <p:nvSpPr>
              <p:cNvPr id="7171" name="Rectangle 3">
                <a:extLst>
                  <a:ext uri="{FF2B5EF4-FFF2-40B4-BE49-F238E27FC236}">
                    <a16:creationId xmlns:a16="http://schemas.microsoft.com/office/drawing/2014/main" id="{8C0C7456-BBA4-1646-ADBE-510540B55B63}"/>
                  </a:ext>
                </a:extLst>
              </p:cNvPr>
              <p:cNvSpPr>
                <a:spLocks noGrp="1" noChangeArrowheads="1"/>
              </p:cNvSpPr>
              <p:nvPr>
                <p:ph idx="1"/>
              </p:nvPr>
            </p:nvSpPr>
            <p:spPr>
              <a:xfrm>
                <a:off x="437547" y="1153444"/>
                <a:ext cx="9497367" cy="5139853"/>
              </a:xfrm>
            </p:spPr>
            <p:txBody>
              <a:bodyPr>
                <a:normAutofit fontScale="92500" lnSpcReduction="20000"/>
              </a:bodyPr>
              <a:lstStyle/>
              <a:p>
                <a:pPr>
                  <a:lnSpc>
                    <a:spcPct val="150000"/>
                  </a:lnSpc>
                </a:pPr>
                <a:r>
                  <a:rPr lang="en-US" altLang="en-US" sz="2400" dirty="0">
                    <a:cs typeface="Times New Roman" panose="02020603050405020304" pitchFamily="18" charset="0"/>
                  </a:rPr>
                  <a:t>Assumption of SIM: fluctuations in asset prices are related to changes in the overall market</a:t>
                </a:r>
              </a:p>
              <a:p>
                <a:pPr lvl="1">
                  <a:lnSpc>
                    <a:spcPct val="150000"/>
                  </a:lnSpc>
                </a:pPr>
                <a:r>
                  <a:rPr lang="en-US" altLang="en-US" sz="2000" dirty="0">
                    <a:cs typeface="Times New Roman" panose="02020603050405020304" pitchFamily="18" charset="0"/>
                  </a:rPr>
                  <a:t>If the market moves up, it is likely that the stock will go up</a:t>
                </a:r>
              </a:p>
              <a:p>
                <a:pPr lvl="1">
                  <a:lnSpc>
                    <a:spcPct val="150000"/>
                  </a:lnSpc>
                </a:pPr>
                <a:r>
                  <a:rPr lang="en-US" altLang="en-US" sz="2000" dirty="0">
                    <a:cs typeface="Times New Roman" panose="02020603050405020304" pitchFamily="18" charset="0"/>
                  </a:rPr>
                  <a:t>This relationship can be formulated as:</a:t>
                </a:r>
              </a:p>
              <a:p>
                <a:pPr lvl="1">
                  <a:lnSpc>
                    <a:spcPct val="150000"/>
                  </a:lnSpc>
                  <a:buNone/>
                </a:pPr>
                <a:r>
                  <a:rPr lang="en-US" altLang="en-US" sz="2000" dirty="0">
                    <a:cs typeface="Times New Roman" panose="02020603050405020304" pitchFamily="18" charset="0"/>
                    <a:sym typeface="Symbol" pitchFamily="2" charset="2"/>
                  </a:rPr>
                  <a:t>                                              					</a:t>
                </a:r>
              </a:p>
              <a:p>
                <a:pPr lvl="1">
                  <a:lnSpc>
                    <a:spcPct val="150000"/>
                  </a:lnSpc>
                  <a:spcBef>
                    <a:spcPts val="1100"/>
                  </a:spcBef>
                  <a:buFontTx/>
                  <a:buNone/>
                </a:pPr>
                <a:r>
                  <a:rPr lang="en-US" altLang="en-US" sz="2000" dirty="0">
                    <a:cs typeface="Times New Roman" panose="02020603050405020304" pitchFamily="18" charset="0"/>
                    <a:sym typeface="Symbol" pitchFamily="2" charset="2"/>
                  </a:rPr>
                  <a:t>	Where, </a:t>
                </a:r>
                <a:r>
                  <a:rPr lang="en-US" altLang="en-US" sz="2000" dirty="0">
                    <a:cs typeface="Times New Roman" panose="02020603050405020304" pitchFamily="18" charset="0"/>
                  </a:rPr>
                  <a:t>R </a:t>
                </a:r>
                <a:r>
                  <a:rPr lang="en-US" altLang="en-US" sz="2000" baseline="-25000" dirty="0" err="1">
                    <a:cs typeface="Times New Roman" panose="02020603050405020304" pitchFamily="18" charset="0"/>
                    <a:sym typeface="Symbol" pitchFamily="2" charset="2"/>
                  </a:rPr>
                  <a:t>i</a:t>
                </a:r>
                <a:r>
                  <a:rPr lang="en-US" altLang="en-US" sz="2000" baseline="-25000" dirty="0">
                    <a:cs typeface="Times New Roman" panose="02020603050405020304" pitchFamily="18" charset="0"/>
                    <a:sym typeface="Symbol" pitchFamily="2" charset="2"/>
                  </a:rPr>
                  <a:t> </a:t>
                </a:r>
                <a:r>
                  <a:rPr lang="en-US" altLang="en-US" sz="2000" dirty="0">
                    <a:cs typeface="Times New Roman" panose="02020603050405020304" pitchFamily="18" charset="0"/>
                    <a:sym typeface="Symbol" pitchFamily="2" charset="2"/>
                  </a:rPr>
                  <a:t>is a return of asset </a:t>
                </a:r>
                <a:r>
                  <a:rPr lang="en-US" altLang="en-US" sz="2000" dirty="0" err="1">
                    <a:cs typeface="Times New Roman" panose="02020603050405020304" pitchFamily="18" charset="0"/>
                    <a:sym typeface="Symbol" pitchFamily="2" charset="2"/>
                  </a:rPr>
                  <a:t>i</a:t>
                </a:r>
                <a:r>
                  <a:rPr lang="en-US" altLang="en-US" sz="2000" dirty="0">
                    <a:cs typeface="Times New Roman" panose="02020603050405020304" pitchFamily="18" charset="0"/>
                    <a:sym typeface="Symbol" pitchFamily="2" charset="2"/>
                  </a:rPr>
                  <a:t> over a certain period,  </a:t>
                </a:r>
                <a:r>
                  <a:rPr lang="en-US" altLang="en-US" sz="2000" baseline="-25000" dirty="0" err="1">
                    <a:cs typeface="Times New Roman" panose="02020603050405020304" pitchFamily="18" charset="0"/>
                    <a:sym typeface="Symbol" pitchFamily="2" charset="2"/>
                  </a:rPr>
                  <a:t>i</a:t>
                </a:r>
                <a:r>
                  <a:rPr lang="en-US" altLang="en-US" sz="2000" dirty="0">
                    <a:cs typeface="Times New Roman" panose="02020603050405020304" pitchFamily="18" charset="0"/>
                    <a:sym typeface="Symbol" pitchFamily="2" charset="2"/>
                  </a:rPr>
                  <a:t> is the intercept term showing the rate of return independent of the market movement,  </a:t>
                </a:r>
                <a:r>
                  <a:rPr lang="en-US" altLang="en-US" sz="2000" baseline="-25000" dirty="0" err="1">
                    <a:cs typeface="Times New Roman" panose="02020603050405020304" pitchFamily="18" charset="0"/>
                    <a:sym typeface="Symbol" pitchFamily="2" charset="2"/>
                  </a:rPr>
                  <a:t>i</a:t>
                </a:r>
                <a:r>
                  <a:rPr lang="en-US" altLang="en-US" sz="2000" dirty="0">
                    <a:cs typeface="Times New Roman" panose="02020603050405020304" pitchFamily="18" charset="0"/>
                    <a:sym typeface="Symbol" pitchFamily="2" charset="2"/>
                  </a:rPr>
                  <a:t> is a slope term measuring sensitivity of asset </a:t>
                </a:r>
                <a:r>
                  <a:rPr lang="en-US" altLang="en-US" sz="2000" dirty="0" err="1">
                    <a:cs typeface="Times New Roman" panose="02020603050405020304" pitchFamily="18" charset="0"/>
                    <a:sym typeface="Symbol" pitchFamily="2" charset="2"/>
                  </a:rPr>
                  <a:t>i</a:t>
                </a:r>
                <a:r>
                  <a:rPr lang="en-US" altLang="en-US" sz="2000" dirty="0">
                    <a:cs typeface="Times New Roman" panose="02020603050405020304" pitchFamily="18" charset="0"/>
                    <a:sym typeface="Symbol" pitchFamily="2" charset="2"/>
                  </a:rPr>
                  <a:t>  returns to market returns R</a:t>
                </a:r>
                <a:r>
                  <a:rPr lang="en-US" altLang="en-US" sz="2000" baseline="-25000" dirty="0">
                    <a:cs typeface="Times New Roman" panose="02020603050405020304" pitchFamily="18" charset="0"/>
                    <a:sym typeface="Symbol" pitchFamily="2" charset="2"/>
                  </a:rPr>
                  <a:t>m </a:t>
                </a:r>
                <a:r>
                  <a:rPr lang="en-US" altLang="en-US" sz="2000" dirty="0">
                    <a:cs typeface="Times New Roman" panose="02020603050405020304" pitchFamily="18" charset="0"/>
                    <a:sym typeface="Symbol" pitchFamily="2" charset="2"/>
                  </a:rPr>
                  <a:t>and </a:t>
                </a:r>
                <a:r>
                  <a:rPr lang="en-US" altLang="en-US" sz="2000" baseline="-25000" dirty="0" err="1">
                    <a:cs typeface="Times New Roman" panose="02020603050405020304" pitchFamily="18" charset="0"/>
                    <a:sym typeface="Symbol" pitchFamily="2" charset="2"/>
                  </a:rPr>
                  <a:t>i</a:t>
                </a:r>
                <a:r>
                  <a:rPr lang="en-US" altLang="en-US" sz="2000" dirty="0">
                    <a:cs typeface="Times New Roman" panose="02020603050405020304" pitchFamily="18" charset="0"/>
                    <a:sym typeface="Symbol" pitchFamily="2" charset="2"/>
                  </a:rPr>
                  <a:t> is the random error term representing the deviation of  R</a:t>
                </a:r>
                <a:r>
                  <a:rPr lang="en-US" altLang="en-US" sz="2000" dirty="0">
                    <a:cs typeface="Times New Roman" panose="02020603050405020304" pitchFamily="18" charset="0"/>
                  </a:rPr>
                  <a:t> </a:t>
                </a:r>
                <a:r>
                  <a:rPr lang="en-US" altLang="en-US" sz="2000" baseline="-25000" dirty="0" err="1">
                    <a:cs typeface="Times New Roman" panose="02020603050405020304" pitchFamily="18" charset="0"/>
                    <a:sym typeface="Symbol" pitchFamily="2" charset="2"/>
                  </a:rPr>
                  <a:t>i</a:t>
                </a:r>
                <a:r>
                  <a:rPr lang="en-US" altLang="en-US" sz="2000" baseline="-25000" dirty="0">
                    <a:cs typeface="Times New Roman" panose="02020603050405020304" pitchFamily="18" charset="0"/>
                    <a:sym typeface="Symbol" pitchFamily="2" charset="2"/>
                  </a:rPr>
                  <a:t> </a:t>
                </a:r>
                <a:r>
                  <a:rPr lang="en-US" altLang="en-US" sz="2000" dirty="0">
                    <a:cs typeface="Times New Roman" panose="02020603050405020304" pitchFamily="18" charset="0"/>
                    <a:sym typeface="Symbol" pitchFamily="2" charset="2"/>
                  </a:rPr>
                  <a:t> from the return that is predicted by the model, i.e. error term indicates company specific (unsystematic risk).</a:t>
                </a:r>
              </a:p>
              <a:p>
                <a:pPr lvl="1">
                  <a:lnSpc>
                    <a:spcPct val="150000"/>
                  </a:lnSpc>
                  <a:spcBef>
                    <a:spcPts val="1100"/>
                  </a:spcBef>
                  <a:buFontTx/>
                  <a:buNone/>
                </a:pPr>
                <a:r>
                  <a:rPr lang="en-US" altLang="en-US" sz="2000" dirty="0">
                    <a:cs typeface="Times New Roman" panose="02020603050405020304" pitchFamily="18" charset="0"/>
                    <a:sym typeface="Symbol" pitchFamily="2" charset="2"/>
                  </a:rPr>
                  <a:t>Note, beta of portfolio is: </a:t>
                </a:r>
                <a14:m>
                  <m:oMath xmlns:m="http://schemas.openxmlformats.org/officeDocument/2006/math">
                    <m:sSub>
                      <m:sSubPr>
                        <m:ctrlPr>
                          <a:rPr lang="en-US" altLang="en-US" sz="2000" i="1" smtClean="0">
                            <a:latin typeface="Cambria Math" panose="02040503050406030204" pitchFamily="18" charset="0"/>
                            <a:ea typeface="Cambria Math" panose="02040503050406030204" pitchFamily="18" charset="0"/>
                            <a:cs typeface="Times New Roman" panose="02020603050405020304" pitchFamily="18" charset="0"/>
                            <a:sym typeface="Symbol" pitchFamily="2" charset="2"/>
                          </a:rPr>
                        </m:ctrlPr>
                      </m:sSubPr>
                      <m:e>
                        <m:r>
                          <a:rPr lang="en-US" altLang="en-US" sz="2000" i="1" smtClean="0">
                            <a:latin typeface="Cambria Math" panose="02040503050406030204" pitchFamily="18" charset="0"/>
                            <a:ea typeface="Cambria Math" panose="02040503050406030204" pitchFamily="18" charset="0"/>
                            <a:cs typeface="Times New Roman" panose="02020603050405020304" pitchFamily="18" charset="0"/>
                            <a:sym typeface="Symbol" pitchFamily="2" charset="2"/>
                          </a:rPr>
                          <m:t>𝛽</m:t>
                        </m:r>
                      </m:e>
                      <m:sub>
                        <m:r>
                          <a:rPr lang="en-GB" altLang="en-US" sz="2000" b="0" i="1" smtClean="0">
                            <a:latin typeface="Cambria Math" panose="02040503050406030204" pitchFamily="18" charset="0"/>
                            <a:cs typeface="Times New Roman" panose="02020603050405020304" pitchFamily="18" charset="0"/>
                            <a:sym typeface="Symbol" pitchFamily="2" charset="2"/>
                          </a:rPr>
                          <m:t>𝑝</m:t>
                        </m:r>
                      </m:sub>
                    </m:sSub>
                    <m:r>
                      <a:rPr lang="en-GB" altLang="en-US" sz="2000" b="0" i="1" smtClean="0">
                        <a:latin typeface="Cambria Math" panose="02040503050406030204" pitchFamily="18" charset="0"/>
                        <a:cs typeface="Times New Roman" panose="02020603050405020304" pitchFamily="18" charset="0"/>
                        <a:sym typeface="Symbol" pitchFamily="2" charset="2"/>
                      </a:rPr>
                      <m:t>=</m:t>
                    </m:r>
                    <m:nary>
                      <m:naryPr>
                        <m:chr m:val="∑"/>
                        <m:ctrlPr>
                          <a:rPr lang="en-GB" altLang="en-US" sz="2000" b="0" i="1" smtClean="0">
                            <a:latin typeface="Cambria Math" panose="02040503050406030204" pitchFamily="18" charset="0"/>
                            <a:cs typeface="Times New Roman" panose="02020603050405020304" pitchFamily="18" charset="0"/>
                            <a:sym typeface="Symbol" pitchFamily="2" charset="2"/>
                          </a:rPr>
                        </m:ctrlPr>
                      </m:naryPr>
                      <m:sub>
                        <m:r>
                          <m:rPr>
                            <m:brk m:alnAt="23"/>
                          </m:rPr>
                          <a:rPr lang="en-GB" altLang="en-US" sz="2000" b="0" i="1" smtClean="0">
                            <a:latin typeface="Cambria Math" panose="02040503050406030204" pitchFamily="18" charset="0"/>
                            <a:cs typeface="Times New Roman" panose="02020603050405020304" pitchFamily="18" charset="0"/>
                            <a:sym typeface="Symbol" pitchFamily="2" charset="2"/>
                          </a:rPr>
                          <m:t>𝑖</m:t>
                        </m:r>
                        <m:r>
                          <a:rPr lang="en-GB" altLang="en-US" sz="2000" b="0" i="1" smtClean="0">
                            <a:latin typeface="Cambria Math" panose="02040503050406030204" pitchFamily="18" charset="0"/>
                            <a:cs typeface="Times New Roman" panose="02020603050405020304" pitchFamily="18" charset="0"/>
                            <a:sym typeface="Symbol" pitchFamily="2" charset="2"/>
                          </a:rPr>
                          <m:t>=1</m:t>
                        </m:r>
                      </m:sub>
                      <m:sup>
                        <m:r>
                          <a:rPr lang="en-GB" altLang="en-US" sz="2000" b="0" i="1" smtClean="0">
                            <a:latin typeface="Cambria Math" panose="02040503050406030204" pitchFamily="18" charset="0"/>
                            <a:cs typeface="Times New Roman" panose="02020603050405020304" pitchFamily="18" charset="0"/>
                            <a:sym typeface="Symbol" pitchFamily="2" charset="2"/>
                          </a:rPr>
                          <m:t>𝑛</m:t>
                        </m:r>
                      </m:sup>
                      <m:e>
                        <m:sSub>
                          <m:sSubPr>
                            <m:ctrlPr>
                              <a:rPr lang="en-GB" altLang="en-US" sz="2000" b="0" i="1" smtClean="0">
                                <a:latin typeface="Cambria Math" panose="02040503050406030204" pitchFamily="18" charset="0"/>
                                <a:cs typeface="Times New Roman" panose="02020603050405020304" pitchFamily="18" charset="0"/>
                                <a:sym typeface="Symbol" pitchFamily="2" charset="2"/>
                              </a:rPr>
                            </m:ctrlPr>
                          </m:sSubPr>
                          <m:e>
                            <m:r>
                              <a:rPr lang="en-GB" altLang="en-US" sz="2000" b="0" i="1" smtClean="0">
                                <a:latin typeface="Cambria Math" panose="02040503050406030204" pitchFamily="18" charset="0"/>
                                <a:cs typeface="Times New Roman" panose="02020603050405020304" pitchFamily="18" charset="0"/>
                                <a:sym typeface="Symbol" pitchFamily="2" charset="2"/>
                              </a:rPr>
                              <m:t>𝑤</m:t>
                            </m:r>
                          </m:e>
                          <m:sub>
                            <m:r>
                              <a:rPr lang="en-GB" altLang="en-US" sz="2000" b="0" i="1" smtClean="0">
                                <a:latin typeface="Cambria Math" panose="02040503050406030204" pitchFamily="18" charset="0"/>
                                <a:cs typeface="Times New Roman" panose="02020603050405020304" pitchFamily="18" charset="0"/>
                                <a:sym typeface="Symbol" pitchFamily="2" charset="2"/>
                              </a:rPr>
                              <m:t>𝑖</m:t>
                            </m:r>
                          </m:sub>
                        </m:sSub>
                        <m:sSub>
                          <m:sSubPr>
                            <m:ctrlPr>
                              <a:rPr lang="en-GB" altLang="en-US" sz="2000" b="0" i="1" smtClean="0">
                                <a:latin typeface="Cambria Math" panose="02040503050406030204" pitchFamily="18" charset="0"/>
                                <a:ea typeface="Cambria Math" panose="02040503050406030204" pitchFamily="18" charset="0"/>
                                <a:cs typeface="Times New Roman" panose="02020603050405020304" pitchFamily="18" charset="0"/>
                                <a:sym typeface="Symbol" pitchFamily="2" charset="2"/>
                              </a:rPr>
                            </m:ctrlPr>
                          </m:sSubPr>
                          <m:e>
                            <m:r>
                              <a:rPr lang="en-GB" altLang="en-US" sz="2000" b="0" i="1" smtClean="0">
                                <a:latin typeface="Cambria Math" panose="02040503050406030204" pitchFamily="18" charset="0"/>
                                <a:ea typeface="Cambria Math" panose="02040503050406030204" pitchFamily="18" charset="0"/>
                                <a:cs typeface="Times New Roman" panose="02020603050405020304" pitchFamily="18" charset="0"/>
                                <a:sym typeface="Symbol" pitchFamily="2" charset="2"/>
                              </a:rPr>
                              <m:t>𝛽</m:t>
                            </m:r>
                          </m:e>
                          <m:sub>
                            <m:r>
                              <a:rPr lang="en-GB" altLang="en-US" sz="2000" b="0" i="1" smtClean="0">
                                <a:latin typeface="Cambria Math" panose="02040503050406030204" pitchFamily="18" charset="0"/>
                                <a:cs typeface="Times New Roman" panose="02020603050405020304" pitchFamily="18" charset="0"/>
                                <a:sym typeface="Symbol" pitchFamily="2" charset="2"/>
                              </a:rPr>
                              <m:t>𝑖</m:t>
                            </m:r>
                          </m:sub>
                        </m:sSub>
                      </m:e>
                    </m:nary>
                  </m:oMath>
                </a14:m>
                <a:endParaRPr lang="en-US" altLang="en-US" sz="2000" dirty="0">
                  <a:cs typeface="Times New Roman" panose="02020603050405020304" pitchFamily="18" charset="0"/>
                  <a:sym typeface="Symbol" pitchFamily="2" charset="2"/>
                </a:endParaRPr>
              </a:p>
            </p:txBody>
          </p:sp>
        </mc:Choice>
        <mc:Fallback xmlns="">
          <p:sp>
            <p:nvSpPr>
              <p:cNvPr id="7171" name="Rectangle 3">
                <a:extLst>
                  <a:ext uri="{FF2B5EF4-FFF2-40B4-BE49-F238E27FC236}">
                    <a16:creationId xmlns:a16="http://schemas.microsoft.com/office/drawing/2014/main" id="{8C0C7456-BBA4-1646-ADBE-510540B55B63}"/>
                  </a:ext>
                </a:extLst>
              </p:cNvPr>
              <p:cNvSpPr>
                <a:spLocks noGrp="1" noRot="1" noChangeAspect="1" noMove="1" noResize="1" noEditPoints="1" noAdjustHandles="1" noChangeArrowheads="1" noChangeShapeType="1" noTextEdit="1"/>
              </p:cNvSpPr>
              <p:nvPr>
                <p:ph idx="1"/>
              </p:nvPr>
            </p:nvSpPr>
            <p:spPr>
              <a:xfrm>
                <a:off x="437547" y="1153444"/>
                <a:ext cx="9497367" cy="5139853"/>
              </a:xfrm>
              <a:blipFill>
                <a:blip r:embed="rId3"/>
                <a:stretch>
                  <a:fillRect l="-801" b="-6897"/>
                </a:stretch>
              </a:blipFill>
            </p:spPr>
            <p:txBody>
              <a:bodyPr/>
              <a:lstStyle/>
              <a:p>
                <a:r>
                  <a:rPr lang="en-US">
                    <a:noFill/>
                  </a:rPr>
                  <a:t> </a:t>
                </a:r>
              </a:p>
            </p:txBody>
          </p:sp>
        </mc:Fallback>
      </mc:AlternateContent>
      <p:sp>
        <p:nvSpPr>
          <p:cNvPr id="2" name="Rectangle 2">
            <a:extLst>
              <a:ext uri="{FF2B5EF4-FFF2-40B4-BE49-F238E27FC236}">
                <a16:creationId xmlns:a16="http://schemas.microsoft.com/office/drawing/2014/main" id="{4D525852-C019-CA4C-99CD-DD9574F6C6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a:extLst>
              <a:ext uri="{FF2B5EF4-FFF2-40B4-BE49-F238E27FC236}">
                <a16:creationId xmlns:a16="http://schemas.microsoft.com/office/drawing/2014/main" id="{1A4CD459-C6F4-1745-9C69-3458C8350A4E}"/>
              </a:ext>
            </a:extLst>
          </p:cNvPr>
          <p:cNvGraphicFramePr>
            <a:graphicFrameLocks noChangeAspect="1"/>
          </p:cNvGraphicFramePr>
          <p:nvPr>
            <p:extLst>
              <p:ext uri="{D42A27DB-BD31-4B8C-83A1-F6EECF244321}">
                <p14:modId xmlns:p14="http://schemas.microsoft.com/office/powerpoint/2010/main" val="2861015551"/>
              </p:ext>
            </p:extLst>
          </p:nvPr>
        </p:nvGraphicFramePr>
        <p:xfrm>
          <a:off x="1637055" y="3145829"/>
          <a:ext cx="2263699" cy="417576"/>
        </p:xfrm>
        <a:graphic>
          <a:graphicData uri="http://schemas.openxmlformats.org/presentationml/2006/ole">
            <mc:AlternateContent xmlns:mc="http://schemas.openxmlformats.org/markup-compatibility/2006">
              <mc:Choice xmlns:v="urn:schemas-microsoft-com:vml" Requires="v">
                <p:oleObj r:id="rId4" imgW="1308100" imgH="241300" progId="Equation.3">
                  <p:embed/>
                </p:oleObj>
              </mc:Choice>
              <mc:Fallback>
                <p:oleObj r:id="rId4" imgW="1308100" imgH="241300" progId="Equation.3">
                  <p:embed/>
                  <p:pic>
                    <p:nvPicPr>
                      <p:cNvPr id="3" name="Object 2">
                        <a:extLst>
                          <a:ext uri="{FF2B5EF4-FFF2-40B4-BE49-F238E27FC236}">
                            <a16:creationId xmlns:a16="http://schemas.microsoft.com/office/drawing/2014/main" id="{1A4CD459-C6F4-1745-9C69-3458C8350A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7055" y="3145829"/>
                        <a:ext cx="2263699" cy="417576"/>
                      </a:xfrm>
                      <a:prstGeom prst="rect">
                        <a:avLst/>
                      </a:prstGeom>
                      <a:noFill/>
                      <a:ln>
                        <a:solidFill>
                          <a:srgbClr val="0070C0"/>
                        </a:solidFill>
                      </a:ln>
                    </p:spPr>
                  </p:pic>
                </p:oleObj>
              </mc:Fallback>
            </mc:AlternateContent>
          </a:graphicData>
        </a:graphic>
      </p:graphicFrame>
      <p:sp>
        <p:nvSpPr>
          <p:cNvPr id="4" name="Rectangle 5">
            <a:extLst>
              <a:ext uri="{FF2B5EF4-FFF2-40B4-BE49-F238E27FC236}">
                <a16:creationId xmlns:a16="http://schemas.microsoft.com/office/drawing/2014/main" id="{5C208C3C-7DDC-0548-A0D7-A4217EADF11F}"/>
              </a:ext>
            </a:extLst>
          </p:cNvPr>
          <p:cNvSpPr>
            <a:spLocks noChangeArrowheads="1"/>
          </p:cNvSpPr>
          <p:nvPr/>
        </p:nvSpPr>
        <p:spPr bwMode="auto">
          <a:xfrm>
            <a:off x="5100262" y="3546087"/>
            <a:ext cx="1861769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6" name="Rectangle 7">
            <a:extLst>
              <a:ext uri="{FF2B5EF4-FFF2-40B4-BE49-F238E27FC236}">
                <a16:creationId xmlns:a16="http://schemas.microsoft.com/office/drawing/2014/main" id="{2D780073-A83E-0040-9C7C-BBA66B350869}"/>
              </a:ext>
            </a:extLst>
          </p:cNvPr>
          <p:cNvSpPr>
            <a:spLocks noChangeArrowheads="1"/>
          </p:cNvSpPr>
          <p:nvPr/>
        </p:nvSpPr>
        <p:spPr bwMode="auto">
          <a:xfrm>
            <a:off x="-241300" y="4858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451457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3638A-07DE-5D62-AD56-4CAF94209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86E71-51F7-E2BC-18D2-6040C09B1EFB}"/>
              </a:ext>
            </a:extLst>
          </p:cNvPr>
          <p:cNvSpPr>
            <a:spLocks noGrp="1"/>
          </p:cNvSpPr>
          <p:nvPr>
            <p:ph type="title"/>
          </p:nvPr>
        </p:nvSpPr>
        <p:spPr/>
        <p:txBody>
          <a:bodyPr>
            <a:normAutofit/>
          </a:bodyPr>
          <a:lstStyle/>
          <a:p>
            <a:r>
              <a:rPr lang="en-US" sz="3200" dirty="0">
                <a:latin typeface="Arial" panose="020B0604020202020204" pitchFamily="34" charset="0"/>
                <a:cs typeface="Arial" panose="020B0604020202020204" pitchFamily="34" charset="0"/>
              </a:rPr>
              <a:t>Comparison of SIM vs. CAPM</a:t>
            </a:r>
          </a:p>
        </p:txBody>
      </p:sp>
      <p:sp>
        <p:nvSpPr>
          <p:cNvPr id="3" name="Content Placeholder 2">
            <a:extLst>
              <a:ext uri="{FF2B5EF4-FFF2-40B4-BE49-F238E27FC236}">
                <a16:creationId xmlns:a16="http://schemas.microsoft.com/office/drawing/2014/main" id="{F49DD41E-AB98-4F2F-6E9C-6F7D16568EA6}"/>
              </a:ext>
            </a:extLst>
          </p:cNvPr>
          <p:cNvSpPr>
            <a:spLocks noGrp="1"/>
          </p:cNvSpPr>
          <p:nvPr>
            <p:ph idx="1"/>
          </p:nvPr>
        </p:nvSpPr>
        <p:spPr>
          <a:xfrm>
            <a:off x="838200" y="1569308"/>
            <a:ext cx="10515600" cy="4607655"/>
          </a:xfrm>
        </p:spPr>
        <p:txBody>
          <a:bodyPr/>
          <a:lstStyle/>
          <a:p>
            <a:pPr marL="0" indent="0" algn="ctr">
              <a:lnSpc>
                <a:spcPct val="150000"/>
              </a:lnSpc>
              <a:buNone/>
            </a:pPr>
            <a:r>
              <a:rPr lang="en-GB" sz="2400" b="1" dirty="0">
                <a:solidFill>
                  <a:srgbClr val="0070C0"/>
                </a:solidFill>
                <a:latin typeface="Arial" panose="020B0604020202020204" pitchFamily="34" charset="0"/>
                <a:cs typeface="Arial" panose="020B0604020202020204" pitchFamily="34" charset="0"/>
              </a:rPr>
              <a:t>SIM </a:t>
            </a:r>
            <a:r>
              <a:rPr lang="en-GB" sz="2400" dirty="0">
                <a:solidFill>
                  <a:srgbClr val="0070C0"/>
                </a:solidFill>
                <a:latin typeface="Arial" panose="020B0604020202020204" pitchFamily="34" charset="0"/>
                <a:cs typeface="Arial" panose="020B0604020202020204" pitchFamily="34" charset="0"/>
              </a:rPr>
              <a:t>is primarily a statistical model of realised returns</a:t>
            </a:r>
            <a:br>
              <a:rPr lang="en-GB" sz="2400" dirty="0">
                <a:solidFill>
                  <a:srgbClr val="0070C0"/>
                </a:solidFill>
                <a:latin typeface="Arial" panose="020B0604020202020204" pitchFamily="34" charset="0"/>
                <a:cs typeface="Arial" panose="020B0604020202020204" pitchFamily="34" charset="0"/>
              </a:rPr>
            </a:br>
            <a:r>
              <a:rPr lang="en-GB" sz="2400" b="1" dirty="0">
                <a:solidFill>
                  <a:srgbClr val="0070C0"/>
                </a:solidFill>
                <a:latin typeface="Arial" panose="020B0604020202020204" pitchFamily="34" charset="0"/>
                <a:cs typeface="Arial" panose="020B0604020202020204" pitchFamily="34" charset="0"/>
              </a:rPr>
              <a:t>CAPM </a:t>
            </a:r>
            <a:r>
              <a:rPr lang="en-GB" sz="2400" dirty="0">
                <a:solidFill>
                  <a:srgbClr val="0070C0"/>
                </a:solidFill>
                <a:latin typeface="Arial" panose="020B0604020202020204" pitchFamily="34" charset="0"/>
                <a:cs typeface="Arial" panose="020B0604020202020204" pitchFamily="34" charset="0"/>
              </a:rPr>
              <a:t>is an equilibrium model of expected returns</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4EB908D-EA3C-7910-1B65-F439E6C7C59E}"/>
                  </a:ext>
                </a:extLst>
              </p:cNvPr>
              <p:cNvGraphicFramePr>
                <a:graphicFrameLocks noGrp="1"/>
              </p:cNvGraphicFramePr>
              <p:nvPr>
                <p:extLst>
                  <p:ext uri="{D42A27DB-BD31-4B8C-83A1-F6EECF244321}">
                    <p14:modId xmlns:p14="http://schemas.microsoft.com/office/powerpoint/2010/main" val="4038765082"/>
                  </p:ext>
                </p:extLst>
              </p:nvPr>
            </p:nvGraphicFramePr>
            <p:xfrm>
              <a:off x="838200" y="2883217"/>
              <a:ext cx="10515600" cy="2423732"/>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662297158"/>
                        </a:ext>
                      </a:extLst>
                    </a:gridCol>
                    <a:gridCol w="5257800">
                      <a:extLst>
                        <a:ext uri="{9D8B030D-6E8A-4147-A177-3AD203B41FA5}">
                          <a16:colId xmlns:a16="http://schemas.microsoft.com/office/drawing/2014/main" val="1754464897"/>
                        </a:ext>
                      </a:extLst>
                    </a:gridCol>
                  </a:tblGrid>
                  <a:tr h="0">
                    <a:tc>
                      <a:txBody>
                        <a:bodyPr/>
                        <a:lstStyle/>
                        <a:p>
                          <a:pPr algn="l">
                            <a:buNone/>
                          </a:pPr>
                          <a:r>
                            <a:rPr lang="en-GB" sz="2000" b="1" dirty="0">
                              <a:solidFill>
                                <a:srgbClr val="0070C0"/>
                              </a:solidFill>
                              <a:effectLst/>
                            </a:rPr>
                            <a:t>Single Index Model</a:t>
                          </a:r>
                          <a:endParaRPr lang="en-GB" sz="2000" b="1" i="0"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a:buNone/>
                          </a:pPr>
                          <a:r>
                            <a:rPr lang="en-GB" sz="2000" b="1" dirty="0">
                              <a:solidFill>
                                <a:srgbClr val="0070C0"/>
                              </a:solidFill>
                              <a:effectLst/>
                            </a:rPr>
                            <a:t>CAPM</a:t>
                          </a:r>
                          <a:endParaRPr lang="en-GB" sz="2000" b="1" i="0"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02400362"/>
                      </a:ext>
                    </a:extLst>
                  </a:tr>
                  <a:tr h="0">
                    <a:tc>
                      <a:txBody>
                        <a:bodyPr/>
                        <a:lstStyle/>
                        <a:p>
                          <a:pPr algn="l">
                            <a:buNone/>
                          </a:pPr>
                          <a14:m>
                            <m:oMathPara xmlns:m="http://schemas.openxmlformats.org/officeDocument/2006/math">
                              <m:oMathParaPr>
                                <m:jc m:val="left"/>
                              </m:oMathParaPr>
                              <m:oMath xmlns:m="http://schemas.openxmlformats.org/officeDocument/2006/math">
                                <m:sSub>
                                  <m:sSubPr>
                                    <m:ctrlPr>
                                      <a:rPr lang="en-GB" sz="2000" i="1">
                                        <a:latin typeface="Cambria Math" panose="02040503050406030204" pitchFamily="18" charset="0"/>
                                      </a:rPr>
                                    </m:ctrlPr>
                                  </m:sSubPr>
                                  <m:e>
                                    <m:r>
                                      <a:rPr lang="en-GB" sz="2000">
                                        <a:latin typeface="Cambria Math" panose="02040503050406030204" pitchFamily="18" charset="0"/>
                                      </a:rPr>
                                      <m:t>𝑅</m:t>
                                    </m:r>
                                  </m:e>
                                  <m:sub>
                                    <m:r>
                                      <a:rPr lang="en-GB" sz="2000">
                                        <a:latin typeface="Cambria Math" panose="02040503050406030204" pitchFamily="18" charset="0"/>
                                      </a:rPr>
                                      <m:t>𝑖</m:t>
                                    </m:r>
                                  </m:sub>
                                </m:sSub>
                                <m:r>
                                  <a:rPr lang="en-GB" sz="2000">
                                    <a:latin typeface="Cambria Math" panose="02040503050406030204" pitchFamily="18" charset="0"/>
                                  </a:rPr>
                                  <m:t>=</m:t>
                                </m:r>
                                <m:sSub>
                                  <m:sSubPr>
                                    <m:ctrlPr>
                                      <a:rPr lang="en-GB" sz="2000" i="1">
                                        <a:latin typeface="Cambria Math" panose="02040503050406030204" pitchFamily="18" charset="0"/>
                                      </a:rPr>
                                    </m:ctrlPr>
                                  </m:sSubPr>
                                  <m:e>
                                    <m:r>
                                      <a:rPr lang="en-GB" sz="2000">
                                        <a:latin typeface="Cambria Math" panose="02040503050406030204" pitchFamily="18" charset="0"/>
                                      </a:rPr>
                                      <m:t>𝛼</m:t>
                                    </m:r>
                                  </m:e>
                                  <m:sub>
                                    <m:r>
                                      <a:rPr lang="en-GB" sz="2000">
                                        <a:latin typeface="Cambria Math" panose="02040503050406030204" pitchFamily="18" charset="0"/>
                                      </a:rPr>
                                      <m:t>𝑖</m:t>
                                    </m:r>
                                  </m:sub>
                                </m:sSub>
                                <m:r>
                                  <a:rPr lang="en-GB" sz="2000">
                                    <a:latin typeface="Cambria Math" panose="02040503050406030204" pitchFamily="18" charset="0"/>
                                  </a:rPr>
                                  <m:t>+</m:t>
                                </m:r>
                                <m:sSub>
                                  <m:sSubPr>
                                    <m:ctrlPr>
                                      <a:rPr lang="en-GB" sz="2000" i="1">
                                        <a:latin typeface="Cambria Math" panose="02040503050406030204" pitchFamily="18" charset="0"/>
                                      </a:rPr>
                                    </m:ctrlPr>
                                  </m:sSubPr>
                                  <m:e>
                                    <m:r>
                                      <a:rPr lang="en-GB" sz="2000">
                                        <a:latin typeface="Cambria Math" panose="02040503050406030204" pitchFamily="18" charset="0"/>
                                      </a:rPr>
                                      <m:t>𝛽</m:t>
                                    </m:r>
                                  </m:e>
                                  <m:sub>
                                    <m:r>
                                      <a:rPr lang="en-GB" sz="2000">
                                        <a:latin typeface="Cambria Math" panose="02040503050406030204" pitchFamily="18" charset="0"/>
                                      </a:rPr>
                                      <m:t>𝑖</m:t>
                                    </m:r>
                                  </m:sub>
                                </m:sSub>
                                <m:sSub>
                                  <m:sSubPr>
                                    <m:ctrlPr>
                                      <a:rPr lang="en-GB" sz="2000" i="1">
                                        <a:latin typeface="Cambria Math" panose="02040503050406030204" pitchFamily="18" charset="0"/>
                                      </a:rPr>
                                    </m:ctrlPr>
                                  </m:sSubPr>
                                  <m:e>
                                    <m:r>
                                      <a:rPr lang="en-GB" sz="2000">
                                        <a:latin typeface="Cambria Math" panose="02040503050406030204" pitchFamily="18" charset="0"/>
                                      </a:rPr>
                                      <m:t>𝑅</m:t>
                                    </m:r>
                                  </m:e>
                                  <m:sub>
                                    <m:r>
                                      <a:rPr lang="en-GB" sz="2000">
                                        <a:latin typeface="Cambria Math" panose="02040503050406030204" pitchFamily="18" charset="0"/>
                                      </a:rPr>
                                      <m:t>𝑀</m:t>
                                    </m:r>
                                  </m:sub>
                                </m:sSub>
                                <m:r>
                                  <a:rPr lang="en-GB" sz="2000">
                                    <a:latin typeface="Cambria Math" panose="02040503050406030204" pitchFamily="18" charset="0"/>
                                  </a:rPr>
                                  <m:t>+</m:t>
                                </m:r>
                                <m:sSub>
                                  <m:sSubPr>
                                    <m:ctrlPr>
                                      <a:rPr lang="en-GB" sz="2000" i="1">
                                        <a:latin typeface="Cambria Math" panose="02040503050406030204" pitchFamily="18" charset="0"/>
                                      </a:rPr>
                                    </m:ctrlPr>
                                  </m:sSubPr>
                                  <m:e>
                                    <m:r>
                                      <a:rPr lang="en-GB" sz="2000">
                                        <a:latin typeface="Cambria Math" panose="02040503050406030204" pitchFamily="18" charset="0"/>
                                      </a:rPr>
                                      <m:t>𝜀</m:t>
                                    </m:r>
                                  </m:e>
                                  <m:sub>
                                    <m:r>
                                      <a:rPr lang="en-GB" sz="2000">
                                        <a:latin typeface="Cambria Math" panose="02040503050406030204" pitchFamily="18" charset="0"/>
                                      </a:rPr>
                                      <m:t>𝑖</m:t>
                                    </m:r>
                                  </m:sub>
                                </m:sSub>
                              </m:oMath>
                            </m:oMathPara>
                          </a14:m>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buNone/>
                          </a:pPr>
                          <a14:m>
                            <m:oMathPara xmlns:m="http://schemas.openxmlformats.org/officeDocument/2006/math">
                              <m:oMathParaPr>
                                <m:jc m:val="left"/>
                              </m:oMathParaPr>
                              <m:oMath xmlns:m="http://schemas.openxmlformats.org/officeDocument/2006/math">
                                <m:r>
                                  <a:rPr lang="en-GB" sz="2000" smtClean="0">
                                    <a:latin typeface="Cambria Math" panose="02040503050406030204" pitchFamily="18" charset="0"/>
                                  </a:rPr>
                                  <m:t>𝐸</m:t>
                                </m:r>
                                <m:d>
                                  <m:dPr>
                                    <m:ctrlPr>
                                      <a:rPr lang="en-GB" sz="2000" i="1">
                                        <a:latin typeface="Cambria Math" panose="02040503050406030204" pitchFamily="18" charset="0"/>
                                      </a:rPr>
                                    </m:ctrlPr>
                                  </m:dPr>
                                  <m:e>
                                    <m:sSub>
                                      <m:sSubPr>
                                        <m:ctrlPr>
                                          <a:rPr lang="en-GB" sz="2000" i="1">
                                            <a:latin typeface="Cambria Math" panose="02040503050406030204" pitchFamily="18" charset="0"/>
                                          </a:rPr>
                                        </m:ctrlPr>
                                      </m:sSubPr>
                                      <m:e>
                                        <m:r>
                                          <a:rPr lang="en-GB" sz="2000">
                                            <a:latin typeface="Cambria Math" panose="02040503050406030204" pitchFamily="18" charset="0"/>
                                          </a:rPr>
                                          <m:t>𝑅</m:t>
                                        </m:r>
                                      </m:e>
                                      <m:sub>
                                        <m:r>
                                          <a:rPr lang="en-GB" sz="2000">
                                            <a:latin typeface="Cambria Math" panose="02040503050406030204" pitchFamily="18" charset="0"/>
                                          </a:rPr>
                                          <m:t>𝑖</m:t>
                                        </m:r>
                                      </m:sub>
                                    </m:sSub>
                                  </m:e>
                                </m:d>
                                <m:r>
                                  <a:rPr lang="en-GB" sz="2000" b="0" i="0" smtClean="0">
                                    <a:latin typeface="Cambria Math" panose="02040503050406030204" pitchFamily="18" charset="0"/>
                                  </a:rPr>
                                  <m:t>−</m:t>
                                </m:r>
                                <m:sSub>
                                  <m:sSubPr>
                                    <m:ctrlPr>
                                      <a:rPr lang="en-GB" sz="2000" i="1">
                                        <a:latin typeface="Cambria Math" panose="02040503050406030204" pitchFamily="18" charset="0"/>
                                      </a:rPr>
                                    </m:ctrlPr>
                                  </m:sSubPr>
                                  <m:e>
                                    <m:r>
                                      <a:rPr lang="en-GB" sz="2000">
                                        <a:latin typeface="Cambria Math" panose="02040503050406030204" pitchFamily="18" charset="0"/>
                                      </a:rPr>
                                      <m:t>𝑅</m:t>
                                    </m:r>
                                  </m:e>
                                  <m:sub>
                                    <m:r>
                                      <a:rPr lang="en-GB" sz="2000">
                                        <a:latin typeface="Cambria Math" panose="02040503050406030204" pitchFamily="18" charset="0"/>
                                      </a:rPr>
                                      <m:t>𝑓</m:t>
                                    </m:r>
                                  </m:sub>
                                </m:sSub>
                                <m:r>
                                  <a:rPr lang="en-GB" sz="2000" b="0" i="0" smtClean="0">
                                    <a:latin typeface="Cambria Math" panose="02040503050406030204" pitchFamily="18" charset="0"/>
                                  </a:rPr>
                                  <m:t>=</m:t>
                                </m:r>
                                <m:sSub>
                                  <m:sSubPr>
                                    <m:ctrlPr>
                                      <a:rPr lang="en-GB" sz="2000" i="1">
                                        <a:latin typeface="Cambria Math" panose="02040503050406030204" pitchFamily="18" charset="0"/>
                                      </a:rPr>
                                    </m:ctrlPr>
                                  </m:sSubPr>
                                  <m:e>
                                    <m:r>
                                      <a:rPr lang="en-GB" sz="2000">
                                        <a:latin typeface="Cambria Math" panose="02040503050406030204" pitchFamily="18" charset="0"/>
                                      </a:rPr>
                                      <m:t>𝛽</m:t>
                                    </m:r>
                                  </m:e>
                                  <m:sub>
                                    <m:r>
                                      <a:rPr lang="en-GB" sz="2000">
                                        <a:latin typeface="Cambria Math" panose="02040503050406030204" pitchFamily="18" charset="0"/>
                                      </a:rPr>
                                      <m:t>𝑖</m:t>
                                    </m:r>
                                  </m:sub>
                                </m:sSub>
                                <m:d>
                                  <m:dPr>
                                    <m:begChr m:val="["/>
                                    <m:endChr m:val="]"/>
                                    <m:ctrlPr>
                                      <a:rPr lang="en-GB" sz="2000" i="1">
                                        <a:latin typeface="Cambria Math" panose="02040503050406030204" pitchFamily="18" charset="0"/>
                                      </a:rPr>
                                    </m:ctrlPr>
                                  </m:dPr>
                                  <m:e>
                                    <m:r>
                                      <a:rPr lang="en-GB" sz="2000">
                                        <a:latin typeface="Cambria Math" panose="02040503050406030204" pitchFamily="18" charset="0"/>
                                      </a:rPr>
                                      <m:t>𝐸</m:t>
                                    </m:r>
                                    <m:d>
                                      <m:dPr>
                                        <m:ctrlPr>
                                          <a:rPr lang="en-GB" sz="2000" i="1">
                                            <a:latin typeface="Cambria Math" panose="02040503050406030204" pitchFamily="18" charset="0"/>
                                          </a:rPr>
                                        </m:ctrlPr>
                                      </m:dPr>
                                      <m:e>
                                        <m:sSub>
                                          <m:sSubPr>
                                            <m:ctrlPr>
                                              <a:rPr lang="en-GB" sz="2000" i="1">
                                                <a:latin typeface="Cambria Math" panose="02040503050406030204" pitchFamily="18" charset="0"/>
                                              </a:rPr>
                                            </m:ctrlPr>
                                          </m:sSubPr>
                                          <m:e>
                                            <m:r>
                                              <a:rPr lang="en-GB" sz="2000">
                                                <a:latin typeface="Cambria Math" panose="02040503050406030204" pitchFamily="18" charset="0"/>
                                              </a:rPr>
                                              <m:t>𝑅</m:t>
                                            </m:r>
                                          </m:e>
                                          <m:sub>
                                            <m:r>
                                              <a:rPr lang="en-GB" sz="2000">
                                                <a:latin typeface="Cambria Math" panose="02040503050406030204" pitchFamily="18" charset="0"/>
                                              </a:rPr>
                                              <m:t>𝑀</m:t>
                                            </m:r>
                                          </m:sub>
                                        </m:sSub>
                                      </m:e>
                                    </m:d>
                                    <m:r>
                                      <a:rPr lang="en-GB" sz="2000">
                                        <a:latin typeface="Cambria Math" panose="02040503050406030204" pitchFamily="18" charset="0"/>
                                      </a:rPr>
                                      <m:t>−</m:t>
                                    </m:r>
                                    <m:sSub>
                                      <m:sSubPr>
                                        <m:ctrlPr>
                                          <a:rPr lang="en-GB" sz="2000" i="1">
                                            <a:latin typeface="Cambria Math" panose="02040503050406030204" pitchFamily="18" charset="0"/>
                                          </a:rPr>
                                        </m:ctrlPr>
                                      </m:sSubPr>
                                      <m:e>
                                        <m:r>
                                          <a:rPr lang="en-GB" sz="2000">
                                            <a:latin typeface="Cambria Math" panose="02040503050406030204" pitchFamily="18" charset="0"/>
                                          </a:rPr>
                                          <m:t>𝑅</m:t>
                                        </m:r>
                                      </m:e>
                                      <m:sub>
                                        <m:r>
                                          <a:rPr lang="en-GB" sz="2000">
                                            <a:latin typeface="Cambria Math" panose="02040503050406030204" pitchFamily="18" charset="0"/>
                                          </a:rPr>
                                          <m:t>𝑓</m:t>
                                        </m:r>
                                      </m:sub>
                                    </m:sSub>
                                  </m:e>
                                </m:d>
                              </m:oMath>
                            </m:oMathPara>
                          </a14:m>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45174602"/>
                      </a:ext>
                    </a:extLst>
                  </a:tr>
                  <a:tr h="0">
                    <a:tc>
                      <a:txBody>
                        <a:bodyPr/>
                        <a:lstStyle/>
                        <a:p>
                          <a:pPr algn="l">
                            <a:buNone/>
                          </a:pPr>
                          <a:r>
                            <a:rPr lang="en-GB" sz="2000" dirty="0">
                              <a:effectLst/>
                            </a:rPr>
                            <a:t>Explains movements in returns</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buNone/>
                          </a:pPr>
                          <a:r>
                            <a:rPr lang="en-GB" sz="2000" dirty="0">
                              <a:effectLst/>
                            </a:rPr>
                            <a:t>Determines required/expected return</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98592276"/>
                      </a:ext>
                    </a:extLst>
                  </a:tr>
                  <a:tr h="0">
                    <a:tc>
                      <a:txBody>
                        <a:bodyPr/>
                        <a:lstStyle/>
                        <a:p>
                          <a:pPr algn="l">
                            <a:buNone/>
                          </a:pPr>
                          <a:r>
                            <a:rPr lang="en-GB" sz="2000" dirty="0">
                              <a:effectLst/>
                            </a:rPr>
                            <a:t>Beta measures sensitivity to the market</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buNone/>
                          </a:pPr>
                          <a:r>
                            <a:rPr lang="en-GB" sz="2000" dirty="0">
                              <a:effectLst/>
                            </a:rPr>
                            <a:t>Beta determines the security risk premium</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25365205"/>
                      </a:ext>
                    </a:extLst>
                  </a:tr>
                  <a:tr h="0">
                    <a:tc>
                      <a:txBody>
                        <a:bodyPr/>
                        <a:lstStyle/>
                        <a:p>
                          <a:pPr algn="l">
                            <a:buNone/>
                          </a:pPr>
                          <a:r>
                            <a:rPr lang="en-GB" sz="2000" dirty="0">
                              <a:effectLst/>
                            </a:rPr>
                            <a:t>Includes firm-specific risk </a:t>
                          </a:r>
                          <a14:m>
                            <m:oMath xmlns:m="http://schemas.openxmlformats.org/officeDocument/2006/math">
                              <m:sSub>
                                <m:sSubPr>
                                  <m:ctrlPr>
                                    <a:rPr lang="en-GB" sz="2000" i="1">
                                      <a:latin typeface="Cambria Math" panose="02040503050406030204" pitchFamily="18" charset="0"/>
                                    </a:rPr>
                                  </m:ctrlPr>
                                </m:sSubPr>
                                <m:e>
                                  <m:r>
                                    <a:rPr lang="en-GB" sz="2000">
                                      <a:latin typeface="Cambria Math" panose="02040503050406030204" pitchFamily="18" charset="0"/>
                                    </a:rPr>
                                    <m:t>𝜀</m:t>
                                  </m:r>
                                </m:e>
                                <m:sub>
                                  <m:r>
                                    <a:rPr lang="en-GB" sz="2000">
                                      <a:latin typeface="Cambria Math" panose="02040503050406030204" pitchFamily="18" charset="0"/>
                                    </a:rPr>
                                    <m:t>𝑖</m:t>
                                  </m:r>
                                </m:sub>
                              </m:sSub>
                            </m:oMath>
                          </a14:m>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buNone/>
                          </a:pPr>
                          <a:r>
                            <a:rPr lang="en-GB" sz="2000" dirty="0">
                              <a:effectLst/>
                            </a:rPr>
                            <a:t>Firm-specific risk is not rewarded</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76274326"/>
                      </a:ext>
                    </a:extLst>
                  </a:tr>
                  <a:tr h="0">
                    <a:tc>
                      <a:txBody>
                        <a:bodyPr/>
                        <a:lstStyle/>
                        <a:p>
                          <a:pPr algn="l">
                            <a:buNone/>
                          </a:pPr>
                          <a:r>
                            <a:rPr lang="en-GB" sz="2000" dirty="0">
                              <a:effectLst/>
                            </a:rPr>
                            <a:t>Empirically estimated</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a:buNone/>
                          </a:pPr>
                          <a:r>
                            <a:rPr lang="en-GB" sz="2000" dirty="0">
                              <a:effectLst/>
                            </a:rPr>
                            <a:t>Theoretical equilibrium relationship</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523559"/>
                      </a:ext>
                    </a:extLst>
                  </a:tr>
                </a:tbl>
              </a:graphicData>
            </a:graphic>
          </p:graphicFrame>
        </mc:Choice>
        <mc:Fallback xmlns="">
          <p:graphicFrame>
            <p:nvGraphicFramePr>
              <p:cNvPr id="4" name="Table 3">
                <a:extLst>
                  <a:ext uri="{FF2B5EF4-FFF2-40B4-BE49-F238E27FC236}">
                    <a16:creationId xmlns:a16="http://schemas.microsoft.com/office/drawing/2014/main" id="{A4EB908D-EA3C-7910-1B65-F439E6C7C59E}"/>
                  </a:ext>
                </a:extLst>
              </p:cNvPr>
              <p:cNvGraphicFramePr>
                <a:graphicFrameLocks noGrp="1"/>
              </p:cNvGraphicFramePr>
              <p:nvPr>
                <p:extLst>
                  <p:ext uri="{D42A27DB-BD31-4B8C-83A1-F6EECF244321}">
                    <p14:modId xmlns:p14="http://schemas.microsoft.com/office/powerpoint/2010/main" val="4038765082"/>
                  </p:ext>
                </p:extLst>
              </p:nvPr>
            </p:nvGraphicFramePr>
            <p:xfrm>
              <a:off x="838200" y="2883217"/>
              <a:ext cx="10515600" cy="2428177"/>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662297158"/>
                        </a:ext>
                      </a:extLst>
                    </a:gridCol>
                    <a:gridCol w="5257800">
                      <a:extLst>
                        <a:ext uri="{9D8B030D-6E8A-4147-A177-3AD203B41FA5}">
                          <a16:colId xmlns:a16="http://schemas.microsoft.com/office/drawing/2014/main" val="1754464897"/>
                        </a:ext>
                      </a:extLst>
                    </a:gridCol>
                  </a:tblGrid>
                  <a:tr h="396240">
                    <a:tc>
                      <a:txBody>
                        <a:bodyPr/>
                        <a:lstStyle/>
                        <a:p>
                          <a:pPr algn="l">
                            <a:buNone/>
                          </a:pPr>
                          <a:r>
                            <a:rPr lang="en-GB" sz="2000" b="1" dirty="0">
                              <a:solidFill>
                                <a:srgbClr val="0070C0"/>
                              </a:solidFill>
                              <a:effectLst/>
                            </a:rPr>
                            <a:t>Single Index Model</a:t>
                          </a:r>
                          <a:endParaRPr lang="en-GB" sz="2000" b="1" i="0"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a:buNone/>
                          </a:pPr>
                          <a:r>
                            <a:rPr lang="en-GB" sz="2000" b="1" dirty="0">
                              <a:solidFill>
                                <a:srgbClr val="0070C0"/>
                              </a:solidFill>
                              <a:effectLst/>
                            </a:rPr>
                            <a:t>CAPM</a:t>
                          </a:r>
                          <a:endParaRPr lang="en-GB" sz="2000" b="1" i="0"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02400362"/>
                      </a:ext>
                    </a:extLst>
                  </a:tr>
                  <a:tr h="446977">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2"/>
                          <a:stretch>
                            <a:fillRect l="-242" t="-94444" r="-100483" b="-369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2"/>
                          <a:stretch>
                            <a:fillRect l="-100242" t="-94444" r="-483" b="-369444"/>
                          </a:stretch>
                        </a:blipFill>
                      </a:tcPr>
                    </a:tc>
                    <a:extLst>
                      <a:ext uri="{0D108BD9-81ED-4DB2-BD59-A6C34878D82A}">
                        <a16:rowId xmlns:a16="http://schemas.microsoft.com/office/drawing/2014/main" val="2645174602"/>
                      </a:ext>
                    </a:extLst>
                  </a:tr>
                  <a:tr h="396240">
                    <a:tc>
                      <a:txBody>
                        <a:bodyPr/>
                        <a:lstStyle/>
                        <a:p>
                          <a:pPr algn="l">
                            <a:buNone/>
                          </a:pPr>
                          <a:r>
                            <a:rPr lang="en-GB" sz="2000" dirty="0">
                              <a:effectLst/>
                            </a:rPr>
                            <a:t>Explains movements in returns</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buNone/>
                          </a:pPr>
                          <a:r>
                            <a:rPr lang="en-GB" sz="2000" dirty="0">
                              <a:effectLst/>
                            </a:rPr>
                            <a:t>Determines required/expected return</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98592276"/>
                      </a:ext>
                    </a:extLst>
                  </a:tr>
                  <a:tr h="396240">
                    <a:tc>
                      <a:txBody>
                        <a:bodyPr/>
                        <a:lstStyle/>
                        <a:p>
                          <a:pPr algn="l">
                            <a:buNone/>
                          </a:pPr>
                          <a:r>
                            <a:rPr lang="en-GB" sz="2000" dirty="0">
                              <a:effectLst/>
                            </a:rPr>
                            <a:t>Beta measures sensitivity to the market</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buNone/>
                          </a:pPr>
                          <a:r>
                            <a:rPr lang="en-GB" sz="2000" dirty="0">
                              <a:effectLst/>
                            </a:rPr>
                            <a:t>Beta determines the security risk premium</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25365205"/>
                      </a:ext>
                    </a:extLst>
                  </a:tr>
                  <a:tr h="39624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2"/>
                          <a:stretch>
                            <a:fillRect l="-242" t="-412500" r="-100483" b="-121875"/>
                          </a:stretch>
                        </a:blipFill>
                      </a:tcPr>
                    </a:tc>
                    <a:tc>
                      <a:txBody>
                        <a:bodyPr/>
                        <a:lstStyle/>
                        <a:p>
                          <a:pPr algn="l">
                            <a:buNone/>
                          </a:pPr>
                          <a:r>
                            <a:rPr lang="en-GB" sz="2000" dirty="0">
                              <a:effectLst/>
                            </a:rPr>
                            <a:t>Firm-specific risk is not rewarded</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76274326"/>
                      </a:ext>
                    </a:extLst>
                  </a:tr>
                  <a:tr h="396240">
                    <a:tc>
                      <a:txBody>
                        <a:bodyPr/>
                        <a:lstStyle/>
                        <a:p>
                          <a:pPr algn="l">
                            <a:buNone/>
                          </a:pPr>
                          <a:r>
                            <a:rPr lang="en-GB" sz="2000" dirty="0">
                              <a:effectLst/>
                            </a:rPr>
                            <a:t>Empirically estimated</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a:buNone/>
                          </a:pPr>
                          <a:r>
                            <a:rPr lang="en-GB" sz="2000" dirty="0">
                              <a:effectLst/>
                            </a:rPr>
                            <a:t>Theoretical equilibrium relationship</a:t>
                          </a:r>
                          <a:endParaRPr lang="en-GB" sz="2000" b="0" i="0" dirty="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523559"/>
                      </a:ext>
                    </a:extLst>
                  </a:tr>
                </a:tbl>
              </a:graphicData>
            </a:graphic>
          </p:graphicFrame>
        </mc:Fallback>
      </mc:AlternateContent>
    </p:spTree>
    <p:extLst>
      <p:ext uri="{BB962C8B-B14F-4D97-AF65-F5344CB8AC3E}">
        <p14:creationId xmlns:p14="http://schemas.microsoft.com/office/powerpoint/2010/main" val="1331250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D4696-66E2-6343-8455-680E921C77C2}"/>
              </a:ext>
            </a:extLst>
          </p:cNvPr>
          <p:cNvSpPr>
            <a:spLocks noGrp="1"/>
          </p:cNvSpPr>
          <p:nvPr>
            <p:ph type="title"/>
          </p:nvPr>
        </p:nvSpPr>
        <p:spPr>
          <a:xfrm>
            <a:off x="437547" y="406400"/>
            <a:ext cx="11315248" cy="785542"/>
          </a:xfrm>
        </p:spPr>
        <p:txBody>
          <a:bodyPr/>
          <a:lstStyle/>
          <a:p>
            <a:r>
              <a:rPr lang="en-US" sz="3200" dirty="0"/>
              <a:t>Variances and covariances in the Single Index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674E57-0ED1-3945-98B1-8E8272494B87}"/>
                  </a:ext>
                </a:extLst>
              </p:cNvPr>
              <p:cNvSpPr>
                <a:spLocks noGrp="1"/>
              </p:cNvSpPr>
              <p:nvPr>
                <p:ph idx="1"/>
              </p:nvPr>
            </p:nvSpPr>
            <p:spPr>
              <a:xfrm>
                <a:off x="437547" y="1331795"/>
                <a:ext cx="10638123" cy="4419600"/>
              </a:xfrm>
              <a:ln>
                <a:noFill/>
              </a:ln>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a:lnSpc>
                    <a:spcPct val="150000"/>
                  </a:lnSpc>
                </a:pPr>
                <a:r>
                  <a:rPr lang="en-US" altLang="en-US" sz="2000" dirty="0">
                    <a:latin typeface="Arial" panose="020B0604020202020204" pitchFamily="34" charset="0"/>
                    <a:cs typeface="Arial" panose="020B0604020202020204" pitchFamily="34" charset="0"/>
                    <a:sym typeface="Symbol" pitchFamily="2" charset="2"/>
                  </a:rPr>
                  <a:t> Further assumptions of SIM: covariance between the asset returns and the market is zero, and that covariance between residuals is zero</a:t>
                </a:r>
              </a:p>
              <a:p>
                <a:pPr>
                  <a:lnSpc>
                    <a:spcPct val="150000"/>
                  </a:lnSpc>
                </a:pPr>
                <a:r>
                  <a:rPr lang="en-US" altLang="en-US" sz="2000" dirty="0">
                    <a:latin typeface="Arial" panose="020B0604020202020204" pitchFamily="34" charset="0"/>
                    <a:cs typeface="Arial" panose="020B0604020202020204" pitchFamily="34" charset="0"/>
                    <a:sym typeface="Symbol" pitchFamily="2" charset="2"/>
                  </a:rPr>
                  <a:t>The variance of an asset is given by:</a:t>
                </a:r>
                <a:r>
                  <a:rPr lang="en-GB" altLang="en-US" sz="2000" i="1" dirty="0">
                    <a:latin typeface="Cambria Math" panose="02040503050406030204" pitchFamily="18" charset="0"/>
                    <a:cs typeface="Arial" panose="020B0604020202020204" pitchFamily="34" charset="0"/>
                    <a:sym typeface="Symbol" pitchFamily="2" charset="2"/>
                  </a:rPr>
                  <a:t>  </a:t>
                </a:r>
                <a14:m>
                  <m:oMath xmlns:m="http://schemas.openxmlformats.org/officeDocument/2006/math">
                    <m:sSubSup>
                      <m:sSubSupPr>
                        <m:ctrlPr>
                          <a:rPr lang="en-US" altLang="en-US" sz="2000" i="1">
                            <a:latin typeface="Cambria Math" panose="02040503050406030204" pitchFamily="18" charset="0"/>
                            <a:ea typeface="Cambria Math" panose="02040503050406030204" pitchFamily="18" charset="0"/>
                            <a:sym typeface="Symbol" pitchFamily="2" charset="2"/>
                          </a:rPr>
                        </m:ctrlPr>
                      </m:sSubSupPr>
                      <m:e>
                        <m:r>
                          <a:rPr lang="en-US" altLang="en-US" sz="2000" i="1">
                            <a:latin typeface="Cambria Math" panose="02040503050406030204" pitchFamily="18" charset="0"/>
                            <a:ea typeface="Cambria Math" panose="02040503050406030204" pitchFamily="18" charset="0"/>
                            <a:sym typeface="Symbol" pitchFamily="2" charset="2"/>
                          </a:rPr>
                          <m:t>𝜎</m:t>
                        </m:r>
                      </m:e>
                      <m:sub>
                        <m:r>
                          <a:rPr lang="en-US" altLang="en-US" sz="2000" i="1">
                            <a:latin typeface="Cambria Math" panose="02040503050406030204" pitchFamily="18" charset="0"/>
                            <a:ea typeface="Cambria Math" panose="02040503050406030204" pitchFamily="18" charset="0"/>
                            <a:sym typeface="Symbol" pitchFamily="2" charset="2"/>
                          </a:rPr>
                          <m:t>𝑖</m:t>
                        </m:r>
                      </m:sub>
                      <m:sup>
                        <m:r>
                          <a:rPr lang="en-US" altLang="en-US" sz="2000" i="1">
                            <a:latin typeface="Cambria Math" panose="02040503050406030204" pitchFamily="18" charset="0"/>
                            <a:sym typeface="Symbol" pitchFamily="2" charset="2"/>
                          </a:rPr>
                          <m:t>2</m:t>
                        </m:r>
                      </m:sup>
                    </m:sSubSup>
                    <m:r>
                      <a:rPr lang="en-US" altLang="en-US" sz="2000">
                        <a:latin typeface="Cambria Math" panose="02040503050406030204" pitchFamily="18" charset="0"/>
                        <a:sym typeface="Symbol" pitchFamily="2" charset="2"/>
                      </a:rPr>
                      <m:t>=</m:t>
                    </m:r>
                    <m:sSubSup>
                      <m:sSubSupPr>
                        <m:ctrlP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ctrlPr>
                      </m:sSubSupPr>
                      <m:e>
                        <m: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t>𝛽</m:t>
                        </m:r>
                      </m:e>
                      <m:sub>
                        <m:r>
                          <a:rPr lang="en-US" altLang="en-US" sz="2000" i="1">
                            <a:solidFill>
                              <a:srgbClr val="0070C0"/>
                            </a:solidFill>
                            <a:latin typeface="Cambria Math" panose="02040503050406030204" pitchFamily="18" charset="0"/>
                            <a:sym typeface="Symbol" pitchFamily="2" charset="2"/>
                          </a:rPr>
                          <m:t>𝑖</m:t>
                        </m:r>
                      </m:sub>
                      <m:sup>
                        <m:r>
                          <a:rPr lang="en-US" altLang="en-US" sz="2000" i="1">
                            <a:solidFill>
                              <a:srgbClr val="0070C0"/>
                            </a:solidFill>
                            <a:latin typeface="Cambria Math" panose="02040503050406030204" pitchFamily="18" charset="0"/>
                            <a:sym typeface="Symbol" pitchFamily="2" charset="2"/>
                          </a:rPr>
                          <m:t>2</m:t>
                        </m:r>
                      </m:sup>
                    </m:sSubSup>
                    <m:sSubSup>
                      <m:sSubSupPr>
                        <m:ctrlP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ctrlPr>
                      </m:sSubSupPr>
                      <m:e>
                        <m: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t>𝜎</m:t>
                        </m:r>
                      </m:e>
                      <m:sub>
                        <m:r>
                          <a:rPr lang="en-US" altLang="en-US" sz="2000" i="1">
                            <a:solidFill>
                              <a:srgbClr val="0070C0"/>
                            </a:solidFill>
                            <a:latin typeface="Cambria Math" panose="02040503050406030204" pitchFamily="18" charset="0"/>
                            <a:sym typeface="Symbol" pitchFamily="2" charset="2"/>
                          </a:rPr>
                          <m:t>𝑚</m:t>
                        </m:r>
                      </m:sub>
                      <m:sup>
                        <m:r>
                          <a:rPr lang="en-US" altLang="en-US" sz="2000" i="1">
                            <a:solidFill>
                              <a:srgbClr val="0070C0"/>
                            </a:solidFill>
                            <a:latin typeface="Cambria Math" panose="02040503050406030204" pitchFamily="18" charset="0"/>
                            <a:sym typeface="Symbol" pitchFamily="2" charset="2"/>
                          </a:rPr>
                          <m:t>2</m:t>
                        </m:r>
                      </m:sup>
                    </m:sSubSup>
                  </m:oMath>
                </a14:m>
                <a:r>
                  <a:rPr lang="en-US" altLang="en-US" sz="2000" dirty="0">
                    <a:latin typeface="Arial" panose="020B0604020202020204" pitchFamily="34" charset="0"/>
                    <a:cs typeface="Arial" panose="020B0604020202020204" pitchFamily="34" charset="0"/>
                    <a:sym typeface="Symbol" pitchFamily="2" charset="2"/>
                  </a:rPr>
                  <a:t>+ </a:t>
                </a:r>
                <a14:m>
                  <m:oMath xmlns:m="http://schemas.openxmlformats.org/officeDocument/2006/math">
                    <m:sSubSup>
                      <m:sSubSupPr>
                        <m:ctrlP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ctrlPr>
                      </m:sSubSupPr>
                      <m:e>
                        <m: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t>𝜎</m:t>
                        </m:r>
                      </m:e>
                      <m:sub>
                        <m:sSub>
                          <m:sSubPr>
                            <m:ctrlP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ctrlPr>
                          </m:sSubPr>
                          <m:e>
                            <m: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t>𝜀</m:t>
                            </m:r>
                          </m:e>
                          <m:sub>
                            <m: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t>𝑖</m:t>
                            </m:r>
                          </m:sub>
                        </m:sSub>
                      </m:sub>
                      <m:sup>
                        <m:r>
                          <a:rPr lang="en-US" altLang="en-US" sz="2000" i="1">
                            <a:solidFill>
                              <a:srgbClr val="FF0000"/>
                            </a:solidFill>
                            <a:latin typeface="Cambria Math" panose="02040503050406030204" pitchFamily="18" charset="0"/>
                            <a:sym typeface="Symbol" pitchFamily="2" charset="2"/>
                          </a:rPr>
                          <m:t>2</m:t>
                        </m:r>
                      </m:sup>
                    </m:sSubSup>
                  </m:oMath>
                </a14:m>
                <a:r>
                  <a:rPr lang="en-US" altLang="en-US" sz="2000" dirty="0">
                    <a:latin typeface="Arial" panose="020B0604020202020204" pitchFamily="34" charset="0"/>
                    <a:cs typeface="Arial" panose="020B0604020202020204" pitchFamily="34" charset="0"/>
                    <a:sym typeface="Symbol" pitchFamily="2" charset="2"/>
                  </a:rPr>
                  <a:t>  </a:t>
                </a:r>
              </a:p>
              <a:p>
                <a:pPr marL="0" indent="0">
                  <a:lnSpc>
                    <a:spcPct val="150000"/>
                  </a:lnSpc>
                  <a:spcAft>
                    <a:spcPts val="600"/>
                  </a:spcAft>
                  <a:buNone/>
                </a:pPr>
                <a:r>
                  <a:rPr lang="en-US" altLang="en-US" sz="2000" dirty="0">
                    <a:latin typeface="Arial" panose="020B0604020202020204" pitchFamily="34" charset="0"/>
                    <a:cs typeface="Arial" panose="020B0604020202020204" pitchFamily="34" charset="0"/>
                    <a:sym typeface="Symbol" pitchFamily="2" charset="2"/>
                  </a:rPr>
                  <a:t>Total risk = </a:t>
                </a:r>
                <a:r>
                  <a:rPr lang="en-US" altLang="en-US" sz="2000" dirty="0">
                    <a:solidFill>
                      <a:srgbClr val="0070C0"/>
                    </a:solidFill>
                    <a:latin typeface="Arial" panose="020B0604020202020204" pitchFamily="34" charset="0"/>
                    <a:cs typeface="Arial" panose="020B0604020202020204" pitchFamily="34" charset="0"/>
                    <a:sym typeface="Symbol" pitchFamily="2" charset="2"/>
                  </a:rPr>
                  <a:t>Systematic (market) </a:t>
                </a:r>
                <a:r>
                  <a:rPr lang="en-US" altLang="en-US" sz="2000" dirty="0">
                    <a:latin typeface="Arial" panose="020B0604020202020204" pitchFamily="34" charset="0"/>
                    <a:cs typeface="Arial" panose="020B0604020202020204" pitchFamily="34" charset="0"/>
                    <a:sym typeface="Symbol" pitchFamily="2" charset="2"/>
                  </a:rPr>
                  <a:t>+ </a:t>
                </a:r>
                <a:r>
                  <a:rPr lang="en-US" altLang="en-US" sz="2000" dirty="0">
                    <a:solidFill>
                      <a:srgbClr val="FF0000"/>
                    </a:solidFill>
                    <a:latin typeface="Arial" panose="020B0604020202020204" pitchFamily="34" charset="0"/>
                    <a:cs typeface="Arial" panose="020B0604020202020204" pitchFamily="34" charset="0"/>
                    <a:sym typeface="Symbol" pitchFamily="2" charset="2"/>
                  </a:rPr>
                  <a:t>Unsystematic (company specific) risk</a:t>
                </a:r>
              </a:p>
              <a:p>
                <a:pPr>
                  <a:lnSpc>
                    <a:spcPct val="150000"/>
                  </a:lnSpc>
                  <a:spcAft>
                    <a:spcPts val="600"/>
                  </a:spcAft>
                </a:pPr>
                <a:r>
                  <a:rPr lang="en-US" altLang="en-US" sz="2000" dirty="0">
                    <a:latin typeface="Arial" panose="020B0604020202020204" pitchFamily="34" charset="0"/>
                    <a:cs typeface="Arial" panose="020B0604020202020204" pitchFamily="34" charset="0"/>
                    <a:sym typeface="Symbol" pitchFamily="2" charset="2"/>
                  </a:rPr>
                  <a:t>Equivalently, the variance of portfolio’s returns is formulated as:  </a:t>
                </a:r>
                <a14:m>
                  <m:oMath xmlns:m="http://schemas.openxmlformats.org/officeDocument/2006/math">
                    <m:sSubSup>
                      <m:sSubSupPr>
                        <m:ctrlPr>
                          <a:rPr lang="en-US" altLang="en-US" sz="2000" i="1">
                            <a:latin typeface="Cambria Math" panose="02040503050406030204" pitchFamily="18" charset="0"/>
                            <a:ea typeface="Cambria Math" panose="02040503050406030204" pitchFamily="18" charset="0"/>
                            <a:sym typeface="Symbol" pitchFamily="2" charset="2"/>
                          </a:rPr>
                        </m:ctrlPr>
                      </m:sSubSupPr>
                      <m:e>
                        <m:r>
                          <a:rPr lang="en-US" altLang="en-US" sz="2000" i="1">
                            <a:latin typeface="Cambria Math" panose="02040503050406030204" pitchFamily="18" charset="0"/>
                            <a:ea typeface="Cambria Math" panose="02040503050406030204" pitchFamily="18" charset="0"/>
                            <a:sym typeface="Symbol" pitchFamily="2" charset="2"/>
                          </a:rPr>
                          <m:t>𝜎</m:t>
                        </m:r>
                      </m:e>
                      <m:sub>
                        <m:r>
                          <a:rPr lang="en-US" altLang="en-US" sz="2000" i="1">
                            <a:latin typeface="Cambria Math" panose="02040503050406030204" pitchFamily="18" charset="0"/>
                            <a:ea typeface="Cambria Math" panose="02040503050406030204" pitchFamily="18" charset="0"/>
                            <a:sym typeface="Symbol" pitchFamily="2" charset="2"/>
                          </a:rPr>
                          <m:t>𝑝</m:t>
                        </m:r>
                      </m:sub>
                      <m:sup>
                        <m:r>
                          <a:rPr lang="en-US" altLang="en-US" sz="2000" i="1">
                            <a:latin typeface="Cambria Math" panose="02040503050406030204" pitchFamily="18" charset="0"/>
                            <a:sym typeface="Symbol" pitchFamily="2" charset="2"/>
                          </a:rPr>
                          <m:t>2</m:t>
                        </m:r>
                      </m:sup>
                    </m:sSubSup>
                    <m:r>
                      <a:rPr lang="en-US" altLang="en-US" sz="2000">
                        <a:latin typeface="Cambria Math" panose="02040503050406030204" pitchFamily="18" charset="0"/>
                        <a:sym typeface="Symbol" pitchFamily="2" charset="2"/>
                      </a:rPr>
                      <m:t>=</m:t>
                    </m:r>
                    <m:sSubSup>
                      <m:sSubSupPr>
                        <m:ctrlP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ctrlPr>
                      </m:sSubSupPr>
                      <m:e>
                        <m: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t>𝛽</m:t>
                        </m:r>
                      </m:e>
                      <m:sub>
                        <m: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t>𝑝</m:t>
                        </m:r>
                      </m:sub>
                      <m:sup>
                        <m:r>
                          <a:rPr lang="en-US" altLang="en-US" sz="2000" i="1">
                            <a:solidFill>
                              <a:srgbClr val="0070C0"/>
                            </a:solidFill>
                            <a:latin typeface="Cambria Math" panose="02040503050406030204" pitchFamily="18" charset="0"/>
                            <a:sym typeface="Symbol" pitchFamily="2" charset="2"/>
                          </a:rPr>
                          <m:t>2</m:t>
                        </m:r>
                      </m:sup>
                    </m:sSubSup>
                    <m:sSubSup>
                      <m:sSubSupPr>
                        <m:ctrlP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ctrlPr>
                      </m:sSubSupPr>
                      <m:e>
                        <m:r>
                          <a:rPr lang="en-US" altLang="en-US" sz="2000" i="1">
                            <a:solidFill>
                              <a:srgbClr val="0070C0"/>
                            </a:solidFill>
                            <a:latin typeface="Cambria Math" panose="02040503050406030204" pitchFamily="18" charset="0"/>
                            <a:ea typeface="Cambria Math" panose="02040503050406030204" pitchFamily="18" charset="0"/>
                            <a:sym typeface="Symbol" pitchFamily="2" charset="2"/>
                          </a:rPr>
                          <m:t>𝜎</m:t>
                        </m:r>
                      </m:e>
                      <m:sub>
                        <m:r>
                          <a:rPr lang="en-US" altLang="en-US" sz="2000" i="1">
                            <a:solidFill>
                              <a:srgbClr val="0070C0"/>
                            </a:solidFill>
                            <a:latin typeface="Cambria Math" panose="02040503050406030204" pitchFamily="18" charset="0"/>
                            <a:sym typeface="Symbol" pitchFamily="2" charset="2"/>
                          </a:rPr>
                          <m:t>𝑚</m:t>
                        </m:r>
                      </m:sub>
                      <m:sup>
                        <m:r>
                          <a:rPr lang="en-US" altLang="en-US" sz="2000" i="1">
                            <a:solidFill>
                              <a:srgbClr val="0070C0"/>
                            </a:solidFill>
                            <a:latin typeface="Cambria Math" panose="02040503050406030204" pitchFamily="18" charset="0"/>
                            <a:sym typeface="Symbol" pitchFamily="2" charset="2"/>
                          </a:rPr>
                          <m:t>2</m:t>
                        </m:r>
                      </m:sup>
                    </m:sSubSup>
                  </m:oMath>
                </a14:m>
                <a:r>
                  <a:rPr lang="en-US" altLang="en-US" sz="2000" dirty="0">
                    <a:latin typeface="Arial" panose="020B0604020202020204" pitchFamily="34" charset="0"/>
                    <a:cs typeface="Arial" panose="020B0604020202020204" pitchFamily="34" charset="0"/>
                    <a:sym typeface="Symbol" pitchFamily="2" charset="2"/>
                  </a:rPr>
                  <a:t>+ </a:t>
                </a:r>
                <a14:m>
                  <m:oMath xmlns:m="http://schemas.openxmlformats.org/officeDocument/2006/math">
                    <m:sSubSup>
                      <m:sSubSupPr>
                        <m:ctrlP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ctrlPr>
                      </m:sSubSupPr>
                      <m:e>
                        <m: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t>𝜎</m:t>
                        </m:r>
                      </m:e>
                      <m:sub>
                        <m:sSub>
                          <m:sSubPr>
                            <m:ctrlP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ctrlPr>
                          </m:sSubPr>
                          <m:e>
                            <m: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t>𝜀</m:t>
                            </m:r>
                          </m:e>
                          <m:sub>
                            <m:r>
                              <a:rPr lang="en-US" altLang="en-US" sz="2000" i="1">
                                <a:solidFill>
                                  <a:srgbClr val="FF0000"/>
                                </a:solidFill>
                                <a:latin typeface="Cambria Math" panose="02040503050406030204" pitchFamily="18" charset="0"/>
                                <a:ea typeface="Cambria Math" panose="02040503050406030204" pitchFamily="18" charset="0"/>
                                <a:sym typeface="Symbol" pitchFamily="2" charset="2"/>
                              </a:rPr>
                              <m:t>𝑝</m:t>
                            </m:r>
                          </m:sub>
                        </m:sSub>
                      </m:sub>
                      <m:sup>
                        <m:r>
                          <a:rPr lang="en-US" altLang="en-US" sz="2000" i="1">
                            <a:solidFill>
                              <a:srgbClr val="FF0000"/>
                            </a:solidFill>
                            <a:latin typeface="Cambria Math" panose="02040503050406030204" pitchFamily="18" charset="0"/>
                            <a:sym typeface="Symbol" pitchFamily="2" charset="2"/>
                          </a:rPr>
                          <m:t>2</m:t>
                        </m:r>
                      </m:sup>
                    </m:sSubSup>
                  </m:oMath>
                </a14:m>
                <a:r>
                  <a:rPr lang="en-US" altLang="en-US" sz="2000" dirty="0">
                    <a:latin typeface="Arial" panose="020B0604020202020204" pitchFamily="34" charset="0"/>
                    <a:cs typeface="Arial" panose="020B0604020202020204" pitchFamily="34" charset="0"/>
                    <a:sym typeface="Symbol" pitchFamily="2" charset="2"/>
                  </a:rPr>
                  <a:t> </a:t>
                </a:r>
              </a:p>
              <a:p>
                <a:pPr>
                  <a:lnSpc>
                    <a:spcPct val="150000"/>
                  </a:lnSpc>
                  <a:spcAft>
                    <a:spcPts val="600"/>
                  </a:spcAft>
                </a:pPr>
                <a:r>
                  <a:rPr lang="en-US" altLang="en-US" sz="2000" dirty="0">
                    <a:latin typeface="Arial" panose="020B0604020202020204" pitchFamily="34" charset="0"/>
                    <a:cs typeface="Arial" panose="020B0604020202020204" pitchFamily="34" charset="0"/>
                    <a:sym typeface="Symbol" pitchFamily="2" charset="2"/>
                  </a:rPr>
                  <a:t>Note that, as mentioned before, beta of the portfolio is the weighted average of betas of individual assets in that portfolio: </a:t>
                </a:r>
                <a:r>
                  <a:rPr lang="en-US" altLang="en-US" sz="2000" i="1" dirty="0">
                    <a:solidFill>
                      <a:srgbClr val="0070C0"/>
                    </a:solidFill>
                    <a:latin typeface="Arial" panose="020B0604020202020204" pitchFamily="34" charset="0"/>
                    <a:cs typeface="Arial" panose="020B0604020202020204" pitchFamily="34" charset="0"/>
                    <a:sym typeface="Symbol" pitchFamily="2" charset="2"/>
                  </a:rPr>
                  <a:t></a:t>
                </a:r>
                <a:r>
                  <a:rPr lang="en-US" altLang="en-US" sz="2000" i="1" baseline="-25000" dirty="0" err="1">
                    <a:solidFill>
                      <a:srgbClr val="0070C0"/>
                    </a:solidFill>
                    <a:latin typeface="Arial" panose="020B0604020202020204" pitchFamily="34" charset="0"/>
                    <a:cs typeface="Arial" panose="020B0604020202020204" pitchFamily="34" charset="0"/>
                    <a:sym typeface="Symbol" pitchFamily="2" charset="2"/>
                  </a:rPr>
                  <a:t>p,m</a:t>
                </a:r>
                <a:r>
                  <a:rPr lang="en-US" altLang="en-US" sz="2000" baseline="-25000" dirty="0">
                    <a:latin typeface="Arial" panose="020B0604020202020204" pitchFamily="34" charset="0"/>
                    <a:cs typeface="Arial" panose="020B0604020202020204" pitchFamily="34" charset="0"/>
                    <a:sym typeface="Symbol" pitchFamily="2" charset="2"/>
                  </a:rPr>
                  <a:t> </a:t>
                </a:r>
                <a:r>
                  <a:rPr lang="en-US" altLang="en-US" sz="2000" dirty="0">
                    <a:latin typeface="Arial" panose="020B0604020202020204" pitchFamily="34" charset="0"/>
                    <a:cs typeface="Arial" panose="020B0604020202020204" pitchFamily="34" charset="0"/>
                    <a:sym typeface="Symbol" pitchFamily="2" charset="2"/>
                  </a:rPr>
                  <a:t>= </a:t>
                </a:r>
                <a:r>
                  <a:rPr lang="en-US" altLang="en-US" sz="2000" dirty="0" err="1">
                    <a:latin typeface="Arial" panose="020B0604020202020204" pitchFamily="34" charset="0"/>
                    <a:cs typeface="Arial" panose="020B0604020202020204" pitchFamily="34" charset="0"/>
                    <a:sym typeface="Symbol" pitchFamily="2" charset="2"/>
                  </a:rPr>
                  <a:t>w</a:t>
                </a:r>
                <a:r>
                  <a:rPr lang="en-US" altLang="en-US" sz="2000" baseline="-25000" dirty="0" err="1">
                    <a:latin typeface="Arial" panose="020B0604020202020204" pitchFamily="34" charset="0"/>
                    <a:cs typeface="Arial" panose="020B0604020202020204" pitchFamily="34" charset="0"/>
                    <a:sym typeface="Symbol" pitchFamily="2" charset="2"/>
                  </a:rPr>
                  <a:t>i</a:t>
                </a:r>
                <a:r>
                  <a:rPr lang="en-US" altLang="en-US" sz="2000" dirty="0" err="1">
                    <a:latin typeface="Arial" panose="020B0604020202020204" pitchFamily="34" charset="0"/>
                    <a:cs typeface="Arial" panose="020B0604020202020204" pitchFamily="34" charset="0"/>
                    <a:sym typeface="Symbol" pitchFamily="2" charset="2"/>
                  </a:rPr>
                  <a:t></a:t>
                </a:r>
                <a:r>
                  <a:rPr lang="en-US" altLang="en-US" sz="2000" baseline="-25000" dirty="0" err="1">
                    <a:latin typeface="Arial" panose="020B0604020202020204" pitchFamily="34" charset="0"/>
                    <a:cs typeface="Arial" panose="020B0604020202020204" pitchFamily="34" charset="0"/>
                    <a:sym typeface="Symbol" pitchFamily="2" charset="2"/>
                  </a:rPr>
                  <a:t>i,m</a:t>
                </a:r>
                <a:endParaRPr lang="en-US" altLang="en-US" sz="2000" baseline="-25000" dirty="0">
                  <a:latin typeface="Arial" panose="020B0604020202020204" pitchFamily="34" charset="0"/>
                  <a:cs typeface="Arial" panose="020B0604020202020204" pitchFamily="34" charset="0"/>
                  <a:sym typeface="Symbol" pitchFamily="2" charset="2"/>
                </a:endParaRPr>
              </a:p>
              <a:p>
                <a:pPr marL="352425" indent="-342900">
                  <a:lnSpc>
                    <a:spcPct val="150000"/>
                  </a:lnSpc>
                  <a:spcAft>
                    <a:spcPts val="600"/>
                  </a:spcAft>
                </a:pPr>
                <a:r>
                  <a:rPr lang="en-US" altLang="en-US" sz="2000" dirty="0">
                    <a:solidFill>
                      <a:srgbClr val="00B050"/>
                    </a:solidFill>
                    <a:latin typeface="Arial" panose="020B0604020202020204" pitchFamily="34" charset="0"/>
                    <a:cs typeface="Arial" panose="020B0604020202020204" pitchFamily="34" charset="0"/>
                    <a:sym typeface="Symbol" pitchFamily="2" charset="2"/>
                  </a:rPr>
                  <a:t>Covariance</a:t>
                </a:r>
                <a:r>
                  <a:rPr lang="en-US" altLang="en-US" sz="2000" dirty="0">
                    <a:solidFill>
                      <a:srgbClr val="002B49"/>
                    </a:solidFill>
                    <a:latin typeface="Arial" panose="020B0604020202020204" pitchFamily="34" charset="0"/>
                    <a:cs typeface="Arial" panose="020B0604020202020204" pitchFamily="34" charset="0"/>
                    <a:sym typeface="Symbol" pitchFamily="2" charset="2"/>
                  </a:rPr>
                  <a:t> between assets </a:t>
                </a:r>
                <a:r>
                  <a:rPr lang="en-US" altLang="en-US" sz="2000" i="1" dirty="0">
                    <a:solidFill>
                      <a:srgbClr val="002B49"/>
                    </a:solidFill>
                    <a:latin typeface="Arial" panose="020B0604020202020204" pitchFamily="34" charset="0"/>
                    <a:cs typeface="Arial" panose="020B0604020202020204" pitchFamily="34" charset="0"/>
                    <a:sym typeface="Symbol" pitchFamily="2" charset="2"/>
                  </a:rPr>
                  <a:t>i</a:t>
                </a:r>
                <a:r>
                  <a:rPr lang="en-US" altLang="en-US" sz="2000" dirty="0">
                    <a:solidFill>
                      <a:srgbClr val="002B49"/>
                    </a:solidFill>
                    <a:latin typeface="Arial" panose="020B0604020202020204" pitchFamily="34" charset="0"/>
                    <a:cs typeface="Arial" panose="020B0604020202020204" pitchFamily="34" charset="0"/>
                    <a:sym typeface="Symbol" pitchFamily="2" charset="2"/>
                  </a:rPr>
                  <a:t> and </a:t>
                </a:r>
                <a:r>
                  <a:rPr lang="en-US" altLang="en-US" sz="2000" i="1" dirty="0">
                    <a:solidFill>
                      <a:srgbClr val="002B49"/>
                    </a:solidFill>
                    <a:latin typeface="Arial" panose="020B0604020202020204" pitchFamily="34" charset="0"/>
                    <a:cs typeface="Arial" panose="020B0604020202020204" pitchFamily="34" charset="0"/>
                    <a:sym typeface="Symbol" pitchFamily="2" charset="2"/>
                  </a:rPr>
                  <a:t>j </a:t>
                </a:r>
                <a:r>
                  <a:rPr lang="en-US" altLang="en-US" sz="2000" dirty="0">
                    <a:solidFill>
                      <a:srgbClr val="002B49"/>
                    </a:solidFill>
                    <a:latin typeface="Arial" panose="020B0604020202020204" pitchFamily="34" charset="0"/>
                    <a:cs typeface="Arial" panose="020B0604020202020204" pitchFamily="34" charset="0"/>
                    <a:sym typeface="Symbol" pitchFamily="2" charset="2"/>
                  </a:rPr>
                  <a:t>in the SIM is given as: </a:t>
                </a:r>
                <a14:m>
                  <m:oMath xmlns:m="http://schemas.openxmlformats.org/officeDocument/2006/math">
                    <m:sSub>
                      <m:sSubPr>
                        <m:ctrlPr>
                          <a:rPr lang="en-US" altLang="en-US" sz="200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ctrlPr>
                      </m:sSubPr>
                      <m:e>
                        <m:r>
                          <a:rPr lang="en-US" altLang="en-US" sz="200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t>𝜎</m:t>
                        </m:r>
                      </m:e>
                      <m:sub>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𝑖</m:t>
                        </m:r>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 </m:t>
                        </m:r>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𝑗</m:t>
                        </m:r>
                      </m:sub>
                    </m:sSub>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m:t>
                    </m:r>
                    <m:sSub>
                      <m:sSubPr>
                        <m:ctrlPr>
                          <a:rPr lang="en-GB" alt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ctrlPr>
                      </m:sSubPr>
                      <m:e>
                        <m:r>
                          <a:rPr lang="en-GB" alt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t>𝛽</m:t>
                        </m:r>
                      </m:e>
                      <m:sub>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𝑖</m:t>
                        </m:r>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m:t>
                        </m:r>
                      </m:sub>
                    </m:sSub>
                    <m:sSub>
                      <m:sSubPr>
                        <m:ctrlPr>
                          <a:rPr lang="en-GB" alt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ctrlPr>
                      </m:sSubPr>
                      <m:e>
                        <m:r>
                          <a:rPr lang="en-GB" alt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t>𝛽</m:t>
                        </m:r>
                      </m:e>
                      <m:sub>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𝑗</m:t>
                        </m:r>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m:t>
                        </m:r>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𝑚</m:t>
                        </m:r>
                      </m:sub>
                    </m:sSub>
                    <m:sSubSup>
                      <m:sSubSupPr>
                        <m:ctrlPr>
                          <a:rPr lang="en-GB" alt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ctrlPr>
                      </m:sSubSupPr>
                      <m:e>
                        <m:r>
                          <a:rPr lang="en-GB" alt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t>𝜎</m:t>
                        </m:r>
                      </m:e>
                      <m:sub>
                        <m:r>
                          <a:rPr lang="en-GB" alt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t>𝑚</m:t>
                        </m:r>
                      </m:sub>
                      <m:sup>
                        <m:r>
                          <a:rPr lang="en-GB" altLang="en-US" sz="2000" b="0" i="1" smtClean="0">
                            <a:solidFill>
                              <a:srgbClr val="00B050"/>
                            </a:solidFill>
                            <a:latin typeface="Cambria Math" panose="02040503050406030204" pitchFamily="18" charset="0"/>
                            <a:cs typeface="Arial" panose="020B0604020202020204" pitchFamily="34" charset="0"/>
                            <a:sym typeface="Symbol" pitchFamily="2" charset="2"/>
                          </a:rPr>
                          <m:t>2</m:t>
                        </m:r>
                      </m:sup>
                    </m:sSubSup>
                  </m:oMath>
                </a14:m>
                <a:endParaRPr lang="en-US" altLang="en-US" sz="2000" dirty="0">
                  <a:solidFill>
                    <a:srgbClr val="002B49"/>
                  </a:solidFill>
                  <a:latin typeface="Arial" panose="020B0604020202020204" pitchFamily="34" charset="0"/>
                  <a:cs typeface="Arial" panose="020B0604020202020204" pitchFamily="34" charset="0"/>
                  <a:sym typeface="Symbol" pitchFamily="2" charset="2"/>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0E674E57-0ED1-3945-98B1-8E8272494B87}"/>
                  </a:ext>
                </a:extLst>
              </p:cNvPr>
              <p:cNvSpPr>
                <a:spLocks noGrp="1" noRot="1" noChangeAspect="1" noMove="1" noResize="1" noEditPoints="1" noAdjustHandles="1" noChangeArrowheads="1" noChangeShapeType="1" noTextEdit="1"/>
              </p:cNvSpPr>
              <p:nvPr>
                <p:ph idx="1"/>
              </p:nvPr>
            </p:nvSpPr>
            <p:spPr>
              <a:xfrm>
                <a:off x="437547" y="1331795"/>
                <a:ext cx="10638123" cy="4419600"/>
              </a:xfrm>
              <a:blipFill>
                <a:blip r:embed="rId2"/>
                <a:stretch>
                  <a:fillRect l="-59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799977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68408-17DA-1C48-B24C-4D95A7E2269B}"/>
              </a:ext>
            </a:extLst>
          </p:cNvPr>
          <p:cNvSpPr>
            <a:spLocks noGrp="1"/>
          </p:cNvSpPr>
          <p:nvPr>
            <p:ph type="title"/>
          </p:nvPr>
        </p:nvSpPr>
        <p:spPr>
          <a:xfrm>
            <a:off x="438376" y="562323"/>
            <a:ext cx="11003054" cy="785542"/>
          </a:xfrm>
        </p:spPr>
        <p:txBody>
          <a:bodyPr/>
          <a:lstStyle/>
          <a:p>
            <a:r>
              <a:rPr lang="en-US" sz="2800" dirty="0"/>
              <a:t>Importance of R</a:t>
            </a:r>
            <a:r>
              <a:rPr lang="en-US" sz="2800" baseline="30000" dirty="0"/>
              <a:t>2   </a:t>
            </a:r>
          </a:p>
        </p:txBody>
      </p:sp>
      <p:sp>
        <p:nvSpPr>
          <p:cNvPr id="3" name="Content Placeholder 2">
            <a:extLst>
              <a:ext uri="{FF2B5EF4-FFF2-40B4-BE49-F238E27FC236}">
                <a16:creationId xmlns:a16="http://schemas.microsoft.com/office/drawing/2014/main" id="{C0EEA746-7D7B-AA43-B81F-7AE7DC445327}"/>
              </a:ext>
            </a:extLst>
          </p:cNvPr>
          <p:cNvSpPr>
            <a:spLocks noGrp="1"/>
          </p:cNvSpPr>
          <p:nvPr>
            <p:ph idx="1"/>
          </p:nvPr>
        </p:nvSpPr>
        <p:spPr>
          <a:xfrm>
            <a:off x="438376" y="1347865"/>
            <a:ext cx="9497367" cy="4419600"/>
          </a:xfrm>
        </p:spPr>
        <p:txBody>
          <a:bodyPr/>
          <a:lstStyle/>
          <a:p>
            <a:pPr>
              <a:lnSpc>
                <a:spcPct val="150000"/>
              </a:lnSpc>
            </a:pPr>
            <a:r>
              <a:rPr lang="en-US" altLang="en-US" sz="2000" dirty="0">
                <a:latin typeface="Arial" panose="020B0604020202020204" pitchFamily="34" charset="0"/>
                <a:cs typeface="Arial" panose="020B0604020202020204" pitchFamily="34" charset="0"/>
                <a:sym typeface="Symbol" pitchFamily="2" charset="2"/>
              </a:rPr>
              <a:t>Goodness of fit of the regression line (fitted line): coefficient of determination R</a:t>
            </a:r>
            <a:r>
              <a:rPr lang="en-US" altLang="en-US" sz="2000" baseline="30000" dirty="0">
                <a:latin typeface="Arial" panose="020B0604020202020204" pitchFamily="34" charset="0"/>
                <a:cs typeface="Arial" panose="020B0604020202020204" pitchFamily="34" charset="0"/>
                <a:sym typeface="Symbol" pitchFamily="2" charset="2"/>
              </a:rPr>
              <a:t>2</a:t>
            </a:r>
          </a:p>
          <a:p>
            <a:pPr>
              <a:lnSpc>
                <a:spcPct val="150000"/>
              </a:lnSpc>
            </a:pPr>
            <a:r>
              <a:rPr lang="en-US" altLang="en-US" sz="2000" dirty="0">
                <a:latin typeface="Arial" panose="020B0604020202020204" pitchFamily="34" charset="0"/>
                <a:cs typeface="Arial" panose="020B0604020202020204" pitchFamily="34" charset="0"/>
                <a:sym typeface="Symbol" pitchFamily="2" charset="2"/>
              </a:rPr>
              <a:t>R</a:t>
            </a:r>
            <a:r>
              <a:rPr lang="en-US" altLang="en-US" sz="2000" baseline="30000" dirty="0">
                <a:latin typeface="Arial" panose="020B0604020202020204" pitchFamily="34" charset="0"/>
                <a:cs typeface="Arial" panose="020B0604020202020204" pitchFamily="34" charset="0"/>
                <a:sym typeface="Symbol" pitchFamily="2" charset="2"/>
              </a:rPr>
              <a:t>2 </a:t>
            </a:r>
            <a:r>
              <a:rPr lang="en-US" altLang="en-US" sz="2000" dirty="0">
                <a:latin typeface="Arial" panose="020B0604020202020204" pitchFamily="34" charset="0"/>
                <a:cs typeface="Arial" panose="020B0604020202020204" pitchFamily="34" charset="0"/>
                <a:sym typeface="Symbol" pitchFamily="2" charset="2"/>
              </a:rPr>
              <a:t>ranges between 0 and 1 and it measures the proportion of movements of the dependent variable that is explained by the independent variable</a:t>
            </a:r>
          </a:p>
          <a:p>
            <a:pPr>
              <a:lnSpc>
                <a:spcPct val="150000"/>
              </a:lnSpc>
            </a:pPr>
            <a:r>
              <a:rPr lang="en-US" altLang="en-US" sz="2000" dirty="0">
                <a:latin typeface="Arial" panose="020B0604020202020204" pitchFamily="34" charset="0"/>
                <a:cs typeface="Arial" panose="020B0604020202020204" pitchFamily="34" charset="0"/>
                <a:sym typeface="Symbol" pitchFamily="2" charset="2"/>
              </a:rPr>
              <a:t>R</a:t>
            </a:r>
            <a:r>
              <a:rPr lang="en-US" altLang="en-US" sz="2000" baseline="30000" dirty="0">
                <a:latin typeface="Arial" panose="020B0604020202020204" pitchFamily="34" charset="0"/>
                <a:cs typeface="Arial" panose="020B0604020202020204" pitchFamily="34" charset="0"/>
                <a:sym typeface="Symbol" pitchFamily="2" charset="2"/>
              </a:rPr>
              <a:t>2</a:t>
            </a:r>
            <a:r>
              <a:rPr lang="en-US" altLang="en-US" sz="2000" dirty="0">
                <a:latin typeface="Arial" panose="020B0604020202020204" pitchFamily="34" charset="0"/>
                <a:cs typeface="Arial" panose="020B0604020202020204" pitchFamily="34" charset="0"/>
                <a:sym typeface="Symbol" pitchFamily="2" charset="2"/>
              </a:rPr>
              <a:t> is higher for a diversified portfolio than for an individual security</a:t>
            </a:r>
          </a:p>
          <a:p>
            <a:endParaRPr lang="en-US" dirty="0"/>
          </a:p>
        </p:txBody>
      </p:sp>
    </p:spTree>
    <p:extLst>
      <p:ext uri="{BB962C8B-B14F-4D97-AF65-F5344CB8AC3E}">
        <p14:creationId xmlns:p14="http://schemas.microsoft.com/office/powerpoint/2010/main" val="330970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C305-5847-F24E-9B86-C72E630AF277}"/>
              </a:ext>
            </a:extLst>
          </p:cNvPr>
          <p:cNvSpPr>
            <a:spLocks noGrp="1"/>
          </p:cNvSpPr>
          <p:nvPr>
            <p:ph type="title"/>
          </p:nvPr>
        </p:nvSpPr>
        <p:spPr>
          <a:xfrm>
            <a:off x="540418" y="546881"/>
            <a:ext cx="11315248" cy="785542"/>
          </a:xfrm>
        </p:spPr>
        <p:txBody>
          <a:bodyPr>
            <a:normAutofit/>
          </a:bodyPr>
          <a:lstStyle/>
          <a:p>
            <a:r>
              <a:rPr lang="en-US" sz="3200" dirty="0">
                <a:latin typeface="+mn-lt"/>
                <a:cs typeface="Times New Roman" panose="02020603050405020304" pitchFamily="18" charset="0"/>
              </a:rPr>
              <a:t>R-squared and correlation coefficient</a:t>
            </a:r>
          </a:p>
        </p:txBody>
      </p:sp>
      <p:sp>
        <p:nvSpPr>
          <p:cNvPr id="3" name="Content Placeholder 2">
            <a:extLst>
              <a:ext uri="{FF2B5EF4-FFF2-40B4-BE49-F238E27FC236}">
                <a16:creationId xmlns:a16="http://schemas.microsoft.com/office/drawing/2014/main" id="{00EB9200-1DF6-3846-8947-888DACA435FA}"/>
              </a:ext>
            </a:extLst>
          </p:cNvPr>
          <p:cNvSpPr>
            <a:spLocks noGrp="1"/>
          </p:cNvSpPr>
          <p:nvPr>
            <p:ph idx="1"/>
          </p:nvPr>
        </p:nvSpPr>
        <p:spPr>
          <a:xfrm>
            <a:off x="540418" y="1586230"/>
            <a:ext cx="9497367" cy="4419600"/>
          </a:xfrm>
        </p:spPr>
        <p:txBody>
          <a:bodyPr/>
          <a:lstStyle/>
          <a:p>
            <a:pPr>
              <a:lnSpc>
                <a:spcPct val="150000"/>
              </a:lnSpc>
            </a:pPr>
            <a:r>
              <a:rPr lang="en-GB" sz="2000" dirty="0">
                <a:latin typeface="Arial" panose="020B0604020202020204" pitchFamily="34" charset="0"/>
                <a:cs typeface="Arial" panose="020B0604020202020204" pitchFamily="34" charset="0"/>
              </a:rPr>
              <a:t>R-squared is the squared value of the correlation coefficient between the dependent and the independent variable, i.e. the correlation between the returns of the market index used as a proxy and a portfolio (security) whose beta we are estimating:</a:t>
            </a:r>
          </a:p>
          <a:p>
            <a:pPr>
              <a:lnSpc>
                <a:spcPct val="150000"/>
              </a:lnSpc>
            </a:pPr>
            <a:endParaRPr lang="en-GB" sz="2000" dirty="0">
              <a:latin typeface="Arial" panose="020B0604020202020204" pitchFamily="34" charset="0"/>
              <a:cs typeface="Arial" panose="020B0604020202020204" pitchFamily="34" charset="0"/>
            </a:endParaRPr>
          </a:p>
          <a:p>
            <a:pPr>
              <a:lnSpc>
                <a:spcPct val="150000"/>
              </a:lnSpc>
            </a:pPr>
            <a:r>
              <a:rPr lang="en-GB" sz="2000" dirty="0">
                <a:latin typeface="Arial" panose="020B0604020202020204" pitchFamily="34" charset="0"/>
                <a:cs typeface="Arial" panose="020B0604020202020204" pitchFamily="34" charset="0"/>
              </a:rPr>
              <a:t>If R</a:t>
            </a:r>
            <a:r>
              <a:rPr lang="en-GB" sz="2000" baseline="30000" dirty="0">
                <a:latin typeface="Arial" panose="020B0604020202020204" pitchFamily="34" charset="0"/>
                <a:cs typeface="Arial" panose="020B0604020202020204" pitchFamily="34" charset="0"/>
              </a:rPr>
              <a:t>2</a:t>
            </a:r>
            <a:r>
              <a:rPr lang="en-GB" sz="2000" dirty="0">
                <a:latin typeface="Arial" panose="020B0604020202020204" pitchFamily="34" charset="0"/>
                <a:cs typeface="Arial" panose="020B0604020202020204" pitchFamily="34" charset="0"/>
              </a:rPr>
              <a:t> in the market model regression is 0.81, what is the correlation coefficient between the market index and portfolio in that regression?</a:t>
            </a:r>
          </a:p>
          <a:p>
            <a:pPr>
              <a:lnSpc>
                <a:spcPct val="150000"/>
              </a:lnSpc>
            </a:pPr>
            <a:r>
              <a:rPr lang="en-GB" sz="2000" dirty="0">
                <a:latin typeface="Arial" panose="020B0604020202020204" pitchFamily="34" charset="0"/>
                <a:cs typeface="Arial" panose="020B0604020202020204" pitchFamily="34" charset="0"/>
              </a:rPr>
              <a:t>What additional information would you need to answer this question?</a:t>
            </a:r>
          </a:p>
          <a:p>
            <a:pPr marL="0" indent="0">
              <a:lnSpc>
                <a:spcPct val="100000"/>
              </a:lnSpc>
              <a:buNone/>
            </a:pPr>
            <a:endParaRPr lang="en-US"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799DB9BA-B596-FA4F-9CA4-90AAE4A22451}"/>
              </a:ext>
            </a:extLst>
          </p:cNvPr>
          <p:cNvSpPr>
            <a:spLocks noChangeArrowheads="1"/>
          </p:cNvSpPr>
          <p:nvPr/>
        </p:nvSpPr>
        <p:spPr bwMode="auto">
          <a:xfrm>
            <a:off x="1159726" y="2917741"/>
            <a:ext cx="28392000" cy="5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2AF939A1-3E23-974A-B626-11433064AE42}"/>
              </a:ext>
            </a:extLst>
          </p:cNvPr>
          <p:cNvGraphicFramePr>
            <a:graphicFrameLocks noChangeAspect="1"/>
          </p:cNvGraphicFramePr>
          <p:nvPr>
            <p:extLst>
              <p:ext uri="{D42A27DB-BD31-4B8C-83A1-F6EECF244321}">
                <p14:modId xmlns:p14="http://schemas.microsoft.com/office/powerpoint/2010/main" val="4046213973"/>
              </p:ext>
            </p:extLst>
          </p:nvPr>
        </p:nvGraphicFramePr>
        <p:xfrm>
          <a:off x="2325586" y="3429000"/>
          <a:ext cx="1467264" cy="606044"/>
        </p:xfrm>
        <a:graphic>
          <a:graphicData uri="http://schemas.openxmlformats.org/presentationml/2006/ole">
            <mc:AlternateContent xmlns:mc="http://schemas.openxmlformats.org/markup-compatibility/2006">
              <mc:Choice xmlns:v="urn:schemas-microsoft-com:vml" Requires="v">
                <p:oleObj r:id="rId2" imgW="584200" imgH="241300" progId="Equation.3">
                  <p:embed/>
                </p:oleObj>
              </mc:Choice>
              <mc:Fallback>
                <p:oleObj r:id="rId2" imgW="584200" imgH="241300" progId="Equation.3">
                  <p:embed/>
                  <p:pic>
                    <p:nvPicPr>
                      <p:cNvPr id="5" name="Object 4">
                        <a:extLst>
                          <a:ext uri="{FF2B5EF4-FFF2-40B4-BE49-F238E27FC236}">
                            <a16:creationId xmlns:a16="http://schemas.microsoft.com/office/drawing/2014/main" id="{2AF939A1-3E23-974A-B626-11433064A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5586" y="3429000"/>
                        <a:ext cx="1467264" cy="606044"/>
                      </a:xfrm>
                      <a:prstGeom prst="rect">
                        <a:avLst/>
                      </a:prstGeom>
                      <a:noFill/>
                    </p:spPr>
                  </p:pic>
                </p:oleObj>
              </mc:Fallback>
            </mc:AlternateContent>
          </a:graphicData>
        </a:graphic>
      </p:graphicFrame>
    </p:spTree>
    <p:extLst>
      <p:ext uri="{BB962C8B-B14F-4D97-AF65-F5344CB8AC3E}">
        <p14:creationId xmlns:p14="http://schemas.microsoft.com/office/powerpoint/2010/main" val="1288223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2BB0-8D49-CF47-A27C-F2BAE85FBA6A}"/>
              </a:ext>
            </a:extLst>
          </p:cNvPr>
          <p:cNvSpPr>
            <a:spLocks noGrp="1"/>
          </p:cNvSpPr>
          <p:nvPr>
            <p:ph type="title"/>
          </p:nvPr>
        </p:nvSpPr>
        <p:spPr>
          <a:xfrm>
            <a:off x="438376" y="559871"/>
            <a:ext cx="11315248" cy="785542"/>
          </a:xfrm>
        </p:spPr>
        <p:txBody>
          <a:bodyPr>
            <a:normAutofit/>
          </a:bodyPr>
          <a:lstStyle/>
          <a:p>
            <a:r>
              <a:rPr lang="en-US" sz="3200" dirty="0">
                <a:latin typeface="+mn-lt"/>
                <a:cs typeface="Times New Roman" panose="02020603050405020304" pitchFamily="18" charset="0"/>
              </a:rPr>
              <a:t>R-squared and diversification</a:t>
            </a:r>
          </a:p>
        </p:txBody>
      </p:sp>
      <p:sp>
        <p:nvSpPr>
          <p:cNvPr id="3" name="Content Placeholder 2">
            <a:extLst>
              <a:ext uri="{FF2B5EF4-FFF2-40B4-BE49-F238E27FC236}">
                <a16:creationId xmlns:a16="http://schemas.microsoft.com/office/drawing/2014/main" id="{A2BBA9D6-F26D-7144-91A0-0B9BE6E870AC}"/>
              </a:ext>
            </a:extLst>
          </p:cNvPr>
          <p:cNvSpPr>
            <a:spLocks noGrp="1"/>
          </p:cNvSpPr>
          <p:nvPr>
            <p:ph idx="1"/>
          </p:nvPr>
        </p:nvSpPr>
        <p:spPr>
          <a:xfrm>
            <a:off x="438376" y="1465520"/>
            <a:ext cx="9497367" cy="4398072"/>
          </a:xfrm>
        </p:spPr>
        <p:txBody>
          <a:bodyPr>
            <a:normAutofit fontScale="85000" lnSpcReduction="20000"/>
          </a:bodyPr>
          <a:lstStyle/>
          <a:p>
            <a:pPr>
              <a:lnSpc>
                <a:spcPct val="150000"/>
              </a:lnSpc>
            </a:pPr>
            <a:r>
              <a:rPr lang="en-GB" sz="2000" dirty="0">
                <a:latin typeface="Arial" panose="020B0604020202020204" pitchFamily="34" charset="0"/>
                <a:cs typeface="Arial" panose="020B0604020202020204" pitchFamily="34" charset="0"/>
              </a:rPr>
              <a:t>Higher R</a:t>
            </a:r>
            <a:r>
              <a:rPr lang="en-GB" sz="2000" baseline="30000" dirty="0">
                <a:latin typeface="Arial" panose="020B0604020202020204" pitchFamily="34" charset="0"/>
                <a:cs typeface="Arial" panose="020B0604020202020204" pitchFamily="34" charset="0"/>
              </a:rPr>
              <a:t>2</a:t>
            </a:r>
            <a:r>
              <a:rPr lang="en-GB" sz="2000" dirty="0">
                <a:latin typeface="Arial" panose="020B0604020202020204" pitchFamily="34" charset="0"/>
                <a:cs typeface="Arial" panose="020B0604020202020204" pitchFamily="34" charset="0"/>
              </a:rPr>
              <a:t> – more diversified portfolio</a:t>
            </a:r>
          </a:p>
          <a:p>
            <a:pPr>
              <a:lnSpc>
                <a:spcPct val="150000"/>
              </a:lnSpc>
            </a:pPr>
            <a:r>
              <a:rPr lang="en-GB" sz="2000" dirty="0">
                <a:latin typeface="Arial" panose="020B0604020202020204" pitchFamily="34" charset="0"/>
                <a:cs typeface="Arial" panose="020B0604020202020204" pitchFamily="34" charset="0"/>
              </a:rPr>
              <a:t>R</a:t>
            </a:r>
            <a:r>
              <a:rPr lang="en-GB" sz="2000" baseline="30000" dirty="0">
                <a:latin typeface="Arial" panose="020B0604020202020204" pitchFamily="34" charset="0"/>
                <a:cs typeface="Arial" panose="020B0604020202020204" pitchFamily="34" charset="0"/>
              </a:rPr>
              <a:t>2</a:t>
            </a:r>
            <a:r>
              <a:rPr lang="en-GB" sz="2000" dirty="0">
                <a:latin typeface="Arial" panose="020B0604020202020204" pitchFamily="34" charset="0"/>
                <a:cs typeface="Arial" panose="020B0604020202020204" pitchFamily="34" charset="0"/>
              </a:rPr>
              <a:t> shows the proportion of the market risk of a security (portfolio) in the total risk of a security (portfolio): </a:t>
            </a:r>
          </a:p>
          <a:p>
            <a:pPr>
              <a:lnSpc>
                <a:spcPct val="150000"/>
              </a:lnSpc>
            </a:pPr>
            <a:endParaRPr lang="en-GB" sz="2000" dirty="0">
              <a:latin typeface="Arial" panose="020B0604020202020204" pitchFamily="34" charset="0"/>
              <a:cs typeface="Arial" panose="020B0604020202020204" pitchFamily="34" charset="0"/>
            </a:endParaRPr>
          </a:p>
          <a:p>
            <a:pPr marL="0" indent="0">
              <a:lnSpc>
                <a:spcPct val="150000"/>
              </a:lnSpc>
              <a:buNone/>
            </a:pPr>
            <a:r>
              <a:rPr lang="en-GB" sz="2000" dirty="0">
                <a:latin typeface="Arial" panose="020B0604020202020204" pitchFamily="34" charset="0"/>
                <a:cs typeface="Arial" panose="020B0604020202020204" pitchFamily="34" charset="0"/>
              </a:rPr>
              <a:t>                                        </a:t>
            </a:r>
          </a:p>
          <a:p>
            <a:pPr marL="0" indent="0">
              <a:lnSpc>
                <a:spcPct val="150000"/>
              </a:lnSpc>
              <a:buNone/>
            </a:pPr>
            <a:r>
              <a:rPr lang="en-GB" sz="2000" dirty="0">
                <a:latin typeface="Arial" panose="020B0604020202020204" pitchFamily="34" charset="0"/>
                <a:cs typeface="Arial" panose="020B0604020202020204" pitchFamily="34" charset="0"/>
              </a:rPr>
              <a:t>        </a:t>
            </a:r>
          </a:p>
          <a:p>
            <a:pPr marL="0" indent="0">
              <a:lnSpc>
                <a:spcPct val="150000"/>
              </a:lnSpc>
              <a:buNone/>
            </a:pPr>
            <a:r>
              <a:rPr lang="en-GB" sz="2000" dirty="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a:p>
            <a:pPr>
              <a:lnSpc>
                <a:spcPct val="150000"/>
              </a:lnSpc>
            </a:pPr>
            <a:r>
              <a:rPr lang="en-GB" sz="2000" dirty="0">
                <a:latin typeface="Arial" panose="020B0604020202020204" pitchFamily="34" charset="0"/>
                <a:cs typeface="Arial" panose="020B0604020202020204" pitchFamily="34" charset="0"/>
              </a:rPr>
              <a:t>So, if portfolio has standard deviation of 10% and R</a:t>
            </a:r>
            <a:r>
              <a:rPr lang="en-GB" sz="2000" baseline="30000" dirty="0">
                <a:latin typeface="Arial" panose="020B0604020202020204" pitchFamily="34" charset="0"/>
                <a:cs typeface="Arial" panose="020B0604020202020204" pitchFamily="34" charset="0"/>
              </a:rPr>
              <a:t>2</a:t>
            </a:r>
            <a:r>
              <a:rPr lang="en-GB" sz="2000" dirty="0">
                <a:latin typeface="Arial" panose="020B0604020202020204" pitchFamily="34" charset="0"/>
                <a:cs typeface="Arial" panose="020B0604020202020204" pitchFamily="34" charset="0"/>
              </a:rPr>
              <a:t> from SIM regression of 0.81, the proportion of its systematic risk in the total risk is 81% and the value of its systematic risk is 0.0081 (= 0.1</a:t>
            </a:r>
            <a:r>
              <a:rPr lang="en-GB" sz="2000" baseline="30000" dirty="0">
                <a:latin typeface="Arial" panose="020B0604020202020204" pitchFamily="34" charset="0"/>
                <a:cs typeface="Arial" panose="020B0604020202020204" pitchFamily="34" charset="0"/>
              </a:rPr>
              <a:t>2</a:t>
            </a:r>
            <a:r>
              <a:rPr lang="en-GB" sz="2000" dirty="0">
                <a:latin typeface="Arial" panose="020B0604020202020204" pitchFamily="34" charset="0"/>
                <a:cs typeface="Arial" panose="020B0604020202020204" pitchFamily="34" charset="0"/>
              </a:rPr>
              <a:t>x0.81)</a:t>
            </a:r>
            <a:endParaRPr lang="en-US" sz="2000" dirty="0">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F47F7575-319A-BE46-9780-CDED6AF58281}"/>
              </a:ext>
            </a:extLst>
          </p:cNvPr>
          <p:cNvSpPr>
            <a:spLocks noChangeArrowheads="1"/>
          </p:cNvSpPr>
          <p:nvPr/>
        </p:nvSpPr>
        <p:spPr bwMode="auto">
          <a:xfrm>
            <a:off x="1170879" y="2877014"/>
            <a:ext cx="1720042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6" name="Rectangle 4">
            <a:extLst>
              <a:ext uri="{FF2B5EF4-FFF2-40B4-BE49-F238E27FC236}">
                <a16:creationId xmlns:a16="http://schemas.microsoft.com/office/drawing/2014/main" id="{DE0D33AB-6B3D-9347-B706-3EAA61D7EAA9}"/>
              </a:ext>
            </a:extLst>
          </p:cNvPr>
          <p:cNvSpPr>
            <a:spLocks noChangeArrowheads="1"/>
          </p:cNvSpPr>
          <p:nvPr/>
        </p:nvSpPr>
        <p:spPr bwMode="auto">
          <a:xfrm>
            <a:off x="3098179" y="2922732"/>
            <a:ext cx="1688296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9" name="Picture 8">
            <a:extLst>
              <a:ext uri="{FF2B5EF4-FFF2-40B4-BE49-F238E27FC236}">
                <a16:creationId xmlns:a16="http://schemas.microsoft.com/office/drawing/2014/main" id="{69484D52-2CB0-1F43-BD28-722AED43C0C8}"/>
              </a:ext>
            </a:extLst>
          </p:cNvPr>
          <p:cNvPicPr>
            <a:picLocks noChangeAspect="1"/>
          </p:cNvPicPr>
          <p:nvPr/>
        </p:nvPicPr>
        <p:blipFill>
          <a:blip r:embed="rId2"/>
          <a:stretch>
            <a:fillRect/>
          </a:stretch>
        </p:blipFill>
        <p:spPr>
          <a:xfrm>
            <a:off x="2095500" y="2877014"/>
            <a:ext cx="5486400" cy="1536700"/>
          </a:xfrm>
          <a:prstGeom prst="rect">
            <a:avLst/>
          </a:prstGeom>
        </p:spPr>
      </p:pic>
    </p:spTree>
    <p:extLst>
      <p:ext uri="{BB962C8B-B14F-4D97-AF65-F5344CB8AC3E}">
        <p14:creationId xmlns:p14="http://schemas.microsoft.com/office/powerpoint/2010/main" val="2003023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389D9-9E5B-8A4D-8C94-1D99C64CDC26}"/>
              </a:ext>
            </a:extLst>
          </p:cNvPr>
          <p:cNvSpPr>
            <a:spLocks noGrp="1"/>
          </p:cNvSpPr>
          <p:nvPr>
            <p:ph type="title"/>
          </p:nvPr>
        </p:nvSpPr>
        <p:spPr>
          <a:xfrm>
            <a:off x="437547" y="642333"/>
            <a:ext cx="11315248" cy="785542"/>
          </a:xfrm>
        </p:spPr>
        <p:txBody>
          <a:bodyPr/>
          <a:lstStyle/>
          <a:p>
            <a:r>
              <a:rPr lang="en-US" sz="3200" dirty="0">
                <a:latin typeface="Arial" panose="020B0604020202020204" pitchFamily="34" charset="0"/>
                <a:cs typeface="Arial" panose="020B0604020202020204" pitchFamily="34" charset="0"/>
              </a:rPr>
              <a:t>Estimating Betas - Issues</a:t>
            </a:r>
          </a:p>
        </p:txBody>
      </p:sp>
      <p:sp>
        <p:nvSpPr>
          <p:cNvPr id="3" name="Content Placeholder 2">
            <a:extLst>
              <a:ext uri="{FF2B5EF4-FFF2-40B4-BE49-F238E27FC236}">
                <a16:creationId xmlns:a16="http://schemas.microsoft.com/office/drawing/2014/main" id="{60E71FEF-C7EF-8E40-8CA9-FEE829CC7D99}"/>
              </a:ext>
            </a:extLst>
          </p:cNvPr>
          <p:cNvSpPr>
            <a:spLocks noGrp="1"/>
          </p:cNvSpPr>
          <p:nvPr>
            <p:ph idx="1"/>
          </p:nvPr>
        </p:nvSpPr>
        <p:spPr>
          <a:xfrm>
            <a:off x="437547" y="1427875"/>
            <a:ext cx="9497367" cy="4419600"/>
          </a:xfrm>
        </p:spPr>
        <p:txBody>
          <a:bodyPr/>
          <a:lstStyle/>
          <a:p>
            <a:pPr>
              <a:lnSpc>
                <a:spcPct val="150000"/>
              </a:lnSpc>
              <a:spcAft>
                <a:spcPts val="600"/>
              </a:spcAft>
            </a:pPr>
            <a:r>
              <a:rPr lang="en-US" sz="2000" dirty="0">
                <a:latin typeface="Arial" panose="020B0604020202020204" pitchFamily="34" charset="0"/>
                <a:cs typeface="Arial" panose="020B0604020202020204" pitchFamily="34" charset="0"/>
              </a:rPr>
              <a:t>Use of historical data (typically 60 months, but could be more or less)</a:t>
            </a:r>
          </a:p>
          <a:p>
            <a:pPr>
              <a:lnSpc>
                <a:spcPct val="150000"/>
              </a:lnSpc>
              <a:spcAft>
                <a:spcPts val="600"/>
              </a:spcAft>
            </a:pPr>
            <a:r>
              <a:rPr lang="en-US" sz="2000" dirty="0">
                <a:latin typeface="Arial" panose="020B0604020202020204" pitchFamily="34" charset="0"/>
                <a:cs typeface="Arial" panose="020B0604020202020204" pitchFamily="34" charset="0"/>
              </a:rPr>
              <a:t>Constant from a model</a:t>
            </a:r>
          </a:p>
          <a:p>
            <a:pPr>
              <a:lnSpc>
                <a:spcPct val="150000"/>
              </a:lnSpc>
              <a:spcAft>
                <a:spcPts val="600"/>
              </a:spcAft>
            </a:pPr>
            <a:r>
              <a:rPr lang="en-US" sz="2000" dirty="0">
                <a:latin typeface="Arial" panose="020B0604020202020204" pitchFamily="34" charset="0"/>
                <a:cs typeface="Arial" panose="020B0604020202020204" pitchFamily="34" charset="0"/>
              </a:rPr>
              <a:t>In reality: time varying betas</a:t>
            </a:r>
          </a:p>
          <a:p>
            <a:pPr>
              <a:lnSpc>
                <a:spcPct val="150000"/>
              </a:lnSpc>
              <a:spcAft>
                <a:spcPts val="600"/>
              </a:spcAft>
            </a:pPr>
            <a:r>
              <a:rPr lang="en-US" sz="2000" dirty="0">
                <a:latin typeface="Arial" panose="020B0604020202020204" pitchFamily="34" charset="0"/>
                <a:cs typeface="Arial" panose="020B0604020202020204" pitchFamily="34" charset="0"/>
              </a:rPr>
              <a:t>Estimation errors</a:t>
            </a:r>
          </a:p>
          <a:p>
            <a:pPr lvl="1">
              <a:lnSpc>
                <a:spcPct val="150000"/>
              </a:lnSpc>
              <a:spcAft>
                <a:spcPts val="600"/>
              </a:spcAft>
            </a:pPr>
            <a:r>
              <a:rPr lang="en-US" sz="2000" dirty="0">
                <a:latin typeface="Arial" panose="020B0604020202020204" pitchFamily="34" charset="0"/>
                <a:cs typeface="Arial" panose="020B0604020202020204" pitchFamily="34" charset="0"/>
              </a:rPr>
              <a:t>Smaller for a diversified portfolio than for individual security</a:t>
            </a:r>
          </a:p>
          <a:p>
            <a:endParaRPr lang="en-US" dirty="0"/>
          </a:p>
        </p:txBody>
      </p:sp>
    </p:spTree>
    <p:extLst>
      <p:ext uri="{BB962C8B-B14F-4D97-AF65-F5344CB8AC3E}">
        <p14:creationId xmlns:p14="http://schemas.microsoft.com/office/powerpoint/2010/main" val="648627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A7AF-E3B0-7F46-B889-8893064944E9}"/>
              </a:ext>
            </a:extLst>
          </p:cNvPr>
          <p:cNvSpPr>
            <a:spLocks noGrp="1"/>
          </p:cNvSpPr>
          <p:nvPr>
            <p:ph type="title"/>
          </p:nvPr>
        </p:nvSpPr>
        <p:spPr>
          <a:xfrm>
            <a:off x="665264" y="235433"/>
            <a:ext cx="11315248" cy="785542"/>
          </a:xfrm>
        </p:spPr>
        <p:txBody>
          <a:bodyPr>
            <a:normAutofit/>
          </a:bodyPr>
          <a:lstStyle/>
          <a:p>
            <a:r>
              <a:rPr lang="en-US" sz="3200" dirty="0">
                <a:latin typeface="+mn-lt"/>
                <a:cs typeface="Times New Roman" panose="02020603050405020304" pitchFamily="18" charset="0"/>
              </a:rPr>
              <a:t>Adjusted beta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BB7C55-145D-9845-8300-C8E2138E296D}"/>
                  </a:ext>
                </a:extLst>
              </p:cNvPr>
              <p:cNvSpPr>
                <a:spLocks noGrp="1"/>
              </p:cNvSpPr>
              <p:nvPr>
                <p:ph idx="1"/>
              </p:nvPr>
            </p:nvSpPr>
            <p:spPr>
              <a:xfrm>
                <a:off x="516674" y="872694"/>
                <a:ext cx="10515600" cy="4587449"/>
              </a:xfrm>
            </p:spPr>
            <p:txBody>
              <a:bodyPr>
                <a:noAutofit/>
              </a:bodyPr>
              <a:lstStyle/>
              <a:p>
                <a:pPr>
                  <a:lnSpc>
                    <a:spcPct val="150000"/>
                  </a:lnSpc>
                  <a:spcBef>
                    <a:spcPts val="0"/>
                  </a:spcBef>
                </a:pPr>
                <a:r>
                  <a:rPr lang="en-US" sz="2000" dirty="0">
                    <a:latin typeface="Arial" panose="020B0604020202020204" pitchFamily="34" charset="0"/>
                    <a:cs typeface="Arial" panose="020B0604020202020204" pitchFamily="34" charset="0"/>
                  </a:rPr>
                  <a:t>Betas estimates from historical data are not random </a:t>
                </a:r>
              </a:p>
              <a:p>
                <a:pPr>
                  <a:lnSpc>
                    <a:spcPct val="150000"/>
                  </a:lnSpc>
                  <a:spcBef>
                    <a:spcPts val="0"/>
                  </a:spcBef>
                </a:pPr>
                <a:r>
                  <a:rPr lang="en-GB" sz="2000" dirty="0">
                    <a:latin typeface="Arial" panose="020B0604020202020204" pitchFamily="34" charset="0"/>
                    <a:cs typeface="Arial" panose="020B0604020202020204" pitchFamily="34" charset="0"/>
                  </a:rPr>
                  <a:t>On the average, the betas of stocks are mean reverting and approach the mean market beta </a:t>
                </a:r>
              </a:p>
              <a:p>
                <a:pPr>
                  <a:lnSpc>
                    <a:spcPct val="150000"/>
                  </a:lnSpc>
                  <a:spcBef>
                    <a:spcPts val="0"/>
                  </a:spcBef>
                </a:pPr>
                <a:r>
                  <a:rPr lang="en-GB" sz="2000" dirty="0">
                    <a:latin typeface="Arial" panose="020B0604020202020204" pitchFamily="34" charset="0"/>
                    <a:cs typeface="Arial" panose="020B0604020202020204" pitchFamily="34" charset="0"/>
                  </a:rPr>
                  <a:t>Also, as many companies become more diversified over time, their betas approach 1 as more and more of the company-specific risk is eliminated</a:t>
                </a:r>
              </a:p>
              <a:p>
                <a:pPr>
                  <a:lnSpc>
                    <a:spcPct val="150000"/>
                  </a:lnSpc>
                  <a:spcBef>
                    <a:spcPts val="0"/>
                  </a:spcBef>
                </a:pPr>
                <a:r>
                  <a:rPr lang="en-GB" sz="2000" dirty="0">
                    <a:latin typeface="Arial" panose="020B0604020202020204" pitchFamily="34" charset="0"/>
                    <a:cs typeface="Arial" panose="020B0604020202020204" pitchFamily="34" charset="0"/>
                  </a:rPr>
                  <a:t>To take into account this tendency of estimated betas to approach 1, practitioners often use adjusted beta coefficients</a:t>
                </a:r>
              </a:p>
              <a:p>
                <a:pPr>
                  <a:lnSpc>
                    <a:spcPct val="150000"/>
                  </a:lnSpc>
                  <a:spcBef>
                    <a:spcPts val="0"/>
                  </a:spcBef>
                </a:pPr>
                <a:r>
                  <a:rPr lang="en-GB" sz="2000" dirty="0">
                    <a:latin typeface="Arial" panose="020B0604020202020204" pitchFamily="34" charset="0"/>
                    <a:cs typeface="Arial" panose="020B0604020202020204" pitchFamily="34" charset="0"/>
                  </a:rPr>
                  <a:t>One popular approach is given by Merrill Lynch: </a:t>
                </a:r>
              </a:p>
              <a:p>
                <a:pPr marL="0" indent="0">
                  <a:lnSpc>
                    <a:spcPct val="150000"/>
                  </a:lnSpc>
                  <a:spcBef>
                    <a:spcPts val="0"/>
                  </a:spcBef>
                  <a:buNone/>
                </a:pPr>
                <a:r>
                  <a:rPr lang="en-US" sz="2000" dirty="0">
                    <a:latin typeface="Arial" panose="020B0604020202020204" pitchFamily="34" charset="0"/>
                    <a:cs typeface="Arial" panose="020B0604020202020204" pitchFamily="34" charset="0"/>
                  </a:rPr>
                  <a:t>   </a:t>
                </a:r>
              </a:p>
              <a:p>
                <a:pPr marL="0" indent="0">
                  <a:lnSpc>
                    <a:spcPct val="150000"/>
                  </a:lnSpc>
                  <a:spcBef>
                    <a:spcPts val="0"/>
                  </a:spcBef>
                  <a:buNone/>
                </a:pPr>
                <a:endParaRPr lang="en-US" sz="2000" i="1" dirty="0">
                  <a:latin typeface="Arial" panose="020B0604020202020204" pitchFamily="34" charset="0"/>
                  <a:cs typeface="Arial" panose="020B0604020202020204" pitchFamily="34" charset="0"/>
                </a:endParaRPr>
              </a:p>
              <a:p>
                <a:pPr marL="0" indent="0">
                  <a:lnSpc>
                    <a:spcPct val="150000"/>
                  </a:lnSpc>
                  <a:spcBef>
                    <a:spcPts val="0"/>
                  </a:spcBef>
                  <a:buNone/>
                </a:pPr>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000" i="1" smtClean="0">
                            <a:latin typeface="Cambria Math" panose="02040503050406030204" pitchFamily="18" charset="0"/>
                            <a:ea typeface="Cambria Math" panose="02040503050406030204" pitchFamily="18" charset="0"/>
                            <a:cs typeface="Times New Roman" panose="02020603050405020304" pitchFamily="18" charset="0"/>
                          </a:rPr>
                          <m:t>𝛽</m:t>
                        </m:r>
                      </m:e>
                      <m:sub>
                        <m:r>
                          <a:rPr lang="en-US" sz="2000" b="0" i="1" smtClean="0">
                            <a:latin typeface="Cambria Math" panose="02040503050406030204" pitchFamily="18" charset="0"/>
                            <a:cs typeface="Times New Roman" panose="02020603050405020304" pitchFamily="18" charset="0"/>
                          </a:rPr>
                          <m:t>𝐴</m:t>
                        </m:r>
                      </m:sub>
                    </m:sSub>
                  </m:oMath>
                </a14:m>
                <a:r>
                  <a:rPr lang="en-US" sz="2000" dirty="0">
                    <a:latin typeface="Arial" panose="020B0604020202020204" pitchFamily="34" charset="0"/>
                    <a:cs typeface="Arial" panose="020B0604020202020204" pitchFamily="34" charset="0"/>
                  </a:rPr>
                  <a:t> = adjusted beta; </a:t>
                </a:r>
                <a14:m>
                  <m:oMath xmlns:m="http://schemas.openxmlformats.org/officeDocument/2006/math">
                    <m:sSub>
                      <m:sSub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ea typeface="Cambria Math" panose="02040503050406030204" pitchFamily="18" charset="0"/>
                            <a:cs typeface="Times New Roman" panose="02020603050405020304" pitchFamily="18" charset="0"/>
                          </a:rPr>
                          <m:t>𝛽</m:t>
                        </m:r>
                      </m:e>
                      <m:sub>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𝐸</m:t>
                        </m:r>
                      </m:sub>
                    </m:sSub>
                  </m:oMath>
                </a14:m>
                <a:r>
                  <a:rPr lang="en-US" sz="2000" dirty="0">
                    <a:latin typeface="Arial" panose="020B0604020202020204" pitchFamily="34" charset="0"/>
                    <a:cs typeface="Arial" panose="020B0604020202020204" pitchFamily="34" charset="0"/>
                  </a:rPr>
                  <a:t>= estimated beta </a:t>
                </a:r>
              </a:p>
              <a:p>
                <a:pPr>
                  <a:lnSpc>
                    <a:spcPct val="150000"/>
                  </a:lnSpc>
                  <a:spcBef>
                    <a:spcPts val="0"/>
                  </a:spcBef>
                </a:pPr>
                <a:r>
                  <a:rPr lang="en-US" sz="2000" dirty="0">
                    <a:latin typeface="Arial" panose="020B0604020202020204" pitchFamily="34" charset="0"/>
                    <a:cs typeface="Arial" panose="020B0604020202020204" pitchFamily="34" charset="0"/>
                  </a:rPr>
                  <a:t>Evidence: adjusted beta is better predictor of future beta than the estimated one</a:t>
                </a:r>
              </a:p>
            </p:txBody>
          </p:sp>
        </mc:Choice>
        <mc:Fallback xmlns="">
          <p:sp>
            <p:nvSpPr>
              <p:cNvPr id="3" name="Content Placeholder 2">
                <a:extLst>
                  <a:ext uri="{FF2B5EF4-FFF2-40B4-BE49-F238E27FC236}">
                    <a16:creationId xmlns:a16="http://schemas.microsoft.com/office/drawing/2014/main" id="{DEBB7C55-145D-9845-8300-C8E2138E296D}"/>
                  </a:ext>
                </a:extLst>
              </p:cNvPr>
              <p:cNvSpPr>
                <a:spLocks noGrp="1" noRot="1" noChangeAspect="1" noMove="1" noResize="1" noEditPoints="1" noAdjustHandles="1" noChangeArrowheads="1" noChangeShapeType="1" noTextEdit="1"/>
              </p:cNvSpPr>
              <p:nvPr>
                <p:ph idx="1"/>
              </p:nvPr>
            </p:nvSpPr>
            <p:spPr>
              <a:xfrm>
                <a:off x="516674" y="872694"/>
                <a:ext cx="10515600" cy="4587449"/>
              </a:xfrm>
              <a:blipFill>
                <a:blip r:embed="rId2"/>
                <a:stretch>
                  <a:fillRect l="-483" b="-22590"/>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B55B6160-4AB1-034F-964A-F834FF1CA44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B953695B-8A3D-7441-8C81-7E025E18F1E3}"/>
              </a:ext>
            </a:extLst>
          </p:cNvPr>
          <p:cNvGraphicFramePr>
            <a:graphicFrameLocks noChangeAspect="1"/>
          </p:cNvGraphicFramePr>
          <p:nvPr>
            <p:extLst>
              <p:ext uri="{D42A27DB-BD31-4B8C-83A1-F6EECF244321}">
                <p14:modId xmlns:p14="http://schemas.microsoft.com/office/powerpoint/2010/main" val="2599118496"/>
              </p:ext>
            </p:extLst>
          </p:nvPr>
        </p:nvGraphicFramePr>
        <p:xfrm>
          <a:off x="1281749" y="4879561"/>
          <a:ext cx="2141034" cy="728863"/>
        </p:xfrm>
        <a:graphic>
          <a:graphicData uri="http://schemas.openxmlformats.org/presentationml/2006/ole">
            <mc:AlternateContent xmlns:mc="http://schemas.openxmlformats.org/markup-compatibility/2006">
              <mc:Choice xmlns:v="urn:schemas-microsoft-com:vml" Requires="v">
                <p:oleObj r:id="rId3" imgW="1041400" imgH="355600" progId="Equation.3">
                  <p:embed/>
                </p:oleObj>
              </mc:Choice>
              <mc:Fallback>
                <p:oleObj r:id="rId3" imgW="1041400" imgH="355600" progId="Equation.3">
                  <p:embed/>
                  <p:pic>
                    <p:nvPicPr>
                      <p:cNvPr id="5" name="Object 4">
                        <a:extLst>
                          <a:ext uri="{FF2B5EF4-FFF2-40B4-BE49-F238E27FC236}">
                            <a16:creationId xmlns:a16="http://schemas.microsoft.com/office/drawing/2014/main" id="{B953695B-8A3D-7441-8C81-7E025E18F1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1749" y="4879561"/>
                        <a:ext cx="2141034" cy="728863"/>
                      </a:xfrm>
                      <a:prstGeom prst="rect">
                        <a:avLst/>
                      </a:prstGeom>
                      <a:noFill/>
                    </p:spPr>
                  </p:pic>
                </p:oleObj>
              </mc:Fallback>
            </mc:AlternateContent>
          </a:graphicData>
        </a:graphic>
      </p:graphicFrame>
    </p:spTree>
    <p:extLst>
      <p:ext uri="{BB962C8B-B14F-4D97-AF65-F5344CB8AC3E}">
        <p14:creationId xmlns:p14="http://schemas.microsoft.com/office/powerpoint/2010/main" val="3020111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8606D-DDA7-7B45-BDBA-62B33CC7D449}"/>
              </a:ext>
            </a:extLst>
          </p:cNvPr>
          <p:cNvSpPr>
            <a:spLocks noGrp="1"/>
          </p:cNvSpPr>
          <p:nvPr>
            <p:ph type="title"/>
          </p:nvPr>
        </p:nvSpPr>
        <p:spPr>
          <a:xfrm>
            <a:off x="438376" y="653763"/>
            <a:ext cx="11315248" cy="785542"/>
          </a:xfrm>
        </p:spPr>
        <p:txBody>
          <a:bodyPr/>
          <a:lstStyle/>
          <a:p>
            <a:r>
              <a:rPr lang="en-US" sz="3200" dirty="0">
                <a:latin typeface="Arial" panose="020B0604020202020204" pitchFamily="34" charset="0"/>
                <a:cs typeface="Arial" panose="020B0604020202020204" pitchFamily="34" charset="0"/>
              </a:rPr>
              <a:t>Adjusted Beta -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499A43-E7AB-314A-BDB8-E3457F0AA2BF}"/>
                  </a:ext>
                </a:extLst>
              </p:cNvPr>
              <p:cNvSpPr>
                <a:spLocks noGrp="1"/>
              </p:cNvSpPr>
              <p:nvPr>
                <p:ph idx="1"/>
              </p:nvPr>
            </p:nvSpPr>
            <p:spPr>
              <a:xfrm>
                <a:off x="438376" y="1439305"/>
                <a:ext cx="9497367" cy="4419600"/>
              </a:xfrm>
            </p:spPr>
            <p:txBody>
              <a:bodyPr/>
              <a:lstStyle/>
              <a:p>
                <a:pPr>
                  <a:lnSpc>
                    <a:spcPct val="150000"/>
                  </a:lnSpc>
                </a:pPr>
                <a:r>
                  <a:rPr lang="en-US" sz="2000" dirty="0">
                    <a:latin typeface="Arial" panose="020B0604020202020204" pitchFamily="34" charset="0"/>
                    <a:cs typeface="Arial" panose="020B0604020202020204" pitchFamily="34" charset="0"/>
                  </a:rPr>
                  <a:t>If the estimated beta of ABC PLC is 1.145, what is its adjusted beta?</a:t>
                </a:r>
              </a:p>
              <a:p>
                <a:pPr>
                  <a:lnSpc>
                    <a:spcPct val="150000"/>
                  </a:lnSpc>
                </a:pPr>
                <a:r>
                  <a:rPr lang="en-US" sz="2000" dirty="0">
                    <a:latin typeface="Arial" panose="020B0604020202020204" pitchFamily="34" charset="0"/>
                    <a:cs typeface="Arial" panose="020B0604020202020204" pitchFamily="34" charset="0"/>
                  </a:rPr>
                  <a:t>The Adjusted beta is:</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𝐴</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3</m:t>
                          </m:r>
                        </m:den>
                      </m:f>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𝐸</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GB" sz="2000" b="0" i="1" smtClean="0">
                              <a:latin typeface="Cambria Math" panose="02040503050406030204" pitchFamily="18" charset="0"/>
                            </a:rPr>
                            <m:t>3</m:t>
                          </m:r>
                        </m:den>
                      </m:f>
                      <m:r>
                        <a:rPr lang="en-US" sz="2000" b="0" i="1" smtClean="0">
                          <a:latin typeface="Cambria Math" panose="02040503050406030204" pitchFamily="18" charset="0"/>
                        </a:rPr>
                        <m:t>𝑥</m:t>
                      </m:r>
                      <m:r>
                        <a:rPr lang="en-US" sz="2000" b="0" i="1" smtClean="0">
                          <a:latin typeface="Cambria Math" panose="02040503050406030204" pitchFamily="18" charset="0"/>
                        </a:rPr>
                        <m:t>1=</m:t>
                      </m:r>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3</m:t>
                          </m:r>
                        </m:den>
                      </m:f>
                      <m:r>
                        <a:rPr lang="en-US" sz="2000" b="0" i="1" smtClean="0">
                          <a:latin typeface="Cambria Math" panose="02040503050406030204" pitchFamily="18" charset="0"/>
                        </a:rPr>
                        <m:t>1.145</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GB" sz="2000" b="0" i="1" smtClean="0">
                              <a:latin typeface="Cambria Math" panose="02040503050406030204" pitchFamily="18" charset="0"/>
                            </a:rPr>
                            <m:t>3</m:t>
                          </m:r>
                        </m:den>
                      </m:f>
                      <m:r>
                        <a:rPr lang="en-US" sz="2000" i="1">
                          <a:latin typeface="Cambria Math" panose="02040503050406030204" pitchFamily="18" charset="0"/>
                        </a:rPr>
                        <m:t>𝑥</m:t>
                      </m:r>
                      <m:r>
                        <a:rPr lang="en-US" sz="2000" i="1">
                          <a:latin typeface="Cambria Math" panose="02040503050406030204" pitchFamily="18" charset="0"/>
                        </a:rPr>
                        <m:t>1=1.097</m:t>
                      </m:r>
                    </m:oMath>
                  </m:oMathPara>
                </a14:m>
                <a:endParaRPr lang="en-US" sz="2000" dirty="0">
                  <a:latin typeface="Arial" panose="020B0604020202020204" pitchFamily="34" charset="0"/>
                  <a:ea typeface="Cambria Math" panose="02040503050406030204" pitchFamily="18" charset="0"/>
                  <a:cs typeface="Arial" panose="020B0604020202020204" pitchFamily="34" charset="0"/>
                </a:endParaRPr>
              </a:p>
              <a:p>
                <a:pPr>
                  <a:lnSpc>
                    <a:spcPct val="150000"/>
                  </a:lnSpc>
                </a:pPr>
                <a:endParaRPr lang="en-US" sz="2000" dirty="0">
                  <a:latin typeface="Arial" panose="020B0604020202020204" pitchFamily="34" charset="0"/>
                  <a:ea typeface="Cambria Math" panose="02040503050406030204" pitchFamily="18" charset="0"/>
                  <a:cs typeface="Arial" panose="020B0604020202020204" pitchFamily="34" charset="0"/>
                </a:endParaRPr>
              </a:p>
              <a:p>
                <a:pPr>
                  <a:lnSpc>
                    <a:spcPct val="150000"/>
                  </a:lnSpc>
                </a:pPr>
                <a:r>
                  <a:rPr lang="en-US" sz="2000" dirty="0">
                    <a:solidFill>
                      <a:srgbClr val="0070C0"/>
                    </a:solidFill>
                    <a:latin typeface="Arial" panose="020B0604020202020204" pitchFamily="34" charset="0"/>
                    <a:ea typeface="Cambria Math" panose="02040503050406030204" pitchFamily="18" charset="0"/>
                    <a:cs typeface="Arial" panose="020B0604020202020204" pitchFamily="34" charset="0"/>
                  </a:rPr>
                  <a:t>Conclusion:</a:t>
                </a:r>
                <a:r>
                  <a:rPr lang="en-US" sz="2000" dirty="0">
                    <a:latin typeface="Arial" panose="020B0604020202020204" pitchFamily="34" charset="0"/>
                    <a:ea typeface="Cambria Math" panose="02040503050406030204" pitchFamily="18" charset="0"/>
                    <a:cs typeface="Arial" panose="020B0604020202020204" pitchFamily="34" charset="0"/>
                  </a:rPr>
                  <a:t> Adjusted beta emphasizes the point that past betas may not be the best estimates of future betas, as betas seem to drift towards 1 over time.</a:t>
                </a:r>
              </a:p>
              <a:p>
                <a:pPr>
                  <a:lnSpc>
                    <a:spcPct val="150000"/>
                  </a:lnSpc>
                </a:pPr>
                <a:endParaRPr lang="en-US" sz="2000" dirty="0">
                  <a:latin typeface="Arial" panose="020B0604020202020204" pitchFamily="34" charset="0"/>
                  <a:cs typeface="Arial" panose="020B0604020202020204" pitchFamily="34" charset="0"/>
                </a:endParaRPr>
              </a:p>
              <a:p>
                <a:endParaRPr lang="en-US" dirty="0"/>
              </a:p>
            </p:txBody>
          </p:sp>
        </mc:Choice>
        <mc:Fallback xmlns="">
          <p:sp>
            <p:nvSpPr>
              <p:cNvPr id="3" name="Content Placeholder 2">
                <a:extLst>
                  <a:ext uri="{FF2B5EF4-FFF2-40B4-BE49-F238E27FC236}">
                    <a16:creationId xmlns:a16="http://schemas.microsoft.com/office/drawing/2014/main" id="{11499A43-E7AB-314A-BDB8-E3457F0AA2BF}"/>
                  </a:ext>
                </a:extLst>
              </p:cNvPr>
              <p:cNvSpPr>
                <a:spLocks noGrp="1" noRot="1" noChangeAspect="1" noMove="1" noResize="1" noEditPoints="1" noAdjustHandles="1" noChangeArrowheads="1" noChangeShapeType="1" noTextEdit="1"/>
              </p:cNvSpPr>
              <p:nvPr>
                <p:ph idx="1"/>
              </p:nvPr>
            </p:nvSpPr>
            <p:spPr>
              <a:xfrm>
                <a:off x="438376" y="1439305"/>
                <a:ext cx="9497367" cy="4419600"/>
              </a:xfrm>
              <a:blipFill>
                <a:blip r:embed="rId2"/>
                <a:stretch>
                  <a:fillRect l="-1602"/>
                </a:stretch>
              </a:blipFill>
            </p:spPr>
            <p:txBody>
              <a:bodyPr/>
              <a:lstStyle/>
              <a:p>
                <a:r>
                  <a:rPr lang="en-US">
                    <a:noFill/>
                  </a:rPr>
                  <a:t> </a:t>
                </a:r>
              </a:p>
            </p:txBody>
          </p:sp>
        </mc:Fallback>
      </mc:AlternateContent>
    </p:spTree>
    <p:extLst>
      <p:ext uri="{BB962C8B-B14F-4D97-AF65-F5344CB8AC3E}">
        <p14:creationId xmlns:p14="http://schemas.microsoft.com/office/powerpoint/2010/main" val="2603097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6496C3-EFAA-354C-96B7-0238A7EC4B0A}"/>
              </a:ext>
            </a:extLst>
          </p:cNvPr>
          <p:cNvSpPr>
            <a:spLocks noGrp="1"/>
          </p:cNvSpPr>
          <p:nvPr>
            <p:ph type="title"/>
          </p:nvPr>
        </p:nvSpPr>
        <p:spPr/>
        <p:txBody>
          <a:bodyPr/>
          <a:lstStyle/>
          <a:p>
            <a:r>
              <a:rPr lang="en-US" sz="3600" dirty="0"/>
              <a:t>Multi-factor models</a:t>
            </a:r>
          </a:p>
        </p:txBody>
      </p:sp>
      <p:sp>
        <p:nvSpPr>
          <p:cNvPr id="5" name="Text Placeholder 4">
            <a:extLst>
              <a:ext uri="{FF2B5EF4-FFF2-40B4-BE49-F238E27FC236}">
                <a16:creationId xmlns:a16="http://schemas.microsoft.com/office/drawing/2014/main" id="{738491F0-B732-D04F-BF2F-297F1223DC77}"/>
              </a:ext>
            </a:extLst>
          </p:cNvPr>
          <p:cNvSpPr>
            <a:spLocks noGrp="1"/>
          </p:cNvSpPr>
          <p:nvPr>
            <p:ph type="body" sz="half" idx="2"/>
          </p:nvPr>
        </p:nvSpPr>
        <p:spPr/>
        <p:txBody>
          <a:bodyPr/>
          <a:lstStyle/>
          <a:p>
            <a:endParaRPr lang="en-US"/>
          </a:p>
        </p:txBody>
      </p:sp>
      <p:sp>
        <p:nvSpPr>
          <p:cNvPr id="6" name="Text Placeholder 5">
            <a:extLst>
              <a:ext uri="{FF2B5EF4-FFF2-40B4-BE49-F238E27FC236}">
                <a16:creationId xmlns:a16="http://schemas.microsoft.com/office/drawing/2014/main" id="{90C57209-F5CC-C846-84F7-E682D83165B5}"/>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1880259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D82EF9-6F32-F3DA-0E06-1069E98EF904}"/>
              </a:ext>
            </a:extLst>
          </p:cNvPr>
          <p:cNvSpPr>
            <a:spLocks noGrp="1"/>
          </p:cNvSpPr>
          <p:nvPr>
            <p:ph type="title"/>
          </p:nvPr>
        </p:nvSpPr>
        <p:spPr>
          <a:xfrm>
            <a:off x="848497" y="365125"/>
            <a:ext cx="10515600" cy="1325563"/>
          </a:xfrm>
        </p:spPr>
        <p:txBody>
          <a:bodyPr>
            <a:normAutofit/>
          </a:bodyPr>
          <a:lstStyle/>
          <a:p>
            <a:r>
              <a:rPr lang="en-US" sz="3200" dirty="0">
                <a:latin typeface="Arial" panose="020B0604020202020204" pitchFamily="34" charset="0"/>
                <a:cs typeface="Arial" panose="020B0604020202020204" pitchFamily="34" charset="0"/>
              </a:rPr>
              <a:t>Why multi-factor models?</a:t>
            </a:r>
          </a:p>
        </p:txBody>
      </p:sp>
      <p:sp>
        <p:nvSpPr>
          <p:cNvPr id="6" name="Content Placeholder 5">
            <a:extLst>
              <a:ext uri="{FF2B5EF4-FFF2-40B4-BE49-F238E27FC236}">
                <a16:creationId xmlns:a16="http://schemas.microsoft.com/office/drawing/2014/main" id="{F6FEFA17-1686-EAAE-FB70-ED5A697C9991}"/>
              </a:ext>
            </a:extLst>
          </p:cNvPr>
          <p:cNvSpPr>
            <a:spLocks noGrp="1"/>
          </p:cNvSpPr>
          <p:nvPr>
            <p:ph idx="1"/>
          </p:nvPr>
        </p:nvSpPr>
        <p:spPr>
          <a:xfrm>
            <a:off x="827903" y="1516706"/>
            <a:ext cx="10515600" cy="4351338"/>
          </a:xfrm>
        </p:spPr>
        <p:txBody>
          <a:bodyPr>
            <a:normAutofit fontScale="92500"/>
          </a:bodyPr>
          <a:lstStyle/>
          <a:p>
            <a:pPr>
              <a:lnSpc>
                <a:spcPct val="150000"/>
              </a:lnSpc>
            </a:pPr>
            <a:r>
              <a:rPr lang="en-US" sz="2600" dirty="0">
                <a:latin typeface="Arial" panose="020B0604020202020204" pitchFamily="34" charset="0"/>
                <a:cs typeface="Arial" panose="020B0604020202020204" pitchFamily="34" charset="0"/>
              </a:rPr>
              <a:t>Can we really hold the Market portfolio, as defined by the CAPM? </a:t>
            </a:r>
            <a:r>
              <a:rPr lang="en-US" sz="2600" dirty="0">
                <a:solidFill>
                  <a:srgbClr val="FF0000"/>
                </a:solidFill>
                <a:latin typeface="Arial" panose="020B0604020202020204" pitchFamily="34" charset="0"/>
                <a:cs typeface="Arial" panose="020B0604020202020204" pitchFamily="34" charset="0"/>
              </a:rPr>
              <a:t>NO!</a:t>
            </a:r>
          </a:p>
          <a:p>
            <a:pPr>
              <a:lnSpc>
                <a:spcPct val="150000"/>
              </a:lnSpc>
            </a:pPr>
            <a:r>
              <a:rPr lang="en-US" sz="2600" dirty="0">
                <a:latin typeface="Arial" panose="020B0604020202020204" pitchFamily="34" charset="0"/>
                <a:cs typeface="Arial" panose="020B0604020202020204" pitchFamily="34" charset="0"/>
              </a:rPr>
              <a:t>Is market the only factor that explains movements in portfolio returns? </a:t>
            </a:r>
            <a:r>
              <a:rPr lang="en-US" sz="2600" dirty="0">
                <a:solidFill>
                  <a:srgbClr val="FF0000"/>
                </a:solidFill>
                <a:latin typeface="Arial" panose="020B0604020202020204" pitchFamily="34" charset="0"/>
                <a:cs typeface="Arial" panose="020B0604020202020204" pitchFamily="34" charset="0"/>
              </a:rPr>
              <a:t>NO!</a:t>
            </a:r>
          </a:p>
          <a:p>
            <a:r>
              <a:rPr lang="en-US" sz="2600" dirty="0">
                <a:latin typeface="Arial" panose="020B0604020202020204" pitchFamily="34" charset="0"/>
                <a:cs typeface="Arial" panose="020B0604020202020204" pitchFamily="34" charset="0"/>
              </a:rPr>
              <a:t>So that means that CAPM is not really useful….</a:t>
            </a:r>
            <a:r>
              <a:rPr lang="en-US" sz="2600" dirty="0">
                <a:solidFill>
                  <a:srgbClr val="FF0000"/>
                </a:solidFill>
                <a:latin typeface="Arial" panose="020B0604020202020204" pitchFamily="34" charset="0"/>
                <a:cs typeface="Arial" panose="020B0604020202020204" pitchFamily="34" charset="0"/>
              </a:rPr>
              <a:t>YES and NO!</a:t>
            </a:r>
          </a:p>
          <a:p>
            <a:pPr marL="0" indent="0">
              <a:buNone/>
            </a:pPr>
            <a:r>
              <a:rPr lang="en-US" dirty="0"/>
              <a:t>	- </a:t>
            </a:r>
            <a:r>
              <a:rPr lang="en-US" sz="2200" dirty="0">
                <a:latin typeface="Arial" panose="020B0604020202020204" pitchFamily="34" charset="0"/>
                <a:cs typeface="Arial" panose="020B0604020202020204" pitchFamily="34" charset="0"/>
              </a:rPr>
              <a:t>There are more accurate models with more factors</a:t>
            </a:r>
          </a:p>
          <a:p>
            <a:pPr marL="914400" lvl="2" indent="0">
              <a:lnSpc>
                <a:spcPct val="160000"/>
              </a:lnSpc>
              <a:buNone/>
            </a:pPr>
            <a:r>
              <a:rPr lang="en-US" sz="2200" dirty="0">
                <a:latin typeface="Arial" panose="020B0604020202020204" pitchFamily="34" charset="0"/>
                <a:cs typeface="Arial" panose="020B0604020202020204" pitchFamily="34" charset="0"/>
              </a:rPr>
              <a:t>- CAPM serves as a basis for some widely used performance measure such as Sharpe ratio and alpha</a:t>
            </a:r>
          </a:p>
        </p:txBody>
      </p:sp>
    </p:spTree>
    <p:extLst>
      <p:ext uri="{BB962C8B-B14F-4D97-AF65-F5344CB8AC3E}">
        <p14:creationId xmlns:p14="http://schemas.microsoft.com/office/powerpoint/2010/main" val="214710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2477D-AF5A-2544-AAF0-ED59EAFD344D}"/>
              </a:ext>
            </a:extLst>
          </p:cNvPr>
          <p:cNvSpPr>
            <a:spLocks noGrp="1"/>
          </p:cNvSpPr>
          <p:nvPr>
            <p:ph type="title"/>
          </p:nvPr>
        </p:nvSpPr>
        <p:spPr>
          <a:xfrm>
            <a:off x="651408" y="375548"/>
            <a:ext cx="11315248" cy="785542"/>
          </a:xfrm>
        </p:spPr>
        <p:txBody>
          <a:bodyPr>
            <a:normAutofit/>
          </a:bodyPr>
          <a:lstStyle/>
          <a:p>
            <a:r>
              <a:rPr lang="en-US" sz="3200" dirty="0">
                <a:latin typeface="Arial" panose="020B0604020202020204" pitchFamily="34" charset="0"/>
                <a:cs typeface="Arial" panose="020B0604020202020204" pitchFamily="34" charset="0"/>
              </a:rPr>
              <a:t>Multi-factor model – general equation</a:t>
            </a:r>
          </a:p>
        </p:txBody>
      </p:sp>
      <p:sp>
        <p:nvSpPr>
          <p:cNvPr id="3" name="Content Placeholder 2">
            <a:extLst>
              <a:ext uri="{FF2B5EF4-FFF2-40B4-BE49-F238E27FC236}">
                <a16:creationId xmlns:a16="http://schemas.microsoft.com/office/drawing/2014/main" id="{7534D3DD-724B-1144-AF4E-4CFEE8F81940}"/>
              </a:ext>
            </a:extLst>
          </p:cNvPr>
          <p:cNvSpPr>
            <a:spLocks noGrp="1"/>
          </p:cNvSpPr>
          <p:nvPr>
            <p:ph idx="1"/>
          </p:nvPr>
        </p:nvSpPr>
        <p:spPr>
          <a:xfrm>
            <a:off x="418628" y="1368362"/>
            <a:ext cx="9497367" cy="4884770"/>
          </a:xfrm>
        </p:spPr>
        <p:txBody>
          <a:bodyPr>
            <a:normAutofit lnSpcReduction="10000"/>
          </a:bodyPr>
          <a:lstStyle/>
          <a:p>
            <a:pPr>
              <a:lnSpc>
                <a:spcPct val="150000"/>
              </a:lnSpc>
            </a:pPr>
            <a:r>
              <a:rPr lang="en-US" sz="2000" dirty="0">
                <a:latin typeface="Arial" panose="020B0604020202020204" pitchFamily="34" charset="0"/>
                <a:cs typeface="Arial" panose="020B0604020202020204" pitchFamily="34" charset="0"/>
              </a:rPr>
              <a:t>Based on Arbitrage Pricing Theory: asset returns are driven by a series of factors</a:t>
            </a:r>
          </a:p>
          <a:p>
            <a:pPr>
              <a:lnSpc>
                <a:spcPct val="150000"/>
              </a:lnSpc>
            </a:pPr>
            <a:r>
              <a:rPr lang="en-US" sz="2000" dirty="0">
                <a:latin typeface="Arial" panose="020B0604020202020204" pitchFamily="34" charset="0"/>
                <a:cs typeface="Arial" panose="020B0604020202020204" pitchFamily="34" charset="0"/>
              </a:rPr>
              <a:t>The linear factor model can be written as:</a:t>
            </a:r>
          </a:p>
          <a:p>
            <a:pPr>
              <a:lnSpc>
                <a:spcPct val="150000"/>
              </a:lnSpc>
            </a:pPr>
            <a:endParaRPr lang="en-US" sz="2000" dirty="0">
              <a:latin typeface="Arial" panose="020B0604020202020204" pitchFamily="34" charset="0"/>
              <a:cs typeface="Arial" panose="020B0604020202020204" pitchFamily="34" charset="0"/>
            </a:endParaRPr>
          </a:p>
          <a:p>
            <a:pPr>
              <a:lnSpc>
                <a:spcPct val="150000"/>
              </a:lnSpc>
            </a:pPr>
            <a:endParaRPr lang="en-GB" sz="2000" dirty="0">
              <a:latin typeface="Arial" panose="020B0604020202020204" pitchFamily="34" charset="0"/>
              <a:cs typeface="Arial" panose="020B0604020202020204" pitchFamily="34" charset="0"/>
            </a:endParaRPr>
          </a:p>
          <a:p>
            <a:pPr>
              <a:lnSpc>
                <a:spcPct val="150000"/>
              </a:lnSpc>
            </a:pPr>
            <a:r>
              <a:rPr lang="en-GB" sz="2000" dirty="0">
                <a:latin typeface="Arial" panose="020B0604020202020204" pitchFamily="34" charset="0"/>
                <a:cs typeface="Arial" panose="020B0604020202020204" pitchFamily="34" charset="0"/>
              </a:rPr>
              <a:t>The      are the </a:t>
            </a:r>
            <a:r>
              <a:rPr lang="en-GB" sz="2000" i="1" dirty="0">
                <a:latin typeface="Arial" panose="020B0604020202020204" pitchFamily="34" charset="0"/>
                <a:cs typeface="Arial" panose="020B0604020202020204" pitchFamily="34" charset="0"/>
              </a:rPr>
              <a:t>k</a:t>
            </a:r>
            <a:r>
              <a:rPr lang="en-GB" sz="2000" dirty="0">
                <a:latin typeface="Arial" panose="020B0604020202020204" pitchFamily="34" charset="0"/>
                <a:cs typeface="Arial" panose="020B0604020202020204" pitchFamily="34" charset="0"/>
              </a:rPr>
              <a:t> factors,      are the factor betas (factor loadings) or measures of sensitivity of asset </a:t>
            </a:r>
            <a:r>
              <a:rPr lang="en-GB" sz="2000" i="1" dirty="0" err="1">
                <a:latin typeface="Arial" panose="020B0604020202020204" pitchFamily="34" charset="0"/>
                <a:cs typeface="Arial" panose="020B0604020202020204" pitchFamily="34" charset="0"/>
              </a:rPr>
              <a:t>i</a:t>
            </a:r>
            <a:r>
              <a:rPr lang="en-GB" sz="2000" dirty="0">
                <a:latin typeface="Arial" panose="020B0604020202020204" pitchFamily="34" charset="0"/>
                <a:cs typeface="Arial" panose="020B0604020202020204" pitchFamily="34" charset="0"/>
              </a:rPr>
              <a:t> to factor      and      represents the residuals or unsystematic risks. The APT therefore assumes that there are </a:t>
            </a:r>
            <a:r>
              <a:rPr lang="en-GB" sz="2000" i="1" dirty="0">
                <a:latin typeface="Arial" panose="020B0604020202020204" pitchFamily="34" charset="0"/>
                <a:cs typeface="Arial" panose="020B0604020202020204" pitchFamily="34" charset="0"/>
              </a:rPr>
              <a:t>k</a:t>
            </a:r>
            <a:r>
              <a:rPr lang="en-GB" sz="2000" dirty="0">
                <a:latin typeface="Arial" panose="020B0604020202020204" pitchFamily="34" charset="0"/>
                <a:cs typeface="Arial" panose="020B0604020202020204" pitchFamily="34" charset="0"/>
              </a:rPr>
              <a:t> factors that are mainly responsible for the movements in the prices of all assets.      is the expected return on asset </a:t>
            </a:r>
            <a:r>
              <a:rPr lang="en-GB" sz="2000" i="1" dirty="0" err="1">
                <a:latin typeface="Arial" panose="020B0604020202020204" pitchFamily="34" charset="0"/>
                <a:cs typeface="Arial" panose="020B0604020202020204" pitchFamily="34" charset="0"/>
              </a:rPr>
              <a:t>i</a:t>
            </a:r>
            <a:r>
              <a:rPr lang="en-GB" sz="2000" i="1" dirty="0">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The difference between the actual return (    ) and the expected return is due to the influence of k factors (                      ). </a:t>
            </a:r>
          </a:p>
        </p:txBody>
      </p:sp>
      <p:graphicFrame>
        <p:nvGraphicFramePr>
          <p:cNvPr id="4" name="Object 3">
            <a:extLst>
              <a:ext uri="{FF2B5EF4-FFF2-40B4-BE49-F238E27FC236}">
                <a16:creationId xmlns:a16="http://schemas.microsoft.com/office/drawing/2014/main" id="{FA3B5589-0EB0-CD46-B099-C41D70B4F582}"/>
              </a:ext>
            </a:extLst>
          </p:cNvPr>
          <p:cNvGraphicFramePr>
            <a:graphicFrameLocks noChangeAspect="1"/>
          </p:cNvGraphicFramePr>
          <p:nvPr/>
        </p:nvGraphicFramePr>
        <p:xfrm>
          <a:off x="1174015" y="2297305"/>
          <a:ext cx="2851576" cy="873456"/>
        </p:xfrm>
        <a:graphic>
          <a:graphicData uri="http://schemas.openxmlformats.org/presentationml/2006/ole">
            <mc:AlternateContent xmlns:mc="http://schemas.openxmlformats.org/markup-compatibility/2006">
              <mc:Choice xmlns:v="urn:schemas-microsoft-com:vml" Requires="v">
                <p:oleObj r:id="rId2" imgW="1409700" imgH="431800" progId="Equation.3">
                  <p:embed/>
                </p:oleObj>
              </mc:Choice>
              <mc:Fallback>
                <p:oleObj r:id="rId2" imgW="1409700" imgH="431800" progId="Equation.3">
                  <p:embed/>
                  <p:pic>
                    <p:nvPicPr>
                      <p:cNvPr id="4" name="Object 3">
                        <a:extLst>
                          <a:ext uri="{FF2B5EF4-FFF2-40B4-BE49-F238E27FC236}">
                            <a16:creationId xmlns:a16="http://schemas.microsoft.com/office/drawing/2014/main" id="{FA3B5589-0EB0-CD46-B099-C41D70B4F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015" y="2297305"/>
                        <a:ext cx="2851576" cy="873456"/>
                      </a:xfrm>
                      <a:prstGeom prst="rect">
                        <a:avLst/>
                      </a:prstGeom>
                      <a:noFill/>
                    </p:spPr>
                  </p:pic>
                </p:oleObj>
              </mc:Fallback>
            </mc:AlternateContent>
          </a:graphicData>
        </a:graphic>
      </p:graphicFrame>
      <p:sp>
        <p:nvSpPr>
          <p:cNvPr id="33" name="Rectangle 30">
            <a:extLst>
              <a:ext uri="{FF2B5EF4-FFF2-40B4-BE49-F238E27FC236}">
                <a16:creationId xmlns:a16="http://schemas.microsoft.com/office/drawing/2014/main" id="{425E6FDD-DE20-CA42-9A6A-BDC21EF2740A}"/>
              </a:ext>
            </a:extLst>
          </p:cNvPr>
          <p:cNvSpPr>
            <a:spLocks noChangeArrowheads="1"/>
          </p:cNvSpPr>
          <p:nvPr/>
        </p:nvSpPr>
        <p:spPr bwMode="auto">
          <a:xfrm>
            <a:off x="1683834" y="350483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Object 33">
            <a:extLst>
              <a:ext uri="{FF2B5EF4-FFF2-40B4-BE49-F238E27FC236}">
                <a16:creationId xmlns:a16="http://schemas.microsoft.com/office/drawing/2014/main" id="{A58735F3-270B-6943-AC62-419450615337}"/>
              </a:ext>
            </a:extLst>
          </p:cNvPr>
          <p:cNvGraphicFramePr>
            <a:graphicFrameLocks noChangeAspect="1"/>
          </p:cNvGraphicFramePr>
          <p:nvPr>
            <p:extLst>
              <p:ext uri="{D42A27DB-BD31-4B8C-83A1-F6EECF244321}">
                <p14:modId xmlns:p14="http://schemas.microsoft.com/office/powerpoint/2010/main" val="355264704"/>
              </p:ext>
            </p:extLst>
          </p:nvPr>
        </p:nvGraphicFramePr>
        <p:xfrm>
          <a:off x="1223565" y="3622095"/>
          <a:ext cx="359322" cy="431187"/>
        </p:xfrm>
        <a:graphic>
          <a:graphicData uri="http://schemas.openxmlformats.org/presentationml/2006/ole">
            <mc:AlternateContent xmlns:mc="http://schemas.openxmlformats.org/markup-compatibility/2006">
              <mc:Choice xmlns:v="urn:schemas-microsoft-com:vml" Requires="v">
                <p:oleObj r:id="rId4" imgW="203200" imgH="215900" progId="Equation.3">
                  <p:embed/>
                </p:oleObj>
              </mc:Choice>
              <mc:Fallback>
                <p:oleObj r:id="rId4" imgW="203200" imgH="215900" progId="Equation.3">
                  <p:embed/>
                  <p:pic>
                    <p:nvPicPr>
                      <p:cNvPr id="34" name="Object 33">
                        <a:extLst>
                          <a:ext uri="{FF2B5EF4-FFF2-40B4-BE49-F238E27FC236}">
                            <a16:creationId xmlns:a16="http://schemas.microsoft.com/office/drawing/2014/main" id="{A58735F3-270B-6943-AC62-4194506153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3565" y="3622095"/>
                        <a:ext cx="359322" cy="431187"/>
                      </a:xfrm>
                      <a:prstGeom prst="rect">
                        <a:avLst/>
                      </a:prstGeom>
                      <a:noFill/>
                    </p:spPr>
                  </p:pic>
                </p:oleObj>
              </mc:Fallback>
            </mc:AlternateContent>
          </a:graphicData>
        </a:graphic>
      </p:graphicFrame>
      <p:sp>
        <p:nvSpPr>
          <p:cNvPr id="35" name="Rectangle 32">
            <a:extLst>
              <a:ext uri="{FF2B5EF4-FFF2-40B4-BE49-F238E27FC236}">
                <a16:creationId xmlns:a16="http://schemas.microsoft.com/office/drawing/2014/main" id="{6AF5E47C-7F90-2C44-B2B7-AFED7644C31B}"/>
              </a:ext>
            </a:extLst>
          </p:cNvPr>
          <p:cNvSpPr>
            <a:spLocks noChangeArrowheads="1"/>
          </p:cNvSpPr>
          <p:nvPr/>
        </p:nvSpPr>
        <p:spPr bwMode="auto">
          <a:xfrm>
            <a:off x="4382428" y="3351193"/>
            <a:ext cx="2141029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36" name="Object 35">
            <a:extLst>
              <a:ext uri="{FF2B5EF4-FFF2-40B4-BE49-F238E27FC236}">
                <a16:creationId xmlns:a16="http://schemas.microsoft.com/office/drawing/2014/main" id="{D811E1EF-1461-1545-AE69-AB8FAE229B5B}"/>
              </a:ext>
            </a:extLst>
          </p:cNvPr>
          <p:cNvGraphicFramePr>
            <a:graphicFrameLocks noChangeAspect="1"/>
          </p:cNvGraphicFramePr>
          <p:nvPr>
            <p:extLst>
              <p:ext uri="{D42A27DB-BD31-4B8C-83A1-F6EECF244321}">
                <p14:modId xmlns:p14="http://schemas.microsoft.com/office/powerpoint/2010/main" val="2160428495"/>
              </p:ext>
            </p:extLst>
          </p:nvPr>
        </p:nvGraphicFramePr>
        <p:xfrm>
          <a:off x="3491620" y="3649355"/>
          <a:ext cx="403927" cy="403927"/>
        </p:xfrm>
        <a:graphic>
          <a:graphicData uri="http://schemas.openxmlformats.org/presentationml/2006/ole">
            <mc:AlternateContent xmlns:mc="http://schemas.openxmlformats.org/markup-compatibility/2006">
              <mc:Choice xmlns:v="urn:schemas-microsoft-com:vml" Requires="v">
                <p:oleObj r:id="rId6" imgW="228600" imgH="215900" progId="Equation.3">
                  <p:embed/>
                </p:oleObj>
              </mc:Choice>
              <mc:Fallback>
                <p:oleObj r:id="rId6" imgW="228600" imgH="215900" progId="Equation.3">
                  <p:embed/>
                  <p:pic>
                    <p:nvPicPr>
                      <p:cNvPr id="36" name="Object 35">
                        <a:extLst>
                          <a:ext uri="{FF2B5EF4-FFF2-40B4-BE49-F238E27FC236}">
                            <a16:creationId xmlns:a16="http://schemas.microsoft.com/office/drawing/2014/main" id="{D811E1EF-1461-1545-AE69-AB8FAE229B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1620" y="3649355"/>
                        <a:ext cx="403927" cy="403927"/>
                      </a:xfrm>
                      <a:prstGeom prst="rect">
                        <a:avLst/>
                      </a:prstGeom>
                      <a:noFill/>
                    </p:spPr>
                  </p:pic>
                </p:oleObj>
              </mc:Fallback>
            </mc:AlternateContent>
          </a:graphicData>
        </a:graphic>
      </p:graphicFrame>
      <p:sp>
        <p:nvSpPr>
          <p:cNvPr id="37" name="Rectangle 34">
            <a:extLst>
              <a:ext uri="{FF2B5EF4-FFF2-40B4-BE49-F238E27FC236}">
                <a16:creationId xmlns:a16="http://schemas.microsoft.com/office/drawing/2014/main" id="{94DB4D0B-C84A-9E41-9417-0423BBABFAF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8" name="Object 37">
            <a:extLst>
              <a:ext uri="{FF2B5EF4-FFF2-40B4-BE49-F238E27FC236}">
                <a16:creationId xmlns:a16="http://schemas.microsoft.com/office/drawing/2014/main" id="{BFD25533-FE63-2641-810C-C348753B1B9E}"/>
              </a:ext>
            </a:extLst>
          </p:cNvPr>
          <p:cNvGraphicFramePr>
            <a:graphicFrameLocks noChangeAspect="1"/>
          </p:cNvGraphicFramePr>
          <p:nvPr>
            <p:extLst>
              <p:ext uri="{D42A27DB-BD31-4B8C-83A1-F6EECF244321}">
                <p14:modId xmlns:p14="http://schemas.microsoft.com/office/powerpoint/2010/main" val="335994805"/>
              </p:ext>
            </p:extLst>
          </p:nvPr>
        </p:nvGraphicFramePr>
        <p:xfrm>
          <a:off x="3895547" y="4021487"/>
          <a:ext cx="401443" cy="481732"/>
        </p:xfrm>
        <a:graphic>
          <a:graphicData uri="http://schemas.openxmlformats.org/presentationml/2006/ole">
            <mc:AlternateContent xmlns:mc="http://schemas.openxmlformats.org/markup-compatibility/2006">
              <mc:Choice xmlns:v="urn:schemas-microsoft-com:vml" Requires="v">
                <p:oleObj r:id="rId8" imgW="203200" imgH="215900" progId="Equation.3">
                  <p:embed/>
                </p:oleObj>
              </mc:Choice>
              <mc:Fallback>
                <p:oleObj r:id="rId8" imgW="203200" imgH="215900" progId="Equation.3">
                  <p:embed/>
                  <p:pic>
                    <p:nvPicPr>
                      <p:cNvPr id="38" name="Object 37">
                        <a:extLst>
                          <a:ext uri="{FF2B5EF4-FFF2-40B4-BE49-F238E27FC236}">
                            <a16:creationId xmlns:a16="http://schemas.microsoft.com/office/drawing/2014/main" id="{BFD25533-FE63-2641-810C-C348753B1B9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95547" y="4021487"/>
                        <a:ext cx="401443" cy="481732"/>
                      </a:xfrm>
                      <a:prstGeom prst="rect">
                        <a:avLst/>
                      </a:prstGeom>
                      <a:noFill/>
                    </p:spPr>
                  </p:pic>
                </p:oleObj>
              </mc:Fallback>
            </mc:AlternateContent>
          </a:graphicData>
        </a:graphic>
      </p:graphicFrame>
      <p:sp>
        <p:nvSpPr>
          <p:cNvPr id="39" name="Rectangle 36">
            <a:extLst>
              <a:ext uri="{FF2B5EF4-FFF2-40B4-BE49-F238E27FC236}">
                <a16:creationId xmlns:a16="http://schemas.microsoft.com/office/drawing/2014/main" id="{2B22E210-862C-B144-B509-04D9D254F048}"/>
              </a:ext>
            </a:extLst>
          </p:cNvPr>
          <p:cNvSpPr>
            <a:spLocks noChangeArrowheads="1"/>
          </p:cNvSpPr>
          <p:nvPr/>
        </p:nvSpPr>
        <p:spPr bwMode="auto">
          <a:xfrm>
            <a:off x="8184994" y="3793410"/>
            <a:ext cx="230460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40" name="Object 39">
            <a:extLst>
              <a:ext uri="{FF2B5EF4-FFF2-40B4-BE49-F238E27FC236}">
                <a16:creationId xmlns:a16="http://schemas.microsoft.com/office/drawing/2014/main" id="{BFCC6063-2370-A144-9CA3-D4FFE9019121}"/>
              </a:ext>
            </a:extLst>
          </p:cNvPr>
          <p:cNvGraphicFramePr>
            <a:graphicFrameLocks noChangeAspect="1"/>
          </p:cNvGraphicFramePr>
          <p:nvPr>
            <p:extLst>
              <p:ext uri="{D42A27DB-BD31-4B8C-83A1-F6EECF244321}">
                <p14:modId xmlns:p14="http://schemas.microsoft.com/office/powerpoint/2010/main" val="4041773145"/>
              </p:ext>
            </p:extLst>
          </p:nvPr>
        </p:nvGraphicFramePr>
        <p:xfrm>
          <a:off x="4822502" y="4075337"/>
          <a:ext cx="299225" cy="374031"/>
        </p:xfrm>
        <a:graphic>
          <a:graphicData uri="http://schemas.openxmlformats.org/presentationml/2006/ole">
            <mc:AlternateContent xmlns:mc="http://schemas.openxmlformats.org/markup-compatibility/2006">
              <mc:Choice xmlns:v="urn:schemas-microsoft-com:vml" Requires="v">
                <p:oleObj r:id="rId10" imgW="3505200" imgH="4394200" progId="Equation.3">
                  <p:embed/>
                </p:oleObj>
              </mc:Choice>
              <mc:Fallback>
                <p:oleObj r:id="rId10" imgW="3505200" imgH="4394200" progId="Equation.3">
                  <p:embed/>
                  <p:pic>
                    <p:nvPicPr>
                      <p:cNvPr id="40" name="Object 39">
                        <a:extLst>
                          <a:ext uri="{FF2B5EF4-FFF2-40B4-BE49-F238E27FC236}">
                            <a16:creationId xmlns:a16="http://schemas.microsoft.com/office/drawing/2014/main" id="{BFCC6063-2370-A144-9CA3-D4FFE901912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22502" y="4075337"/>
                        <a:ext cx="299225" cy="374031"/>
                      </a:xfrm>
                      <a:prstGeom prst="rect">
                        <a:avLst/>
                      </a:prstGeom>
                      <a:noFill/>
                    </p:spPr>
                  </p:pic>
                </p:oleObj>
              </mc:Fallback>
            </mc:AlternateContent>
          </a:graphicData>
        </a:graphic>
      </p:graphicFrame>
      <p:sp>
        <p:nvSpPr>
          <p:cNvPr id="41" name="Rectangle 38">
            <a:extLst>
              <a:ext uri="{FF2B5EF4-FFF2-40B4-BE49-F238E27FC236}">
                <a16:creationId xmlns:a16="http://schemas.microsoft.com/office/drawing/2014/main" id="{9A60FBA6-CF8A-DD46-8D9B-577DAB30B75E}"/>
              </a:ext>
            </a:extLst>
          </p:cNvPr>
          <p:cNvSpPr>
            <a:spLocks noChangeArrowheads="1"/>
          </p:cNvSpPr>
          <p:nvPr/>
        </p:nvSpPr>
        <p:spPr bwMode="auto">
          <a:xfrm>
            <a:off x="3900141" y="4917764"/>
            <a:ext cx="210832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52" name="Rectangle 79">
            <a:extLst>
              <a:ext uri="{FF2B5EF4-FFF2-40B4-BE49-F238E27FC236}">
                <a16:creationId xmlns:a16="http://schemas.microsoft.com/office/drawing/2014/main" id="{AA85D6F7-11F2-EB4F-B70D-43EFFF01FF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3" name="Object 52">
            <a:extLst>
              <a:ext uri="{FF2B5EF4-FFF2-40B4-BE49-F238E27FC236}">
                <a16:creationId xmlns:a16="http://schemas.microsoft.com/office/drawing/2014/main" id="{36A6C948-0729-F742-85AE-1CFAC754416D}"/>
              </a:ext>
            </a:extLst>
          </p:cNvPr>
          <p:cNvGraphicFramePr>
            <a:graphicFrameLocks noChangeAspect="1"/>
          </p:cNvGraphicFramePr>
          <p:nvPr>
            <p:extLst>
              <p:ext uri="{D42A27DB-BD31-4B8C-83A1-F6EECF244321}">
                <p14:modId xmlns:p14="http://schemas.microsoft.com/office/powerpoint/2010/main" val="943156795"/>
              </p:ext>
            </p:extLst>
          </p:nvPr>
        </p:nvGraphicFramePr>
        <p:xfrm>
          <a:off x="7377171" y="5404620"/>
          <a:ext cx="294578" cy="294578"/>
        </p:xfrm>
        <a:graphic>
          <a:graphicData uri="http://schemas.openxmlformats.org/presentationml/2006/ole">
            <mc:AlternateContent xmlns:mc="http://schemas.openxmlformats.org/markup-compatibility/2006">
              <mc:Choice xmlns:v="urn:schemas-microsoft-com:vml" Requires="v">
                <p:oleObj r:id="rId12" imgW="4394200" imgH="4102100" progId="Equation.3">
                  <p:embed/>
                </p:oleObj>
              </mc:Choice>
              <mc:Fallback>
                <p:oleObj r:id="rId12" imgW="4394200" imgH="4102100" progId="Equation.3">
                  <p:embed/>
                  <p:pic>
                    <p:nvPicPr>
                      <p:cNvPr id="53" name="Object 52">
                        <a:extLst>
                          <a:ext uri="{FF2B5EF4-FFF2-40B4-BE49-F238E27FC236}">
                            <a16:creationId xmlns:a16="http://schemas.microsoft.com/office/drawing/2014/main" id="{36A6C948-0729-F742-85AE-1CFAC754416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77171" y="5404620"/>
                        <a:ext cx="294578" cy="294578"/>
                      </a:xfrm>
                      <a:prstGeom prst="rect">
                        <a:avLst/>
                      </a:prstGeom>
                      <a:noFill/>
                    </p:spPr>
                  </p:pic>
                </p:oleObj>
              </mc:Fallback>
            </mc:AlternateContent>
          </a:graphicData>
        </a:graphic>
      </p:graphicFrame>
      <p:sp>
        <p:nvSpPr>
          <p:cNvPr id="54" name="Rectangle 81">
            <a:extLst>
              <a:ext uri="{FF2B5EF4-FFF2-40B4-BE49-F238E27FC236}">
                <a16:creationId xmlns:a16="http://schemas.microsoft.com/office/drawing/2014/main" id="{D0FDBA55-FCB5-054B-A5CC-D0A7ABB528DB}"/>
              </a:ext>
            </a:extLst>
          </p:cNvPr>
          <p:cNvSpPr>
            <a:spLocks noChangeArrowheads="1"/>
          </p:cNvSpPr>
          <p:nvPr/>
        </p:nvSpPr>
        <p:spPr bwMode="auto">
          <a:xfrm>
            <a:off x="5343915" y="5099545"/>
            <a:ext cx="1641172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55" name="Object 54">
            <a:extLst>
              <a:ext uri="{FF2B5EF4-FFF2-40B4-BE49-F238E27FC236}">
                <a16:creationId xmlns:a16="http://schemas.microsoft.com/office/drawing/2014/main" id="{A59B54CA-B02B-5144-B446-AE345FF68B70}"/>
              </a:ext>
            </a:extLst>
          </p:cNvPr>
          <p:cNvGraphicFramePr>
            <a:graphicFrameLocks noChangeAspect="1"/>
          </p:cNvGraphicFramePr>
          <p:nvPr>
            <p:extLst>
              <p:ext uri="{D42A27DB-BD31-4B8C-83A1-F6EECF244321}">
                <p14:modId xmlns:p14="http://schemas.microsoft.com/office/powerpoint/2010/main" val="2600744550"/>
              </p:ext>
            </p:extLst>
          </p:nvPr>
        </p:nvGraphicFramePr>
        <p:xfrm>
          <a:off x="5343915" y="5793341"/>
          <a:ext cx="1598337" cy="342501"/>
        </p:xfrm>
        <a:graphic>
          <a:graphicData uri="http://schemas.openxmlformats.org/presentationml/2006/ole">
            <mc:AlternateContent xmlns:mc="http://schemas.openxmlformats.org/markup-compatibility/2006">
              <mc:Choice xmlns:v="urn:schemas-microsoft-com:vml" Requires="v">
                <p:oleObj r:id="rId14" imgW="1079500" imgH="228600" progId="Equation.3">
                  <p:embed/>
                </p:oleObj>
              </mc:Choice>
              <mc:Fallback>
                <p:oleObj r:id="rId14" imgW="1079500" imgH="228600" progId="Equation.3">
                  <p:embed/>
                  <p:pic>
                    <p:nvPicPr>
                      <p:cNvPr id="55" name="Object 54">
                        <a:extLst>
                          <a:ext uri="{FF2B5EF4-FFF2-40B4-BE49-F238E27FC236}">
                            <a16:creationId xmlns:a16="http://schemas.microsoft.com/office/drawing/2014/main" id="{A59B54CA-B02B-5144-B446-AE345FF68B7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43915" y="5793341"/>
                        <a:ext cx="1598337" cy="342501"/>
                      </a:xfrm>
                      <a:prstGeom prst="rect">
                        <a:avLst/>
                      </a:prstGeom>
                      <a:noFill/>
                    </p:spPr>
                  </p:pic>
                </p:oleObj>
              </mc:Fallback>
            </mc:AlternateContent>
          </a:graphicData>
        </a:graphic>
      </p:graphicFrame>
      <p:graphicFrame>
        <p:nvGraphicFramePr>
          <p:cNvPr id="56" name="Object 55">
            <a:extLst>
              <a:ext uri="{FF2B5EF4-FFF2-40B4-BE49-F238E27FC236}">
                <a16:creationId xmlns:a16="http://schemas.microsoft.com/office/drawing/2014/main" id="{EF9651B6-56B6-F646-94A4-9C58A85EAC4C}"/>
              </a:ext>
            </a:extLst>
          </p:cNvPr>
          <p:cNvGraphicFramePr>
            <a:graphicFrameLocks noChangeAspect="1"/>
          </p:cNvGraphicFramePr>
          <p:nvPr>
            <p:extLst>
              <p:ext uri="{D42A27DB-BD31-4B8C-83A1-F6EECF244321}">
                <p14:modId xmlns:p14="http://schemas.microsoft.com/office/powerpoint/2010/main" val="1993876478"/>
              </p:ext>
            </p:extLst>
          </p:nvPr>
        </p:nvGraphicFramePr>
        <p:xfrm>
          <a:off x="7187642" y="4913494"/>
          <a:ext cx="379059" cy="379059"/>
        </p:xfrm>
        <a:graphic>
          <a:graphicData uri="http://schemas.openxmlformats.org/presentationml/2006/ole">
            <mc:AlternateContent xmlns:mc="http://schemas.openxmlformats.org/markup-compatibility/2006">
              <mc:Choice xmlns:v="urn:schemas-microsoft-com:vml" Requires="v">
                <p:oleObj r:id="rId16" imgW="4102100" imgH="4394200" progId="Equation.3">
                  <p:embed/>
                </p:oleObj>
              </mc:Choice>
              <mc:Fallback>
                <p:oleObj r:id="rId16" imgW="4102100" imgH="4394200" progId="Equation.3">
                  <p:embed/>
                  <p:pic>
                    <p:nvPicPr>
                      <p:cNvPr id="56" name="Object 55">
                        <a:extLst>
                          <a:ext uri="{FF2B5EF4-FFF2-40B4-BE49-F238E27FC236}">
                            <a16:creationId xmlns:a16="http://schemas.microsoft.com/office/drawing/2014/main" id="{EF9651B6-56B6-F646-94A4-9C58A85EAC4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87642" y="4913494"/>
                        <a:ext cx="379059" cy="379059"/>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5ED4F1-2859-A042-8AD5-D98C7865CA2B}"/>
                  </a:ext>
                </a:extLst>
              </p:cNvPr>
              <p:cNvSpPr/>
              <p:nvPr/>
            </p:nvSpPr>
            <p:spPr>
              <a:xfrm>
                <a:off x="6309032" y="2617903"/>
                <a:ext cx="5044768" cy="369332"/>
              </a:xfrm>
              <a:prstGeom prst="rect">
                <a:avLst/>
              </a:prstGeom>
              <a:ln>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𝑅</m:t>
                          </m:r>
                        </m:e>
                        <m:sub>
                          <m:r>
                            <a:rPr lang="en-US" i="1">
                              <a:latin typeface="Cambria Math" panose="02040503050406030204" pitchFamily="18" charset="0"/>
                              <a:cs typeface="Times New Roman" panose="02020603050405020304" pitchFamily="18" charset="0"/>
                            </a:rPr>
                            <m:t>𝑖</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ea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𝛼</m:t>
                          </m:r>
                        </m:e>
                        <m:sub>
                          <m:r>
                            <a:rPr lang="en-US" i="1">
                              <a:latin typeface="Cambria Math" panose="02040503050406030204" pitchFamily="18" charset="0"/>
                              <a:cs typeface="Times New Roman" panose="02020603050405020304" pitchFamily="18" charset="0"/>
                            </a:rPr>
                            <m:t>𝑖</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ea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𝛽</m:t>
                          </m:r>
                        </m:e>
                        <m:sub>
                          <m:r>
                            <a:rPr lang="en-US" i="1">
                              <a:latin typeface="Cambria Math" panose="02040503050406030204" pitchFamily="18" charset="0"/>
                              <a:cs typeface="Times New Roman" panose="02020603050405020304" pitchFamily="18" charset="0"/>
                            </a:rPr>
                            <m:t>𝑖</m:t>
                          </m:r>
                          <m:r>
                            <a:rPr lang="en-US" i="1">
                              <a:latin typeface="Cambria Math" panose="02040503050406030204" pitchFamily="18" charset="0"/>
                              <a:cs typeface="Times New Roman" panose="02020603050405020304" pitchFamily="18" charset="0"/>
                            </a:rPr>
                            <m:t>1</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𝑓</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ea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𝛽</m:t>
                          </m:r>
                        </m:e>
                        <m:sub>
                          <m:r>
                            <a:rPr lang="en-US" i="1">
                              <a:latin typeface="Cambria Math" panose="02040503050406030204" pitchFamily="18" charset="0"/>
                              <a:cs typeface="Times New Roman" panose="02020603050405020304" pitchFamily="18" charset="0"/>
                            </a:rPr>
                            <m:t>𝑖</m:t>
                          </m:r>
                          <m:r>
                            <a:rPr lang="en-US" i="1">
                              <a:latin typeface="Cambria Math" panose="02040503050406030204" pitchFamily="18" charset="0"/>
                              <a:cs typeface="Times New Roman" panose="02020603050405020304" pitchFamily="18" charset="0"/>
                            </a:rPr>
                            <m:t>2</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𝑓</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ea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𝛽</m:t>
                          </m:r>
                        </m:e>
                        <m:sub>
                          <m:r>
                            <a:rPr lang="en-US" i="1">
                              <a:latin typeface="Cambria Math" panose="02040503050406030204" pitchFamily="18" charset="0"/>
                              <a:cs typeface="Times New Roman" panose="02020603050405020304" pitchFamily="18" charset="0"/>
                            </a:rPr>
                            <m:t>𝑖𝑘</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𝑓</m:t>
                          </m:r>
                        </m:e>
                        <m:sub>
                          <m:r>
                            <a:rPr lang="en-US" i="1">
                              <a:latin typeface="Cambria Math" panose="02040503050406030204" pitchFamily="18" charset="0"/>
                              <a:cs typeface="Times New Roman" panose="02020603050405020304" pitchFamily="18" charset="0"/>
                            </a:rPr>
                            <m:t>𝑘</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ea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𝜀</m:t>
                          </m:r>
                        </m:e>
                        <m:sub>
                          <m:r>
                            <a:rPr lang="en-US" i="1">
                              <a:latin typeface="Cambria Math" panose="02040503050406030204" pitchFamily="18" charset="0"/>
                              <a:cs typeface="Times New Roman" panose="02020603050405020304" pitchFamily="18" charset="0"/>
                            </a:rPr>
                            <m:t>𝑖</m:t>
                          </m:r>
                        </m:sub>
                      </m:sSub>
                    </m:oMath>
                  </m:oMathPara>
                </a14:m>
                <a:endParaRPr lang="en-US" dirty="0"/>
              </a:p>
            </p:txBody>
          </p:sp>
        </mc:Choice>
        <mc:Fallback xmlns="">
          <p:sp>
            <p:nvSpPr>
              <p:cNvPr id="5" name="Rectangle 4">
                <a:extLst>
                  <a:ext uri="{FF2B5EF4-FFF2-40B4-BE49-F238E27FC236}">
                    <a16:creationId xmlns:a16="http://schemas.microsoft.com/office/drawing/2014/main" id="{7F5ED4F1-2859-A042-8AD5-D98C7865CA2B}"/>
                  </a:ext>
                </a:extLst>
              </p:cNvPr>
              <p:cNvSpPr>
                <a:spLocks noRot="1" noChangeAspect="1" noMove="1" noResize="1" noEditPoints="1" noAdjustHandles="1" noChangeArrowheads="1" noChangeShapeType="1" noTextEdit="1"/>
              </p:cNvSpPr>
              <p:nvPr/>
            </p:nvSpPr>
            <p:spPr>
              <a:xfrm>
                <a:off x="6309032" y="2617903"/>
                <a:ext cx="5044768" cy="369332"/>
              </a:xfrm>
              <a:prstGeom prst="rect">
                <a:avLst/>
              </a:prstGeom>
              <a:blipFill>
                <a:blip r:embed="rId20"/>
                <a:stretch>
                  <a:fillRect b="-13333"/>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51068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5CEF8153-5108-6C4B-B36F-F0086434FFFD}"/>
              </a:ext>
            </a:extLst>
          </p:cNvPr>
          <p:cNvSpPr>
            <a:spLocks noGrp="1" noChangeArrowheads="1"/>
          </p:cNvSpPr>
          <p:nvPr>
            <p:ph type="title"/>
          </p:nvPr>
        </p:nvSpPr>
        <p:spPr>
          <a:xfrm>
            <a:off x="650490" y="538054"/>
            <a:ext cx="11315248" cy="785542"/>
          </a:xfrm>
        </p:spPr>
        <p:txBody>
          <a:bodyPr/>
          <a:lstStyle/>
          <a:p>
            <a:r>
              <a:rPr lang="en-US" altLang="en-US" sz="3200" dirty="0">
                <a:latin typeface="Arial" panose="020B0604020202020204" pitchFamily="34" charset="0"/>
                <a:cs typeface="Arial" panose="020B0604020202020204" pitchFamily="34" charset="0"/>
              </a:rPr>
              <a:t>Factors and their characteristics</a:t>
            </a:r>
          </a:p>
        </p:txBody>
      </p:sp>
      <p:sp>
        <p:nvSpPr>
          <p:cNvPr id="17410" name="Rectangle 2">
            <a:extLst>
              <a:ext uri="{FF2B5EF4-FFF2-40B4-BE49-F238E27FC236}">
                <a16:creationId xmlns:a16="http://schemas.microsoft.com/office/drawing/2014/main" id="{7C79114F-F94A-5F42-8E04-025BF3101C80}"/>
              </a:ext>
            </a:extLst>
          </p:cNvPr>
          <p:cNvSpPr>
            <a:spLocks noGrp="1" noChangeArrowheads="1"/>
          </p:cNvSpPr>
          <p:nvPr>
            <p:ph idx="1"/>
          </p:nvPr>
        </p:nvSpPr>
        <p:spPr>
          <a:xfrm>
            <a:off x="650490" y="1455803"/>
            <a:ext cx="9497367" cy="4419600"/>
          </a:xfrm>
        </p:spPr>
        <p:txBody>
          <a:bodyPr>
            <a:noAutofit/>
          </a:bodyPr>
          <a:lstStyle/>
          <a:p>
            <a:pPr>
              <a:lnSpc>
                <a:spcPct val="150000"/>
              </a:lnSpc>
            </a:pPr>
            <a:r>
              <a:rPr lang="en-US" altLang="en-US" sz="2000" dirty="0">
                <a:latin typeface="Arial" panose="020B0604020202020204" pitchFamily="34" charset="0"/>
                <a:cs typeface="Arial" panose="020B0604020202020204" pitchFamily="34" charset="0"/>
              </a:rPr>
              <a:t>APT: security returns are related to the unknown number of the unknown factors</a:t>
            </a:r>
          </a:p>
          <a:p>
            <a:pPr lvl="1">
              <a:lnSpc>
                <a:spcPct val="150000"/>
              </a:lnSpc>
            </a:pPr>
            <a:r>
              <a:rPr lang="en-US" altLang="en-US" sz="2000" dirty="0">
                <a:latin typeface="Arial" panose="020B0604020202020204" pitchFamily="34" charset="0"/>
                <a:cs typeface="Arial" panose="020B0604020202020204" pitchFamily="34" charset="0"/>
              </a:rPr>
              <a:t>Important to note: the theory doesn’t specify what the factors are (e.g. changes in interest rate, changes in oil price, etc.)</a:t>
            </a:r>
          </a:p>
          <a:p>
            <a:pPr>
              <a:lnSpc>
                <a:spcPct val="150000"/>
              </a:lnSpc>
            </a:pPr>
            <a:r>
              <a:rPr lang="en-US" altLang="en-US" sz="2000" dirty="0">
                <a:latin typeface="Arial" panose="020B0604020202020204" pitchFamily="34" charset="0"/>
                <a:cs typeface="Arial" panose="020B0604020202020204" pitchFamily="34" charset="0"/>
              </a:rPr>
              <a:t>Characteristics of factors:</a:t>
            </a:r>
          </a:p>
          <a:p>
            <a:pPr lvl="1">
              <a:lnSpc>
                <a:spcPct val="150000"/>
              </a:lnSpc>
            </a:pPr>
            <a:r>
              <a:rPr lang="en-US" altLang="en-US" sz="2000" dirty="0">
                <a:latin typeface="Arial" panose="020B0604020202020204" pitchFamily="34" charset="0"/>
                <a:cs typeface="Arial" panose="020B0604020202020204" pitchFamily="34" charset="0"/>
              </a:rPr>
              <a:t>They must influence expected returns</a:t>
            </a:r>
          </a:p>
          <a:p>
            <a:pPr lvl="1">
              <a:lnSpc>
                <a:spcPct val="150000"/>
              </a:lnSpc>
            </a:pPr>
            <a:r>
              <a:rPr lang="en-US" altLang="en-US" sz="2000" dirty="0">
                <a:latin typeface="Arial" panose="020B0604020202020204" pitchFamily="34" charset="0"/>
                <a:cs typeface="Arial" panose="020B0604020202020204" pitchFamily="34" charset="0"/>
              </a:rPr>
              <a:t>They must be uncorrelated to one another</a:t>
            </a:r>
          </a:p>
          <a:p>
            <a:pPr lvl="1">
              <a:lnSpc>
                <a:spcPct val="150000"/>
              </a:lnSpc>
            </a:pPr>
            <a:r>
              <a:rPr lang="en-US" altLang="en-US" sz="2000" dirty="0">
                <a:latin typeface="Arial" panose="020B0604020202020204" pitchFamily="34" charset="0"/>
                <a:cs typeface="Arial" panose="020B0604020202020204" pitchFamily="34" charset="0"/>
              </a:rPr>
              <a:t>They are a source of risk</a:t>
            </a:r>
          </a:p>
          <a:p>
            <a:pPr lvl="1">
              <a:lnSpc>
                <a:spcPct val="150000"/>
              </a:lnSpc>
            </a:pPr>
            <a:r>
              <a:rPr lang="en-US" altLang="en-US" sz="2000" dirty="0">
                <a:latin typeface="Arial" panose="020B0604020202020204" pitchFamily="34" charset="0"/>
                <a:cs typeface="Arial" panose="020B0604020202020204" pitchFamily="34" charset="0"/>
              </a:rPr>
              <a:t>Risk factor must be unpredictable at the beginning of each period</a:t>
            </a:r>
          </a:p>
          <a:p>
            <a:pPr lvl="1">
              <a:lnSpc>
                <a:spcPct val="150000"/>
              </a:lnSpc>
            </a:pPr>
            <a:r>
              <a:rPr lang="en-US" altLang="en-US" sz="2000" dirty="0">
                <a:latin typeface="Arial" panose="020B0604020202020204" pitchFamily="34" charset="0"/>
                <a:cs typeface="Arial" panose="020B0604020202020204" pitchFamily="34" charset="0"/>
              </a:rPr>
              <a:t>This means that </a:t>
            </a:r>
            <a:r>
              <a:rPr lang="en-US" altLang="en-US" sz="2000" dirty="0">
                <a:solidFill>
                  <a:srgbClr val="0070C0"/>
                </a:solidFill>
                <a:latin typeface="Arial" panose="020B0604020202020204" pitchFamily="34" charset="0"/>
                <a:cs typeface="Arial" panose="020B0604020202020204" pitchFamily="34" charset="0"/>
              </a:rPr>
              <a:t>factors are random variables, with </a:t>
            </a:r>
            <a:r>
              <a:rPr lang="en-US" altLang="en-US" sz="2000" i="1" dirty="0">
                <a:solidFill>
                  <a:srgbClr val="0070C0"/>
                </a:solidFill>
                <a:latin typeface="Arial" panose="020B0604020202020204" pitchFamily="34" charset="0"/>
                <a:cs typeface="Arial" panose="020B0604020202020204" pitchFamily="34" charset="0"/>
              </a:rPr>
              <a:t>E</a:t>
            </a:r>
            <a:r>
              <a:rPr lang="en-US" altLang="en-US" sz="2000" dirty="0">
                <a:solidFill>
                  <a:srgbClr val="0070C0"/>
                </a:solidFill>
                <a:latin typeface="Arial" panose="020B0604020202020204" pitchFamily="34" charset="0"/>
                <a:cs typeface="Arial" panose="020B0604020202020204" pitchFamily="34" charset="0"/>
              </a:rPr>
              <a:t>( </a:t>
            </a:r>
            <a:r>
              <a:rPr lang="en-US" altLang="en-US" sz="2000" i="1" dirty="0">
                <a:solidFill>
                  <a:srgbClr val="0070C0"/>
                </a:solidFill>
                <a:latin typeface="Arial" panose="020B0604020202020204" pitchFamily="34" charset="0"/>
                <a:cs typeface="Arial" panose="020B0604020202020204" pitchFamily="34" charset="0"/>
              </a:rPr>
              <a:t>f </a:t>
            </a:r>
            <a:r>
              <a:rPr lang="en-US" altLang="en-US" sz="2000" dirty="0">
                <a:solidFill>
                  <a:srgbClr val="0070C0"/>
                </a:solidFill>
                <a:latin typeface="Arial" panose="020B0604020202020204" pitchFamily="34" charset="0"/>
                <a:cs typeface="Arial" panose="020B0604020202020204" pitchFamily="34" charset="0"/>
              </a:rPr>
              <a:t>)=0</a:t>
            </a:r>
            <a:endParaRPr lang="en-US" altLang="en-US" sz="2000" i="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1242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BA978-290C-4E4D-911D-D050AEC91E40}"/>
              </a:ext>
            </a:extLst>
          </p:cNvPr>
          <p:cNvSpPr>
            <a:spLocks noGrp="1"/>
          </p:cNvSpPr>
          <p:nvPr>
            <p:ph type="title"/>
          </p:nvPr>
        </p:nvSpPr>
        <p:spPr>
          <a:xfrm>
            <a:off x="597568" y="447906"/>
            <a:ext cx="11315248" cy="785542"/>
          </a:xfrm>
        </p:spPr>
        <p:txBody>
          <a:bodyPr>
            <a:normAutofit/>
          </a:bodyPr>
          <a:lstStyle/>
          <a:p>
            <a:r>
              <a:rPr lang="en-US" sz="3200" dirty="0">
                <a:latin typeface="Arial" panose="020B0604020202020204" pitchFamily="34" charset="0"/>
                <a:cs typeface="Arial" panose="020B0604020202020204" pitchFamily="34" charset="0"/>
              </a:rPr>
              <a:t>Model example: </a:t>
            </a:r>
            <a:r>
              <a:rPr lang="en-US" sz="3200" dirty="0" err="1">
                <a:latin typeface="Arial" panose="020B0604020202020204" pitchFamily="34" charset="0"/>
                <a:cs typeface="Arial" panose="020B0604020202020204" pitchFamily="34" charset="0"/>
              </a:rPr>
              <a:t>Fama</a:t>
            </a:r>
            <a:r>
              <a:rPr lang="en-US" sz="3200" dirty="0">
                <a:latin typeface="Arial" panose="020B0604020202020204" pitchFamily="34" charset="0"/>
                <a:cs typeface="Arial" panose="020B0604020202020204" pitchFamily="34" charset="0"/>
              </a:rPr>
              <a:t>-French (1993) Three-Factor Model</a:t>
            </a:r>
          </a:p>
        </p:txBody>
      </p:sp>
      <p:sp>
        <p:nvSpPr>
          <p:cNvPr id="3" name="Content Placeholder 2">
            <a:extLst>
              <a:ext uri="{FF2B5EF4-FFF2-40B4-BE49-F238E27FC236}">
                <a16:creationId xmlns:a16="http://schemas.microsoft.com/office/drawing/2014/main" id="{15BBA82C-7CB3-D741-8F4B-38D2252E61FA}"/>
              </a:ext>
            </a:extLst>
          </p:cNvPr>
          <p:cNvSpPr>
            <a:spLocks noGrp="1"/>
          </p:cNvSpPr>
          <p:nvPr>
            <p:ph idx="1"/>
          </p:nvPr>
        </p:nvSpPr>
        <p:spPr>
          <a:xfrm>
            <a:off x="597568" y="1393465"/>
            <a:ext cx="9497367" cy="4419600"/>
          </a:xfrm>
        </p:spPr>
        <p:txBody>
          <a:bodyPr>
            <a:noAutofit/>
          </a:bodyPr>
          <a:lstStyle/>
          <a:p>
            <a:pPr>
              <a:lnSpc>
                <a:spcPct val="150000"/>
              </a:lnSpc>
            </a:pPr>
            <a:r>
              <a:rPr lang="en-GB" sz="1800" dirty="0" err="1">
                <a:latin typeface="Arial" panose="020B0604020202020204" pitchFamily="34" charset="0"/>
                <a:cs typeface="Arial" panose="020B0604020202020204" pitchFamily="34" charset="0"/>
              </a:rPr>
              <a:t>Fama</a:t>
            </a:r>
            <a:r>
              <a:rPr lang="en-GB" sz="1800" dirty="0">
                <a:latin typeface="Arial" panose="020B0604020202020204" pitchFamily="34" charset="0"/>
                <a:cs typeface="Arial" panose="020B0604020202020204" pitchFamily="34" charset="0"/>
              </a:rPr>
              <a:t> and French (1992) identify two groups of stocks consistently tended to outperform the market as a whole: </a:t>
            </a:r>
          </a:p>
          <a:p>
            <a:pPr marL="0" indent="0">
              <a:lnSpc>
                <a:spcPct val="150000"/>
              </a:lnSpc>
              <a:buNone/>
            </a:pP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i</a:t>
            </a:r>
            <a:r>
              <a:rPr lang="en-GB" sz="1800" dirty="0">
                <a:latin typeface="Arial" panose="020B0604020202020204" pitchFamily="34" charset="0"/>
                <a:cs typeface="Arial" panose="020B0604020202020204" pitchFamily="34" charset="0"/>
              </a:rPr>
              <a:t>) small cap stocks and </a:t>
            </a:r>
          </a:p>
          <a:p>
            <a:pPr marL="0" indent="0">
              <a:lnSpc>
                <a:spcPct val="150000"/>
              </a:lnSpc>
              <a:buNone/>
            </a:pPr>
            <a:r>
              <a:rPr lang="en-GB" sz="1800" dirty="0">
                <a:latin typeface="Arial" panose="020B0604020202020204" pitchFamily="34" charset="0"/>
                <a:cs typeface="Arial" panose="020B0604020202020204" pitchFamily="34" charset="0"/>
              </a:rPr>
              <a:t>	(ii) stocks with a high book-value-to-price ratio (value stocks)</a:t>
            </a:r>
          </a:p>
          <a:p>
            <a:pPr>
              <a:lnSpc>
                <a:spcPct val="150000"/>
              </a:lnSpc>
            </a:pPr>
            <a:r>
              <a:rPr lang="en-GB" sz="1800" dirty="0" err="1">
                <a:latin typeface="Arial" panose="020B0604020202020204" pitchFamily="34" charset="0"/>
                <a:cs typeface="Arial" panose="020B0604020202020204" pitchFamily="34" charset="0"/>
              </a:rPr>
              <a:t>Fama</a:t>
            </a:r>
            <a:r>
              <a:rPr lang="en-GB" sz="1800" dirty="0">
                <a:latin typeface="Arial" panose="020B0604020202020204" pitchFamily="34" charset="0"/>
                <a:cs typeface="Arial" panose="020B0604020202020204" pitchFamily="34" charset="0"/>
              </a:rPr>
              <a:t> and French (1993) add two factors, SMB and HML, to the original CAPM to reflect a portfolio's exposure to these two factors as:</a:t>
            </a:r>
          </a:p>
          <a:p>
            <a:pPr marL="0" indent="0">
              <a:lnSpc>
                <a:spcPct val="150000"/>
              </a:lnSpc>
              <a:buNone/>
            </a:pPr>
            <a:endParaRPr lang="en-US" sz="1800" dirty="0">
              <a:latin typeface="Arial" panose="020B0604020202020204" pitchFamily="34" charset="0"/>
              <a:cs typeface="Arial" panose="020B0604020202020204" pitchFamily="34" charset="0"/>
            </a:endParaRPr>
          </a:p>
          <a:p>
            <a:pPr>
              <a:lnSpc>
                <a:spcPct val="150000"/>
              </a:lnSpc>
            </a:pPr>
            <a:r>
              <a:rPr lang="en-US" sz="1800" dirty="0">
                <a:latin typeface="Arial" panose="020B0604020202020204" pitchFamily="34" charset="0"/>
                <a:cs typeface="Arial" panose="020B0604020202020204" pitchFamily="34" charset="0"/>
              </a:rPr>
              <a:t>SMB: returns of small-cap minus returns of big-cap stocks</a:t>
            </a:r>
          </a:p>
          <a:p>
            <a:pPr>
              <a:lnSpc>
                <a:spcPct val="150000"/>
              </a:lnSpc>
            </a:pPr>
            <a:r>
              <a:rPr lang="en-US" sz="1800" dirty="0">
                <a:latin typeface="Arial" panose="020B0604020202020204" pitchFamily="34" charset="0"/>
                <a:cs typeface="Arial" panose="020B0604020202020204" pitchFamily="34" charset="0"/>
              </a:rPr>
              <a:t>HML returns of high book-to-market (value) minus returns of low book-to-market (growth) stocks </a:t>
            </a:r>
          </a:p>
        </p:txBody>
      </p:sp>
      <p:sp>
        <p:nvSpPr>
          <p:cNvPr id="4" name="Rectangle 2">
            <a:extLst>
              <a:ext uri="{FF2B5EF4-FFF2-40B4-BE49-F238E27FC236}">
                <a16:creationId xmlns:a16="http://schemas.microsoft.com/office/drawing/2014/main" id="{51E2C2AC-A26F-1F48-82CE-BC4A35065E01}"/>
              </a:ext>
            </a:extLst>
          </p:cNvPr>
          <p:cNvSpPr>
            <a:spLocks noChangeArrowheads="1"/>
          </p:cNvSpPr>
          <p:nvPr/>
        </p:nvSpPr>
        <p:spPr bwMode="auto">
          <a:xfrm>
            <a:off x="1193180" y="4650057"/>
            <a:ext cx="15867213" cy="58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75D9EF73-3E55-7E4E-ACFB-99A87649E485}"/>
              </a:ext>
            </a:extLst>
          </p:cNvPr>
          <p:cNvGraphicFramePr>
            <a:graphicFrameLocks noChangeAspect="1"/>
          </p:cNvGraphicFramePr>
          <p:nvPr>
            <p:extLst>
              <p:ext uri="{D42A27DB-BD31-4B8C-83A1-F6EECF244321}">
                <p14:modId xmlns:p14="http://schemas.microsoft.com/office/powerpoint/2010/main" val="1748203913"/>
              </p:ext>
            </p:extLst>
          </p:nvPr>
        </p:nvGraphicFramePr>
        <p:xfrm>
          <a:off x="1193180" y="4432608"/>
          <a:ext cx="6399216" cy="434898"/>
        </p:xfrm>
        <a:graphic>
          <a:graphicData uri="http://schemas.openxmlformats.org/presentationml/2006/ole">
            <mc:AlternateContent xmlns:mc="http://schemas.openxmlformats.org/markup-compatibility/2006">
              <mc:Choice xmlns:v="urn:schemas-microsoft-com:vml" Requires="v">
                <p:oleObj r:id="rId2" imgW="3911600" imgH="254000" progId="Equation.3">
                  <p:embed/>
                </p:oleObj>
              </mc:Choice>
              <mc:Fallback>
                <p:oleObj r:id="rId2" imgW="3911600" imgH="254000" progId="Equation.3">
                  <p:embed/>
                  <p:pic>
                    <p:nvPicPr>
                      <p:cNvPr id="5" name="Object 4">
                        <a:extLst>
                          <a:ext uri="{FF2B5EF4-FFF2-40B4-BE49-F238E27FC236}">
                            <a16:creationId xmlns:a16="http://schemas.microsoft.com/office/drawing/2014/main" id="{75D9EF73-3E55-7E4E-ACFB-99A87649E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180" y="4432608"/>
                        <a:ext cx="6399216" cy="434898"/>
                      </a:xfrm>
                      <a:prstGeom prst="rect">
                        <a:avLst/>
                      </a:prstGeom>
                      <a:noFill/>
                    </p:spPr>
                  </p:pic>
                </p:oleObj>
              </mc:Fallback>
            </mc:AlternateContent>
          </a:graphicData>
        </a:graphic>
      </p:graphicFrame>
    </p:spTree>
    <p:extLst>
      <p:ext uri="{BB962C8B-B14F-4D97-AF65-F5344CB8AC3E}">
        <p14:creationId xmlns:p14="http://schemas.microsoft.com/office/powerpoint/2010/main" val="2336489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6CAA-0118-0642-A852-19871C314932}"/>
              </a:ext>
            </a:extLst>
          </p:cNvPr>
          <p:cNvSpPr>
            <a:spLocks noGrp="1"/>
          </p:cNvSpPr>
          <p:nvPr>
            <p:ph type="title"/>
          </p:nvPr>
        </p:nvSpPr>
        <p:spPr>
          <a:xfrm>
            <a:off x="808821" y="520726"/>
            <a:ext cx="11315248" cy="785542"/>
          </a:xfrm>
        </p:spPr>
        <p:txBody>
          <a:bodyPr>
            <a:normAutofit/>
          </a:bodyPr>
          <a:lstStyle/>
          <a:p>
            <a:r>
              <a:rPr lang="en-US" sz="3600" dirty="0">
                <a:latin typeface="Arial" panose="020B0604020202020204" pitchFamily="34" charset="0"/>
                <a:cs typeface="Arial" panose="020B0604020202020204" pitchFamily="34" charset="0"/>
              </a:rPr>
              <a:t>Model example: Carh</a:t>
            </a:r>
            <a:r>
              <a:rPr lang="en-US" sz="3200" dirty="0">
                <a:latin typeface="Arial" panose="020B0604020202020204" pitchFamily="34" charset="0"/>
                <a:cs typeface="Arial" panose="020B0604020202020204" pitchFamily="34" charset="0"/>
              </a:rPr>
              <a:t>art (1997) Four-Factor Model</a:t>
            </a:r>
          </a:p>
        </p:txBody>
      </p:sp>
      <p:sp>
        <p:nvSpPr>
          <p:cNvPr id="3" name="Content Placeholder 2">
            <a:extLst>
              <a:ext uri="{FF2B5EF4-FFF2-40B4-BE49-F238E27FC236}">
                <a16:creationId xmlns:a16="http://schemas.microsoft.com/office/drawing/2014/main" id="{33B69B05-CDE2-EB4D-A187-9FA3E246C869}"/>
              </a:ext>
            </a:extLst>
          </p:cNvPr>
          <p:cNvSpPr>
            <a:spLocks noGrp="1"/>
          </p:cNvSpPr>
          <p:nvPr>
            <p:ph idx="1"/>
          </p:nvPr>
        </p:nvSpPr>
        <p:spPr>
          <a:xfrm>
            <a:off x="808821" y="1643380"/>
            <a:ext cx="9497367" cy="4419600"/>
          </a:xfrm>
        </p:spPr>
        <p:txBody>
          <a:bodyPr>
            <a:normAutofit lnSpcReduction="10000"/>
          </a:bodyPr>
          <a:lstStyle/>
          <a:p>
            <a:pPr>
              <a:lnSpc>
                <a:spcPct val="150000"/>
              </a:lnSpc>
            </a:pPr>
            <a:r>
              <a:rPr lang="en-US" sz="2000" dirty="0">
                <a:latin typeface="Arial" panose="020B0604020202020204" pitchFamily="34" charset="0"/>
                <a:cs typeface="Arial" panose="020B0604020202020204" pitchFamily="34" charset="0"/>
              </a:rPr>
              <a:t>Including the momentum factor, the </a:t>
            </a:r>
            <a:r>
              <a:rPr lang="en-US" sz="2000" dirty="0" err="1">
                <a:latin typeface="Arial" panose="020B0604020202020204" pitchFamily="34" charset="0"/>
                <a:cs typeface="Arial" panose="020B0604020202020204" pitchFamily="34" charset="0"/>
              </a:rPr>
              <a:t>Fama</a:t>
            </a:r>
            <a:r>
              <a:rPr lang="en-US" sz="2000" dirty="0">
                <a:latin typeface="Arial" panose="020B0604020202020204" pitchFamily="34" charset="0"/>
                <a:cs typeface="Arial" panose="020B0604020202020204" pitchFamily="34" charset="0"/>
              </a:rPr>
              <a:t>-French model becomes a four-factor model:</a:t>
            </a:r>
          </a:p>
          <a:p>
            <a:pPr>
              <a:lnSpc>
                <a:spcPct val="150000"/>
              </a:lnSpc>
            </a:pPr>
            <a:endParaRPr lang="en-US" sz="2000" dirty="0">
              <a:cs typeface="Arial" panose="020B0604020202020204" pitchFamily="34" charset="0"/>
            </a:endParaRPr>
          </a:p>
          <a:p>
            <a:pPr marL="0" indent="0">
              <a:lnSpc>
                <a:spcPct val="150000"/>
              </a:lnSpc>
              <a:buNone/>
            </a:pPr>
            <a:endParaRPr lang="en-US" sz="2000" dirty="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WML: momentum factor represents </a:t>
            </a:r>
            <a:r>
              <a:rPr lang="en-GB" sz="2000" dirty="0">
                <a:latin typeface="Arial" panose="020B0604020202020204" pitchFamily="34" charset="0"/>
                <a:cs typeface="Arial" panose="020B0604020202020204" pitchFamily="34" charset="0"/>
              </a:rPr>
              <a:t>winner minus loser portfolio return. It is is constructed as an equally weighted average of top 30% of firms with highest returns in previous 11 months minus equally weighted average of the 30% firms with the lowest returns in previous 11 months</a:t>
            </a:r>
            <a:r>
              <a:rPr lang="en-GB" sz="2000" dirty="0">
                <a:cs typeface="Arial" panose="020B0604020202020204" pitchFamily="34" charset="0"/>
              </a:rPr>
              <a:t>. </a:t>
            </a:r>
          </a:p>
          <a:p>
            <a:pPr marL="0" indent="0">
              <a:lnSpc>
                <a:spcPct val="150000"/>
              </a:lnSpc>
              <a:buNone/>
            </a:pPr>
            <a:r>
              <a:rPr lang="en-US" sz="2000" dirty="0">
                <a:cs typeface="Arial" panose="020B0604020202020204" pitchFamily="34" charset="0"/>
              </a:rPr>
              <a:t> </a:t>
            </a:r>
          </a:p>
        </p:txBody>
      </p:sp>
      <p:sp>
        <p:nvSpPr>
          <p:cNvPr id="4" name="Rectangle 2">
            <a:extLst>
              <a:ext uri="{FF2B5EF4-FFF2-40B4-BE49-F238E27FC236}">
                <a16:creationId xmlns:a16="http://schemas.microsoft.com/office/drawing/2014/main" id="{26452AE8-E6C0-9D45-8980-6076C0D384BD}"/>
              </a:ext>
            </a:extLst>
          </p:cNvPr>
          <p:cNvSpPr>
            <a:spLocks noChangeArrowheads="1"/>
          </p:cNvSpPr>
          <p:nvPr/>
        </p:nvSpPr>
        <p:spPr bwMode="auto">
          <a:xfrm>
            <a:off x="1155079" y="2492183"/>
            <a:ext cx="161981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BDA5619D-DB3B-304B-A386-FBE915398F01}"/>
              </a:ext>
            </a:extLst>
          </p:cNvPr>
          <p:cNvGraphicFramePr>
            <a:graphicFrameLocks noChangeAspect="1"/>
          </p:cNvGraphicFramePr>
          <p:nvPr>
            <p:extLst>
              <p:ext uri="{D42A27DB-BD31-4B8C-83A1-F6EECF244321}">
                <p14:modId xmlns:p14="http://schemas.microsoft.com/office/powerpoint/2010/main" val="246625333"/>
              </p:ext>
            </p:extLst>
          </p:nvPr>
        </p:nvGraphicFramePr>
        <p:xfrm>
          <a:off x="808821" y="2861515"/>
          <a:ext cx="8164279" cy="457200"/>
        </p:xfrm>
        <a:graphic>
          <a:graphicData uri="http://schemas.openxmlformats.org/presentationml/2006/ole">
            <mc:AlternateContent xmlns:mc="http://schemas.openxmlformats.org/markup-compatibility/2006">
              <mc:Choice xmlns:v="urn:schemas-microsoft-com:vml" Requires="v">
                <p:oleObj r:id="rId2" imgW="4762500" imgH="254000" progId="Equation.3">
                  <p:embed/>
                </p:oleObj>
              </mc:Choice>
              <mc:Fallback>
                <p:oleObj r:id="rId2" imgW="4762500" imgH="254000" progId="Equation.3">
                  <p:embed/>
                  <p:pic>
                    <p:nvPicPr>
                      <p:cNvPr id="5" name="Object 4">
                        <a:extLst>
                          <a:ext uri="{FF2B5EF4-FFF2-40B4-BE49-F238E27FC236}">
                            <a16:creationId xmlns:a16="http://schemas.microsoft.com/office/drawing/2014/main" id="{BDA5619D-DB3B-304B-A386-FBE915398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821" y="2861515"/>
                        <a:ext cx="8164279" cy="457200"/>
                      </a:xfrm>
                      <a:prstGeom prst="rect">
                        <a:avLst/>
                      </a:prstGeom>
                      <a:noFill/>
                    </p:spPr>
                  </p:pic>
                </p:oleObj>
              </mc:Fallback>
            </mc:AlternateContent>
          </a:graphicData>
        </a:graphic>
      </p:graphicFrame>
    </p:spTree>
    <p:extLst>
      <p:ext uri="{BB962C8B-B14F-4D97-AF65-F5344CB8AC3E}">
        <p14:creationId xmlns:p14="http://schemas.microsoft.com/office/powerpoint/2010/main" val="1322027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EA7F8-E55A-9945-86D0-742AD0622EAD}"/>
              </a:ext>
            </a:extLst>
          </p:cNvPr>
          <p:cNvSpPr>
            <a:spLocks noGrp="1"/>
          </p:cNvSpPr>
          <p:nvPr>
            <p:ph type="title"/>
          </p:nvPr>
        </p:nvSpPr>
        <p:spPr>
          <a:xfrm>
            <a:off x="437547" y="619473"/>
            <a:ext cx="11315248" cy="785542"/>
          </a:xfrm>
        </p:spPr>
        <p:txBody>
          <a:bodyPr>
            <a:normAutofit/>
          </a:bodyPr>
          <a:lstStyle/>
          <a:p>
            <a:r>
              <a:rPr lang="en-US" sz="3200" dirty="0"/>
              <a:t>Model example: </a:t>
            </a:r>
            <a:r>
              <a:rPr lang="en-US" sz="3200" dirty="0" err="1"/>
              <a:t>Fama</a:t>
            </a:r>
            <a:r>
              <a:rPr lang="en-US" sz="3200" dirty="0"/>
              <a:t>-French (1993) for stocks and bonds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CAED10-82BD-5F4F-A6BD-CD2A1FE91B15}"/>
                  </a:ext>
                </a:extLst>
              </p:cNvPr>
              <p:cNvSpPr>
                <a:spLocks noGrp="1"/>
              </p:cNvSpPr>
              <p:nvPr>
                <p:ph idx="1"/>
              </p:nvPr>
            </p:nvSpPr>
            <p:spPr>
              <a:xfrm>
                <a:off x="437547" y="1574800"/>
                <a:ext cx="9497367" cy="4419600"/>
              </a:xfrm>
            </p:spPr>
            <p:txBody>
              <a:bodyPr>
                <a:normAutofit fontScale="70000" lnSpcReduction="20000"/>
              </a:bodyPr>
              <a:lstStyle/>
              <a:p>
                <a:pPr>
                  <a:lnSpc>
                    <a:spcPct val="150000"/>
                  </a:lnSpc>
                </a:pPr>
                <a:r>
                  <a:rPr lang="en-US" dirty="0">
                    <a:latin typeface="Arial" panose="020B0604020202020204" pitchFamily="34" charset="0"/>
                    <a:cs typeface="Arial" panose="020B0604020202020204" pitchFamily="34" charset="0"/>
                  </a:rPr>
                  <a:t>Common risk in bond returns arises from unexpected change in interest rates.</a:t>
                </a:r>
              </a:p>
              <a:p>
                <a:pPr>
                  <a:lnSpc>
                    <a:spcPct val="150000"/>
                  </a:lnSpc>
                </a:pPr>
                <a:r>
                  <a:rPr lang="en-US" dirty="0">
                    <a:latin typeface="Arial" panose="020B0604020202020204" pitchFamily="34" charset="0"/>
                    <a:cs typeface="Arial" panose="020B0604020202020204" pitchFamily="34" charset="0"/>
                  </a:rPr>
                  <a:t>The authors introduce the TERM factor that measures difference between the return of long-term government bond and 1m T-bill.</a:t>
                </a:r>
              </a:p>
              <a:p>
                <a:pPr>
                  <a:lnSpc>
                    <a:spcPct val="150000"/>
                  </a:lnSpc>
                </a:pPr>
                <a:r>
                  <a:rPr lang="en-US" dirty="0">
                    <a:latin typeface="Arial" panose="020B0604020202020204" pitchFamily="34" charset="0"/>
                    <a:cs typeface="Arial" panose="020B0604020202020204" pitchFamily="34" charset="0"/>
                  </a:rPr>
                  <a:t>The authors introduce default factor, DEF, as the difference between the return on a portfolio of long-term corporate bonds and a long-term government bonds</a:t>
                </a:r>
              </a:p>
              <a:p>
                <a:pPr>
                  <a:lnSpc>
                    <a:spcPct val="150000"/>
                  </a:lnSpc>
                </a:pPr>
                <a:r>
                  <a:rPr lang="en-US" dirty="0">
                    <a:latin typeface="Arial" panose="020B0604020202020204" pitchFamily="34" charset="0"/>
                    <a:cs typeface="Arial" panose="020B0604020202020204" pitchFamily="34" charset="0"/>
                  </a:rPr>
                  <a:t>Two additional premiums in the </a:t>
                </a:r>
                <a:r>
                  <a:rPr lang="en-US" dirty="0" err="1">
                    <a:latin typeface="Arial" panose="020B0604020202020204" pitchFamily="34" charset="0"/>
                    <a:cs typeface="Arial" panose="020B0604020202020204" pitchFamily="34" charset="0"/>
                  </a:rPr>
                  <a:t>Fama</a:t>
                </a:r>
                <a:r>
                  <a:rPr lang="en-US" dirty="0">
                    <a:latin typeface="Arial" panose="020B0604020202020204" pitchFamily="34" charset="0"/>
                    <a:cs typeface="Arial" panose="020B0604020202020204" pitchFamily="34" charset="0"/>
                  </a:rPr>
                  <a:t>-French (1993) equation: term and default premium</a:t>
                </a:r>
              </a:p>
              <a:p>
                <a:endParaRPr lang="en-US" dirty="0"/>
              </a:p>
              <a:p>
                <a:pPr marL="0" indent="0">
                  <a:buNone/>
                </a:pPr>
                <a14:m>
                  <m:oMath xmlns:m="http://schemas.openxmlformats.org/officeDocument/2006/math">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𝑖𝑡</m:t>
                        </m:r>
                      </m:sub>
                    </m:s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𝑟</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𝑓𝑡</m:t>
                        </m:r>
                      </m:sub>
                    </m:s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𝑖𝑡</m:t>
                        </m:r>
                      </m:sub>
                    </m:s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𝛽</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𝑖𝑚</m:t>
                        </m:r>
                      </m:sub>
                    </m:sSub>
                    <m:d>
                      <m:d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𝑚𝑡</m:t>
                            </m:r>
                          </m:sub>
                        </m:s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𝑟</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𝑓𝑡</m:t>
                            </m:r>
                          </m:sub>
                        </m:sSub>
                      </m:e>
                    </m:d>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𝛽</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𝑖𝑆𝑀𝐵</m:t>
                        </m:r>
                      </m:sub>
                    </m:sSub>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𝑆𝑀𝐵</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𝛽</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𝑖𝐻𝑀𝐿</m:t>
                            </m:r>
                          </m:sub>
                        </m:sSub>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𝐻𝑀𝐿</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𝛽</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2600" b="0" i="1" smtClean="0">
                                <a:effectLst/>
                                <a:latin typeface="Cambria Math" panose="02040503050406030204" pitchFamily="18" charset="0"/>
                                <a:ea typeface="Times New Roman" panose="02020603050405020304" pitchFamily="18" charset="0"/>
                                <a:cs typeface="Times New Roman" panose="02020603050405020304" pitchFamily="18" charset="0"/>
                              </a:rPr>
                              <m:t>𝑇𝐸𝑅𝑀</m:t>
                            </m:r>
                          </m:sub>
                        </m:sSub>
                        <m:sSub>
                          <m:sSubPr>
                            <m:ctrlPr>
                              <a:rPr lang="en-GB" sz="2600" b="0" i="1" smtClean="0">
                                <a:effectLst/>
                                <a:latin typeface="Cambria Math" panose="02040503050406030204" pitchFamily="18" charset="0"/>
                              </a:rPr>
                            </m:ctrlPr>
                          </m:sSubPr>
                          <m:e>
                            <m:r>
                              <a:rPr lang="en-GB" sz="2600" b="0" i="1" smtClean="0">
                                <a:effectLst/>
                                <a:latin typeface="Cambria Math" panose="02040503050406030204" pitchFamily="18" charset="0"/>
                              </a:rPr>
                              <m:t>𝑇𝐸𝑅𝑀</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𝛽</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2600" b="0" i="1" smtClean="0">
                                <a:effectLst/>
                                <a:latin typeface="Cambria Math" panose="02040503050406030204" pitchFamily="18" charset="0"/>
                                <a:ea typeface="Times New Roman" panose="02020603050405020304" pitchFamily="18" charset="0"/>
                                <a:cs typeface="Times New Roman" panose="02020603050405020304" pitchFamily="18" charset="0"/>
                              </a:rPr>
                              <m:t>𝐷𝐸𝐹</m:t>
                            </m:r>
                          </m:sub>
                        </m:sSub>
                        <m:sSub>
                          <m:sSubPr>
                            <m:ctrlPr>
                              <a:rPr lang="en-GB" sz="2600" b="0" i="1" smtClean="0">
                                <a:effectLst/>
                                <a:latin typeface="Cambria Math" panose="02040503050406030204" pitchFamily="18" charset="0"/>
                              </a:rPr>
                            </m:ctrlPr>
                          </m:sSubPr>
                          <m:e>
                            <m:r>
                              <a:rPr lang="en-GB" sz="2600" b="0" i="1" smtClean="0">
                                <a:effectLst/>
                                <a:latin typeface="Cambria Math" panose="02040503050406030204" pitchFamily="18" charset="0"/>
                              </a:rPr>
                              <m:t>𝐷𝐸𝐹</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𝜀</m:t>
                        </m:r>
                      </m:e>
                      <m:sub>
                        <m:r>
                          <a:rPr lang="en-US" sz="2600" i="1">
                            <a:effectLst/>
                            <a:latin typeface="Cambria Math" panose="02040503050406030204" pitchFamily="18" charset="0"/>
                            <a:ea typeface="Times New Roman" panose="02020603050405020304" pitchFamily="18" charset="0"/>
                            <a:cs typeface="Times New Roman" panose="02020603050405020304" pitchFamily="18" charset="0"/>
                          </a:rPr>
                          <m:t>𝑖𝑡</m:t>
                        </m:r>
                      </m:sub>
                    </m:sSub>
                  </m:oMath>
                </a14:m>
                <a:r>
                  <a:rPr lang="en-GB" dirty="0">
                    <a:effectLst/>
                  </a:rPr>
                  <a:t> </a:t>
                </a:r>
                <a:endParaRPr lang="en-US" dirty="0"/>
              </a:p>
            </p:txBody>
          </p:sp>
        </mc:Choice>
        <mc:Fallback xmlns="">
          <p:sp>
            <p:nvSpPr>
              <p:cNvPr id="3" name="Content Placeholder 2">
                <a:extLst>
                  <a:ext uri="{FF2B5EF4-FFF2-40B4-BE49-F238E27FC236}">
                    <a16:creationId xmlns:a16="http://schemas.microsoft.com/office/drawing/2014/main" id="{91CAED10-82BD-5F4F-A6BD-CD2A1FE91B15}"/>
                  </a:ext>
                </a:extLst>
              </p:cNvPr>
              <p:cNvSpPr>
                <a:spLocks noGrp="1" noRot="1" noChangeAspect="1" noMove="1" noResize="1" noEditPoints="1" noAdjustHandles="1" noChangeArrowheads="1" noChangeShapeType="1" noTextEdit="1"/>
              </p:cNvSpPr>
              <p:nvPr>
                <p:ph idx="1"/>
              </p:nvPr>
            </p:nvSpPr>
            <p:spPr>
              <a:xfrm>
                <a:off x="437547" y="1574800"/>
                <a:ext cx="9497367" cy="4419600"/>
              </a:xfrm>
              <a:blipFill>
                <a:blip r:embed="rId2"/>
                <a:stretch>
                  <a:fillRect l="-534"/>
                </a:stretch>
              </a:blipFill>
            </p:spPr>
            <p:txBody>
              <a:bodyPr/>
              <a:lstStyle/>
              <a:p>
                <a:r>
                  <a:rPr lang="en-US">
                    <a:noFill/>
                  </a:rPr>
                  <a:t> </a:t>
                </a:r>
              </a:p>
            </p:txBody>
          </p:sp>
        </mc:Fallback>
      </mc:AlternateContent>
    </p:spTree>
    <p:extLst>
      <p:ext uri="{BB962C8B-B14F-4D97-AF65-F5344CB8AC3E}">
        <p14:creationId xmlns:p14="http://schemas.microsoft.com/office/powerpoint/2010/main" val="1223997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C783-EE8E-9343-BF2B-33BB2EB018F7}"/>
              </a:ext>
            </a:extLst>
          </p:cNvPr>
          <p:cNvSpPr>
            <a:spLocks noGrp="1"/>
          </p:cNvSpPr>
          <p:nvPr>
            <p:ph type="title"/>
          </p:nvPr>
        </p:nvSpPr>
        <p:spPr>
          <a:xfrm>
            <a:off x="438376" y="278684"/>
            <a:ext cx="11315248" cy="785542"/>
          </a:xfrm>
        </p:spPr>
        <p:txBody>
          <a:bodyPr>
            <a:normAutofit/>
          </a:bodyPr>
          <a:lstStyle/>
          <a:p>
            <a:r>
              <a:rPr lang="en-US" sz="3200" dirty="0">
                <a:latin typeface="Arial" panose="020B0604020202020204" pitchFamily="34" charset="0"/>
                <a:cs typeface="Arial" panose="020B0604020202020204" pitchFamily="34" charset="0"/>
              </a:rPr>
              <a:t>How many factors? Which model to use?</a:t>
            </a:r>
          </a:p>
        </p:txBody>
      </p:sp>
      <p:sp>
        <p:nvSpPr>
          <p:cNvPr id="3" name="Content Placeholder 2">
            <a:extLst>
              <a:ext uri="{FF2B5EF4-FFF2-40B4-BE49-F238E27FC236}">
                <a16:creationId xmlns:a16="http://schemas.microsoft.com/office/drawing/2014/main" id="{6CCD2982-6FF0-0B45-AB53-9EE7C3D8132D}"/>
              </a:ext>
            </a:extLst>
          </p:cNvPr>
          <p:cNvSpPr>
            <a:spLocks noGrp="1"/>
          </p:cNvSpPr>
          <p:nvPr>
            <p:ph idx="1"/>
          </p:nvPr>
        </p:nvSpPr>
        <p:spPr>
          <a:xfrm>
            <a:off x="438376" y="1177876"/>
            <a:ext cx="9802904" cy="5265516"/>
          </a:xfrm>
        </p:spPr>
        <p:txBody>
          <a:bodyPr>
            <a:normAutofit fontScale="77500" lnSpcReduction="20000"/>
          </a:bodyPr>
          <a:lstStyle/>
          <a:p>
            <a:pPr>
              <a:lnSpc>
                <a:spcPct val="150000"/>
              </a:lnSpc>
              <a:spcAft>
                <a:spcPts val="600"/>
              </a:spcAft>
            </a:pPr>
            <a:r>
              <a:rPr lang="en-US" sz="2600" dirty="0">
                <a:latin typeface="Arial" panose="020B0604020202020204" pitchFamily="34" charset="0"/>
                <a:cs typeface="Arial" panose="020B0604020202020204" pitchFamily="34" charset="0"/>
              </a:rPr>
              <a:t>Not enough factors? What else can one use?</a:t>
            </a:r>
          </a:p>
          <a:p>
            <a:pPr lvl="1">
              <a:lnSpc>
                <a:spcPct val="150000"/>
              </a:lnSpc>
              <a:spcAft>
                <a:spcPts val="600"/>
              </a:spcAft>
            </a:pPr>
            <a:r>
              <a:rPr lang="en-US" sz="2300" dirty="0">
                <a:latin typeface="Arial" panose="020B0604020202020204" pitchFamily="34" charset="0"/>
                <a:cs typeface="Arial" panose="020B0604020202020204" pitchFamily="34" charset="0"/>
              </a:rPr>
              <a:t>Liquidity?</a:t>
            </a:r>
          </a:p>
          <a:p>
            <a:pPr lvl="1">
              <a:lnSpc>
                <a:spcPct val="150000"/>
              </a:lnSpc>
              <a:spcAft>
                <a:spcPts val="600"/>
              </a:spcAft>
            </a:pPr>
            <a:r>
              <a:rPr lang="en-US" sz="2300" dirty="0">
                <a:latin typeface="Arial" panose="020B0604020202020204" pitchFamily="34" charset="0"/>
                <a:cs typeface="Arial" panose="020B0604020202020204" pitchFamily="34" charset="0"/>
              </a:rPr>
              <a:t>Volatility?</a:t>
            </a:r>
          </a:p>
          <a:p>
            <a:pPr lvl="1">
              <a:lnSpc>
                <a:spcPct val="150000"/>
              </a:lnSpc>
              <a:spcAft>
                <a:spcPts val="600"/>
              </a:spcAft>
            </a:pPr>
            <a:r>
              <a:rPr lang="en-US" sz="2300" dirty="0">
                <a:latin typeface="Arial" panose="020B0604020202020204" pitchFamily="34" charset="0"/>
                <a:cs typeface="Arial" panose="020B0604020202020204" pitchFamily="34" charset="0"/>
              </a:rPr>
              <a:t>Literature suggests over 300 potential factors that can be used – “factor Zoo”</a:t>
            </a:r>
          </a:p>
          <a:p>
            <a:pPr>
              <a:lnSpc>
                <a:spcPct val="150000"/>
              </a:lnSpc>
              <a:spcAft>
                <a:spcPts val="600"/>
              </a:spcAft>
            </a:pPr>
            <a:r>
              <a:rPr lang="en-US" sz="2600" dirty="0">
                <a:latin typeface="Arial" panose="020B0604020202020204" pitchFamily="34" charset="0"/>
                <a:cs typeface="Arial" panose="020B0604020202020204" pitchFamily="34" charset="0"/>
              </a:rPr>
              <a:t>Too many factors?</a:t>
            </a:r>
          </a:p>
          <a:p>
            <a:pPr lvl="1">
              <a:lnSpc>
                <a:spcPct val="150000"/>
              </a:lnSpc>
              <a:spcAft>
                <a:spcPts val="600"/>
              </a:spcAft>
            </a:pPr>
            <a:r>
              <a:rPr lang="en-US" sz="2300" dirty="0">
                <a:latin typeface="Arial" panose="020B0604020202020204" pitchFamily="34" charset="0"/>
                <a:cs typeface="Arial" panose="020B0604020202020204" pitchFamily="34" charset="0"/>
              </a:rPr>
              <a:t>That seems to be the case</a:t>
            </a:r>
          </a:p>
          <a:p>
            <a:pPr lvl="1">
              <a:lnSpc>
                <a:spcPct val="150000"/>
              </a:lnSpc>
              <a:spcAft>
                <a:spcPts val="600"/>
              </a:spcAft>
            </a:pPr>
            <a:r>
              <a:rPr lang="en-US" sz="2300" dirty="0">
                <a:latin typeface="Arial" panose="020B0604020202020204" pitchFamily="34" charset="0"/>
                <a:cs typeface="Arial" panose="020B0604020202020204" pitchFamily="34" charset="0"/>
              </a:rPr>
              <a:t>For instance, in equity mutual fund space, there is no evidence that any of the factors studied in the literature consistently add value to the </a:t>
            </a:r>
            <a:r>
              <a:rPr lang="en-US" sz="2300" dirty="0" err="1">
                <a:latin typeface="Arial" panose="020B0604020202020204" pitchFamily="34" charset="0"/>
                <a:cs typeface="Arial" panose="020B0604020202020204" pitchFamily="34" charset="0"/>
              </a:rPr>
              <a:t>Fama</a:t>
            </a:r>
            <a:r>
              <a:rPr lang="en-US" sz="2300" dirty="0">
                <a:latin typeface="Arial" panose="020B0604020202020204" pitchFamily="34" charset="0"/>
                <a:cs typeface="Arial" panose="020B0604020202020204" pitchFamily="34" charset="0"/>
              </a:rPr>
              <a:t>-French (1993) or Carhart (1997) model</a:t>
            </a:r>
          </a:p>
          <a:p>
            <a:pPr lvl="1">
              <a:lnSpc>
                <a:spcPct val="150000"/>
              </a:lnSpc>
              <a:spcAft>
                <a:spcPts val="600"/>
              </a:spcAft>
            </a:pPr>
            <a:r>
              <a:rPr lang="en-US" sz="2300" dirty="0">
                <a:latin typeface="Arial" panose="020B0604020202020204" pitchFamily="34" charset="0"/>
                <a:cs typeface="Arial" panose="020B0604020202020204" pitchFamily="34" charset="0"/>
              </a:rPr>
              <a:t>Recent literature suggests the way how to identify factors that may be better to use than others but no clear guidance on that</a:t>
            </a:r>
          </a:p>
          <a:p>
            <a:pPr lvl="1">
              <a:lnSpc>
                <a:spcPct val="150000"/>
              </a:lnSpc>
              <a:spcAft>
                <a:spcPts val="600"/>
              </a:spcAft>
            </a:pPr>
            <a:endParaRPr lang="en-US" sz="2000" dirty="0">
              <a:latin typeface="Arial" panose="020B0604020202020204" pitchFamily="34" charset="0"/>
              <a:cs typeface="Arial" panose="020B0604020202020204" pitchFamily="34" charset="0"/>
            </a:endParaRP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122452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5006-9D1A-414D-ADEF-E9D7DCAFFC42}"/>
              </a:ext>
            </a:extLst>
          </p:cNvPr>
          <p:cNvSpPr>
            <a:spLocks noGrp="1"/>
          </p:cNvSpPr>
          <p:nvPr>
            <p:ph type="title"/>
          </p:nvPr>
        </p:nvSpPr>
        <p:spPr>
          <a:xfrm>
            <a:off x="640080" y="562323"/>
            <a:ext cx="11113544" cy="785542"/>
          </a:xfrm>
        </p:spPr>
        <p:txBody>
          <a:bodyPr>
            <a:normAutofit/>
          </a:bodyPr>
          <a:lstStyle/>
          <a:p>
            <a:r>
              <a:rPr lang="en-US" sz="3200" dirty="0">
                <a:latin typeface="Arial" panose="020B0604020202020204" pitchFamily="34" charset="0"/>
                <a:cs typeface="Arial" panose="020B0604020202020204" pitchFamily="34" charset="0"/>
              </a:rPr>
              <a:t>Applications of multi-factor models</a:t>
            </a:r>
          </a:p>
        </p:txBody>
      </p:sp>
      <p:sp>
        <p:nvSpPr>
          <p:cNvPr id="3" name="Content Placeholder 2">
            <a:extLst>
              <a:ext uri="{FF2B5EF4-FFF2-40B4-BE49-F238E27FC236}">
                <a16:creationId xmlns:a16="http://schemas.microsoft.com/office/drawing/2014/main" id="{6FE82FBB-91D6-3A45-80C5-6D61AE235BDC}"/>
              </a:ext>
            </a:extLst>
          </p:cNvPr>
          <p:cNvSpPr>
            <a:spLocks noGrp="1"/>
          </p:cNvSpPr>
          <p:nvPr>
            <p:ph idx="1"/>
          </p:nvPr>
        </p:nvSpPr>
        <p:spPr>
          <a:xfrm>
            <a:off x="640080" y="1551940"/>
            <a:ext cx="9295663" cy="4419600"/>
          </a:xfrm>
        </p:spPr>
        <p:txBody>
          <a:bodyPr>
            <a:normAutofit fontScale="92500"/>
          </a:bodyPr>
          <a:lstStyle/>
          <a:p>
            <a:pPr>
              <a:lnSpc>
                <a:spcPct val="150000"/>
              </a:lnSpc>
            </a:pPr>
            <a:r>
              <a:rPr lang="en-GB" sz="2000" dirty="0">
                <a:latin typeface="Arial" panose="020B0604020202020204" pitchFamily="34" charset="0"/>
                <a:cs typeface="Arial" panose="020B0604020202020204" pitchFamily="34" charset="0"/>
              </a:rPr>
              <a:t>Used as the basis for many of the commercial risk systems such as MSCI Barra</a:t>
            </a:r>
          </a:p>
          <a:p>
            <a:pPr>
              <a:lnSpc>
                <a:spcPct val="150000"/>
              </a:lnSpc>
            </a:pPr>
            <a:r>
              <a:rPr lang="en-GB" sz="2000" dirty="0">
                <a:latin typeface="Arial" panose="020B0604020202020204" pitchFamily="34" charset="0"/>
                <a:cs typeface="Arial" panose="020B0604020202020204" pitchFamily="34" charset="0"/>
              </a:rPr>
              <a:t>Custom portfolio building</a:t>
            </a:r>
          </a:p>
          <a:p>
            <a:pPr lvl="1">
              <a:lnSpc>
                <a:spcPct val="150000"/>
              </a:lnSpc>
            </a:pPr>
            <a:r>
              <a:rPr lang="en-GB" sz="2000" dirty="0">
                <a:latin typeface="Arial" panose="020B0604020202020204" pitchFamily="34" charset="0"/>
                <a:cs typeface="Arial" panose="020B0604020202020204" pitchFamily="34" charset="0"/>
              </a:rPr>
              <a:t>Portfolios have certain required characteristics</a:t>
            </a:r>
          </a:p>
          <a:p>
            <a:pPr lvl="1">
              <a:lnSpc>
                <a:spcPct val="150000"/>
              </a:lnSpc>
            </a:pPr>
            <a:r>
              <a:rPr lang="en-GB" sz="2000" dirty="0">
                <a:latin typeface="Arial" panose="020B0604020202020204" pitchFamily="34" charset="0"/>
                <a:cs typeface="Arial" panose="020B0604020202020204" pitchFamily="34" charset="0"/>
              </a:rPr>
              <a:t>e.g. an oil company wants a pension fund portfolio immunised against oil price risk: build a portfolio with low exposure to oil price movement and unexpected inflation</a:t>
            </a:r>
          </a:p>
          <a:p>
            <a:pPr>
              <a:lnSpc>
                <a:spcPct val="150000"/>
              </a:lnSpc>
            </a:pPr>
            <a:r>
              <a:rPr lang="en-GB" sz="2000" dirty="0">
                <a:latin typeface="Arial" panose="020B0604020202020204" pitchFamily="34" charset="0"/>
                <a:cs typeface="Arial" panose="020B0604020202020204" pitchFamily="34" charset="0"/>
              </a:rPr>
              <a:t>Sensitivity analysis of the existing portfolio</a:t>
            </a:r>
          </a:p>
          <a:p>
            <a:pPr lvl="1">
              <a:lnSpc>
                <a:spcPct val="150000"/>
              </a:lnSpc>
            </a:pPr>
            <a:r>
              <a:rPr lang="en-GB" sz="2000" dirty="0">
                <a:latin typeface="Arial" panose="020B0604020202020204" pitchFamily="34" charset="0"/>
                <a:cs typeface="Arial" panose="020B0604020202020204" pitchFamily="34" charset="0"/>
              </a:rPr>
              <a:t>How would your portfolio perform if there was steepening of the yield curve?</a:t>
            </a:r>
          </a:p>
          <a:p>
            <a:endParaRPr lang="en-US" dirty="0"/>
          </a:p>
        </p:txBody>
      </p:sp>
    </p:spTree>
    <p:extLst>
      <p:ext uri="{BB962C8B-B14F-4D97-AF65-F5344CB8AC3E}">
        <p14:creationId xmlns:p14="http://schemas.microsoft.com/office/powerpoint/2010/main" val="31278233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F1CAE-86D2-E049-B194-4FB78C654331}"/>
              </a:ext>
            </a:extLst>
          </p:cNvPr>
          <p:cNvSpPr>
            <a:spLocks noGrp="1"/>
          </p:cNvSpPr>
          <p:nvPr>
            <p:ph type="title"/>
          </p:nvPr>
        </p:nvSpPr>
        <p:spPr>
          <a:xfrm>
            <a:off x="438376" y="516603"/>
            <a:ext cx="11315248" cy="785542"/>
          </a:xfrm>
        </p:spPr>
        <p:txBody>
          <a:bodyPr/>
          <a:lstStyle/>
          <a:p>
            <a:r>
              <a:rPr lang="en-US" sz="3200" dirty="0"/>
              <a:t>Reading</a:t>
            </a:r>
          </a:p>
        </p:txBody>
      </p:sp>
      <p:sp>
        <p:nvSpPr>
          <p:cNvPr id="3" name="Content Placeholder 2">
            <a:extLst>
              <a:ext uri="{FF2B5EF4-FFF2-40B4-BE49-F238E27FC236}">
                <a16:creationId xmlns:a16="http://schemas.microsoft.com/office/drawing/2014/main" id="{0929D6D8-F291-FB45-B330-1315FAA82D43}"/>
              </a:ext>
            </a:extLst>
          </p:cNvPr>
          <p:cNvSpPr>
            <a:spLocks noGrp="1"/>
          </p:cNvSpPr>
          <p:nvPr>
            <p:ph idx="1"/>
          </p:nvPr>
        </p:nvSpPr>
        <p:spPr>
          <a:xfrm>
            <a:off x="438376" y="1483360"/>
            <a:ext cx="9497367" cy="4419600"/>
          </a:xfrm>
        </p:spPr>
        <p:txBody>
          <a:bodyPr/>
          <a:lstStyle/>
          <a:p>
            <a:pPr>
              <a:lnSpc>
                <a:spcPct val="150000"/>
              </a:lnSpc>
            </a:pPr>
            <a:r>
              <a:rPr lang="en-US" sz="2000" dirty="0"/>
              <a:t>Reading on Moodle</a:t>
            </a:r>
          </a:p>
          <a:p>
            <a:pPr>
              <a:lnSpc>
                <a:spcPct val="150000"/>
              </a:lnSpc>
            </a:pPr>
            <a:r>
              <a:rPr lang="en-US" sz="2000" dirty="0"/>
              <a:t>Elton, Gruber, Miles and </a:t>
            </a:r>
            <a:r>
              <a:rPr lang="en-US" sz="2000" dirty="0" err="1"/>
              <a:t>Goetzmann</a:t>
            </a:r>
            <a:r>
              <a:rPr lang="en-US" sz="2000" dirty="0"/>
              <a:t>, “Modern Portfolio Theory and Investment Analysis”: parts of Chapter 7 and Chapter 8 for single factor and multi-factor model; parts of Chapter 13 for the CAPM</a:t>
            </a:r>
          </a:p>
          <a:p>
            <a:pPr>
              <a:lnSpc>
                <a:spcPct val="150000"/>
              </a:lnSpc>
            </a:pPr>
            <a:endParaRPr lang="en-US" sz="2000" dirty="0"/>
          </a:p>
          <a:p>
            <a:endParaRPr lang="en-US" dirty="0"/>
          </a:p>
          <a:p>
            <a:endParaRPr lang="en-US" dirty="0"/>
          </a:p>
        </p:txBody>
      </p:sp>
    </p:spTree>
    <p:extLst>
      <p:ext uri="{BB962C8B-B14F-4D97-AF65-F5344CB8AC3E}">
        <p14:creationId xmlns:p14="http://schemas.microsoft.com/office/powerpoint/2010/main" val="26003630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2480</TotalTime>
  <Words>3295</Words>
  <Application>Microsoft Macintosh PowerPoint</Application>
  <PresentationFormat>Widescreen</PresentationFormat>
  <Paragraphs>285</Paragraphs>
  <Slides>42</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1" baseType="lpstr">
      <vt:lpstr>Aptos</vt:lpstr>
      <vt:lpstr>Aptos Display</vt:lpstr>
      <vt:lpstr>Arial</vt:lpstr>
      <vt:lpstr>Cambria Math</vt:lpstr>
      <vt:lpstr>Lucida Grande</vt:lpstr>
      <vt:lpstr>Times New Roman</vt:lpstr>
      <vt:lpstr>Wingdings</vt:lpstr>
      <vt:lpstr>Office Theme</vt:lpstr>
      <vt:lpstr>Equation.3</vt:lpstr>
      <vt:lpstr>Capital Asset Pricing Model (CAPM) and  Multi-Factor Models </vt:lpstr>
      <vt:lpstr>Portfolio Theory vs. Capital Markets Theory</vt:lpstr>
      <vt:lpstr>CAPM Assumptions</vt:lpstr>
      <vt:lpstr>Implications of the CAPM assumptions – the same Efficient Frontier for all investors – the best CAL</vt:lpstr>
      <vt:lpstr>Implications of the CAPM assumptions – the same Efficient Frontier for all investors – the best Capital Allocation Line</vt:lpstr>
      <vt:lpstr>Implications of the CAPM assumptions – the Market Portfolio</vt:lpstr>
      <vt:lpstr> The Market Portfolio (M)</vt:lpstr>
      <vt:lpstr>Implication of the CAPM assumptions: the Separation Theorem</vt:lpstr>
      <vt:lpstr>Risk-return relationships defined by the CAPM: CML vs. SML</vt:lpstr>
      <vt:lpstr>Relationships defined by CAPM</vt:lpstr>
      <vt:lpstr>Capital Market Line (CML), cont.</vt:lpstr>
      <vt:lpstr>Capital Market Line (CML)</vt:lpstr>
      <vt:lpstr>Security Market Line (SML)</vt:lpstr>
      <vt:lpstr>Security Market Line (SML)</vt:lpstr>
      <vt:lpstr>Interpretation of Beta</vt:lpstr>
      <vt:lpstr>Security Market Line (SML), cont.</vt:lpstr>
      <vt:lpstr>Prices and CAPM</vt:lpstr>
      <vt:lpstr>Prices and the CAPM</vt:lpstr>
      <vt:lpstr>SML and undervalued/overvalued securities</vt:lpstr>
      <vt:lpstr>SML and undervalued/overvalued securities</vt:lpstr>
      <vt:lpstr>Estimation of the SML in practice</vt:lpstr>
      <vt:lpstr>The Single Index Model </vt:lpstr>
      <vt:lpstr>The purpose of the Single Index Model</vt:lpstr>
      <vt:lpstr>Single Index Model</vt:lpstr>
      <vt:lpstr>Comparison of SIM vs. CAPM</vt:lpstr>
      <vt:lpstr>Variances and covariances in the Single Index Model</vt:lpstr>
      <vt:lpstr>Importance of R2   </vt:lpstr>
      <vt:lpstr>R-squared and correlation coefficient</vt:lpstr>
      <vt:lpstr>R-squared and diversification</vt:lpstr>
      <vt:lpstr>Estimating Betas - Issues</vt:lpstr>
      <vt:lpstr>Adjusted beta</vt:lpstr>
      <vt:lpstr>Adjusted Beta - Example</vt:lpstr>
      <vt:lpstr>Multi-factor models</vt:lpstr>
      <vt:lpstr>Why multi-factor models?</vt:lpstr>
      <vt:lpstr>Multi-factor model – general equation</vt:lpstr>
      <vt:lpstr>Factors and their characteristics</vt:lpstr>
      <vt:lpstr>Model example: Fama-French (1993) Three-Factor Model</vt:lpstr>
      <vt:lpstr>Model example: Carhart (1997) Four-Factor Model</vt:lpstr>
      <vt:lpstr>Model example: Fama-French (1993) for stocks and bonds</vt:lpstr>
      <vt:lpstr>How many factors? Which model to use?</vt:lpstr>
      <vt:lpstr>Applications of multi-factor models</vt:lpstr>
      <vt:lpstr>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Natasa Zrilic</dc:creator>
  <cp:lastModifiedBy>PG-Zhong, Yuguang</cp:lastModifiedBy>
  <cp:revision>10</cp:revision>
  <dcterms:created xsi:type="dcterms:W3CDTF">2024-09-17T16:52:47Z</dcterms:created>
  <dcterms:modified xsi:type="dcterms:W3CDTF">2026-10-16T11:40:06Z</dcterms:modified>
</cp:coreProperties>
</file>