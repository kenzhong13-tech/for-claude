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44"/>
  </p:notesMasterIdLst>
  <p:sldIdLst>
    <p:sldId id="270" r:id="rId5"/>
    <p:sldId id="257" r:id="rId6"/>
    <p:sldId id="359" r:id="rId7"/>
    <p:sldId id="360" r:id="rId8"/>
    <p:sldId id="422" r:id="rId9"/>
    <p:sldId id="424" r:id="rId10"/>
    <p:sldId id="425" r:id="rId11"/>
    <p:sldId id="374" r:id="rId12"/>
    <p:sldId id="375" r:id="rId13"/>
    <p:sldId id="376" r:id="rId14"/>
    <p:sldId id="382" r:id="rId15"/>
    <p:sldId id="377" r:id="rId16"/>
    <p:sldId id="383" r:id="rId17"/>
    <p:sldId id="384" r:id="rId18"/>
    <p:sldId id="385" r:id="rId19"/>
    <p:sldId id="386" r:id="rId20"/>
    <p:sldId id="387" r:id="rId21"/>
    <p:sldId id="388" r:id="rId22"/>
    <p:sldId id="389" r:id="rId23"/>
    <p:sldId id="316" r:id="rId24"/>
    <p:sldId id="402" r:id="rId25"/>
    <p:sldId id="296" r:id="rId26"/>
    <p:sldId id="403" r:id="rId27"/>
    <p:sldId id="404" r:id="rId28"/>
    <p:sldId id="299" r:id="rId29"/>
    <p:sldId id="300" r:id="rId30"/>
    <p:sldId id="322" r:id="rId31"/>
    <p:sldId id="407" r:id="rId32"/>
    <p:sldId id="408" r:id="rId33"/>
    <p:sldId id="409" r:id="rId34"/>
    <p:sldId id="410" r:id="rId35"/>
    <p:sldId id="426" r:id="rId36"/>
    <p:sldId id="411" r:id="rId37"/>
    <p:sldId id="412" r:id="rId38"/>
    <p:sldId id="317" r:id="rId39"/>
    <p:sldId id="413" r:id="rId40"/>
    <p:sldId id="414" r:id="rId41"/>
    <p:sldId id="367" r:id="rId42"/>
    <p:sldId id="421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7"/>
    <p:restoredTop sz="94658"/>
  </p:normalViewPr>
  <p:slideViewPr>
    <p:cSldViewPr snapToGrid="0">
      <p:cViewPr varScale="1">
        <p:scale>
          <a:sx n="120" d="100"/>
          <a:sy n="120" d="100"/>
        </p:scale>
        <p:origin x="68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2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/>
              <a:t>Indifference curves at utility level</a:t>
            </a:r>
            <a:r>
              <a:rPr lang="en-GB" baseline="0"/>
              <a:t>s </a:t>
            </a:r>
            <a:r>
              <a:rPr lang="en-GB" baseline="0">
                <a:solidFill>
                  <a:srgbClr val="0070C0"/>
                </a:solidFill>
              </a:rPr>
              <a:t>0.05</a:t>
            </a:r>
            <a:r>
              <a:rPr lang="en-GB" baseline="0"/>
              <a:t>, </a:t>
            </a:r>
            <a:r>
              <a:rPr lang="en-GB" baseline="0">
                <a:solidFill>
                  <a:schemeClr val="accent2"/>
                </a:solidFill>
              </a:rPr>
              <a:t>0.09</a:t>
            </a:r>
            <a:r>
              <a:rPr lang="en-GB" baseline="0"/>
              <a:t>, 0.12 </a:t>
            </a:r>
            <a:endParaRPr lang="en-GB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GB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strRef>
              <c:f>'plotting IC curve - example'!$B$3</c:f>
              <c:strCache>
                <c:ptCount val="1"/>
                <c:pt idx="0">
                  <c:v>Exp return U=0.05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'plotting IC curve - example'!$A$4:$A$16</c:f>
              <c:numCache>
                <c:formatCode>General</c:formatCode>
                <c:ptCount val="13"/>
                <c:pt idx="0">
                  <c:v>0</c:v>
                </c:pt>
                <c:pt idx="1">
                  <c:v>0.05</c:v>
                </c:pt>
                <c:pt idx="2">
                  <c:v>0.1</c:v>
                </c:pt>
                <c:pt idx="3">
                  <c:v>0.12</c:v>
                </c:pt>
                <c:pt idx="4">
                  <c:v>0.15</c:v>
                </c:pt>
                <c:pt idx="5">
                  <c:v>0.17</c:v>
                </c:pt>
                <c:pt idx="6">
                  <c:v>0.2</c:v>
                </c:pt>
                <c:pt idx="7">
                  <c:v>0.22</c:v>
                </c:pt>
                <c:pt idx="8">
                  <c:v>0.25</c:v>
                </c:pt>
                <c:pt idx="9">
                  <c:v>0.3</c:v>
                </c:pt>
                <c:pt idx="10">
                  <c:v>0.35</c:v>
                </c:pt>
                <c:pt idx="11">
                  <c:v>0.4</c:v>
                </c:pt>
                <c:pt idx="12">
                  <c:v>0.45</c:v>
                </c:pt>
              </c:numCache>
            </c:numRef>
          </c:xVal>
          <c:yVal>
            <c:numRef>
              <c:f>'plotting IC curve - example'!$B$4:$B$16</c:f>
              <c:numCache>
                <c:formatCode>General</c:formatCode>
                <c:ptCount val="13"/>
                <c:pt idx="0">
                  <c:v>0.05</c:v>
                </c:pt>
                <c:pt idx="1">
                  <c:v>5.5000000000000007E-2</c:v>
                </c:pt>
                <c:pt idx="2">
                  <c:v>7.0000000000000007E-2</c:v>
                </c:pt>
                <c:pt idx="3">
                  <c:v>7.8800000000000009E-2</c:v>
                </c:pt>
                <c:pt idx="4">
                  <c:v>9.5000000000000001E-2</c:v>
                </c:pt>
                <c:pt idx="5">
                  <c:v>0.10780000000000001</c:v>
                </c:pt>
                <c:pt idx="6">
                  <c:v>0.13</c:v>
                </c:pt>
                <c:pt idx="7">
                  <c:v>0.14679999999999999</c:v>
                </c:pt>
                <c:pt idx="8">
                  <c:v>0.17499999999999999</c:v>
                </c:pt>
                <c:pt idx="9">
                  <c:v>0.22999999999999998</c:v>
                </c:pt>
                <c:pt idx="10">
                  <c:v>0.29499999999999998</c:v>
                </c:pt>
                <c:pt idx="11">
                  <c:v>0.37000000000000005</c:v>
                </c:pt>
                <c:pt idx="12">
                  <c:v>0.45500000000000002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34C7-B242-8FA3-30734A466E52}"/>
            </c:ext>
          </c:extLst>
        </c:ser>
        <c:ser>
          <c:idx val="1"/>
          <c:order val="1"/>
          <c:tx>
            <c:strRef>
              <c:f>'plotting IC curve - example'!$C$3</c:f>
              <c:strCache>
                <c:ptCount val="1"/>
                <c:pt idx="0">
                  <c:v>Exp return U=0.09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xVal>
            <c:numRef>
              <c:f>'plotting IC curve - example'!$A$4:$A$16</c:f>
              <c:numCache>
                <c:formatCode>General</c:formatCode>
                <c:ptCount val="13"/>
                <c:pt idx="0">
                  <c:v>0</c:v>
                </c:pt>
                <c:pt idx="1">
                  <c:v>0.05</c:v>
                </c:pt>
                <c:pt idx="2">
                  <c:v>0.1</c:v>
                </c:pt>
                <c:pt idx="3">
                  <c:v>0.12</c:v>
                </c:pt>
                <c:pt idx="4">
                  <c:v>0.15</c:v>
                </c:pt>
                <c:pt idx="5">
                  <c:v>0.17</c:v>
                </c:pt>
                <c:pt idx="6">
                  <c:v>0.2</c:v>
                </c:pt>
                <c:pt idx="7">
                  <c:v>0.22</c:v>
                </c:pt>
                <c:pt idx="8">
                  <c:v>0.25</c:v>
                </c:pt>
                <c:pt idx="9">
                  <c:v>0.3</c:v>
                </c:pt>
                <c:pt idx="10">
                  <c:v>0.35</c:v>
                </c:pt>
                <c:pt idx="11">
                  <c:v>0.4</c:v>
                </c:pt>
                <c:pt idx="12">
                  <c:v>0.45</c:v>
                </c:pt>
              </c:numCache>
            </c:numRef>
          </c:xVal>
          <c:yVal>
            <c:numRef>
              <c:f>'plotting IC curve - example'!$C$4:$C$16</c:f>
              <c:numCache>
                <c:formatCode>General</c:formatCode>
                <c:ptCount val="13"/>
                <c:pt idx="0">
                  <c:v>0.09</c:v>
                </c:pt>
                <c:pt idx="1">
                  <c:v>9.5000000000000001E-2</c:v>
                </c:pt>
                <c:pt idx="2">
                  <c:v>0.11</c:v>
                </c:pt>
                <c:pt idx="3">
                  <c:v>0.11879999999999999</c:v>
                </c:pt>
                <c:pt idx="4">
                  <c:v>0.13500000000000001</c:v>
                </c:pt>
                <c:pt idx="5">
                  <c:v>0.14780000000000001</c:v>
                </c:pt>
                <c:pt idx="6">
                  <c:v>0.17</c:v>
                </c:pt>
                <c:pt idx="7">
                  <c:v>0.18679999999999999</c:v>
                </c:pt>
                <c:pt idx="8">
                  <c:v>0.215</c:v>
                </c:pt>
                <c:pt idx="9">
                  <c:v>0.27</c:v>
                </c:pt>
                <c:pt idx="10">
                  <c:v>0.33499999999999996</c:v>
                </c:pt>
                <c:pt idx="11">
                  <c:v>0.41000000000000003</c:v>
                </c:pt>
                <c:pt idx="12">
                  <c:v>0.495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34C7-B242-8FA3-30734A466E52}"/>
            </c:ext>
          </c:extLst>
        </c:ser>
        <c:ser>
          <c:idx val="2"/>
          <c:order val="2"/>
          <c:tx>
            <c:strRef>
              <c:f>'plotting IC curve - example'!$D$3</c:f>
              <c:strCache>
                <c:ptCount val="1"/>
                <c:pt idx="0">
                  <c:v>Exp return U=0.12</c:v>
                </c:pt>
              </c:strCache>
            </c:strRef>
          </c:tx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xVal>
            <c:numRef>
              <c:f>'plotting IC curve - example'!$A$4:$A$16</c:f>
              <c:numCache>
                <c:formatCode>General</c:formatCode>
                <c:ptCount val="13"/>
                <c:pt idx="0">
                  <c:v>0</c:v>
                </c:pt>
                <c:pt idx="1">
                  <c:v>0.05</c:v>
                </c:pt>
                <c:pt idx="2">
                  <c:v>0.1</c:v>
                </c:pt>
                <c:pt idx="3">
                  <c:v>0.12</c:v>
                </c:pt>
                <c:pt idx="4">
                  <c:v>0.15</c:v>
                </c:pt>
                <c:pt idx="5">
                  <c:v>0.17</c:v>
                </c:pt>
                <c:pt idx="6">
                  <c:v>0.2</c:v>
                </c:pt>
                <c:pt idx="7">
                  <c:v>0.22</c:v>
                </c:pt>
                <c:pt idx="8">
                  <c:v>0.25</c:v>
                </c:pt>
                <c:pt idx="9">
                  <c:v>0.3</c:v>
                </c:pt>
                <c:pt idx="10">
                  <c:v>0.35</c:v>
                </c:pt>
                <c:pt idx="11">
                  <c:v>0.4</c:v>
                </c:pt>
                <c:pt idx="12">
                  <c:v>0.45</c:v>
                </c:pt>
              </c:numCache>
            </c:numRef>
          </c:xVal>
          <c:yVal>
            <c:numRef>
              <c:f>'plotting IC curve - example'!$D$4:$D$16</c:f>
              <c:numCache>
                <c:formatCode>General</c:formatCode>
                <c:ptCount val="13"/>
                <c:pt idx="0">
                  <c:v>0.12</c:v>
                </c:pt>
                <c:pt idx="1">
                  <c:v>0.125</c:v>
                </c:pt>
                <c:pt idx="2">
                  <c:v>0.14000000000000001</c:v>
                </c:pt>
                <c:pt idx="3">
                  <c:v>0.14879999999999999</c:v>
                </c:pt>
                <c:pt idx="4">
                  <c:v>0.16499999999999998</c:v>
                </c:pt>
                <c:pt idx="5">
                  <c:v>0.17780000000000001</c:v>
                </c:pt>
                <c:pt idx="6">
                  <c:v>0.2</c:v>
                </c:pt>
                <c:pt idx="7">
                  <c:v>0.21679999999999999</c:v>
                </c:pt>
                <c:pt idx="8">
                  <c:v>0.245</c:v>
                </c:pt>
                <c:pt idx="9">
                  <c:v>0.3</c:v>
                </c:pt>
                <c:pt idx="10">
                  <c:v>0.36499999999999999</c:v>
                </c:pt>
                <c:pt idx="11">
                  <c:v>0.44000000000000006</c:v>
                </c:pt>
                <c:pt idx="12">
                  <c:v>0.52500000000000002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34C7-B242-8FA3-30734A466E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39763872"/>
        <c:axId val="180607008"/>
      </c:scatterChart>
      <c:valAx>
        <c:axId val="23976387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0607008"/>
        <c:crosses val="autoZero"/>
        <c:crossBetween val="midCat"/>
      </c:valAx>
      <c:valAx>
        <c:axId val="1806070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39763872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9-09T11:35:08.35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2596 24575,'16'-21'0,"-7"-1"0,17-6 0,-10-7 0,4 8 0,3-23 0,11 1 0,9-31 0,7 10 0,6-5 0,-12 7 0,1-2-907,0 7 1,5-2 0,-3 2 906,9-10 0,-3 4 0,-4 8 0,0 0-883,8-8 1,0 0 882,-9 12 0,0 1 0,9-11 0,2 0 0,-3 7 0,0 1 0,-4 4 0,-2 0-493,2 0 0,-3 0 493,-7 9 0,-1 1 0,3 0 0,-2 2-313,21-24 313,-25 32 0,-2 2 0,3-18 2250,31-13-2250,-43 29 1870,27-14-1870,-25 10 1236,-2 10-1236,0-8 427,-8 21-427,-4-7 0,-2 13 0,-4-3 0,-1 5 0,-3-1 0,-1 1 0,-4-1 0,4 1 0,1-5 0,3-2 0,2-3 0,-1 3 0,-1 2 0,1 5 0,-4-1 0,2 5 0,-6 0 0,3 4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9-09T11:35:10.31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24575,'0'43'0,"0"-3"0,0 26 0,0 6 0,6 16-1251,8 9 1251,-1-44 0,3 0 0,-2-3 0,1-1 0,13 34 0,-14-22 0,0-1 0,6 13 0,-9-23 0,1 2 0,13 40 247,-7-40-247,3 32 0,2-23 0,-4 1 0,7 22 0,-7-27 0,13 34 0,-18-41 0,24 41 0,-23-33 0,15 11 0,-17-11 0,9-5 0,-4 7 943,5-6-943,1 4 61,-6-12-61,4 5 0,-11-12 0,5 3 0,0-3 0,-4-1 0,9 5 0,-10-5 0,5 0 0,-5 5 0,-1-11 0,1 11 0,4 9 0,-3-11 0,3 10 0,-4-15 0,0 3 0,-1-1 0,1-1 0,-1-1 0,1-4 0,-1 0 0,0-3 0,-1-9 0,1 4 0,-5-6 0,-1-4 0,0-1 0,-3-4 0,3-1 0,-1-3 0,-2 2 0,3-6 0,-4 3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9-09T11:35:12.16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3142 24575,'0'-18'0,"0"-3"0,0-10 0,10-12 0,9-5 0,13-19 0,14-15-639,-21 37 0,0-2 639,8-8 0,2-3 0,-5 3 0,1-2 0,7-5 0,0 0 0,-7-3 0,0 1-821,7 0 1,1 1 820,-2-9 0,-1 1 0,-1 8 0,0 1 0,1-4 0,-2 0-543,-4 7 1,-1 0 542,1 2 0,-1 3-165,-7 8 0,-1 1 165,25-42 0,-14 17 0,6 0 0,1-14 0,-2 20 0,-3-21 0,1 23 0,-4-6 0,5 8 1075,-11 7-1075,8-5 1609,-13 4-1609,15 0 1241,-12 8-1241,0 1 409,-4 18-409,-8-8 0,8 9 0,-2-10 0,3 3 0,2-10 0,-1 11 0,1-11 0,-1 5 0,0 0 0,-4 1 0,-3 11 0,-5 7 0,4 2 0,-7 15 0,1-1 0,-7 12 0,0-1 0,-4 0 0,3 1 0,-3-5 0,4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9-09T11:35:14.23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24575,'5'44'0,"21"18"0,-3 1 0,20 10 0,-10 2 0,4-5-861,9 10 861,-5-2 0,5 2 0,-7-3 0,7 3 0,-6-2 0,6 2 0,-21-36 0,-2 1 0,19 44 0,-14-43 0,0 1 0,-3 3 0,0-2 0,24 35 0,-24-33 0,-1-2 0,6 10 0,-1-6 0,-2-2 0,-4-2 0,7 4 0,2 2 0,-5 4 0,14 21 0,-6-19 263,-10 0-263,11 8 0,-5-6 148,-5-1-148,7-3 0,-14-12 0,9 6 434,-11-14-434,3-2 16,-9-15-16,3 2 0,-6-14 0,1 4 0,-4-4 0,-2-1 0,1 1 0,1-5 0,-1 4 0,4-4 0,-7 5 0,6-1 0,-1 10 0,3 3 0,6 10 0,1-1 0,0 1 0,3-1 0,-3 1 0,-1-1 0,4-5 0,-9-5 0,3-7 0,-5-5 0,1 1 0,-4-1 0,-2 0 0,-3 1 0,0-1 0,0 1 0,0-5 0,0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7-13T14:40:43.8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0 295 24575,'0'-24'0,"0"3"0,0 13 0,0-1 0,0 1 0,0 0 0,0-1 0,0 1 0,0 0 0,0-1 0,0 1 0,0 0 0,0 0 0,0-1 0,0 1 0,0 0 0,0-1 0,0 1 0,0 0 0,0-1 0,0 1 0,0 0 0,0-1 0,0 1 0,0 0 0,0 0 0,0-1 0,0 1 0,0 0 0,0-1 0,0 1 0,0 3 0,0 2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7-13T14:40:47.4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24575,'8'0'0,"0"0"0,-3 4 0,2-4 0,-6 8 0,6-7 0,-6 6 0,6-3 0,-6 5 0,7-1 0,-4 0 0,1 0 0,2-3 0,-6 2 0,6-6 0,-6 6 0,6-6 0,-6 6 0,7-6 0,-7 7 0,6-8 0,-3 8 0,5-7 0,-5 6 0,3-6 0,-6 6 0,7-6 0,-4 3 0,1-1 0,2-2 0,-6 6 0,6-6 0,-2 3 0,3-4 0,-4 4 0,4-3 0,-7 6 0,6-6 0,-3 2 0,1 1 0,2-3 0,-2 3 0,3-4 0,-4 3 0,4-2 0,-7 6 0,2-2 0,1 0 0,-3 2 0,2-6 0,-3 2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7-13T14:40:50.1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1 310 24575,'0'-14'0,"0"1"0,0 5 0,0 0 0,0-1 0,0 1 0,0 0 0,0-1 0,0 1 0,3 4 0,-2-4 0,3 4 0,-4-5 0,4 5 0,-4-4 0,4 4 0,-4-5 0,0 1 0,0 0 0,0-1 0,4 5 0,-3-4 0,2 4 0,-3-5 0,4 1 0,-3 0 0,2 0 0,1 3 0,-3-2 0,3 2 0,-4-3 0,3 3 0,-2-2 0,3 2 0,-4-3 0,3 3 0,-2-2 0,3 2 0,-4-3 0,4-1 0,-3 1 0,2 4 0,-3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7-13T14:40:52.2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24575,'8'0'0,"1"0"0,-1 0 0,0 0 0,-4 4 0,4-3 0,-4 6 0,1-3 0,2 1 0,-2 2 0,3-6 0,-4 6 0,4-6 0,-4 7 0,4-8 0,-3 8 0,2-7 0,-2 2 0,-1 1 0,4-3 0,-4 2 0,1 1 0,2-3 0,-3 3 0,1-1 0,2-2 0,-2 6 0,3-6 0,0 3 0,0 0 0,1-3 0,-1 2 0,-4 1 0,4-3 0,-4 2 0,1 1 0,2-3 0,-2 3 0,3-1 0,0-2 0,-4 6 0,4-6 0,-4 3 0,1 0 0,-2 0 0,-3 1 0,0-2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7-13T14:40:54.9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0 218 24575,'0'-8'0,"0"-5"0,0 4 0,0-4 0,0 5 0,0 0 0,0-1 0,0 1 0,0 0 0,0-1 0,0 1 0,0 0 0,0-1 0,0 1 0,0 0 0,0 0 0,0-1 0,0 1 0,0 0 0,0-1 0,0 1 0,0 0 0,0-1 0,0 1 0,0 3 0,0 2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7-13T14:40:57.0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24575,'8'0'0,"0"0"0,1 0 0,-1 0 0,0 0 0,0 0 0,0 0 0,1 0 0,-1 0 0,0 0 0,0 0 0,0 0 0,1 0 0,-1 0 0,0 0 0,0 0 0,0 0 0,0 3 0,1-2 0,-1 3 0,0-4 0,0 0 0,-3 3 0,2-2 0,-2 3 0,3 0 0,0-3 0,0 2 0,0-3 0,0 0 0,-3 4 0,2-3 0,-2 2 0,3-3 0,0 0 0,0 0 0,-3 4 0,2-3 0,-6 3 0,3-4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7-14T13:12:00.23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1 409 24575,'14'-61'0,"0"-1"0,4-22 0,5 14 0,-18 50 0,6-7 0,-10 19 0,3 0 0,-1-1 0,-2 1 0,7 3 0,-7-2 0,2-2 0,-3 0 0,0-4 0,0 8 0,0 1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7-14T13:12:03.16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0 24575,'8'0'0,"1"0"0,-1 4 0,0 0 0,0 1 0,0-1 0,1-1 0,-1-2 0,-4 6 0,4-6 0,-8 7 0,8-8 0,-4 4 0,1 0 0,2-3 0,-2 6 0,3-6 0,-4 6 0,4-6 0,-7 6 0,6-6 0,-3 6 0,5-6 0,-5 7 0,3-7 0,-2 2 0,-1 1 0,4-3 0,-4 2 0,1 1 0,2-3 0,-2 3 0,3-1 0,0-2 0,0 3 0,-3-1 0,2-2 0,-2 7 0,3-8 0,0 4 0,-3 0 0,2-3 0,-3 2 0,5-3 0,-1 0 0,-4 4 0,4-3 0,-4 3 0,4-1 0,0-2 0,1 3 0,-1-4 0,-4 3 0,4-2 0,-4 3 0,4-4 0,-3 4 0,2-4 0,-2 4 0,-1 0 0,4-3 0,-4 2 0,1 1 0,-2 0 0,1 1 0,-3-1 0,3-4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7-14T13:12:36.04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185 19 24575,'-13'0'0,"4"0"0,-4 0 0,5 0 0,-1 0 0,1 0 0,0 0 0,-1 3 0,1-2 0,0 6 0,-1-6 0,1 3 0,4 0 0,-4-4 0,4 8 0,-5-7 0,5 6 0,-4-6 0,7 6 0,-6-6 0,6 6 0,-6-2 0,6 3 0,-7-3 0,7 2 0,-2-3 0,-1 1 0,3 2 0,-3-2 0,4 3 0,0 0 0,0 0 0,0 1 0,0-1 0,0 0 0,0 0 0,0 0 0,0 0 0,0 1 0,0-1 0,0 0 0,0 0 0,0 0 0,0 1 0,0-1 0,0 0 0,0 0 0,0 0 0,0 0 0,0 1 0,4-1 0,-3 0 0,3 0 0,-1 0 0,-2 1 0,6-5 0,-6 3 0,3-2 0,0 3 0,-4 0 0,8-3 0,-7 2 0,6-6 0,-6 6 0,6-6 0,-6 7 0,6-8 0,-6 8 0,7-7 0,-4 2 0,4-3 0,0 0 0,1 0 0,-1 0 0,0 0 0,0 0 0,0-3 0,1-2 0,-1 0 0,0-2 0,0 6 0,0-3 0,-3 1 0,2 2 0,-2-7 0,3 7 0,-4-6 0,4 6 0,-7-6 0,6 6 0,-6-7 0,6 7 0,-6-6 0,3 2 0,-1 1 0,-2-4 0,6 4 0,-6-4 0,3-1 0,0 5 0,-3-4 0,2 4 0,-3-5 0,0 1 0,0 0 0,0-1 0,0 1 0,0 0 0,0-1 0,0 1 0,0 0 0,0 0 0,0-1 0,0 1 0,0 0 0,0-1 0,-4 5 0,4-4 0,-8 7 0,7-6 0,-6 6 0,6-6 0,-6 6 0,6-7 0,-7 4 0,7-5 0,-2 1 0,-1 4 0,-1-4 0,-3 7 0,3-6 0,2 2 0,-1 1 0,3-4 0,-6 4 0,6-5 0,-7 5 0,7-4 0,-6 7 0,6-6 0,-6 2 0,6-3 0,-7 3 0,8-2 0,-8 6 0,7-6 0,-2 9 0,3-4 0,0 5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7-14T13:12:40.74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 24575,'0'0'0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7-14T13:12:42.80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 24575,'0'0'0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BC8592-6AC0-164F-9A33-976174DE6149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4C3DB3-460B-2C4E-B32E-209E31D4E9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248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Markowitz (1952, 1959); adapted for Securities and Investments lecture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0DDA1CF-CC3B-52BE-93DB-F49F04C335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42205" y="2331889"/>
            <a:ext cx="4707924" cy="1296144"/>
          </a:xfrm>
        </p:spPr>
        <p:txBody>
          <a:bodyPr/>
          <a:lstStyle>
            <a:lvl1pPr algn="l">
              <a:defRPr sz="4000" b="1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Title here </a:t>
            </a:r>
            <a:br>
              <a:rPr lang="en-US" dirty="0"/>
            </a:br>
            <a:r>
              <a:rPr lang="en-US" dirty="0"/>
              <a:t>(Cover option 1)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4F37063-BEEF-7D62-9408-D095FAB1045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141393" y="3988073"/>
            <a:ext cx="4707924" cy="485073"/>
          </a:xfrm>
        </p:spPr>
        <p:txBody>
          <a:bodyPr/>
          <a:lstStyle>
            <a:lvl1pPr marL="0" indent="0" algn="l">
              <a:buClr>
                <a:srgbClr val="C9122B"/>
              </a:buClr>
              <a:buFont typeface="Lucida Grande"/>
              <a:buNone/>
              <a:defRPr sz="2800">
                <a:solidFill>
                  <a:schemeClr val="bg1"/>
                </a:solidFill>
              </a:defRPr>
            </a:lvl1pPr>
            <a:lvl2pPr marL="347659" indent="-166686">
              <a:buClr>
                <a:srgbClr val="C9122B"/>
              </a:buClr>
              <a:buFont typeface="Lucida Grande"/>
              <a:buChar char="■"/>
              <a:defRPr/>
            </a:lvl2pPr>
            <a:lvl3pPr marL="538158" indent="-188911">
              <a:buClr>
                <a:srgbClr val="C9122B"/>
              </a:buClr>
              <a:buFont typeface="Lucida Grande"/>
              <a:buChar char="■"/>
              <a:defRPr/>
            </a:lvl3pPr>
            <a:lvl4pPr marL="712781" indent="-173037">
              <a:buClr>
                <a:srgbClr val="C9122B"/>
              </a:buClr>
              <a:buFont typeface="Lucida Grande"/>
              <a:buChar char="■"/>
              <a:defRPr sz="1800"/>
            </a:lvl4pPr>
            <a:lvl5pPr marL="898516" indent="-184148">
              <a:buClr>
                <a:srgbClr val="C9122B"/>
              </a:buClr>
              <a:buFont typeface="Lucida Grande"/>
              <a:buChar char="■"/>
              <a:defRPr sz="1800"/>
            </a:lvl5pPr>
          </a:lstStyle>
          <a:p>
            <a:pPr lvl="0"/>
            <a:r>
              <a:rPr lang="en-US" dirty="0"/>
              <a:t>Subtitle here</a:t>
            </a:r>
          </a:p>
        </p:txBody>
      </p:sp>
    </p:spTree>
    <p:extLst>
      <p:ext uri="{BB962C8B-B14F-4D97-AF65-F5344CB8AC3E}">
        <p14:creationId xmlns:p14="http://schemas.microsoft.com/office/powerpoint/2010/main" val="2163132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0DDA1CF-CC3B-52BE-93DB-F49F04C335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6561" y="2331889"/>
            <a:ext cx="4707924" cy="1296144"/>
          </a:xfrm>
        </p:spPr>
        <p:txBody>
          <a:bodyPr/>
          <a:lstStyle>
            <a:lvl1pPr algn="l">
              <a:defRPr sz="4000" b="1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Title here </a:t>
            </a:r>
            <a:br>
              <a:rPr lang="en-US" dirty="0"/>
            </a:br>
            <a:r>
              <a:rPr lang="en-US" dirty="0"/>
              <a:t>(Cover option 2)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4F37063-BEEF-7D62-9408-D095FAB1045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95749" y="3988073"/>
            <a:ext cx="4707924" cy="485073"/>
          </a:xfrm>
        </p:spPr>
        <p:txBody>
          <a:bodyPr/>
          <a:lstStyle>
            <a:lvl1pPr marL="0" indent="0" algn="l">
              <a:buClr>
                <a:srgbClr val="C9122B"/>
              </a:buClr>
              <a:buFont typeface="Lucida Grande"/>
              <a:buNone/>
              <a:defRPr sz="2800">
                <a:solidFill>
                  <a:schemeClr val="bg1"/>
                </a:solidFill>
              </a:defRPr>
            </a:lvl1pPr>
            <a:lvl2pPr marL="347659" indent="-166686">
              <a:buClr>
                <a:srgbClr val="C9122B"/>
              </a:buClr>
              <a:buFont typeface="Lucida Grande"/>
              <a:buChar char="■"/>
              <a:defRPr/>
            </a:lvl2pPr>
            <a:lvl3pPr marL="538158" indent="-188911">
              <a:buClr>
                <a:srgbClr val="C9122B"/>
              </a:buClr>
              <a:buFont typeface="Lucida Grande"/>
              <a:buChar char="■"/>
              <a:defRPr/>
            </a:lvl3pPr>
            <a:lvl4pPr marL="712781" indent="-173037">
              <a:buClr>
                <a:srgbClr val="C9122B"/>
              </a:buClr>
              <a:buFont typeface="Lucida Grande"/>
              <a:buChar char="■"/>
              <a:defRPr sz="1800"/>
            </a:lvl4pPr>
            <a:lvl5pPr marL="898516" indent="-184148">
              <a:buClr>
                <a:srgbClr val="C9122B"/>
              </a:buClr>
              <a:buFont typeface="Lucida Grande"/>
              <a:buChar char="■"/>
              <a:defRPr sz="1800"/>
            </a:lvl5pPr>
          </a:lstStyle>
          <a:p>
            <a:pPr lvl="0"/>
            <a:r>
              <a:rPr lang="en-US" dirty="0"/>
              <a:t>Subtitle here</a:t>
            </a:r>
          </a:p>
        </p:txBody>
      </p:sp>
    </p:spTree>
    <p:extLst>
      <p:ext uri="{BB962C8B-B14F-4D97-AF65-F5344CB8AC3E}">
        <p14:creationId xmlns:p14="http://schemas.microsoft.com/office/powerpoint/2010/main" val="2149405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0DDA1CF-CC3B-52BE-93DB-F49F04C335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81415" y="428948"/>
            <a:ext cx="9156358" cy="1296144"/>
          </a:xfrm>
        </p:spPr>
        <p:txBody>
          <a:bodyPr/>
          <a:lstStyle>
            <a:lvl1pPr algn="l">
              <a:defRPr sz="4000" b="1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Title here </a:t>
            </a:r>
            <a:br>
              <a:rPr lang="en-US" dirty="0"/>
            </a:br>
            <a:r>
              <a:rPr lang="en-US" dirty="0"/>
              <a:t>(Cover option 2)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4F37063-BEEF-7D62-9408-D095FAB1045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680603" y="2085132"/>
            <a:ext cx="9156358" cy="4343920"/>
          </a:xfrm>
        </p:spPr>
        <p:txBody>
          <a:bodyPr/>
          <a:lstStyle>
            <a:lvl1pPr marL="0" indent="0" algn="l">
              <a:buClr>
                <a:srgbClr val="C9122B"/>
              </a:buClr>
              <a:buFont typeface="Lucida Grande"/>
              <a:buNone/>
              <a:defRPr sz="2800">
                <a:solidFill>
                  <a:schemeClr val="bg1"/>
                </a:solidFill>
              </a:defRPr>
            </a:lvl1pPr>
            <a:lvl2pPr marL="347659" indent="-166686">
              <a:buClr>
                <a:srgbClr val="C9122B"/>
              </a:buClr>
              <a:buFont typeface="Lucida Grande"/>
              <a:buChar char="■"/>
              <a:defRPr/>
            </a:lvl2pPr>
            <a:lvl3pPr marL="538158" indent="-188911">
              <a:buClr>
                <a:srgbClr val="C9122B"/>
              </a:buClr>
              <a:buFont typeface="Lucida Grande"/>
              <a:buChar char="■"/>
              <a:defRPr/>
            </a:lvl3pPr>
            <a:lvl4pPr marL="712781" indent="-173037">
              <a:buClr>
                <a:srgbClr val="C9122B"/>
              </a:buClr>
              <a:buFont typeface="Lucida Grande"/>
              <a:buChar char="■"/>
              <a:defRPr sz="1800"/>
            </a:lvl4pPr>
            <a:lvl5pPr marL="898516" indent="-184148">
              <a:buClr>
                <a:srgbClr val="C9122B"/>
              </a:buClr>
              <a:buFont typeface="Lucida Grande"/>
              <a:buChar char="■"/>
              <a:defRPr sz="1800"/>
            </a:lvl5pPr>
          </a:lstStyle>
          <a:p>
            <a:pPr lvl="0"/>
            <a:r>
              <a:rPr lang="en-US" dirty="0"/>
              <a:t>Subtitle here</a:t>
            </a:r>
          </a:p>
        </p:txBody>
      </p:sp>
    </p:spTree>
    <p:extLst>
      <p:ext uri="{BB962C8B-B14F-4D97-AF65-F5344CB8AC3E}">
        <p14:creationId xmlns:p14="http://schemas.microsoft.com/office/powerpoint/2010/main" val="2125316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7548" y="335268"/>
            <a:ext cx="9324290" cy="785542"/>
          </a:xfrm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7548" y="1309816"/>
            <a:ext cx="9324290" cy="5141784"/>
          </a:xfrm>
        </p:spPr>
        <p:txBody>
          <a:bodyPr/>
          <a:lstStyle>
            <a:lvl1pPr marL="134541" indent="-134541">
              <a:buClr>
                <a:srgbClr val="C9122B"/>
              </a:buClr>
              <a:buFont typeface="Lucida Grande"/>
              <a:buChar char="■"/>
              <a:defRPr>
                <a:solidFill>
                  <a:schemeClr val="tx1"/>
                </a:solidFill>
              </a:defRPr>
            </a:lvl1pPr>
            <a:lvl2pPr marL="260747" indent="-125016">
              <a:buClr>
                <a:srgbClr val="C9122B"/>
              </a:buClr>
              <a:buFont typeface="Lucida Grande"/>
              <a:buChar char="■"/>
              <a:defRPr>
                <a:solidFill>
                  <a:schemeClr val="tx1"/>
                </a:solidFill>
              </a:defRPr>
            </a:lvl2pPr>
            <a:lvl3pPr marL="403622" indent="-141685">
              <a:buClr>
                <a:srgbClr val="C9122B"/>
              </a:buClr>
              <a:buFont typeface="Lucida Grande"/>
              <a:buChar char="■"/>
              <a:defRPr>
                <a:solidFill>
                  <a:schemeClr val="tx1"/>
                </a:solidFill>
              </a:defRPr>
            </a:lvl3pPr>
            <a:lvl4pPr marL="534591" indent="-129779">
              <a:buClr>
                <a:srgbClr val="C9122B"/>
              </a:buClr>
              <a:buFont typeface="Lucida Grande"/>
              <a:buChar char="■"/>
              <a:defRPr sz="1350">
                <a:solidFill>
                  <a:schemeClr val="tx1"/>
                </a:solidFill>
              </a:defRPr>
            </a:lvl4pPr>
            <a:lvl5pPr marL="673894" indent="-138113">
              <a:buClr>
                <a:srgbClr val="C9122B"/>
              </a:buClr>
              <a:buFont typeface="Lucida Grande"/>
              <a:buChar char="■"/>
              <a:defRPr sz="13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53159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99">
          <p15:clr>
            <a:srgbClr val="FBAE40"/>
          </p15:clr>
        </p15:guide>
        <p15:guide id="2" pos="301">
          <p15:clr>
            <a:srgbClr val="FBAE40"/>
          </p15:clr>
        </p15:guide>
        <p15:guide id="3" pos="7379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7547" y="332258"/>
            <a:ext cx="9200723" cy="785542"/>
          </a:xfrm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7547" y="1309817"/>
            <a:ext cx="10399329" cy="5141784"/>
          </a:xfrm>
        </p:spPr>
        <p:txBody>
          <a:bodyPr/>
          <a:lstStyle>
            <a:lvl1pPr marL="134541" indent="-134541">
              <a:buClr>
                <a:srgbClr val="C9122B"/>
              </a:buClr>
              <a:buFont typeface="Lucida Grande"/>
              <a:buChar char="■"/>
              <a:defRPr>
                <a:solidFill>
                  <a:schemeClr val="tx1"/>
                </a:solidFill>
              </a:defRPr>
            </a:lvl1pPr>
            <a:lvl2pPr marL="260747" indent="-125016">
              <a:buClr>
                <a:srgbClr val="C9122B"/>
              </a:buClr>
              <a:buFont typeface="Lucida Grande"/>
              <a:buChar char="■"/>
              <a:defRPr>
                <a:solidFill>
                  <a:schemeClr val="tx1"/>
                </a:solidFill>
              </a:defRPr>
            </a:lvl2pPr>
            <a:lvl3pPr marL="403622" indent="-141685">
              <a:buClr>
                <a:srgbClr val="C9122B"/>
              </a:buClr>
              <a:buFont typeface="Lucida Grande"/>
              <a:buChar char="■"/>
              <a:defRPr>
                <a:solidFill>
                  <a:schemeClr val="tx1"/>
                </a:solidFill>
              </a:defRPr>
            </a:lvl3pPr>
            <a:lvl4pPr marL="534591" indent="-129779">
              <a:buClr>
                <a:srgbClr val="C9122B"/>
              </a:buClr>
              <a:buFont typeface="Lucida Grande"/>
              <a:buChar char="■"/>
              <a:defRPr sz="1350">
                <a:solidFill>
                  <a:schemeClr val="tx1"/>
                </a:solidFill>
              </a:defRPr>
            </a:lvl4pPr>
            <a:lvl5pPr marL="673894" indent="-138113">
              <a:buClr>
                <a:srgbClr val="C9122B"/>
              </a:buClr>
              <a:buFont typeface="Lucida Grande"/>
              <a:buChar char="■"/>
              <a:defRPr sz="13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78221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99">
          <p15:clr>
            <a:srgbClr val="FBAE40"/>
          </p15:clr>
        </p15:guide>
        <p15:guide id="2" pos="301">
          <p15:clr>
            <a:srgbClr val="FBAE40"/>
          </p15:clr>
        </p15:guide>
        <p15:guide id="3" pos="7379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C6F6B355-92FE-8F40-AFC6-7F97430F3C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1154" y="1458097"/>
            <a:ext cx="3831387" cy="5141784"/>
          </a:xfrm>
        </p:spPr>
        <p:txBody>
          <a:bodyPr/>
          <a:lstStyle>
            <a:lvl1pPr marL="134541" indent="-134541">
              <a:buClr>
                <a:srgbClr val="C9122B"/>
              </a:buClr>
              <a:buFont typeface="Lucida Grande"/>
              <a:buChar char="■"/>
              <a:defRPr sz="1800"/>
            </a:lvl1pPr>
            <a:lvl2pPr marL="260747" indent="-125016">
              <a:buClr>
                <a:srgbClr val="C9122B"/>
              </a:buClr>
              <a:buFont typeface="Lucida Grande"/>
              <a:buChar char="■"/>
              <a:defRPr sz="1650"/>
            </a:lvl2pPr>
            <a:lvl3pPr marL="403622" indent="-141685">
              <a:buClr>
                <a:srgbClr val="C9122B"/>
              </a:buClr>
              <a:buFont typeface="Lucida Grande"/>
              <a:buChar char="■"/>
              <a:defRPr sz="1500"/>
            </a:lvl3pPr>
            <a:lvl4pPr marL="534591" indent="-129779">
              <a:buClr>
                <a:srgbClr val="C9122B"/>
              </a:buClr>
              <a:buFont typeface="Lucida Grande"/>
              <a:buChar char="■"/>
              <a:defRPr sz="1350"/>
            </a:lvl4pPr>
            <a:lvl5pPr marL="673894" indent="-138113">
              <a:buClr>
                <a:srgbClr val="C9122B"/>
              </a:buClr>
              <a:buFont typeface="Lucida Grande"/>
              <a:buChar char="■"/>
              <a:defRPr sz="12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B37A479-2A14-1544-9DFD-0E49B60F4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376" y="344415"/>
            <a:ext cx="9088683" cy="785542"/>
          </a:xfrm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23517C1E-EE6F-E246-8DCE-66C8D904C8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547" y="1458097"/>
            <a:ext cx="5658453" cy="5141784"/>
          </a:xfrm>
        </p:spPr>
        <p:txBody>
          <a:bodyPr/>
          <a:lstStyle>
            <a:lvl1pPr marL="134541" indent="-134541">
              <a:buClr>
                <a:srgbClr val="C9122B"/>
              </a:buClr>
              <a:buFont typeface="Lucida Grande"/>
              <a:buChar char="■"/>
              <a:defRPr>
                <a:solidFill>
                  <a:schemeClr val="tx1"/>
                </a:solidFill>
              </a:defRPr>
            </a:lvl1pPr>
            <a:lvl2pPr marL="260747" indent="-125016">
              <a:buClr>
                <a:srgbClr val="C9122B"/>
              </a:buClr>
              <a:buFont typeface="Lucida Grande"/>
              <a:buChar char="■"/>
              <a:defRPr>
                <a:solidFill>
                  <a:schemeClr val="tx1"/>
                </a:solidFill>
              </a:defRPr>
            </a:lvl2pPr>
            <a:lvl3pPr marL="403622" indent="-141685">
              <a:buClr>
                <a:srgbClr val="C9122B"/>
              </a:buClr>
              <a:buFont typeface="Lucida Grande"/>
              <a:buChar char="■"/>
              <a:defRPr>
                <a:solidFill>
                  <a:schemeClr val="tx1"/>
                </a:solidFill>
              </a:defRPr>
            </a:lvl3pPr>
            <a:lvl4pPr marL="534591" indent="-129779">
              <a:buClr>
                <a:srgbClr val="C9122B"/>
              </a:buClr>
              <a:buFont typeface="Lucida Grande"/>
              <a:buChar char="■"/>
              <a:defRPr sz="1350">
                <a:solidFill>
                  <a:schemeClr val="tx1"/>
                </a:solidFill>
              </a:defRPr>
            </a:lvl4pPr>
            <a:lvl5pPr marL="673894" indent="-138113">
              <a:buClr>
                <a:srgbClr val="C9122B"/>
              </a:buClr>
              <a:buFont typeface="Lucida Grande"/>
              <a:buChar char="■"/>
              <a:defRPr sz="13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10709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33">
          <p15:clr>
            <a:srgbClr val="FBAE40"/>
          </p15:clr>
        </p15:guide>
        <p15:guide id="2" pos="7379">
          <p15:clr>
            <a:srgbClr val="FBAE40"/>
          </p15:clr>
        </p15:guide>
        <p15:guide id="3" pos="3719">
          <p15:clr>
            <a:srgbClr val="FBAE40"/>
          </p15:clr>
        </p15:guide>
        <p15:guide id="4" pos="3961">
          <p15:clr>
            <a:srgbClr val="FBAE40"/>
          </p15:clr>
        </p15:guide>
        <p15:guide id="5" orient="horz" pos="3249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C6F6B355-92FE-8F40-AFC6-7F97430F3C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9497" y="1285103"/>
            <a:ext cx="4537379" cy="5166497"/>
          </a:xfrm>
        </p:spPr>
        <p:txBody>
          <a:bodyPr/>
          <a:lstStyle>
            <a:lvl1pPr marL="134541" indent="-134541">
              <a:buClr>
                <a:srgbClr val="C9122B"/>
              </a:buClr>
              <a:buFont typeface="Lucida Grande"/>
              <a:buChar char="■"/>
              <a:defRPr sz="1800"/>
            </a:lvl1pPr>
            <a:lvl2pPr marL="260747" indent="-125016">
              <a:buClr>
                <a:srgbClr val="C9122B"/>
              </a:buClr>
              <a:buFont typeface="Lucida Grande"/>
              <a:buChar char="■"/>
              <a:defRPr sz="1650"/>
            </a:lvl2pPr>
            <a:lvl3pPr marL="403622" indent="-141685">
              <a:buClr>
                <a:srgbClr val="C9122B"/>
              </a:buClr>
              <a:buFont typeface="Lucida Grande"/>
              <a:buChar char="■"/>
              <a:defRPr sz="1500"/>
            </a:lvl3pPr>
            <a:lvl4pPr marL="534591" indent="-129779">
              <a:buClr>
                <a:srgbClr val="C9122B"/>
              </a:buClr>
              <a:buFont typeface="Lucida Grande"/>
              <a:buChar char="■"/>
              <a:defRPr sz="1350"/>
            </a:lvl4pPr>
            <a:lvl5pPr marL="673894" indent="-138113">
              <a:buClr>
                <a:srgbClr val="C9122B"/>
              </a:buClr>
              <a:buFont typeface="Lucida Grande"/>
              <a:buChar char="■"/>
              <a:defRPr sz="12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B37A479-2A14-1544-9DFD-0E49B60F4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547" y="298197"/>
            <a:ext cx="9250149" cy="785542"/>
          </a:xfrm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23517C1E-EE6F-E246-8DCE-66C8D904C8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547" y="1285103"/>
            <a:ext cx="5658453" cy="5166497"/>
          </a:xfrm>
        </p:spPr>
        <p:txBody>
          <a:bodyPr/>
          <a:lstStyle>
            <a:lvl1pPr marL="134541" indent="-134541">
              <a:buClr>
                <a:srgbClr val="C9122B"/>
              </a:buClr>
              <a:buFont typeface="Lucida Grande"/>
              <a:buChar char="■"/>
              <a:defRPr>
                <a:solidFill>
                  <a:schemeClr val="tx1"/>
                </a:solidFill>
              </a:defRPr>
            </a:lvl1pPr>
            <a:lvl2pPr marL="260747" indent="-125016">
              <a:buClr>
                <a:srgbClr val="C9122B"/>
              </a:buClr>
              <a:buFont typeface="Lucida Grande"/>
              <a:buChar char="■"/>
              <a:defRPr>
                <a:solidFill>
                  <a:schemeClr val="tx1"/>
                </a:solidFill>
              </a:defRPr>
            </a:lvl2pPr>
            <a:lvl3pPr marL="403622" indent="-141685">
              <a:buClr>
                <a:srgbClr val="C9122B"/>
              </a:buClr>
              <a:buFont typeface="Lucida Grande"/>
              <a:buChar char="■"/>
              <a:defRPr>
                <a:solidFill>
                  <a:schemeClr val="tx1"/>
                </a:solidFill>
              </a:defRPr>
            </a:lvl3pPr>
            <a:lvl4pPr marL="534591" indent="-129779">
              <a:buClr>
                <a:srgbClr val="C9122B"/>
              </a:buClr>
              <a:buFont typeface="Lucida Grande"/>
              <a:buChar char="■"/>
              <a:defRPr sz="1350">
                <a:solidFill>
                  <a:schemeClr val="tx1"/>
                </a:solidFill>
              </a:defRPr>
            </a:lvl4pPr>
            <a:lvl5pPr marL="673894" indent="-138113">
              <a:buClr>
                <a:srgbClr val="C9122B"/>
              </a:buClr>
              <a:buFont typeface="Lucida Grande"/>
              <a:buChar char="■"/>
              <a:defRPr sz="13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62868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33">
          <p15:clr>
            <a:srgbClr val="FBAE40"/>
          </p15:clr>
        </p15:guide>
        <p15:guide id="2" pos="7379">
          <p15:clr>
            <a:srgbClr val="FBAE40"/>
          </p15:clr>
        </p15:guide>
        <p15:guide id="3" pos="3719">
          <p15:clr>
            <a:srgbClr val="FBAE40"/>
          </p15:clr>
        </p15:guide>
        <p15:guide id="4" pos="3961">
          <p15:clr>
            <a:srgbClr val="FBAE40"/>
          </p15:clr>
        </p15:guide>
        <p15:guide id="5" orient="horz" pos="3249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08345D86-D420-FF49-8849-9F3A0AD28E56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6299497" y="1334530"/>
            <a:ext cx="3462341" cy="511706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7496A52-D758-0B4A-89BF-3CD4F5996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376" y="319903"/>
            <a:ext cx="9323462" cy="785542"/>
          </a:xfrm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0D1ADA29-50F7-A347-969E-20006A64FA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547" y="1334530"/>
            <a:ext cx="5658453" cy="5117070"/>
          </a:xfrm>
        </p:spPr>
        <p:txBody>
          <a:bodyPr/>
          <a:lstStyle>
            <a:lvl1pPr marL="134541" indent="-134541">
              <a:buClr>
                <a:srgbClr val="C9122B"/>
              </a:buClr>
              <a:buFont typeface="Lucida Grande"/>
              <a:buChar char="■"/>
              <a:defRPr>
                <a:solidFill>
                  <a:schemeClr val="tx1"/>
                </a:solidFill>
              </a:defRPr>
            </a:lvl1pPr>
            <a:lvl2pPr marL="260747" indent="-125016">
              <a:buClr>
                <a:srgbClr val="C9122B"/>
              </a:buClr>
              <a:buFont typeface="Lucida Grande"/>
              <a:buChar char="■"/>
              <a:defRPr>
                <a:solidFill>
                  <a:schemeClr val="tx1"/>
                </a:solidFill>
              </a:defRPr>
            </a:lvl2pPr>
            <a:lvl3pPr marL="403622" indent="-141685">
              <a:buClr>
                <a:srgbClr val="C9122B"/>
              </a:buClr>
              <a:buFont typeface="Lucida Grande"/>
              <a:buChar char="■"/>
              <a:defRPr>
                <a:solidFill>
                  <a:schemeClr val="tx1"/>
                </a:solidFill>
              </a:defRPr>
            </a:lvl3pPr>
            <a:lvl4pPr marL="534591" indent="-129779">
              <a:buClr>
                <a:srgbClr val="C9122B"/>
              </a:buClr>
              <a:buFont typeface="Lucida Grande"/>
              <a:buChar char="■"/>
              <a:defRPr sz="1350">
                <a:solidFill>
                  <a:schemeClr val="tx1"/>
                </a:solidFill>
              </a:defRPr>
            </a:lvl4pPr>
            <a:lvl5pPr marL="673894" indent="-138113">
              <a:buClr>
                <a:srgbClr val="C9122B"/>
              </a:buClr>
              <a:buFont typeface="Lucida Grande"/>
              <a:buChar char="■"/>
              <a:defRPr sz="13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66008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9">
          <p15:clr>
            <a:srgbClr val="FBAE40"/>
          </p15:clr>
        </p15:guide>
        <p15:guide id="2" pos="301">
          <p15:clr>
            <a:srgbClr val="FBAE40"/>
          </p15:clr>
        </p15:guide>
        <p15:guide id="3" pos="7379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08345D86-D420-FF49-8849-9F3A0AD28E56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6299497" y="1322173"/>
            <a:ext cx="4549735" cy="5129425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7496A52-D758-0B4A-89BF-3CD4F5996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547" y="310554"/>
            <a:ext cx="9237794" cy="785542"/>
          </a:xfrm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0D1ADA29-50F7-A347-969E-20006A64FA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547" y="1322174"/>
            <a:ext cx="5658453" cy="5129426"/>
          </a:xfrm>
        </p:spPr>
        <p:txBody>
          <a:bodyPr/>
          <a:lstStyle>
            <a:lvl1pPr marL="134541" indent="-134541">
              <a:buClr>
                <a:srgbClr val="C9122B"/>
              </a:buClr>
              <a:buFont typeface="Lucida Grande"/>
              <a:buChar char="■"/>
              <a:defRPr>
                <a:solidFill>
                  <a:schemeClr val="tx1"/>
                </a:solidFill>
              </a:defRPr>
            </a:lvl1pPr>
            <a:lvl2pPr marL="260747" indent="-125016">
              <a:buClr>
                <a:srgbClr val="C9122B"/>
              </a:buClr>
              <a:buFont typeface="Lucida Grande"/>
              <a:buChar char="■"/>
              <a:defRPr>
                <a:solidFill>
                  <a:schemeClr val="tx1"/>
                </a:solidFill>
              </a:defRPr>
            </a:lvl2pPr>
            <a:lvl3pPr marL="403622" indent="-141685">
              <a:buClr>
                <a:srgbClr val="C9122B"/>
              </a:buClr>
              <a:buFont typeface="Lucida Grande"/>
              <a:buChar char="■"/>
              <a:defRPr>
                <a:solidFill>
                  <a:schemeClr val="tx1"/>
                </a:solidFill>
              </a:defRPr>
            </a:lvl3pPr>
            <a:lvl4pPr marL="534591" indent="-129779">
              <a:buClr>
                <a:srgbClr val="C9122B"/>
              </a:buClr>
              <a:buFont typeface="Lucida Grande"/>
              <a:buChar char="■"/>
              <a:defRPr sz="1350">
                <a:solidFill>
                  <a:schemeClr val="tx1"/>
                </a:solidFill>
              </a:defRPr>
            </a:lvl4pPr>
            <a:lvl5pPr marL="673894" indent="-138113">
              <a:buClr>
                <a:srgbClr val="C9122B"/>
              </a:buClr>
              <a:buFont typeface="Lucida Grande"/>
              <a:buChar char="■"/>
              <a:defRPr sz="13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65738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9">
          <p15:clr>
            <a:srgbClr val="FBAE40"/>
          </p15:clr>
        </p15:guide>
        <p15:guide id="2" pos="301">
          <p15:clr>
            <a:srgbClr val="FBAE40"/>
          </p15:clr>
        </p15:guide>
        <p15:guide id="3" pos="7379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09B93E9-946F-6845-8402-931426E91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547" y="5107276"/>
            <a:ext cx="9064798" cy="515216"/>
          </a:xfrm>
        </p:spPr>
        <p:txBody>
          <a:bodyPr anchor="b"/>
          <a:lstStyle>
            <a:lvl1pPr algn="l">
              <a:defRPr sz="15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1B72CCB6-2CD4-EF46-AEC6-D480E2696D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37547" y="441470"/>
            <a:ext cx="9064799" cy="447053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E0B6D0F-76A7-FD4E-9B91-21EA5661FE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37547" y="5684838"/>
            <a:ext cx="9064798" cy="73169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55111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379">
          <p15:clr>
            <a:srgbClr val="FBAE40"/>
          </p15:clr>
        </p15:guide>
        <p15:guide id="3" pos="30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Picture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E23D9-ECCD-2741-5F1F-90F7C7A39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547" y="5107276"/>
            <a:ext cx="9126582" cy="515216"/>
          </a:xfrm>
        </p:spPr>
        <p:txBody>
          <a:bodyPr anchor="b"/>
          <a:lstStyle>
            <a:lvl1pPr algn="l">
              <a:defRPr sz="15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3B10B7-EAC8-B183-F77B-44B41CA235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37547" y="441470"/>
            <a:ext cx="9126583" cy="447053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9A1F4D-EF2D-BC5D-CB36-AFC71E0ECD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37547" y="5684838"/>
            <a:ext cx="9126582" cy="73169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870487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379">
          <p15:clr>
            <a:srgbClr val="FBAE40"/>
          </p15:clr>
        </p15:guide>
        <p15:guide id="3" pos="30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Picture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B4C9520-5175-3E3C-D440-C1C59A067B82}"/>
              </a:ext>
            </a:extLst>
          </p:cNvPr>
          <p:cNvSpPr txBox="1"/>
          <p:nvPr userDrawn="1"/>
        </p:nvSpPr>
        <p:spPr>
          <a:xfrm>
            <a:off x="491182" y="4961405"/>
            <a:ext cx="298106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dirty="0">
                <a:solidFill>
                  <a:schemeClr val="bg1"/>
                </a:solidFill>
              </a:rPr>
              <a:t>Bayes Business School</a:t>
            </a:r>
          </a:p>
          <a:p>
            <a:pPr lvl="0"/>
            <a:r>
              <a:rPr lang="en-US" dirty="0">
                <a:solidFill>
                  <a:schemeClr val="bg1"/>
                </a:solidFill>
              </a:rPr>
              <a:t>106 Bunhill Row</a:t>
            </a:r>
          </a:p>
          <a:p>
            <a:pPr lvl="0"/>
            <a:r>
              <a:rPr lang="en-US" dirty="0">
                <a:solidFill>
                  <a:schemeClr val="bg1"/>
                </a:solidFill>
              </a:rPr>
              <a:t>London EC1Y 8TZ</a:t>
            </a:r>
          </a:p>
          <a:p>
            <a:pPr lvl="0"/>
            <a:r>
              <a:rPr lang="en-US" dirty="0">
                <a:solidFill>
                  <a:schemeClr val="bg1"/>
                </a:solidFill>
              </a:rPr>
              <a:t>Tel + 44 (0)20 7040 8600</a:t>
            </a:r>
          </a:p>
          <a:p>
            <a:pPr lvl="0"/>
            <a:r>
              <a:rPr lang="en-US" dirty="0" err="1">
                <a:solidFill>
                  <a:schemeClr val="bg1"/>
                </a:solidFill>
              </a:rPr>
              <a:t>bayes.city.ac.uk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7608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379">
          <p15:clr>
            <a:srgbClr val="FBAE40"/>
          </p15:clr>
        </p15:guide>
        <p15:guide id="3" pos="30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Picture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B4C9520-5175-3E3C-D440-C1C59A067B82}"/>
              </a:ext>
            </a:extLst>
          </p:cNvPr>
          <p:cNvSpPr txBox="1"/>
          <p:nvPr userDrawn="1"/>
        </p:nvSpPr>
        <p:spPr>
          <a:xfrm>
            <a:off x="491182" y="4961405"/>
            <a:ext cx="298106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dirty="0">
                <a:solidFill>
                  <a:schemeClr val="bg1"/>
                </a:solidFill>
              </a:rPr>
              <a:t>Bayes Business School</a:t>
            </a:r>
          </a:p>
          <a:p>
            <a:pPr lvl="0"/>
            <a:r>
              <a:rPr lang="en-US" dirty="0">
                <a:solidFill>
                  <a:schemeClr val="bg1"/>
                </a:solidFill>
              </a:rPr>
              <a:t>33 Finsbury Square</a:t>
            </a:r>
          </a:p>
          <a:p>
            <a:pPr lvl="0"/>
            <a:r>
              <a:rPr lang="en-US" dirty="0">
                <a:solidFill>
                  <a:schemeClr val="bg1"/>
                </a:solidFill>
              </a:rPr>
              <a:t>London EC2A 1AG</a:t>
            </a:r>
          </a:p>
          <a:p>
            <a:pPr lvl="0"/>
            <a:r>
              <a:rPr lang="en-US" dirty="0">
                <a:solidFill>
                  <a:schemeClr val="bg1"/>
                </a:solidFill>
              </a:rPr>
              <a:t>Tel + 44 (0)20 7040 8600</a:t>
            </a:r>
          </a:p>
          <a:p>
            <a:pPr lvl="0"/>
            <a:r>
              <a:rPr lang="en-US" dirty="0" err="1">
                <a:solidFill>
                  <a:schemeClr val="bg1"/>
                </a:solidFill>
              </a:rPr>
              <a:t>bayes.city.ac.uk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19177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379">
          <p15:clr>
            <a:srgbClr val="FBAE40"/>
          </p15:clr>
        </p15:guide>
        <p15:guide id="3" pos="30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89DF3B3-CB51-0841-9988-2C74B62B92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0" y="4398154"/>
            <a:ext cx="5758543" cy="483150"/>
          </a:xfrm>
        </p:spPr>
        <p:txBody>
          <a:bodyPr anchor="ctr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26AA18C7-22AE-6F47-9EF7-4EA3DA141F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3307814"/>
            <a:ext cx="5758543" cy="8640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>
            <a:lvl1pPr algn="ctr"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16931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Divider slid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52870EF4-331B-1641-B431-890653011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420888"/>
            <a:ext cx="5769429" cy="1008112"/>
          </a:xfrm>
          <a:noFill/>
        </p:spPr>
        <p:txBody>
          <a:bodyPr anchor="ctr"/>
          <a:lstStyle>
            <a:lvl1pPr algn="ctr"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889D59F-9699-EC45-9CCC-C83B922D85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0" y="3556049"/>
            <a:ext cx="5769429" cy="881062"/>
          </a:xfrm>
          <a:noFill/>
        </p:spPr>
        <p:txBody>
          <a:bodyPr anchor="ctr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2D951E-9554-8F4A-A8DB-C0A96A57E94A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0" y="6381549"/>
            <a:ext cx="5769430" cy="311082"/>
          </a:xfrm>
          <a:noFill/>
        </p:spPr>
        <p:txBody>
          <a:bodyPr anchor="ctr"/>
          <a:lstStyle>
            <a:lvl1pPr marL="0" indent="0" algn="ctr">
              <a:buNone/>
              <a:defRPr sz="1200">
                <a:solidFill>
                  <a:srgbClr val="999999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 dirty="0"/>
              <a:t>Bayes Business School (formerly Cass)</a:t>
            </a:r>
          </a:p>
        </p:txBody>
      </p:sp>
    </p:spTree>
    <p:extLst>
      <p:ext uri="{BB962C8B-B14F-4D97-AF65-F5344CB8AC3E}">
        <p14:creationId xmlns:p14="http://schemas.microsoft.com/office/powerpoint/2010/main" val="23970589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04">
          <p15:clr>
            <a:srgbClr val="FBAE40"/>
          </p15:clr>
        </p15:guide>
        <p15:guide id="3" pos="7076">
          <p15:clr>
            <a:srgbClr val="FBAE40"/>
          </p15:clr>
        </p15:guide>
        <p15:guide id="4" pos="907">
          <p15:clr>
            <a:srgbClr val="FBAE40"/>
          </p15:clr>
        </p15:guide>
        <p15:guide id="5" pos="6773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77189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5E417D-F86F-5C4A-AD05-DEB40CC01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7058B-893E-8D44-A2D4-2D472EB55EE4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44A9CC-F123-554F-9B69-2A5E45EAE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65501C-857C-DA46-81AF-125918EB6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F75D8-B288-F847-9EC0-8AB2A76743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1009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1ECE7-5DCA-0047-A16E-723CA1411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92001B-A6BD-D041-B05B-794230B5C0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21AF66-DF53-C049-8B4A-43D8FF83E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7058B-893E-8D44-A2D4-2D472EB55EE4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FCCA94-570F-4C48-9E9F-C1AFDC9CA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B84669-76BC-5B4C-8274-774C3383E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F75D8-B288-F847-9EC0-8AB2A76743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073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13E482-9D17-6A0D-5713-3FD61DD39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D7EB61-A9F0-7F83-B9F8-7B0A406045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AFB5F4-4E75-D9CC-24E0-8FE2595AF7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211DD3-7A43-854F-A3AE-657852C1518D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3900EE-6D9D-CB75-733D-D6D88B8118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CD2BF-2CD7-399E-1E2B-243F98A29F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87B854-0E4A-2F4C-B2C1-C1C4D37D9A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7629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5" r:id="rId16"/>
    <p:sldLayoutId id="2147483666" r:id="rId17"/>
    <p:sldLayoutId id="2147483667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D61726"/>
        </a:buClr>
        <a:buFont typeface="Wingdings" pitchFamily="2" charset="2"/>
        <a:buChar char="§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D61726"/>
        </a:buClr>
        <a:buFont typeface="Wingdings" pitchFamily="2" charset="2"/>
        <a:buChar char="§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D61726"/>
        </a:buClr>
        <a:buFont typeface="Wingdings" pitchFamily="2" charset="2"/>
        <a:buChar char="§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D61726"/>
        </a:buClr>
        <a:buFont typeface="Wingdings" pitchFamily="2" charset="2"/>
        <a:buChar char="§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D61726"/>
        </a:buClr>
        <a:buFont typeface="Wingdings" pitchFamily="2" charset="2"/>
        <a:buChar char="§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bynder.schwab.com/m/e5886818c0d507d/" TargetMode="Externa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0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30.png"/><Relationship Id="rId5" Type="http://schemas.openxmlformats.org/officeDocument/2006/relationships/customXml" Target="../ink/ink2.xml"/><Relationship Id="rId10" Type="http://schemas.openxmlformats.org/officeDocument/2006/relationships/image" Target="../media/image25.png"/><Relationship Id="rId4" Type="http://schemas.openxmlformats.org/officeDocument/2006/relationships/image" Target="../media/image220.png"/><Relationship Id="rId9" Type="http://schemas.openxmlformats.org/officeDocument/2006/relationships/customXml" Target="../ink/ink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customXml" Target="../ink/ink10.xml"/><Relationship Id="rId3" Type="http://schemas.openxmlformats.org/officeDocument/2006/relationships/customXml" Target="../ink/ink5.xml"/><Relationship Id="rId7" Type="http://schemas.openxmlformats.org/officeDocument/2006/relationships/customXml" Target="../ink/ink7.xml"/><Relationship Id="rId12" Type="http://schemas.openxmlformats.org/officeDocument/2006/relationships/image" Target="../media/image44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1.png"/><Relationship Id="rId11" Type="http://schemas.openxmlformats.org/officeDocument/2006/relationships/customXml" Target="../ink/ink9.xml"/><Relationship Id="rId5" Type="http://schemas.openxmlformats.org/officeDocument/2006/relationships/customXml" Target="../ink/ink6.xml"/><Relationship Id="rId10" Type="http://schemas.openxmlformats.org/officeDocument/2006/relationships/image" Target="../media/image43.png"/><Relationship Id="rId4" Type="http://schemas.openxmlformats.org/officeDocument/2006/relationships/image" Target="../media/image40.png"/><Relationship Id="rId9" Type="http://schemas.openxmlformats.org/officeDocument/2006/relationships/customXml" Target="../ink/ink8.xml"/><Relationship Id="rId14" Type="http://schemas.openxmlformats.org/officeDocument/2006/relationships/image" Target="../media/image45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customXml" Target="../ink/ink11.xml"/><Relationship Id="rId7" Type="http://schemas.openxmlformats.org/officeDocument/2006/relationships/customXml" Target="../ink/ink13.xm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8.png"/><Relationship Id="rId11" Type="http://schemas.openxmlformats.org/officeDocument/2006/relationships/customXml" Target="../ink/ink15.xml"/><Relationship Id="rId5" Type="http://schemas.openxmlformats.org/officeDocument/2006/relationships/customXml" Target="../ink/ink12.xml"/><Relationship Id="rId10" Type="http://schemas.openxmlformats.org/officeDocument/2006/relationships/image" Target="../media/image50.png"/><Relationship Id="rId4" Type="http://schemas.openxmlformats.org/officeDocument/2006/relationships/image" Target="../media/image47.png"/><Relationship Id="rId9" Type="http://schemas.openxmlformats.org/officeDocument/2006/relationships/customXml" Target="../ink/ink1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AFEEFD1-578A-4646-AA49-E14796AF3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sz="3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Portfolio Theory III: Selection of optimal portfolios</a:t>
            </a:r>
            <a:br>
              <a:rPr lang="en-GB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</a:br>
            <a:endParaRPr lang="en-US" sz="3200" dirty="0"/>
          </a:p>
        </p:txBody>
      </p:sp>
      <p:sp>
        <p:nvSpPr>
          <p:cNvPr id="2" name="Text Placeholder 1"/>
          <p:cNvSpPr>
            <a:spLocks noGrp="1"/>
          </p:cNvSpPr>
          <p:nvPr>
            <p:ph idx="1"/>
          </p:nvPr>
        </p:nvSpPr>
        <p:spPr>
          <a:xfrm>
            <a:off x="296561" y="4397147"/>
            <a:ext cx="4707924" cy="485073"/>
          </a:xfrm>
        </p:spPr>
        <p:txBody>
          <a:bodyPr/>
          <a:lstStyle/>
          <a:p>
            <a:r>
              <a:rPr lang="en-US" dirty="0"/>
              <a:t>Dr. Natasha </a:t>
            </a:r>
            <a:r>
              <a:rPr lang="en-US" dirty="0" err="1"/>
              <a:t>Todorovic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59319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7C1D791-4DC8-4D45-B560-CF73DCA2CE61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93345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325" b="1">
                <a:solidFill>
                  <a:srgbClr val="0B29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200" b="1" dirty="0">
                <a:latin typeface="Arial" panose="020B0604020202020204" pitchFamily="34" charset="0"/>
                <a:ea typeface="Bitstream Charter"/>
                <a:cs typeface="Arial" panose="020B0604020202020204" pitchFamily="34" charset="0"/>
              </a:rPr>
              <a:t>The portfolio-choice problem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FAA9BDD-7B42-4617-8FD3-E1EB0F621611}"/>
              </a:ext>
            </a:extLst>
          </p:cNvPr>
          <p:cNvSpPr>
            <a:spLocks noGrp="1"/>
          </p:cNvSpPr>
          <p:nvPr/>
        </p:nvSpPr>
        <p:spPr>
          <a:xfrm>
            <a:off x="10953750" y="400050"/>
            <a:ext cx="619125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900" b="0">
                <a:solidFill>
                  <a:srgbClr val="5A69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0">
                <a:solidFill>
                  <a:srgbClr val="5A6975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B00662-BA25-47FD-A148-1FD8F3379CBC}"/>
              </a:ext>
            </a:extLst>
          </p:cNvPr>
          <p:cNvSpPr>
            <a:spLocks noGrp="1"/>
          </p:cNvSpPr>
          <p:nvPr/>
        </p:nvSpPr>
        <p:spPr>
          <a:xfrm>
            <a:off x="473696" y="1504950"/>
            <a:ext cx="10346210" cy="409575"/>
          </a:xfrm>
          <a:prstGeom prst="rect">
            <a:avLst/>
          </a:prstGeom>
          <a:solidFill>
            <a:srgbClr val="0B2942"/>
          </a:solidFill>
          <a:ln w="0">
            <a:noFill/>
          </a:ln>
        </p:spPr>
        <p:txBody>
          <a:bodyPr anchor="ctr">
            <a:noAutofit/>
          </a:bodyPr>
          <a:lstStyle/>
          <a:p>
            <a:pPr>
              <a:def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00" b="1" dirty="0">
                <a:solidFill>
                  <a:srgbClr val="FFFFFF"/>
                </a:solidFill>
                <a:latin typeface="Arial" panose="020B0604020202020204" pitchFamily="34" charset="0"/>
                <a:ea typeface="Bitstream Charter"/>
                <a:cs typeface="Arial" panose="020B0604020202020204" pitchFamily="34" charset="0"/>
              </a:rPr>
              <a:t>The efficient frontier narrows </a:t>
            </a:r>
            <a:r>
              <a:rPr lang="en-GB" sz="1600" b="1" dirty="0">
                <a:solidFill>
                  <a:srgbClr val="FFFFFF"/>
                </a:solidFill>
                <a:latin typeface="Arial" panose="020B0604020202020204" pitchFamily="34" charset="0"/>
                <a:ea typeface="Bitstream Charter"/>
                <a:cs typeface="Arial" panose="020B0604020202020204" pitchFamily="34" charset="0"/>
              </a:rPr>
              <a:t>down </a:t>
            </a:r>
            <a:r>
              <a:rPr sz="1600" b="1" dirty="0">
                <a:solidFill>
                  <a:srgbClr val="FFFFFF"/>
                </a:solidFill>
                <a:latin typeface="Arial" panose="020B0604020202020204" pitchFamily="34" charset="0"/>
                <a:ea typeface="Bitstream Charter"/>
                <a:cs typeface="Arial" panose="020B0604020202020204" pitchFamily="34" charset="0"/>
              </a:rPr>
              <a:t>the choice. Investor select </a:t>
            </a:r>
            <a:r>
              <a:rPr lang="en-GB" sz="1600" b="1" dirty="0">
                <a:solidFill>
                  <a:srgbClr val="FFFFFF"/>
                </a:solidFill>
                <a:latin typeface="Arial" panose="020B0604020202020204" pitchFamily="34" charset="0"/>
                <a:ea typeface="Bitstream Charter"/>
                <a:cs typeface="Arial" panose="020B0604020202020204" pitchFamily="34" charset="0"/>
              </a:rPr>
              <a:t>ONE</a:t>
            </a:r>
            <a:r>
              <a:rPr sz="1600" b="1" dirty="0">
                <a:solidFill>
                  <a:srgbClr val="FFFFFF"/>
                </a:solidFill>
                <a:latin typeface="Arial" panose="020B0604020202020204" pitchFamily="34" charset="0"/>
                <a:ea typeface="Bitstream Charter"/>
                <a:cs typeface="Arial" panose="020B0604020202020204" pitchFamily="34" charset="0"/>
              </a:rPr>
              <a:t> portfolio</a:t>
            </a:r>
            <a:r>
              <a:rPr lang="en-GB" sz="1600" b="1" dirty="0">
                <a:solidFill>
                  <a:srgbClr val="FFFFFF"/>
                </a:solidFill>
                <a:latin typeface="Arial" panose="020B0604020202020204" pitchFamily="34" charset="0"/>
                <a:ea typeface="Bitstream Charter"/>
                <a:cs typeface="Arial" panose="020B0604020202020204" pitchFamily="34" charset="0"/>
              </a:rPr>
              <a:t> based on their preferences</a:t>
            </a:r>
            <a:endParaRPr sz="1600" b="1" dirty="0">
              <a:solidFill>
                <a:srgbClr val="FFFFFF"/>
              </a:solidFill>
              <a:latin typeface="Arial" panose="020B0604020202020204" pitchFamily="34" charset="0"/>
              <a:ea typeface="Bitstream Charter"/>
              <a:cs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2CB84D6-EA80-43ED-909F-58191A0CA239}"/>
              </a:ext>
            </a:extLst>
          </p:cNvPr>
          <p:cNvSpPr>
            <a:spLocks noGrp="1"/>
          </p:cNvSpPr>
          <p:nvPr/>
        </p:nvSpPr>
        <p:spPr>
          <a:xfrm>
            <a:off x="1000125" y="2095500"/>
            <a:ext cx="4381500" cy="1047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1D5B8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400" b="1" dirty="0">
                <a:solidFill>
                  <a:srgbClr val="1D5B86"/>
                </a:solidFill>
                <a:latin typeface="Bitstream Charter"/>
                <a:ea typeface="Bitstream Charter"/>
                <a:cs typeface="Bitstream Charter"/>
              </a:rPr>
              <a:t>Efficient frontier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E303B10-E031-456D-BAE4-7E40A2CD7733}"/>
              </a:ext>
            </a:extLst>
          </p:cNvPr>
          <p:cNvSpPr>
            <a:spLocks noGrp="1"/>
          </p:cNvSpPr>
          <p:nvPr/>
        </p:nvSpPr>
        <p:spPr>
          <a:xfrm>
            <a:off x="1000125" y="2686050"/>
            <a:ext cx="3893151" cy="1543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575" b="0">
                <a:solidFill>
                  <a:srgbClr val="5A69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00" b="0" dirty="0">
                <a:latin typeface="Bitstream Charter"/>
                <a:ea typeface="Bitstream Charter"/>
                <a:cs typeface="Bitstream Charter"/>
              </a:rPr>
              <a:t>Highest expected return for a given volatility, or lowest volatility for a given expected return.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139B30-0DCF-4A9B-B141-182550A55062}"/>
              </a:ext>
            </a:extLst>
          </p:cNvPr>
          <p:cNvSpPr>
            <a:spLocks noGrp="1"/>
          </p:cNvSpPr>
          <p:nvPr/>
        </p:nvSpPr>
        <p:spPr>
          <a:xfrm>
            <a:off x="6572250" y="2095500"/>
            <a:ext cx="4095750" cy="1047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025" b="1">
                <a:solidFill>
                  <a:srgbClr val="1D5B8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400" b="1" dirty="0">
                <a:solidFill>
                  <a:srgbClr val="1D5B86"/>
                </a:solidFill>
                <a:latin typeface="Bitstream Charter"/>
                <a:ea typeface="Bitstream Charter"/>
                <a:cs typeface="Bitstream Charter"/>
              </a:rPr>
              <a:t>Optimal portfolio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49A3893-6600-45DF-9C27-352F3A0C7D08}"/>
              </a:ext>
            </a:extLst>
          </p:cNvPr>
          <p:cNvSpPr>
            <a:spLocks noGrp="1"/>
          </p:cNvSpPr>
          <p:nvPr/>
        </p:nvSpPr>
        <p:spPr>
          <a:xfrm>
            <a:off x="6572250" y="2686050"/>
            <a:ext cx="4095750" cy="1543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575" b="0">
                <a:solidFill>
                  <a:srgbClr val="5A69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00" b="0" dirty="0">
                <a:latin typeface="Bitstream Charter"/>
                <a:ea typeface="Bitstream Charter"/>
                <a:cs typeface="Bitstream Charter"/>
              </a:rPr>
              <a:t>The efficient portfolio that gives the individual investor the highest utility</a:t>
            </a:r>
            <a:endParaRPr lang="en-GB" sz="2000" b="0" dirty="0"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6B25911-AAAC-4D1D-A59D-83F2FB3DB4A3}"/>
              </a:ext>
            </a:extLst>
          </p:cNvPr>
          <p:cNvSpPr>
            <a:spLocks noGrp="1"/>
          </p:cNvSpPr>
          <p:nvPr/>
        </p:nvSpPr>
        <p:spPr>
          <a:xfrm>
            <a:off x="996263" y="4229100"/>
            <a:ext cx="8333087" cy="1543049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9685"/>
          </a:bodyPr>
          <a:lstStyle/>
          <a:p>
            <a:pPr>
              <a:defRPr sz="1800" b="1">
                <a:solidFill>
                  <a:srgbClr val="0B29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00" b="1" dirty="0">
                <a:solidFill>
                  <a:srgbClr val="0B2942"/>
                </a:solidFill>
                <a:latin typeface="Bitstream Charter"/>
                <a:ea typeface="Bitstream Charter"/>
                <a:cs typeface="Bitstream Charter"/>
              </a:rPr>
              <a:t>Key question</a:t>
            </a:r>
            <a:r>
              <a:rPr lang="en-GB" sz="2000" b="1" dirty="0">
                <a:solidFill>
                  <a:srgbClr val="0B2942"/>
                </a:solidFill>
                <a:latin typeface="Bitstream Charter"/>
                <a:ea typeface="Bitstream Charter"/>
                <a:cs typeface="Bitstream Charter"/>
              </a:rPr>
              <a:t>s</a:t>
            </a:r>
            <a:r>
              <a:rPr sz="2000" b="1" dirty="0">
                <a:solidFill>
                  <a:srgbClr val="0B2942"/>
                </a:solidFill>
                <a:latin typeface="Bitstream Charter"/>
                <a:ea typeface="Bitstream Charter"/>
                <a:cs typeface="Bitstream Charter"/>
              </a:rPr>
              <a:t>: </a:t>
            </a:r>
            <a:endParaRPr lang="en-GB" sz="2000" b="1" dirty="0">
              <a:solidFill>
                <a:srgbClr val="0B2942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defRPr sz="1800" b="1">
                <a:solidFill>
                  <a:srgbClr val="0B29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n-GB" sz="2000" b="1" dirty="0">
                <a:solidFill>
                  <a:srgbClr val="0070C0"/>
                </a:solidFill>
                <a:latin typeface="Bitstream Charter"/>
                <a:ea typeface="Bitstream Charter"/>
                <a:cs typeface="Bitstream Charter"/>
              </a:rPr>
              <a:t>What is utility?</a:t>
            </a:r>
          </a:p>
          <a:p>
            <a:pPr>
              <a:defRPr sz="1800" b="1">
                <a:solidFill>
                  <a:srgbClr val="0B29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n-GB" sz="2000" b="1" dirty="0">
                <a:solidFill>
                  <a:srgbClr val="0070C0"/>
                </a:solidFill>
                <a:latin typeface="Bitstream Charter"/>
                <a:ea typeface="Bitstream Charter"/>
                <a:cs typeface="Bitstream Charter"/>
              </a:rPr>
              <a:t>H</a:t>
            </a:r>
            <a:r>
              <a:rPr sz="2000" b="1" dirty="0">
                <a:solidFill>
                  <a:srgbClr val="0070C0"/>
                </a:solidFill>
                <a:latin typeface="Bitstream Charter"/>
                <a:ea typeface="Bitstream Charter"/>
                <a:cs typeface="Bitstream Charter"/>
              </a:rPr>
              <a:t>ow much extra expected return does investor require to accept more risk?</a:t>
            </a:r>
          </a:p>
        </p:txBody>
      </p:sp>
    </p:spTree>
    <p:extLst>
      <p:ext uri="{BB962C8B-B14F-4D97-AF65-F5344CB8AC3E}">
        <p14:creationId xmlns:p14="http://schemas.microsoft.com/office/powerpoint/2010/main" val="8394031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1E61BF4-2A38-834A-9C1E-F5BF798A6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Utility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DA2EACF-1B2D-624A-80C6-F9767EEF521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3D95CB-39E0-8545-9D90-DAE5988D8372}"/>
              </a:ext>
            </a:extLst>
          </p:cNvPr>
          <p:cNvSpPr>
            <a:spLocks noGrp="1"/>
          </p:cNvSpPr>
          <p:nvPr>
            <p:ph type="body" sz="half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779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7E807F88-F71E-CF43-B86B-7E585D9555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39205" y="414608"/>
            <a:ext cx="11315248" cy="785542"/>
          </a:xfrm>
        </p:spPr>
        <p:txBody>
          <a:bodyPr>
            <a:normAutofit/>
          </a:bodyPr>
          <a:lstStyle/>
          <a:p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Utility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70ECB779-E578-8A4A-A3A8-35B2B0A6072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37547" y="1200150"/>
            <a:ext cx="9620853" cy="5243242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</a:rPr>
              <a:t>Utility = welfare or the level of ‘satisfaction’ of investors</a:t>
            </a:r>
          </a:p>
          <a:p>
            <a:pPr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</a:rPr>
              <a:t>In economics: Utility from goods and services </a:t>
            </a:r>
          </a:p>
          <a:p>
            <a:pPr lvl="1">
              <a:lnSpc>
                <a:spcPct val="140000"/>
              </a:lnSpc>
            </a:pPr>
            <a:r>
              <a:rPr lang="en-US" altLang="en-US" sz="2000" dirty="0">
                <a:latin typeface="Times New Roman" panose="02020603050405020304" pitchFamily="18" charset="0"/>
              </a:rPr>
              <a:t>Level of satisfaction expressed in utils</a:t>
            </a:r>
          </a:p>
          <a:p>
            <a:pPr lvl="1">
              <a:lnSpc>
                <a:spcPct val="140000"/>
              </a:lnSpc>
            </a:pPr>
            <a:r>
              <a:rPr lang="en-US" altLang="en-US" sz="2000" dirty="0">
                <a:latin typeface="Times New Roman" panose="02020603050405020304" pitchFamily="18" charset="0"/>
              </a:rPr>
              <a:t>No risk, so no decrease in utility (disutility) when goods or services increase</a:t>
            </a:r>
            <a:endParaRPr lang="en-US" altLang="en-US" sz="2400" dirty="0">
              <a:latin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</a:rPr>
              <a:t>In finance: Utility from wealth derived by investing in risky assets</a:t>
            </a:r>
          </a:p>
          <a:p>
            <a:pPr lvl="1">
              <a:lnSpc>
                <a:spcPct val="150000"/>
              </a:lnSpc>
            </a:pPr>
            <a:r>
              <a:rPr lang="en-US" altLang="en-US" sz="2000" dirty="0">
                <a:latin typeface="Times New Roman" panose="02020603050405020304" pitchFamily="18" charset="0"/>
              </a:rPr>
              <a:t>Two sources affect utility in opposite direction: expected return and standard deviation</a:t>
            </a:r>
          </a:p>
          <a:p>
            <a:pPr lvl="1">
              <a:lnSpc>
                <a:spcPct val="150000"/>
              </a:lnSpc>
            </a:pPr>
            <a:r>
              <a:rPr lang="en-US" altLang="en-US" sz="2000" dirty="0">
                <a:latin typeface="Times New Roman" panose="02020603050405020304" pitchFamily="18" charset="0"/>
              </a:rPr>
              <a:t>Utility increases with higher return</a:t>
            </a:r>
          </a:p>
          <a:p>
            <a:pPr lvl="1">
              <a:lnSpc>
                <a:spcPct val="150000"/>
              </a:lnSpc>
            </a:pPr>
            <a:r>
              <a:rPr lang="en-US" altLang="en-US" sz="2000" dirty="0">
                <a:latin typeface="Times New Roman" panose="02020603050405020304" pitchFamily="18" charset="0"/>
              </a:rPr>
              <a:t>Utility decreases with higher standard deviation</a:t>
            </a:r>
          </a:p>
          <a:p>
            <a:pPr lvl="1">
              <a:lnSpc>
                <a:spcPct val="150000"/>
              </a:lnSpc>
            </a:pPr>
            <a:r>
              <a:rPr lang="en-US" altLang="en-US" sz="2000" dirty="0">
                <a:latin typeface="Times New Roman" panose="02020603050405020304" pitchFamily="18" charset="0"/>
              </a:rPr>
              <a:t>The degree of risk aversion determines how much decrease in utility occurs </a:t>
            </a:r>
          </a:p>
          <a:p>
            <a:pPr lvl="1">
              <a:lnSpc>
                <a:spcPct val="150000"/>
              </a:lnSpc>
            </a:pPr>
            <a:r>
              <a:rPr lang="en-US" altLang="en-US" sz="2000" dirty="0">
                <a:latin typeface="Times New Roman" panose="02020603050405020304" pitchFamily="18" charset="0"/>
              </a:rPr>
              <a:t>This decrease in utility when risk increases is driven by the degree of risk aversion of investor, which will determine the level of risk premium expected from an investment: the more risk averse we are, the more risk premium we want</a:t>
            </a:r>
          </a:p>
          <a:p>
            <a:pPr lvl="1">
              <a:lnSpc>
                <a:spcPct val="150000"/>
              </a:lnSpc>
            </a:pPr>
            <a:endParaRPr lang="en-US" altLang="en-US" sz="2000" dirty="0">
              <a:latin typeface="Times New Roman" panose="02020603050405020304" pitchFamily="18" charset="0"/>
            </a:endParaRPr>
          </a:p>
          <a:p>
            <a:endParaRPr lang="en-US" altLang="en-US" sz="240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36090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3511C-D485-4B01-50C3-091084527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2BD32EF3-1DA9-5BDB-C4CA-512717C5109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838200" y="206852"/>
            <a:ext cx="10515600" cy="1325563"/>
          </a:xfrm>
        </p:spPr>
        <p:txBody>
          <a:bodyPr/>
          <a:lstStyle/>
          <a:p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Deriving utility from risky (uncertain) investments</a:t>
            </a:r>
            <a:endParaRPr lang="en-US" alt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7903E350-FBC4-6F4E-217E-CB0EC1144D3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838200" y="1471613"/>
            <a:ext cx="10515600" cy="470535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GB" sz="2000" dirty="0">
                <a:ea typeface="Bitstream Charter"/>
              </a:rPr>
              <a:t>Investors evaluate uncertain wealth through expected utility, rather than expected value of wealth alone</a:t>
            </a:r>
          </a:p>
          <a:p>
            <a:pPr lvl="1">
              <a:lnSpc>
                <a:spcPct val="150000"/>
              </a:lnSpc>
            </a:pPr>
            <a:r>
              <a:rPr lang="en-GB" sz="2000" dirty="0">
                <a:solidFill>
                  <a:srgbClr val="13222E"/>
                </a:solidFill>
                <a:ea typeface="Bitstream Charter"/>
              </a:rPr>
              <a:t>Expected value of wealth does not capture attitudes to uncertainty but investor’s utility function does</a:t>
            </a:r>
          </a:p>
          <a:p>
            <a:pPr lvl="1">
              <a:lnSpc>
                <a:spcPct val="150000"/>
              </a:lnSpc>
            </a:pPr>
            <a:r>
              <a:rPr lang="en-US" altLang="en-US" sz="2000" dirty="0">
                <a:sym typeface="Symbol" pitchFamily="2" charset="2"/>
              </a:rPr>
              <a:t>Investor will choose the investment that provides them with highest level of expected utility</a:t>
            </a:r>
          </a:p>
          <a:p>
            <a:pPr>
              <a:lnSpc>
                <a:spcPct val="150000"/>
              </a:lnSpc>
            </a:pPr>
            <a:r>
              <a:rPr lang="en-US" altLang="en-US" sz="2000" dirty="0">
                <a:sym typeface="Symbol" pitchFamily="2" charset="2"/>
              </a:rPr>
              <a:t>The formula of expected utility:</a:t>
            </a:r>
          </a:p>
          <a:p>
            <a:pPr>
              <a:lnSpc>
                <a:spcPct val="150000"/>
              </a:lnSpc>
              <a:buFont typeface="Monotype Sorts" pitchFamily="2" charset="2"/>
              <a:buNone/>
            </a:pPr>
            <a:r>
              <a:rPr lang="en-US" altLang="en-US" sz="2000" dirty="0">
                <a:sym typeface="Symbol" pitchFamily="2" charset="2"/>
              </a:rPr>
              <a:t>	   E (U) =  p</a:t>
            </a:r>
            <a:r>
              <a:rPr lang="en-US" altLang="en-US" sz="2000" baseline="-25000" dirty="0">
                <a:sym typeface="Symbol" pitchFamily="2" charset="2"/>
              </a:rPr>
              <a:t>i</a:t>
            </a:r>
            <a:r>
              <a:rPr lang="en-US" altLang="en-US" sz="2000" dirty="0">
                <a:sym typeface="Symbol" pitchFamily="2" charset="2"/>
              </a:rPr>
              <a:t> x U(A</a:t>
            </a:r>
            <a:r>
              <a:rPr lang="en-US" altLang="en-US" sz="2000" baseline="-25000" dirty="0">
                <a:sym typeface="Symbol" pitchFamily="2" charset="2"/>
              </a:rPr>
              <a:t>i</a:t>
            </a:r>
            <a:r>
              <a:rPr lang="en-US" altLang="en-US" sz="2000" dirty="0">
                <a:sym typeface="Symbol" pitchFamily="2" charset="2"/>
              </a:rPr>
              <a:t>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GB" sz="2000" dirty="0"/>
              <a:t>where </a:t>
            </a:r>
            <a:r>
              <a:rPr lang="en-US" altLang="en-US" sz="2000" dirty="0">
                <a:sym typeface="Symbol" pitchFamily="2" charset="2"/>
              </a:rPr>
              <a:t>p</a:t>
            </a:r>
            <a:r>
              <a:rPr lang="en-US" altLang="en-US" sz="2000" baseline="-25000" dirty="0">
                <a:sym typeface="Symbol" pitchFamily="2" charset="2"/>
              </a:rPr>
              <a:t>i</a:t>
            </a:r>
            <a:r>
              <a:rPr lang="en-US" altLang="en-US" sz="2000" dirty="0">
                <a:sym typeface="Symbol" pitchFamily="2" charset="2"/>
              </a:rPr>
              <a:t> </a:t>
            </a:r>
            <a:r>
              <a:rPr lang="en-GB" sz="2000" dirty="0"/>
              <a:t>is the probability of risky outcome </a:t>
            </a:r>
            <a:r>
              <a:rPr lang="en-US" altLang="en-US" sz="2000" dirty="0">
                <a:sym typeface="Symbol" pitchFamily="2" charset="2"/>
              </a:rPr>
              <a:t>A</a:t>
            </a:r>
            <a:r>
              <a:rPr lang="en-US" altLang="en-US" sz="2000" baseline="-25000" dirty="0">
                <a:sym typeface="Symbol" pitchFamily="2" charset="2"/>
              </a:rPr>
              <a:t>i</a:t>
            </a:r>
            <a:r>
              <a:rPr lang="en-GB" sz="2000" dirty="0"/>
              <a:t> occurring and  </a:t>
            </a:r>
            <a:r>
              <a:rPr lang="en-US" altLang="en-US" sz="2000" dirty="0">
                <a:sym typeface="Symbol" pitchFamily="2" charset="2"/>
              </a:rPr>
              <a:t>U(A</a:t>
            </a:r>
            <a:r>
              <a:rPr lang="en-US" altLang="en-US" sz="2000" baseline="-25000" dirty="0">
                <a:sym typeface="Symbol" pitchFamily="2" charset="2"/>
              </a:rPr>
              <a:t>i</a:t>
            </a:r>
            <a:r>
              <a:rPr lang="en-US" altLang="en-US" sz="2000" dirty="0">
                <a:sym typeface="Symbol" pitchFamily="2" charset="2"/>
              </a:rPr>
              <a:t>) </a:t>
            </a:r>
            <a:r>
              <a:rPr lang="en-GB" sz="2000" dirty="0"/>
              <a:t>is the corresponding utility of that outcome. The expected utility of a risky investment is simply a weighted average of the possible utilities and associated probabilities</a:t>
            </a:r>
          </a:p>
          <a:p>
            <a:pPr>
              <a:lnSpc>
                <a:spcPct val="150000"/>
              </a:lnSpc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endParaRPr lang="en-US" altLang="en-US" dirty="0">
              <a:sym typeface="Symbol" pitchFamily="2" charset="2"/>
            </a:endParaRPr>
          </a:p>
        </p:txBody>
      </p:sp>
      <p:sp>
        <p:nvSpPr>
          <p:cNvPr id="14" name="Rectangle 12">
            <a:extLst>
              <a:ext uri="{FF2B5EF4-FFF2-40B4-BE49-F238E27FC236}">
                <a16:creationId xmlns:a16="http://schemas.microsoft.com/office/drawing/2014/main" id="{03F9316B-B9CE-F7B0-BA1E-76417C0376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5218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A05CE-4ACC-2885-E12A-D9CE3B02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Expected Utility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9C52AF-E695-AAAA-7459-5D17F33362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GB" sz="2000" dirty="0"/>
              <a:t>Consider an investor whose utility function is given by:</a:t>
            </a:r>
          </a:p>
          <a:p>
            <a:pPr>
              <a:lnSpc>
                <a:spcPct val="150000"/>
              </a:lnSpc>
            </a:pPr>
            <a:endParaRPr lang="en-GB" sz="2000" dirty="0"/>
          </a:p>
          <a:p>
            <a:pPr>
              <a:lnSpc>
                <a:spcPct val="150000"/>
              </a:lnSpc>
            </a:pPr>
            <a:r>
              <a:rPr lang="en-GB" sz="2000" dirty="0"/>
              <a:t>Calculate the expected value (E(A)) of investment and the expected utility (E(U)) this investor derives from portfolio A if you are given the following possible outcomes:</a:t>
            </a:r>
          </a:p>
          <a:p>
            <a:pPr>
              <a:lnSpc>
                <a:spcPct val="150000"/>
              </a:lnSpc>
            </a:pPr>
            <a:endParaRPr lang="en-GB" sz="2000" dirty="0"/>
          </a:p>
          <a:p>
            <a:pPr>
              <a:lnSpc>
                <a:spcPct val="150000"/>
              </a:lnSpc>
            </a:pPr>
            <a:endParaRPr lang="en-GB" sz="2000" dirty="0"/>
          </a:p>
          <a:p>
            <a:pPr>
              <a:lnSpc>
                <a:spcPct val="150000"/>
              </a:lnSpc>
            </a:pPr>
            <a:r>
              <a:rPr lang="en-GB" sz="2000" dirty="0">
                <a:solidFill>
                  <a:srgbClr val="13222E"/>
                </a:solidFill>
                <a:latin typeface="Bitstream Charter"/>
                <a:ea typeface="Bitstream Charter"/>
                <a:cs typeface="Bitstream Charter"/>
              </a:rPr>
              <a:t>Solution:  E(A) = 6% ; E(U) = 5.685</a:t>
            </a:r>
          </a:p>
          <a:p>
            <a:pPr>
              <a:lnSpc>
                <a:spcPct val="150000"/>
              </a:lnSpc>
            </a:pPr>
            <a:r>
              <a:rPr lang="en-GB" sz="2000" dirty="0">
                <a:solidFill>
                  <a:srgbClr val="13222E"/>
                </a:solidFill>
                <a:latin typeface="Bitstream Charter"/>
                <a:ea typeface="Bitstream Charter"/>
                <a:cs typeface="Bitstream Charter"/>
              </a:rPr>
              <a:t>Note: two investments can have the same expected value but different expected utilities!</a:t>
            </a:r>
          </a:p>
          <a:p>
            <a:pPr>
              <a:lnSpc>
                <a:spcPct val="150000"/>
              </a:lnSpc>
            </a:pPr>
            <a:endParaRPr lang="en-US" sz="2000" dirty="0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45E99939-DDFC-7801-C578-923FD10A680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1420706"/>
              </p:ext>
            </p:extLst>
          </p:nvPr>
        </p:nvGraphicFramePr>
        <p:xfrm>
          <a:off x="776417" y="1960424"/>
          <a:ext cx="1843565" cy="4389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066800" imgH="254000" progId="Equation.3">
                  <p:embed/>
                </p:oleObj>
              </mc:Choice>
              <mc:Fallback>
                <p:oleObj r:id="rId2" imgW="1066800" imgH="254000" progId="Equation.3">
                  <p:embed/>
                  <p:pic>
                    <p:nvPicPr>
                      <p:cNvPr id="15" name="Object 14">
                        <a:extLst>
                          <a:ext uri="{FF2B5EF4-FFF2-40B4-BE49-F238E27FC236}">
                            <a16:creationId xmlns:a16="http://schemas.microsoft.com/office/drawing/2014/main" id="{EB2D8F3E-61E8-5360-D3C7-63175A26BB3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6417" y="1960424"/>
                        <a:ext cx="1843565" cy="43894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D5C5307-91B4-648F-5BEA-CA91B28465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542967"/>
              </p:ext>
            </p:extLst>
          </p:nvPr>
        </p:nvGraphicFramePr>
        <p:xfrm>
          <a:off x="776417" y="3880708"/>
          <a:ext cx="7466648" cy="8409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21307">
                  <a:extLst>
                    <a:ext uri="{9D8B030D-6E8A-4147-A177-3AD203B41FA5}">
                      <a16:colId xmlns:a16="http://schemas.microsoft.com/office/drawing/2014/main" val="27015872"/>
                    </a:ext>
                  </a:extLst>
                </a:gridCol>
                <a:gridCol w="3161768">
                  <a:extLst>
                    <a:ext uri="{9D8B030D-6E8A-4147-A177-3AD203B41FA5}">
                      <a16:colId xmlns:a16="http://schemas.microsoft.com/office/drawing/2014/main" val="3406379555"/>
                    </a:ext>
                  </a:extLst>
                </a:gridCol>
                <a:gridCol w="2283573">
                  <a:extLst>
                    <a:ext uri="{9D8B030D-6E8A-4147-A177-3AD203B41FA5}">
                      <a16:colId xmlns:a16="http://schemas.microsoft.com/office/drawing/2014/main" val="13571239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</a:tabLst>
                      </a:pPr>
                      <a:r>
                        <a:rPr lang="en-GB" sz="18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Portfolio A</a:t>
                      </a:r>
                      <a:endParaRPr lang="en-GB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</a:tabLst>
                      </a:pPr>
                      <a:r>
                        <a:rPr lang="en-GB" sz="18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Rate of return  </a:t>
                      </a:r>
                      <a:endParaRPr lang="en-GB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</a:tabLst>
                      </a:pPr>
                      <a:r>
                        <a:rPr lang="en-GB" sz="18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Probability</a:t>
                      </a:r>
                      <a:endParaRPr lang="en-GB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9277049"/>
                  </a:ext>
                </a:extLst>
              </a:tr>
              <a:tr h="28331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</a:tabLst>
                      </a:pPr>
                      <a:r>
                        <a:rPr lang="en-GB" sz="18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Outcome 1</a:t>
                      </a:r>
                      <a:endParaRPr lang="en-GB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</a:tabLst>
                      </a:pPr>
                      <a:r>
                        <a:rPr lang="en-GB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-3%</a:t>
                      </a:r>
                      <a:endParaRPr lang="en-GB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</a:tabLst>
                      </a:pPr>
                      <a:r>
                        <a:rPr lang="en-GB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.25</a:t>
                      </a:r>
                      <a:endParaRPr lang="en-GB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35392746"/>
                  </a:ext>
                </a:extLst>
              </a:tr>
              <a:tr h="28331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</a:tabLst>
                      </a:pPr>
                      <a:r>
                        <a:rPr lang="en-GB" sz="18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Outcome 2</a:t>
                      </a:r>
                      <a:endParaRPr lang="en-GB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</a:tabLst>
                      </a:pPr>
                      <a:r>
                        <a:rPr lang="en-GB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9%</a:t>
                      </a:r>
                      <a:endParaRPr lang="en-GB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</a:tabLst>
                      </a:pPr>
                      <a:r>
                        <a:rPr lang="en-GB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.75</a:t>
                      </a:r>
                      <a:endParaRPr lang="en-GB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091727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43943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473F1-476D-8FFD-9025-97B944696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30DDB4-528A-BDEE-B7EC-94779B573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Risk Aversion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16F47AF-EBAE-0BD6-6223-148F90D7F10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5DE4B2-264D-DB65-6983-E6CA07B8FB09}"/>
              </a:ext>
            </a:extLst>
          </p:cNvPr>
          <p:cNvSpPr>
            <a:spLocks noGrp="1"/>
          </p:cNvSpPr>
          <p:nvPr>
            <p:ph type="body" sz="half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7889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A3C86-923B-9407-C0AB-88AFD0324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>
            <a:extLst>
              <a:ext uri="{FF2B5EF4-FFF2-40B4-BE49-F238E27FC236}">
                <a16:creationId xmlns:a16="http://schemas.microsoft.com/office/drawing/2014/main" id="{4A08A764-0FCB-88A9-2E07-BFBDB05A7C7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838200" y="1253331"/>
            <a:ext cx="10345615" cy="4351338"/>
          </a:xfrm>
        </p:spPr>
        <p:txBody>
          <a:bodyPr>
            <a:noAutofit/>
          </a:bodyPr>
          <a:lstStyle/>
          <a:p>
            <a:r>
              <a:rPr lang="en-GB" altLang="en-US" sz="2400" dirty="0"/>
              <a:t>Consider the following two investments: </a:t>
            </a:r>
          </a:p>
          <a:p>
            <a:pPr lvl="1">
              <a:lnSpc>
                <a:spcPct val="150000"/>
              </a:lnSpc>
            </a:pPr>
            <a:r>
              <a:rPr lang="en-GB" altLang="en-US" sz="2000" dirty="0"/>
              <a:t>Investment X is certain: receive $10 with certainty (risk-free)</a:t>
            </a:r>
            <a:br>
              <a:rPr lang="en-GB" altLang="en-US" sz="2000" dirty="0"/>
            </a:br>
            <a:r>
              <a:rPr lang="en-GB" altLang="en-US" sz="2000" dirty="0"/>
              <a:t>Investment Y is uncertain: receive $100 with a 10% probability and $0 with a 90% probability</a:t>
            </a:r>
          </a:p>
          <a:p>
            <a:pPr lvl="1">
              <a:lnSpc>
                <a:spcPct val="150000"/>
              </a:lnSpc>
            </a:pPr>
            <a:r>
              <a:rPr lang="en-GB" altLang="en-US" sz="2000" dirty="0"/>
              <a:t>Note: the value of certain investment X is equal to the expected value of the investment Y (=10%* $100+90%* $0 = $10) – this is called a ‘fair gamble’</a:t>
            </a:r>
          </a:p>
          <a:p>
            <a:pPr>
              <a:lnSpc>
                <a:spcPct val="150000"/>
              </a:lnSpc>
            </a:pPr>
            <a:r>
              <a:rPr lang="en-GB" altLang="en-US" sz="2400" dirty="0"/>
              <a:t>Bases on attitudes towards ‘fair gamble’, Markowitz (1959) introduced the following definitions of risk aversion: risk averse, risk seeking and risk neutral </a:t>
            </a:r>
          </a:p>
        </p:txBody>
      </p:sp>
      <p:sp>
        <p:nvSpPr>
          <p:cNvPr id="83971" name="Rectangle 3">
            <a:extLst>
              <a:ext uri="{FF2B5EF4-FFF2-40B4-BE49-F238E27FC236}">
                <a16:creationId xmlns:a16="http://schemas.microsoft.com/office/drawing/2014/main" id="{B7198A8B-55CA-9B44-F72F-AA7DE45A344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838200" y="183071"/>
            <a:ext cx="10515600" cy="975170"/>
          </a:xfrm>
        </p:spPr>
        <p:txBody>
          <a:bodyPr>
            <a:normAutofit/>
          </a:bodyPr>
          <a:lstStyle/>
          <a:p>
            <a:r>
              <a:rPr lang="en-US" altLang="en-US" sz="3000" dirty="0"/>
              <a:t>The Concept of Risk Aversion</a:t>
            </a:r>
          </a:p>
        </p:txBody>
      </p:sp>
    </p:spTree>
    <p:extLst>
      <p:ext uri="{BB962C8B-B14F-4D97-AF65-F5344CB8AC3E}">
        <p14:creationId xmlns:p14="http://schemas.microsoft.com/office/powerpoint/2010/main" val="6232712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B225769-C1BB-C4A9-F682-27F7845D0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Risk averse, risk seeking and risk neutral investors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6BB7D13-9792-8F8F-10E2-457504F10D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1">
              <a:lnSpc>
                <a:spcPct val="150000"/>
              </a:lnSpc>
            </a:pPr>
            <a:r>
              <a:rPr lang="en-GB" altLang="en-US" dirty="0"/>
              <a:t>Given the example on previous slide, investors with different attitudes towards risk will make different choice if faced with  X </a:t>
            </a:r>
            <a:r>
              <a:rPr lang="en-GB" altLang="en-US" dirty="0" err="1"/>
              <a:t>vs.Y</a:t>
            </a:r>
            <a:r>
              <a:rPr lang="en-GB" altLang="en-US" dirty="0"/>
              <a:t> dilemma, i.e. the ‘fair gamble’:</a:t>
            </a:r>
          </a:p>
          <a:p>
            <a:pPr lvl="2">
              <a:lnSpc>
                <a:spcPct val="150000"/>
              </a:lnSpc>
            </a:pPr>
            <a:r>
              <a:rPr lang="en-GB" altLang="en-US" sz="2400" dirty="0"/>
              <a:t>An investor who </a:t>
            </a:r>
            <a:r>
              <a:rPr lang="en-GB" altLang="en-US" sz="2400" dirty="0">
                <a:solidFill>
                  <a:srgbClr val="0070C0"/>
                </a:solidFill>
              </a:rPr>
              <a:t>prefers the risky </a:t>
            </a:r>
            <a:r>
              <a:rPr lang="en-GB" altLang="en-US" sz="2400" dirty="0"/>
              <a:t>investment Y </a:t>
            </a:r>
            <a:r>
              <a:rPr lang="en-GB" altLang="en-US" sz="2400" dirty="0">
                <a:solidFill>
                  <a:srgbClr val="0070C0"/>
                </a:solidFill>
              </a:rPr>
              <a:t>is risk seeking, he accepts ‘fair gamble’</a:t>
            </a:r>
          </a:p>
          <a:p>
            <a:pPr lvl="2">
              <a:lnSpc>
                <a:spcPct val="150000"/>
              </a:lnSpc>
            </a:pPr>
            <a:r>
              <a:rPr lang="en-GB" altLang="en-US" sz="2400" dirty="0"/>
              <a:t>The one who is </a:t>
            </a:r>
            <a:r>
              <a:rPr lang="en-GB" altLang="en-US" sz="2400" dirty="0">
                <a:solidFill>
                  <a:srgbClr val="0070C0"/>
                </a:solidFill>
              </a:rPr>
              <a:t>indifferent</a:t>
            </a:r>
            <a:r>
              <a:rPr lang="en-GB" altLang="en-US" sz="2400" dirty="0"/>
              <a:t> between the certain investment X and a risky investment Y </a:t>
            </a:r>
            <a:r>
              <a:rPr lang="en-GB" altLang="en-US" sz="2400" dirty="0">
                <a:solidFill>
                  <a:srgbClr val="0070C0"/>
                </a:solidFill>
              </a:rPr>
              <a:t>is risk neutral </a:t>
            </a:r>
            <a:r>
              <a:rPr lang="en-GB" altLang="en-US" sz="2400" dirty="0"/>
              <a:t>and </a:t>
            </a:r>
          </a:p>
          <a:p>
            <a:pPr lvl="2">
              <a:lnSpc>
                <a:spcPct val="150000"/>
              </a:lnSpc>
            </a:pPr>
            <a:r>
              <a:rPr lang="en-GB" altLang="en-US" sz="2400" dirty="0"/>
              <a:t>The investor who </a:t>
            </a:r>
            <a:r>
              <a:rPr lang="en-GB" altLang="en-US" sz="2400" dirty="0">
                <a:solidFill>
                  <a:srgbClr val="0070C0"/>
                </a:solidFill>
              </a:rPr>
              <a:t>prefers the certainty </a:t>
            </a:r>
            <a:r>
              <a:rPr lang="en-GB" altLang="en-US" sz="2400" dirty="0"/>
              <a:t>(investment X) </a:t>
            </a:r>
            <a:r>
              <a:rPr lang="en-GB" altLang="en-US" sz="2400" dirty="0">
                <a:solidFill>
                  <a:srgbClr val="0070C0"/>
                </a:solidFill>
              </a:rPr>
              <a:t>is risk averse </a:t>
            </a:r>
            <a:r>
              <a:rPr lang="en-GB" altLang="en-US" sz="2400" dirty="0"/>
              <a:t>investor, he rejects ‘fair gamble’</a:t>
            </a:r>
          </a:p>
        </p:txBody>
      </p:sp>
    </p:spTree>
    <p:extLst>
      <p:ext uri="{BB962C8B-B14F-4D97-AF65-F5344CB8AC3E}">
        <p14:creationId xmlns:p14="http://schemas.microsoft.com/office/powerpoint/2010/main" val="5249833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CDFE8-642E-41EE-E945-E2BA92A56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0FD7D-6365-BD03-6EE0-8819615C9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/>
              <a:t>Risk averse, risk seeking and risk neutral investors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0BBA9A-8598-6A3A-3B4C-7426A55541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054" y="1406483"/>
            <a:ext cx="9324290" cy="4648200"/>
          </a:xfrm>
        </p:spPr>
        <p:txBody>
          <a:bodyPr>
            <a:normAutofit fontScale="925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GB" sz="2000" dirty="0"/>
              <a:t>Let’s express investor’s risk aversion in the context of utility (investor’s level of ‘happiness’) </a:t>
            </a:r>
          </a:p>
          <a:p>
            <a:pPr algn="just">
              <a:lnSpc>
                <a:spcPct val="150000"/>
              </a:lnSpc>
            </a:pPr>
            <a:r>
              <a:rPr lang="en-GB" sz="2000" dirty="0"/>
              <a:t>Remember, an investor will choose the investment with higher utility:</a:t>
            </a:r>
          </a:p>
          <a:p>
            <a:pPr lvl="1" algn="just">
              <a:lnSpc>
                <a:spcPct val="150000"/>
              </a:lnSpc>
            </a:pPr>
            <a:r>
              <a:rPr lang="en-GB" sz="2000" dirty="0"/>
              <a:t>An investor is risk averse if the utility of certain investment is greater than expected utility of risky investment </a:t>
            </a:r>
          </a:p>
          <a:p>
            <a:pPr lvl="2" algn="just">
              <a:lnSpc>
                <a:spcPct val="150000"/>
              </a:lnSpc>
            </a:pPr>
            <a:r>
              <a:rPr lang="en-GB" sz="1900" dirty="0"/>
              <a:t>Therefore, a fair gamble does not reduce expected wealth, but it reduces expected utility for a risk-averse investor  </a:t>
            </a:r>
          </a:p>
          <a:p>
            <a:pPr lvl="1" algn="just">
              <a:lnSpc>
                <a:spcPct val="150000"/>
              </a:lnSpc>
            </a:pPr>
            <a:r>
              <a:rPr lang="en-GB" sz="2000" dirty="0"/>
              <a:t>An investor is risk seeking if the utility of certain investment is smaller than expected utility of risky investment </a:t>
            </a:r>
          </a:p>
          <a:p>
            <a:pPr lvl="1" algn="just">
              <a:lnSpc>
                <a:spcPct val="150000"/>
              </a:lnSpc>
            </a:pPr>
            <a:r>
              <a:rPr lang="en-GB" sz="2000" dirty="0"/>
              <a:t>An investor is risk neutral if the utility of certain investment is the same as the expected utility of risky investment </a:t>
            </a:r>
          </a:p>
          <a:p>
            <a:pPr marL="0" indent="0">
              <a:lnSpc>
                <a:spcPct val="150000"/>
              </a:lnSpc>
              <a:buNone/>
            </a:pPr>
            <a:endParaRPr lang="en-GB" dirty="0">
              <a:latin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112C085-1437-EA0F-BEE1-2407B38451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619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FA8B253A-1BC0-3E67-4E03-62A785DFAC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A014486C-7DDA-A4C6-780B-97FB44E956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2" name="Rectangle 13">
            <a:extLst>
              <a:ext uri="{FF2B5EF4-FFF2-40B4-BE49-F238E27FC236}">
                <a16:creationId xmlns:a16="http://schemas.microsoft.com/office/drawing/2014/main" id="{38ADE930-BA57-F86F-23A0-9A1C702E2D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3125" y="364331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4" name="Rectangle 15">
            <a:extLst>
              <a:ext uri="{FF2B5EF4-FFF2-40B4-BE49-F238E27FC236}">
                <a16:creationId xmlns:a16="http://schemas.microsoft.com/office/drawing/2014/main" id="{81862137-C1A5-C774-9F6E-45234F9676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75" y="424167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091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F1D84-75BD-FB47-9BC8-803104D2C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Rational investors’ attitude towards risk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D5804CC-E668-AD43-BF9E-4B6014A488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Risk averse investor: rejects ‘fair gamble’ – they expect positive risk premium</a:t>
            </a:r>
          </a:p>
          <a:p>
            <a:pPr>
              <a:lnSpc>
                <a:spcPct val="150000"/>
              </a:lnSpc>
            </a:pPr>
            <a:r>
              <a:rPr lang="en-US" dirty="0"/>
              <a:t>Risk neutral investor is indifferent – they expect zero risk premium</a:t>
            </a:r>
          </a:p>
          <a:p>
            <a:pPr>
              <a:lnSpc>
                <a:spcPct val="150000"/>
              </a:lnSpc>
            </a:pPr>
            <a:r>
              <a:rPr lang="en-US" dirty="0"/>
              <a:t>Risk seeking investor accepts ‘fair gamble’- they accept negative risk premium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70C0"/>
                </a:solidFill>
              </a:rPr>
              <a:t>The only rational </a:t>
            </a:r>
            <a:r>
              <a:rPr lang="en-US" dirty="0" err="1">
                <a:solidFill>
                  <a:srgbClr val="0070C0"/>
                </a:solidFill>
              </a:rPr>
              <a:t>behaviour</a:t>
            </a:r>
            <a:r>
              <a:rPr lang="en-US" dirty="0">
                <a:solidFill>
                  <a:srgbClr val="0070C0"/>
                </a:solidFill>
              </a:rPr>
              <a:t> is that of a risk averse investor</a:t>
            </a:r>
          </a:p>
          <a:p>
            <a:pPr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52695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5695A-7A74-200A-2418-37FED0566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C06F2-FB0D-3BCB-19EA-50A73A0F4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547" y="278097"/>
            <a:ext cx="9497367" cy="785542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How do we quantify utility? Examples of utility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6675A4-792A-20F4-6E20-F6128106B2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547" y="1409628"/>
            <a:ext cx="9497367" cy="44196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/>
              <a:t>If A is wealth, then utility functions can for instance be expressed as:</a:t>
            </a:r>
          </a:p>
          <a:p>
            <a:pPr marL="0" indent="0">
              <a:buNone/>
            </a:pPr>
            <a:r>
              <a:rPr lang="en-US" altLang="en-US" sz="2000" dirty="0">
                <a:latin typeface="Times New Roman" panose="02020603050405020304" pitchFamily="18" charset="0"/>
                <a:sym typeface="Symbol" pitchFamily="2" charset="2"/>
              </a:rPr>
              <a:t>U = A </a:t>
            </a:r>
          </a:p>
          <a:p>
            <a:pPr marL="0" indent="0">
              <a:buNone/>
            </a:pPr>
            <a:r>
              <a:rPr lang="en-US" altLang="en-US" sz="2000" dirty="0">
                <a:latin typeface="Times New Roman" panose="02020603050405020304" pitchFamily="18" charset="0"/>
                <a:sym typeface="Symbol" pitchFamily="2" charset="2"/>
              </a:rPr>
              <a:t>U = ln(A) </a:t>
            </a:r>
          </a:p>
          <a:p>
            <a:pPr marL="0" indent="0">
              <a:buNone/>
            </a:pPr>
            <a:r>
              <a:rPr lang="en-US" altLang="en-US" sz="2000" dirty="0">
                <a:latin typeface="Times New Roman" panose="02020603050405020304" pitchFamily="18" charset="0"/>
                <a:sym typeface="Symbol" pitchFamily="2" charset="2"/>
              </a:rPr>
              <a:t>U = A</a:t>
            </a:r>
            <a:r>
              <a:rPr lang="en-US" altLang="en-US" sz="2000" baseline="30000" dirty="0">
                <a:latin typeface="Times New Roman" panose="02020603050405020304" pitchFamily="18" charset="0"/>
                <a:sym typeface="Symbol" pitchFamily="2" charset="2"/>
              </a:rPr>
              <a:t>2 </a:t>
            </a:r>
            <a:endParaRPr lang="en-US" altLang="en-US" sz="2000" dirty="0">
              <a:latin typeface="Times New Roman" panose="02020603050405020304" pitchFamily="18" charset="0"/>
              <a:sym typeface="Symbol" pitchFamily="2" charset="2"/>
            </a:endParaRPr>
          </a:p>
          <a:p>
            <a:pPr marL="0" indent="0">
              <a:buNone/>
            </a:pPr>
            <a:r>
              <a:rPr lang="en-GB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U= A</a:t>
            </a:r>
            <a:r>
              <a:rPr lang="en-GB" sz="2000" baseline="30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-cA2</a:t>
            </a:r>
          </a:p>
          <a:p>
            <a:pPr marL="0" indent="0">
              <a:buNone/>
            </a:pPr>
            <a:r>
              <a:rPr lang="en-GB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U=</a:t>
            </a:r>
            <a:r>
              <a:rPr lang="en-GB" sz="2000" dirty="0">
                <a:effectLst/>
              </a:rPr>
              <a:t> -e</a:t>
            </a:r>
            <a:r>
              <a:rPr lang="en-GB" sz="2000" baseline="30000" dirty="0">
                <a:effectLst/>
              </a:rPr>
              <a:t>-</a:t>
            </a:r>
            <a:r>
              <a:rPr lang="en-GB" sz="2000" baseline="30000" dirty="0" err="1">
                <a:effectLst/>
              </a:rPr>
              <a:t>cA</a:t>
            </a:r>
            <a:endParaRPr lang="en-GB" sz="2000" baseline="30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sz="20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en-US" sz="20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0070C0"/>
                </a:solidFill>
              </a:rPr>
              <a:t>Each function reflects investor’s level of risk aversion - different for different investors.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800" dirty="0"/>
              <a:t>Utility functions are primarily a theoretical representation of investor preferences.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800" dirty="0"/>
              <a:t>In practice, investors rarely specify an explicit mathematical utility function - their preferences are usually translated into portfolio objectives and risk constraints.</a:t>
            </a:r>
            <a:endParaRPr lang="en-US" sz="1800" dirty="0">
              <a:solidFill>
                <a:srgbClr val="002B4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6333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9188C-86A9-C84D-A4CE-9FEC9FB1B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376" y="289279"/>
            <a:ext cx="11315248" cy="785542"/>
          </a:xfrm>
        </p:spPr>
        <p:txBody>
          <a:bodyPr/>
          <a:lstStyle/>
          <a:p>
            <a:r>
              <a:rPr lang="en-US" sz="3200" dirty="0"/>
              <a:t>Establish the link between utility and risk aversion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C8844A-BC39-0A42-99F4-EFD99FD429D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8376" y="1235241"/>
                <a:ext cx="9497367" cy="5045243"/>
              </a:xfrm>
            </p:spPr>
            <p:txBody>
              <a:bodyPr>
                <a:normAutofit fontScale="700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en-US" sz="2900" dirty="0"/>
                  <a:t>We can quantify utility if we know the level of risk aversion, using a widely accepted ‘scoring’ system (CFA), given by:  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en-US" sz="2900" i="1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altLang="en-US" sz="29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en-US" sz="2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900" i="1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altLang="en-US" sz="29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en-US" sz="29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en-US" sz="29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altLang="en-US" sz="2900" i="1">
                        <a:latin typeface="Cambria Math" panose="02040503050406030204" pitchFamily="18" charset="0"/>
                      </a:rPr>
                      <m:t>)−</m:t>
                    </m:r>
                    <m:f>
                      <m:fPr>
                        <m:ctrlPr>
                          <a:rPr lang="en-US" altLang="en-US" sz="29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sz="29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en-US" sz="29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en-US" sz="2900" b="0" i="1" smtClean="0">
                        <a:latin typeface="Cambria Math" panose="02040503050406030204" pitchFamily="18" charset="0"/>
                      </a:rPr>
                      <m:t>𝑅𝐴</m:t>
                    </m:r>
                    <m:sSubSup>
                      <m:sSubSupPr>
                        <m:ctrlPr>
                          <a:rPr lang="en-US" altLang="en-US" sz="29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en-US" sz="29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en-US" sz="29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a:rPr lang="en-US" altLang="en-US" sz="29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sz="2900" dirty="0"/>
              </a:p>
              <a:p>
                <a:pPr>
                  <a:lnSpc>
                    <a:spcPct val="150000"/>
                  </a:lnSpc>
                </a:pPr>
                <a:r>
                  <a:rPr lang="en-US" sz="2900" dirty="0"/>
                  <a:t>U is the utility, and RA is the level of investor’s risk aversion.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900" dirty="0"/>
                  <a:t>½ is convention, and has no theoretical explanation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900" dirty="0"/>
                  <a:t>Use decimals not percentages in calculations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900" dirty="0"/>
                  <a:t>The extent to which variance lowers utility depends on risk aversion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900" dirty="0"/>
                  <a:t>Larger RA – more risk averse investor (typical values 2-10, but can be more)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900" dirty="0"/>
                  <a:t>So, how do we measure the risk aversion needed for this equation?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C8844A-BC39-0A42-99F4-EFD99FD429D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8376" y="1235241"/>
                <a:ext cx="9497367" cy="5045243"/>
              </a:xfrm>
              <a:blipFill>
                <a:blip r:embed="rId2"/>
                <a:stretch>
                  <a:fillRect l="-6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1277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04DF8-25CB-154B-BE7D-B29A909CB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547" y="297963"/>
            <a:ext cx="11315248" cy="785542"/>
          </a:xfrm>
        </p:spPr>
        <p:txBody>
          <a:bodyPr/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How do we derive the level of risk aversion?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35D55-8D24-4248-B01D-ADBBE91B73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547" y="1219200"/>
            <a:ext cx="9678003" cy="495300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Finance theory: various measures of risk aversion computed from utility functions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Arrow-Pratt risk aversion</a:t>
            </a:r>
          </a:p>
          <a:p>
            <a:pPr lvl="3">
              <a:lnSpc>
                <a:spcPct val="150000"/>
              </a:lnSpc>
            </a:pPr>
            <a:r>
              <a:rPr lang="en-US" sz="1850" dirty="0">
                <a:latin typeface="Arial" panose="020B0604020202020204" pitchFamily="34" charset="0"/>
                <a:cs typeface="Arial" panose="020B0604020202020204" pitchFamily="34" charset="0"/>
              </a:rPr>
              <a:t>Absolute Risk Aversion (ARA)</a:t>
            </a:r>
          </a:p>
          <a:p>
            <a:pPr lvl="3">
              <a:lnSpc>
                <a:spcPct val="150000"/>
              </a:lnSpc>
            </a:pPr>
            <a:r>
              <a:rPr lang="en-US" sz="1850" dirty="0">
                <a:latin typeface="Arial" panose="020B0604020202020204" pitchFamily="34" charset="0"/>
                <a:cs typeface="Arial" panose="020B0604020202020204" pitchFamily="34" charset="0"/>
              </a:rPr>
              <a:t>Relative Risk Aversion (RRA)</a:t>
            </a:r>
          </a:p>
          <a:p>
            <a:pPr lvl="3">
              <a:lnSpc>
                <a:spcPct val="150000"/>
              </a:lnSpc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Various versions of above models from academic studies</a:t>
            </a:r>
            <a:endParaRPr lang="en-US" alt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Finance practice:</a:t>
            </a:r>
          </a:p>
          <a:p>
            <a:pPr lvl="1">
              <a:lnSpc>
                <a:spcPct val="150000"/>
              </a:lnSpc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Scoring system: Investors assign a ‘score’ to to alternative portfolios on the basis of their expected return and risk</a:t>
            </a:r>
          </a:p>
          <a:p>
            <a:pPr lvl="2">
              <a:lnSpc>
                <a:spcPct val="150000"/>
              </a:lnSpc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Investor questionnaires</a:t>
            </a:r>
          </a:p>
          <a:p>
            <a:pPr lvl="1">
              <a:lnSpc>
                <a:spcPct val="150000"/>
              </a:lnSpc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Derive the risk premium for the ‘market’</a:t>
            </a:r>
          </a:p>
          <a:p>
            <a:pPr lvl="1">
              <a:lnSpc>
                <a:spcPct val="150000"/>
              </a:lnSpc>
            </a:pPr>
            <a:r>
              <a:rPr lang="en-US" altLang="en-US" sz="2000" dirty="0"/>
              <a:t>Infer risk premium from existing investments</a:t>
            </a:r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en-US" sz="2400" dirty="0">
              <a:latin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72146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3">
            <a:extLst>
              <a:ext uri="{FF2B5EF4-FFF2-40B4-BE49-F238E27FC236}">
                <a16:creationId xmlns:a16="http://schemas.microsoft.com/office/drawing/2014/main" id="{34F18E16-89B3-F14B-9950-9F37D00366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38376" y="390873"/>
            <a:ext cx="11315248" cy="785542"/>
          </a:xfrm>
        </p:spPr>
        <p:txBody>
          <a:bodyPr>
            <a:normAutofit/>
          </a:bodyPr>
          <a:lstStyle/>
          <a:p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  <a:sym typeface="Symbol" pitchFamily="2" charset="2"/>
              </a:rPr>
              <a:t>Absolute risk aversion (ARA)</a:t>
            </a:r>
          </a:p>
        </p:txBody>
      </p:sp>
      <p:sp>
        <p:nvSpPr>
          <p:cNvPr id="38914" name="Rectangle 2">
            <a:extLst>
              <a:ext uri="{FF2B5EF4-FFF2-40B4-BE49-F238E27FC236}">
                <a16:creationId xmlns:a16="http://schemas.microsoft.com/office/drawing/2014/main" id="{E0047A57-D6BC-9542-9683-D92E2A8D468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38376" y="1176415"/>
            <a:ext cx="9717106" cy="5350115"/>
          </a:xfrm>
        </p:spPr>
        <p:txBody>
          <a:bodyPr>
            <a:noAutofit/>
          </a:bodyPr>
          <a:lstStyle/>
          <a:p>
            <a:pPr>
              <a:lnSpc>
                <a:spcPct val="160000"/>
              </a:lnSpc>
            </a:pPr>
            <a:r>
              <a:rPr lang="en-US" altLang="en-US" sz="1900" dirty="0">
                <a:latin typeface="Arial" panose="020B0604020202020204" pitchFamily="34" charset="0"/>
                <a:cs typeface="Arial" panose="020B0604020202020204" pitchFamily="34" charset="0"/>
                <a:sym typeface="Symbol" pitchFamily="2" charset="2"/>
              </a:rPr>
              <a:t>Measures how the investors preferences towards investing in risky assets changes when there is a change in wealth</a:t>
            </a:r>
          </a:p>
          <a:p>
            <a:pPr>
              <a:lnSpc>
                <a:spcPct val="160000"/>
              </a:lnSpc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  <a:sym typeface="Symbol" pitchFamily="2" charset="2"/>
              </a:rPr>
              <a:t>I</a:t>
            </a:r>
            <a:r>
              <a:rPr lang="en-GB" sz="1900" dirty="0">
                <a:latin typeface="Arial" panose="020B0604020202020204" pitchFamily="34" charset="0"/>
                <a:cs typeface="Arial" panose="020B0604020202020204" pitchFamily="34" charset="0"/>
              </a:rPr>
              <a:t>f investor chooses to </a:t>
            </a:r>
            <a:r>
              <a:rPr lang="en-GB" sz="1900" i="1" dirty="0">
                <a:latin typeface="Arial" panose="020B0604020202020204" pitchFamily="34" charset="0"/>
                <a:cs typeface="Arial" panose="020B0604020202020204" pitchFamily="34" charset="0"/>
              </a:rPr>
              <a:t>increase</a:t>
            </a:r>
            <a:r>
              <a:rPr lang="en-GB" sz="1900" dirty="0">
                <a:latin typeface="Arial" panose="020B0604020202020204" pitchFamily="34" charset="0"/>
                <a:cs typeface="Arial" panose="020B0604020202020204" pitchFamily="34" charset="0"/>
              </a:rPr>
              <a:t> the </a:t>
            </a:r>
            <a:r>
              <a:rPr lang="en-GB" sz="1900" i="1" dirty="0">
                <a:latin typeface="Arial" panose="020B0604020202020204" pitchFamily="34" charset="0"/>
                <a:cs typeface="Arial" panose="020B0604020202020204" pitchFamily="34" charset="0"/>
              </a:rPr>
              <a:t>number of dollars</a:t>
            </a:r>
            <a:r>
              <a:rPr lang="en-GB" sz="1900" dirty="0">
                <a:latin typeface="Arial" panose="020B0604020202020204" pitchFamily="34" charset="0"/>
                <a:cs typeface="Arial" panose="020B0604020202020204" pitchFamily="34" charset="0"/>
              </a:rPr>
              <a:t> held in the risky asset in the portfolio as their wealth increased, we say that their absolute risk aversion is </a:t>
            </a:r>
            <a:r>
              <a:rPr lang="en-GB" sz="1900" i="1" dirty="0">
                <a:latin typeface="Arial" panose="020B0604020202020204" pitchFamily="34" charset="0"/>
                <a:cs typeface="Arial" panose="020B0604020202020204" pitchFamily="34" charset="0"/>
              </a:rPr>
              <a:t>decreasing </a:t>
            </a:r>
          </a:p>
          <a:p>
            <a:pPr>
              <a:lnSpc>
                <a:spcPct val="160000"/>
              </a:lnSpc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  <a:sym typeface="Symbol" pitchFamily="2" charset="2"/>
              </a:rPr>
              <a:t>I</a:t>
            </a:r>
            <a:r>
              <a:rPr lang="en-GB" sz="1900" dirty="0">
                <a:latin typeface="Arial" panose="020B0604020202020204" pitchFamily="34" charset="0"/>
                <a:cs typeface="Arial" panose="020B0604020202020204" pitchFamily="34" charset="0"/>
              </a:rPr>
              <a:t>f investor chooses to </a:t>
            </a:r>
            <a:r>
              <a:rPr lang="en-GB" sz="1900" i="1" dirty="0">
                <a:latin typeface="Arial" panose="020B0604020202020204" pitchFamily="34" charset="0"/>
                <a:cs typeface="Arial" panose="020B0604020202020204" pitchFamily="34" charset="0"/>
              </a:rPr>
              <a:t>decrease</a:t>
            </a:r>
            <a:r>
              <a:rPr lang="en-GB" sz="1900" dirty="0">
                <a:latin typeface="Arial" panose="020B0604020202020204" pitchFamily="34" charset="0"/>
                <a:cs typeface="Arial" panose="020B0604020202020204" pitchFamily="34" charset="0"/>
              </a:rPr>
              <a:t> the </a:t>
            </a:r>
            <a:r>
              <a:rPr lang="en-GB" sz="1900" i="1" dirty="0">
                <a:latin typeface="Arial" panose="020B0604020202020204" pitchFamily="34" charset="0"/>
                <a:cs typeface="Arial" panose="020B0604020202020204" pitchFamily="34" charset="0"/>
              </a:rPr>
              <a:t>number of dollars</a:t>
            </a:r>
            <a:r>
              <a:rPr lang="en-GB" sz="1900" dirty="0">
                <a:latin typeface="Arial" panose="020B0604020202020204" pitchFamily="34" charset="0"/>
                <a:cs typeface="Arial" panose="020B0604020202020204" pitchFamily="34" charset="0"/>
              </a:rPr>
              <a:t> held in the risky asset in the portfolio as their wealth increased, we say that their absolute risk aversion is </a:t>
            </a:r>
            <a:r>
              <a:rPr lang="en-GB" sz="1900" i="1" dirty="0">
                <a:latin typeface="Arial" panose="020B0604020202020204" pitchFamily="34" charset="0"/>
                <a:cs typeface="Arial" panose="020B0604020202020204" pitchFamily="34" charset="0"/>
              </a:rPr>
              <a:t>increasing.</a:t>
            </a:r>
            <a:r>
              <a:rPr lang="en-GB" sz="1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>
              <a:lnSpc>
                <a:spcPct val="160000"/>
              </a:lnSpc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  <a:sym typeface="Symbol" pitchFamily="2" charset="2"/>
              </a:rPr>
              <a:t>I</a:t>
            </a:r>
            <a:r>
              <a:rPr lang="en-GB" sz="1900" dirty="0">
                <a:latin typeface="Arial" panose="020B0604020202020204" pitchFamily="34" charset="0"/>
                <a:cs typeface="Arial" panose="020B0604020202020204" pitchFamily="34" charset="0"/>
              </a:rPr>
              <a:t>f investor chooses to keep </a:t>
            </a:r>
            <a:r>
              <a:rPr lang="en-GB" sz="1900" i="1" dirty="0">
                <a:latin typeface="Arial" panose="020B0604020202020204" pitchFamily="34" charset="0"/>
                <a:cs typeface="Arial" panose="020B0604020202020204" pitchFamily="34" charset="0"/>
              </a:rPr>
              <a:t>the same</a:t>
            </a:r>
            <a:r>
              <a:rPr lang="en-GB" sz="1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900" i="1" dirty="0">
                <a:latin typeface="Arial" panose="020B0604020202020204" pitchFamily="34" charset="0"/>
                <a:cs typeface="Arial" panose="020B0604020202020204" pitchFamily="34" charset="0"/>
              </a:rPr>
              <a:t>number of dollars</a:t>
            </a:r>
            <a:r>
              <a:rPr lang="en-GB" sz="1900" dirty="0">
                <a:latin typeface="Arial" panose="020B0604020202020204" pitchFamily="34" charset="0"/>
                <a:cs typeface="Arial" panose="020B0604020202020204" pitchFamily="34" charset="0"/>
              </a:rPr>
              <a:t> held in the risky asset in the portfolio as their wealth increased, we say that their absolute risk aversion is </a:t>
            </a:r>
            <a:r>
              <a:rPr lang="en-GB" sz="1900" i="1" dirty="0">
                <a:latin typeface="Arial" panose="020B0604020202020204" pitchFamily="34" charset="0"/>
                <a:cs typeface="Arial" panose="020B0604020202020204" pitchFamily="34" charset="0"/>
              </a:rPr>
              <a:t>constant.</a:t>
            </a:r>
            <a:r>
              <a:rPr lang="en-GB" sz="1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>
              <a:lnSpc>
                <a:spcPct val="160000"/>
              </a:lnSpc>
            </a:pPr>
            <a:r>
              <a:rPr lang="en-US" altLang="en-US" sz="1900" dirty="0">
                <a:latin typeface="Arial" panose="020B0604020202020204" pitchFamily="34" charset="0"/>
                <a:cs typeface="Arial" panose="020B0604020202020204" pitchFamily="34" charset="0"/>
                <a:sym typeface="Symbol" pitchFamily="2" charset="2"/>
              </a:rPr>
              <a:t>Most common behavior is decreasing ARA, but it can be constant or increasing</a:t>
            </a:r>
          </a:p>
        </p:txBody>
      </p:sp>
    </p:spTree>
    <p:extLst>
      <p:ext uri="{BB962C8B-B14F-4D97-AF65-F5344CB8AC3E}">
        <p14:creationId xmlns:p14="http://schemas.microsoft.com/office/powerpoint/2010/main" val="1104011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3">
            <a:extLst>
              <a:ext uri="{FF2B5EF4-FFF2-40B4-BE49-F238E27FC236}">
                <a16:creationId xmlns:a16="http://schemas.microsoft.com/office/drawing/2014/main" id="{ED083E1F-6DC2-0D41-9152-212D9BD3F1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37547" y="596613"/>
            <a:ext cx="11315248" cy="785542"/>
          </a:xfrm>
        </p:spPr>
        <p:txBody>
          <a:bodyPr>
            <a:normAutofit/>
          </a:bodyPr>
          <a:lstStyle/>
          <a:p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  <a:sym typeface="Symbol" pitchFamily="2" charset="2"/>
              </a:rPr>
              <a:t>Relative risk aversion</a:t>
            </a:r>
          </a:p>
        </p:txBody>
      </p:sp>
      <p:sp>
        <p:nvSpPr>
          <p:cNvPr id="40962" name="Rectangle 2">
            <a:extLst>
              <a:ext uri="{FF2B5EF4-FFF2-40B4-BE49-F238E27FC236}">
                <a16:creationId xmlns:a16="http://schemas.microsoft.com/office/drawing/2014/main" id="{452FE4B8-7E28-E44A-86C3-23E9020F2FB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37547" y="1382155"/>
            <a:ext cx="9497367" cy="44196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itchFamily="2" charset="2"/>
              </a:rPr>
              <a:t>Shows the percentage change of investment  in the risky asset as wealth increases</a:t>
            </a:r>
          </a:p>
          <a:p>
            <a:pPr>
              <a:lnSpc>
                <a:spcPct val="150000"/>
              </a:lnSpc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itchFamily="2" charset="2"/>
              </a:rPr>
              <a:t>RRA can be constant, increasing, decreasing</a:t>
            </a:r>
          </a:p>
          <a:p>
            <a:pPr>
              <a:lnSpc>
                <a:spcPct val="150000"/>
              </a:lnSpc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itchFamily="2" charset="2"/>
              </a:rPr>
              <a:t>Most common behavior: constant RRA.</a:t>
            </a:r>
          </a:p>
          <a:p>
            <a:pPr lvl="1">
              <a:lnSpc>
                <a:spcPct val="150000"/>
              </a:lnSpc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itchFamily="2" charset="2"/>
              </a:rPr>
              <a:t>As wealth increases, the </a:t>
            </a:r>
            <a:r>
              <a:rPr lang="en-US" altLang="en-US" sz="2000" i="1" dirty="0">
                <a:latin typeface="Arial" panose="020B0604020202020204" pitchFamily="34" charset="0"/>
                <a:cs typeface="Arial" panose="020B0604020202020204" pitchFamily="34" charset="0"/>
                <a:sym typeface="Symbol" pitchFamily="2" charset="2"/>
              </a:rPr>
              <a:t>proportion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itchFamily="2" charset="2"/>
              </a:rPr>
              <a:t> of the wealth invested in risky asset remains the same</a:t>
            </a:r>
          </a:p>
        </p:txBody>
      </p:sp>
    </p:spTree>
    <p:extLst>
      <p:ext uri="{BB962C8B-B14F-4D97-AF65-F5344CB8AC3E}">
        <p14:creationId xmlns:p14="http://schemas.microsoft.com/office/powerpoint/2010/main" val="26111485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21850-1148-BB48-B04E-6B706F776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547" y="436593"/>
            <a:ext cx="11315248" cy="785542"/>
          </a:xfrm>
        </p:spPr>
        <p:txBody>
          <a:bodyPr/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HARA – risk tolerance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8C529E-6230-AB45-B26E-CF27F47104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547" y="1485025"/>
            <a:ext cx="9497367" cy="44196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400" dirty="0"/>
              <a:t>Measure of risk tolerance rather than risk aversion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Hyperbolic absolute risk aversion (HARA) gives us level of tolerance which is reciprocal to the level of absolute risk aversion.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If ARA is decreasing, HARA is increasing</a:t>
            </a:r>
          </a:p>
        </p:txBody>
      </p:sp>
    </p:spTree>
    <p:extLst>
      <p:ext uri="{BB962C8B-B14F-4D97-AF65-F5344CB8AC3E}">
        <p14:creationId xmlns:p14="http://schemas.microsoft.com/office/powerpoint/2010/main" val="22290316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C8E41-6056-8A46-888C-0B70B3022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547" y="493743"/>
            <a:ext cx="11315248" cy="785542"/>
          </a:xfrm>
        </p:spPr>
        <p:txBody>
          <a:bodyPr/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Risk aversion in the market as a whole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E4044A-EC5A-0E4C-9E9B-C69D581EE98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7547" y="1370725"/>
                <a:ext cx="9497367" cy="4419600"/>
              </a:xfrm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en-US" sz="2400" dirty="0"/>
                  <a:t>Market price of risk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dirty="0"/>
                  <a:t>To be discussed in more detail in Lecture 4 in the context of Capital Asset Pricing Model (CAPM)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dirty="0"/>
                  <a:t>Market price of risk (RA</a:t>
                </a:r>
                <a:r>
                  <a:rPr lang="en-US" sz="2400" baseline="-25000" dirty="0"/>
                  <a:t>M</a:t>
                </a:r>
                <a:r>
                  <a:rPr lang="en-US" sz="2400" dirty="0"/>
                  <a:t>):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400" dirty="0"/>
                  <a:t>RA</a:t>
                </a:r>
                <a:r>
                  <a:rPr lang="en-US" sz="2400" baseline="-25000" dirty="0"/>
                  <a:t>M</a:t>
                </a:r>
                <a:r>
                  <a:rPr lang="en-US" sz="2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𝑅𝑚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)−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𝑟𝑓</m:t>
                        </m:r>
                      </m:num>
                      <m:den>
                        <m:sSubSup>
                          <m:sSubSupPr>
                            <m:ctrlPr>
                              <a:rPr lang="en-US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E4044A-EC5A-0E4C-9E9B-C69D581EE9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7547" y="1370725"/>
                <a:ext cx="9497367" cy="4419600"/>
              </a:xfrm>
              <a:blipFill>
                <a:blip r:embed="rId2"/>
                <a:stretch>
                  <a:fillRect l="-1068" r="-8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963100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57C3B-0734-B147-89F6-848D11FFA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376" y="325358"/>
            <a:ext cx="11315248" cy="785542"/>
          </a:xfrm>
        </p:spPr>
        <p:txBody>
          <a:bodyPr>
            <a:normAutofit/>
          </a:bodyPr>
          <a:lstStyle/>
          <a:p>
            <a:r>
              <a:rPr lang="en-US" sz="3200" dirty="0"/>
              <a:t>Risk questionnaires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80A89F-BDCC-6A41-A60D-A832C71860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376" y="1354908"/>
            <a:ext cx="9497367" cy="44196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of questionnaire: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https://bynder.schwab.com/m/e5886818c0d507d/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47AAEE-71C4-F8F1-BDB7-4815674CA2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115" y="1930400"/>
            <a:ext cx="7733036" cy="492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8359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7DE5D-5E5B-CF45-8C9B-ABD06446C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4000" dirty="0"/>
              <a:t>Attitudes Towards Risk and Indifference Curves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87C27F-A443-4A5F-0432-32516EF45CE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A407AC-17FE-403F-C3F5-6052085671F8}"/>
              </a:ext>
            </a:extLst>
          </p:cNvPr>
          <p:cNvSpPr>
            <a:spLocks noGrp="1"/>
          </p:cNvSpPr>
          <p:nvPr>
            <p:ph type="body" sz="half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149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CFD1C11-37CD-F441-8043-22D8C29ED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200" dirty="0">
                <a:sym typeface="Symbol" pitchFamily="2" charset="2"/>
              </a:rPr>
              <a:t>Indifference curves</a:t>
            </a:r>
            <a:endParaRPr lang="en-US" sz="32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AA7476-CA0C-2F48-B970-C6ADFAD33B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GB" sz="2400" dirty="0"/>
              <a:t>An indifference curve represents all combinations of expected return and risk that provide an investor with the same level of utility (satisfaction)</a:t>
            </a:r>
          </a:p>
          <a:p>
            <a:pPr>
              <a:lnSpc>
                <a:spcPct val="150000"/>
              </a:lnSpc>
            </a:pPr>
            <a:r>
              <a:rPr lang="en-US" altLang="en-US" sz="2400" dirty="0">
                <a:sym typeface="Symbol" pitchFamily="2" charset="2"/>
              </a:rPr>
              <a:t>One indifference curve = one, constant, level of utility, i.e. the same, constant trade-off between risk and return</a:t>
            </a:r>
          </a:p>
          <a:p>
            <a:pPr>
              <a:lnSpc>
                <a:spcPct val="150000"/>
              </a:lnSpc>
            </a:pPr>
            <a:r>
              <a:rPr lang="en-US" altLang="en-US" sz="2400" dirty="0">
                <a:sym typeface="Symbol" pitchFamily="2" charset="2"/>
              </a:rPr>
              <a:t>Positive marginal rate of substitution (MRS) for risk averse investors: </a:t>
            </a:r>
            <a:r>
              <a:rPr lang="en-GB" sz="2400" dirty="0"/>
              <a:t>an investor requires additional expected return to compensate for taking additional risk while maintaining the same level of utility</a:t>
            </a:r>
            <a:r>
              <a:rPr lang="en-US" altLang="en-US" sz="2400" dirty="0">
                <a:sym typeface="Symbol" pitchFamily="2" charset="2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en-US" dirty="0">
              <a:sym typeface="Symbol" pitchFamily="2" charset="2"/>
            </a:endParaRPr>
          </a:p>
          <a:p>
            <a:pPr>
              <a:lnSpc>
                <a:spcPct val="120000"/>
              </a:lnSpc>
            </a:pPr>
            <a:endParaRPr lang="en-US" altLang="en-US" dirty="0">
              <a:latin typeface="Times New Roman" panose="02020603050405020304" pitchFamily="18" charset="0"/>
              <a:sym typeface="Symbol" pitchFamily="2" charset="2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87602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A4707-637B-E940-A290-5CBA98A7D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200" dirty="0">
                <a:sym typeface="Symbol" pitchFamily="2" charset="2"/>
              </a:rPr>
              <a:t>Slope of indifference curves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DABC93-3C5A-7542-829D-2E145D6523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5537" y="1836776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altLang="en-US" dirty="0">
                <a:latin typeface="Times New Roman" panose="02020603050405020304" pitchFamily="18" charset="0"/>
                <a:sym typeface="Symbol" pitchFamily="2" charset="2"/>
              </a:rPr>
              <a:t>MRS is the slope of the indifference curve, given by:</a:t>
            </a:r>
          </a:p>
          <a:p>
            <a:endParaRPr lang="en-US" altLang="en-US" dirty="0">
              <a:latin typeface="Times New Roman" panose="02020603050405020304" pitchFamily="18" charset="0"/>
              <a:sym typeface="Symbol" pitchFamily="2" charset="2"/>
            </a:endParaRPr>
          </a:p>
          <a:p>
            <a:pPr marL="0" indent="0">
              <a:buNone/>
            </a:pPr>
            <a:endParaRPr lang="en-US" altLang="en-US" dirty="0">
              <a:latin typeface="Times New Roman" panose="02020603050405020304" pitchFamily="18" charset="0"/>
              <a:sym typeface="Symbol" pitchFamily="2" charset="2"/>
            </a:endParaRPr>
          </a:p>
          <a:p>
            <a:pPr>
              <a:lnSpc>
                <a:spcPct val="120000"/>
              </a:lnSpc>
            </a:pPr>
            <a:r>
              <a:rPr lang="en-US" altLang="en-US" dirty="0">
                <a:latin typeface="Times New Roman" panose="02020603050405020304" pitchFamily="18" charset="0"/>
                <a:sym typeface="Symbol" pitchFamily="2" charset="2"/>
              </a:rPr>
              <a:t>It depends on risk aversion (RA) of investors and volatility of investment (</a:t>
            </a:r>
            <a:r>
              <a:rPr lang="en-US" altLang="en-US" dirty="0" err="1">
                <a:latin typeface="Times New Roman" panose="02020603050405020304" pitchFamily="18" charset="0"/>
                <a:sym typeface="Symbol" pitchFamily="2" charset="2"/>
              </a:rPr>
              <a:t>σ</a:t>
            </a:r>
            <a:r>
              <a:rPr lang="en-US" altLang="en-US" dirty="0">
                <a:latin typeface="Times New Roman" panose="02020603050405020304" pitchFamily="18" charset="0"/>
                <a:sym typeface="Symbol" pitchFamily="2" charset="2"/>
              </a:rPr>
              <a:t>).</a:t>
            </a:r>
          </a:p>
          <a:p>
            <a:pPr>
              <a:lnSpc>
                <a:spcPct val="120000"/>
              </a:lnSpc>
            </a:pPr>
            <a:r>
              <a:rPr lang="en-US" altLang="en-US" dirty="0">
                <a:latin typeface="Times New Roman" panose="02020603050405020304" pitchFamily="18" charset="0"/>
                <a:sym typeface="Symbol" pitchFamily="2" charset="2"/>
              </a:rPr>
              <a:t>It can be:</a:t>
            </a:r>
          </a:p>
          <a:p>
            <a:pPr lvl="1">
              <a:lnSpc>
                <a:spcPct val="120000"/>
              </a:lnSpc>
            </a:pPr>
            <a:r>
              <a:rPr lang="en-US" altLang="en-US" dirty="0">
                <a:latin typeface="Times New Roman" panose="02020603050405020304" pitchFamily="18" charset="0"/>
                <a:sym typeface="Symbol" pitchFamily="2" charset="2"/>
              </a:rPr>
              <a:t>positive (risk averse)</a:t>
            </a:r>
          </a:p>
          <a:p>
            <a:pPr lvl="1">
              <a:lnSpc>
                <a:spcPct val="120000"/>
              </a:lnSpc>
            </a:pPr>
            <a:r>
              <a:rPr lang="en-US" altLang="en-US" dirty="0">
                <a:latin typeface="Times New Roman" panose="02020603050405020304" pitchFamily="18" charset="0"/>
                <a:sym typeface="Symbol" pitchFamily="2" charset="2"/>
              </a:rPr>
              <a:t>negative (risk seeking) or </a:t>
            </a:r>
          </a:p>
          <a:p>
            <a:pPr lvl="1">
              <a:lnSpc>
                <a:spcPct val="120000"/>
              </a:lnSpc>
            </a:pPr>
            <a:r>
              <a:rPr lang="en-US" altLang="en-US" dirty="0">
                <a:latin typeface="Times New Roman" panose="02020603050405020304" pitchFamily="18" charset="0"/>
                <a:sym typeface="Symbol" pitchFamily="2" charset="2"/>
              </a:rPr>
              <a:t>zero (risk neutral)  </a:t>
            </a:r>
          </a:p>
          <a:p>
            <a:pPr marL="0" indent="0">
              <a:buNone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7C0ECF9-30EC-990A-66AC-88003D810916}"/>
                  </a:ext>
                </a:extLst>
              </p:cNvPr>
              <p:cNvSpPr txBox="1"/>
              <p:nvPr/>
            </p:nvSpPr>
            <p:spPr>
              <a:xfrm>
                <a:off x="960862" y="2638167"/>
                <a:ext cx="3092153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𝑀𝑅𝑆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𝑅𝐴𝑥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7C0ECF9-30EC-990A-66AC-88003D8109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862" y="2638167"/>
                <a:ext cx="3092153" cy="369332"/>
              </a:xfrm>
              <a:prstGeom prst="rect">
                <a:avLst/>
              </a:prstGeom>
              <a:blipFill>
                <a:blip r:embed="rId2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26490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F657A52-BC25-E646-AB51-78B26BE1F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/>
              <a:t>Slope of indifference curves (ICs) of different types of investors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496BC91-4963-BD42-9A22-81AE0F0389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710" y="1547445"/>
            <a:ext cx="9324290" cy="5141784"/>
          </a:xfrm>
        </p:spPr>
        <p:txBody>
          <a:bodyPr/>
          <a:lstStyle/>
          <a:p>
            <a:r>
              <a:rPr lang="en-US" dirty="0"/>
              <a:t>The only rational investor is risk-averse, so we proceed with those ICs only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F59F943-0FF6-2245-BB45-7CDF334068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3312" y="2892354"/>
            <a:ext cx="5900575" cy="3600351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0912E435-A25C-9A4B-A14D-4A68420D726E}"/>
              </a:ext>
            </a:extLst>
          </p:cNvPr>
          <p:cNvGrpSpPr/>
          <p:nvPr/>
        </p:nvGrpSpPr>
        <p:grpSpPr>
          <a:xfrm>
            <a:off x="4785895" y="3923852"/>
            <a:ext cx="1597680" cy="1843200"/>
            <a:chOff x="4785895" y="3923852"/>
            <a:chExt cx="1597680" cy="1843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CFD8DE8B-3315-1340-AEB2-6F390A75FE43}"/>
                    </a:ext>
                  </a:extLst>
                </p14:cNvPr>
                <p14:cNvContentPartPr/>
                <p14:nvPr/>
              </p14:nvContentPartPr>
              <p14:xfrm>
                <a:off x="5629375" y="3928532"/>
                <a:ext cx="754200" cy="93456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CFD8DE8B-3315-1340-AEB2-6F390A75FE43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625055" y="3924212"/>
                  <a:ext cx="762840" cy="9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E2887B09-D7B4-4A43-BEA2-069F42075D22}"/>
                    </a:ext>
                  </a:extLst>
                </p14:cNvPr>
                <p14:cNvContentPartPr/>
                <p14:nvPr/>
              </p14:nvContentPartPr>
              <p14:xfrm>
                <a:off x="5878495" y="3923852"/>
                <a:ext cx="325440" cy="11386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E2887B09-D7B4-4A43-BEA2-069F42075D22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874175" y="3919532"/>
                  <a:ext cx="334080" cy="11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1088BC4-D1B1-414E-A03A-7427F3424CB5}"/>
                    </a:ext>
                  </a:extLst>
                </p14:cNvPr>
                <p14:cNvContentPartPr/>
                <p14:nvPr/>
              </p14:nvContentPartPr>
              <p14:xfrm>
                <a:off x="4785895" y="4596692"/>
                <a:ext cx="583920" cy="11314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1088BC4-D1B1-414E-A03A-7427F3424CB5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781575" y="4592372"/>
                  <a:ext cx="592560" cy="11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6F8DE25-ECF9-7D4B-A4AD-52129BDDDD7F}"/>
                    </a:ext>
                  </a:extLst>
                </p14:cNvPr>
                <p14:cNvContentPartPr/>
                <p14:nvPr/>
              </p14:nvContentPartPr>
              <p14:xfrm>
                <a:off x="4829455" y="4703252"/>
                <a:ext cx="551880" cy="10638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6F8DE25-ECF9-7D4B-A4AD-52129BDDDD7F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825135" y="4698932"/>
                  <a:ext cx="560520" cy="10724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4" name="Doughnut 13">
            <a:extLst>
              <a:ext uri="{FF2B5EF4-FFF2-40B4-BE49-F238E27FC236}">
                <a16:creationId xmlns:a16="http://schemas.microsoft.com/office/drawing/2014/main" id="{1A185513-C0B0-CC4B-AB93-6552172A8AC8}"/>
              </a:ext>
            </a:extLst>
          </p:cNvPr>
          <p:cNvSpPr/>
          <p:nvPr/>
        </p:nvSpPr>
        <p:spPr>
          <a:xfrm rot="2293422">
            <a:off x="3763510" y="3223988"/>
            <a:ext cx="1203266" cy="1920156"/>
          </a:xfrm>
          <a:prstGeom prst="donut">
            <a:avLst>
              <a:gd name="adj" fmla="val 1516"/>
            </a:avLst>
          </a:prstGeom>
          <a:solidFill>
            <a:srgbClr val="FF000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0668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57259-8D75-314A-9E90-F63FC8DD8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Indifference curves of one investor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F71FAD2-4D3F-884E-984E-FFD860E115B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altLang="en-US" dirty="0">
                <a:sym typeface="Symbol" pitchFamily="2" charset="2"/>
              </a:rPr>
              <a:t>All portfolios that are on one indifference curve provide investor with the same level of utility</a:t>
            </a:r>
          </a:p>
          <a:p>
            <a:pPr>
              <a:lnSpc>
                <a:spcPct val="110000"/>
              </a:lnSpc>
            </a:pPr>
            <a:r>
              <a:rPr lang="en-US" altLang="en-US" dirty="0">
                <a:sym typeface="Symbol" pitchFamily="2" charset="2"/>
              </a:rPr>
              <a:t>Why do indifference curves have to be parallel?</a:t>
            </a:r>
          </a:p>
          <a:p>
            <a:pPr>
              <a:lnSpc>
                <a:spcPct val="110000"/>
              </a:lnSpc>
            </a:pPr>
            <a:r>
              <a:rPr lang="en-US" altLang="en-US" dirty="0">
                <a:sym typeface="Symbol" pitchFamily="2" charset="2"/>
              </a:rPr>
              <a:t>Portfolios that lie on the indifference curve furthest ‘northwest’ are the most desirable ones (IC</a:t>
            </a:r>
            <a:r>
              <a:rPr lang="en-US" altLang="en-US" baseline="-25000" dirty="0">
                <a:sym typeface="Symbol" pitchFamily="2" charset="2"/>
              </a:rPr>
              <a:t>1</a:t>
            </a:r>
            <a:r>
              <a:rPr lang="en-US" altLang="en-US" dirty="0">
                <a:sym typeface="Symbol" pitchFamily="2" charset="2"/>
              </a:rPr>
              <a:t> on the graph)</a:t>
            </a:r>
          </a:p>
          <a:p>
            <a:pPr>
              <a:lnSpc>
                <a:spcPct val="110000"/>
              </a:lnSpc>
            </a:pPr>
            <a:r>
              <a:rPr lang="en-US" altLang="en-US" dirty="0">
                <a:sym typeface="Symbol" pitchFamily="2" charset="2"/>
              </a:rPr>
              <a:t>There is an infinite number of indifference curves for any investor</a:t>
            </a:r>
          </a:p>
          <a:p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28CBD9D-C17C-444C-BB18-9EA6801971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1740055"/>
            <a:ext cx="5295900" cy="375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28430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93468-10EE-D74A-9CD0-3032CC0C2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905" y="661961"/>
            <a:ext cx="9324290" cy="785542"/>
          </a:xfrm>
        </p:spPr>
        <p:txBody>
          <a:bodyPr>
            <a:normAutofit fontScale="90000"/>
          </a:bodyPr>
          <a:lstStyle/>
          <a:p>
            <a:r>
              <a:rPr lang="en-US" altLang="en-US" sz="3600" dirty="0">
                <a:sym typeface="Symbol" pitchFamily="2" charset="2"/>
              </a:rPr>
              <a:t>Why are indifference curves for one investor parallel?</a:t>
            </a:r>
            <a:br>
              <a:rPr lang="en-US" altLang="en-US" sz="3600" dirty="0">
                <a:sym typeface="Symbol" pitchFamily="2" charset="2"/>
              </a:rPr>
            </a:br>
            <a:endParaRPr lang="en-US" sz="36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CAE86FE-9311-844D-B38C-8CFB98A55C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9905" y="1632294"/>
            <a:ext cx="10515600" cy="4563745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2400" dirty="0"/>
              <a:t>If ICs of a single investor intersect, there will be a portfolio on the intersection (P on the graph) that lies on two indifferent curves, implying that it has two different levels of utility – that is not possible!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0BD4A1C-671F-F143-BB24-76DE495066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5307" y="3036277"/>
            <a:ext cx="4686300" cy="3159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1826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93468-10EE-D74A-9CD0-3032CC0C2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3600" dirty="0">
                <a:sym typeface="Symbol" pitchFamily="2" charset="2"/>
              </a:rPr>
              <a:t>More risk averse vs. less risk averse investors</a:t>
            </a:r>
            <a:endParaRPr lang="en-US" sz="36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CAE86FE-9311-844D-B38C-8CFB98A55C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548" y="1438079"/>
            <a:ext cx="10515600" cy="456374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2400" dirty="0"/>
              <a:t>More risk averse (MRA) investors have steeper indifference c</a:t>
            </a:r>
            <a:r>
              <a:rPr lang="en-US" dirty="0"/>
              <a:t>urves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A7FC0D68-C56F-004A-B9AC-CB66DD427F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417" y="2141253"/>
            <a:ext cx="6217805" cy="3860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6440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97CD794-C439-0840-A393-C7B7D9273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How to plot indifference curves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DE8AF30-F768-3C8C-3883-301610C32BF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39C8F7-BE93-8E27-532A-1A3AAF275470}"/>
              </a:ext>
            </a:extLst>
          </p:cNvPr>
          <p:cNvSpPr>
            <a:spLocks noGrp="1"/>
          </p:cNvSpPr>
          <p:nvPr>
            <p:ph type="body" sz="half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0223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4C0D6-745E-784C-B8A5-C22EACE45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plot indifference curves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5B6884-292D-CA44-BF7C-1FA5175CD6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the outcome of the questionnaire outcome, determine the value of RA 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averse; RA&gt;0, 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neutral RA=0, not a rational investor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seeking RA&lt;0, not a rational investor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the value of the risk-free rate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the rest of the steps, see example on the next slide – to be discussed in tutorial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20292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F2924-016D-EC49-B5BE-2258F09F3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How to plot indifference curves -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D6BF7B3-C649-034A-A80F-9FA04F8B6C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7547" y="1309814"/>
                <a:ext cx="9693423" cy="5548185"/>
              </a:xfrm>
            </p:spPr>
            <p:txBody>
              <a:bodyPr>
                <a:normAutofit fontScale="77500" lnSpcReduction="20000"/>
              </a:bodyPr>
              <a:lstStyle/>
              <a:p>
                <a:pPr>
                  <a:lnSpc>
                    <a:spcPct val="110000"/>
                  </a:lnSpc>
                </a:pPr>
                <a:r>
                  <a:rPr lang="en-US" dirty="0"/>
                  <a:t>Investor has risk aversion level of RA=4. The value of the r</a:t>
                </a:r>
                <a:r>
                  <a:rPr lang="en-US" baseline="-25000" dirty="0"/>
                  <a:t>f</a:t>
                </a:r>
                <a:r>
                  <a:rPr lang="en-US" dirty="0"/>
                  <a:t>=5%. </a:t>
                </a:r>
              </a:p>
              <a:p>
                <a:pPr>
                  <a:lnSpc>
                    <a:spcPct val="110000"/>
                  </a:lnSpc>
                </a:pPr>
                <a:r>
                  <a:rPr lang="en-US" dirty="0"/>
                  <a:t>Remember – each indifference curve corresponds to one level of utility</a:t>
                </a:r>
              </a:p>
              <a:p>
                <a:pPr>
                  <a:lnSpc>
                    <a:spcPct val="110000"/>
                  </a:lnSpc>
                </a:pPr>
                <a:r>
                  <a:rPr lang="en-US" dirty="0"/>
                  <a:t> Let’s start by calculating utility value for a risk free –rate, at zero standard deviation: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𝑈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𝑓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=0.05−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4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0=0.05</m:t>
                      </m:r>
                    </m:oMath>
                  </m:oMathPara>
                </a14:m>
                <a:endParaRPr lang="en-US" b="0" dirty="0"/>
              </a:p>
              <a:p>
                <a:pPr>
                  <a:lnSpc>
                    <a:spcPct val="110000"/>
                  </a:lnSpc>
                </a:pPr>
                <a:r>
                  <a:rPr lang="en-US" dirty="0"/>
                  <a:t>To find out how much extra return investor will ask from a risky portfolio P that has standard deviation of say, 5%, in order to stay on the same IC, we replace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dirty="0"/>
                  <a:t>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dirty="0"/>
                  <a:t>, for instance 5% (=0.05), and solve for E(Rp):</a:t>
                </a:r>
              </a:p>
              <a:p>
                <a:pPr>
                  <a:lnSpc>
                    <a:spcPct val="11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𝑝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𝑈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𝑅𝐴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=0.05+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0.05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=0.055</m:t>
                    </m:r>
                  </m:oMath>
                </a14:m>
                <a:endParaRPr lang="en-US" b="1" dirty="0"/>
              </a:p>
              <a:p>
                <a:pPr>
                  <a:lnSpc>
                    <a:spcPct val="110000"/>
                  </a:lnSpc>
                </a:pPr>
                <a:r>
                  <a:rPr lang="en-US" dirty="0"/>
                  <a:t>The following slide provides the summary of various scenarios and plot of ICs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D6BF7B3-C649-034A-A80F-9FA04F8B6C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7547" y="1309814"/>
                <a:ext cx="9693423" cy="5548185"/>
              </a:xfrm>
              <a:blipFill>
                <a:blip r:embed="rId2"/>
                <a:stretch>
                  <a:fillRect l="-785" t="-13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51919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2A95D59-4630-4444-A67C-6A3FA209C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How to plot indifference curves - example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E15B093D-6A59-3F40-94D9-3D8D629F2FA1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800100" y="2023110"/>
          <a:ext cx="5040632" cy="39778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88733">
                  <a:extLst>
                    <a:ext uri="{9D8B030D-6E8A-4147-A177-3AD203B41FA5}">
                      <a16:colId xmlns:a16="http://schemas.microsoft.com/office/drawing/2014/main" val="3819451974"/>
                    </a:ext>
                  </a:extLst>
                </a:gridCol>
                <a:gridCol w="1250633">
                  <a:extLst>
                    <a:ext uri="{9D8B030D-6E8A-4147-A177-3AD203B41FA5}">
                      <a16:colId xmlns:a16="http://schemas.microsoft.com/office/drawing/2014/main" val="2086190663"/>
                    </a:ext>
                  </a:extLst>
                </a:gridCol>
                <a:gridCol w="1250633">
                  <a:extLst>
                    <a:ext uri="{9D8B030D-6E8A-4147-A177-3AD203B41FA5}">
                      <a16:colId xmlns:a16="http://schemas.microsoft.com/office/drawing/2014/main" val="3030085465"/>
                    </a:ext>
                  </a:extLst>
                </a:gridCol>
                <a:gridCol w="1250633">
                  <a:extLst>
                    <a:ext uri="{9D8B030D-6E8A-4147-A177-3AD203B41FA5}">
                      <a16:colId xmlns:a16="http://schemas.microsoft.com/office/drawing/2014/main" val="2974853678"/>
                    </a:ext>
                  </a:extLst>
                </a:gridCol>
              </a:tblGrid>
              <a:tr h="236105"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u="none" strike="noStrike" dirty="0">
                          <a:effectLst/>
                        </a:rPr>
                        <a:t>RA=4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u="none" strike="noStrike">
                          <a:effectLst/>
                        </a:rPr>
                        <a:t>U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u="none" strike="noStrike">
                          <a:effectLst/>
                        </a:rPr>
                        <a:t>U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u="none" strike="noStrike">
                          <a:effectLst/>
                        </a:rPr>
                        <a:t>U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60058692"/>
                  </a:ext>
                </a:extLst>
              </a:tr>
              <a:tr h="236105">
                <a:tc>
                  <a:txBody>
                    <a:bodyPr/>
                    <a:lstStyle/>
                    <a:p>
                      <a:pPr algn="l" fontAlgn="b"/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u="none" strike="noStrike">
                          <a:effectLst/>
                        </a:rPr>
                        <a:t>0.05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u="none" strike="noStrike">
                          <a:effectLst/>
                        </a:rPr>
                        <a:t>0.09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u="none" strike="noStrike">
                          <a:effectLst/>
                        </a:rPr>
                        <a:t>0.12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84723178"/>
                  </a:ext>
                </a:extLst>
              </a:tr>
              <a:tr h="436058"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u="none" strike="noStrike" dirty="0">
                          <a:effectLst/>
                        </a:rPr>
                        <a:t>Std. deviation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u="none" strike="noStrike">
                          <a:effectLst/>
                        </a:rPr>
                        <a:t>Exp return U=0.05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u="none" strike="noStrike">
                          <a:effectLst/>
                        </a:rPr>
                        <a:t>Exp return U=0.09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u="none" strike="noStrike">
                          <a:effectLst/>
                        </a:rPr>
                        <a:t>Exp return U=0.12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98767119"/>
                  </a:ext>
                </a:extLst>
              </a:tr>
              <a:tr h="236105"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u="none" strike="noStrike">
                          <a:effectLst/>
                        </a:rPr>
                        <a:t>0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u="none" strike="noStrike" dirty="0">
                          <a:effectLst/>
                        </a:rPr>
                        <a:t>0.05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u="none" strike="noStrike">
                          <a:effectLst/>
                        </a:rPr>
                        <a:t>0.09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u="none" strike="noStrike">
                          <a:effectLst/>
                        </a:rPr>
                        <a:t>0.12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14822833"/>
                  </a:ext>
                </a:extLst>
              </a:tr>
              <a:tr h="236105"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u="none" strike="noStrike">
                          <a:effectLst/>
                        </a:rPr>
                        <a:t>0.05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u="none" strike="noStrike" dirty="0">
                          <a:effectLst/>
                        </a:rPr>
                        <a:t>0.055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u="none" strike="noStrike">
                          <a:effectLst/>
                        </a:rPr>
                        <a:t>0.095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u="none" strike="noStrike">
                          <a:effectLst/>
                        </a:rPr>
                        <a:t>0.125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14662043"/>
                  </a:ext>
                </a:extLst>
              </a:tr>
              <a:tr h="236105"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u="none" strike="noStrike">
                          <a:effectLst/>
                        </a:rPr>
                        <a:t>0.1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u="none" strike="noStrike" dirty="0">
                          <a:effectLst/>
                        </a:rPr>
                        <a:t>0.07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u="none" strike="noStrike">
                          <a:effectLst/>
                        </a:rPr>
                        <a:t>0.11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u="none" strike="noStrike">
                          <a:effectLst/>
                        </a:rPr>
                        <a:t>0.14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1941061"/>
                  </a:ext>
                </a:extLst>
              </a:tr>
              <a:tr h="236105"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u="none" strike="noStrike">
                          <a:effectLst/>
                        </a:rPr>
                        <a:t>0.12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u="none" strike="noStrike" dirty="0">
                          <a:effectLst/>
                        </a:rPr>
                        <a:t>0.0788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u="none" strike="noStrike">
                          <a:effectLst/>
                        </a:rPr>
                        <a:t>0.1188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u="none" strike="noStrike">
                          <a:effectLst/>
                        </a:rPr>
                        <a:t>0.1488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0089638"/>
                  </a:ext>
                </a:extLst>
              </a:tr>
              <a:tr h="236105"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u="none" strike="noStrike">
                          <a:effectLst/>
                        </a:rPr>
                        <a:t>0.15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u="none" strike="noStrike">
                          <a:effectLst/>
                        </a:rPr>
                        <a:t>0.095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u="none" strike="noStrike">
                          <a:effectLst/>
                        </a:rPr>
                        <a:t>0.135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u="none" strike="noStrike">
                          <a:effectLst/>
                        </a:rPr>
                        <a:t>0.165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81860118"/>
                  </a:ext>
                </a:extLst>
              </a:tr>
              <a:tr h="236105"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u="none" strike="noStrike">
                          <a:effectLst/>
                        </a:rPr>
                        <a:t>0.17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u="none" strike="noStrike" dirty="0">
                          <a:effectLst/>
                        </a:rPr>
                        <a:t>0.1078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u="none" strike="noStrike">
                          <a:effectLst/>
                        </a:rPr>
                        <a:t>0.1478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u="none" strike="noStrike">
                          <a:effectLst/>
                        </a:rPr>
                        <a:t>0.1778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1584070"/>
                  </a:ext>
                </a:extLst>
              </a:tr>
              <a:tr h="236105"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u="none" strike="noStrike">
                          <a:effectLst/>
                        </a:rPr>
                        <a:t>0.2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u="none" strike="noStrike" dirty="0">
                          <a:effectLst/>
                        </a:rPr>
                        <a:t>0.13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u="none" strike="noStrike">
                          <a:effectLst/>
                        </a:rPr>
                        <a:t>0.17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u="none" strike="noStrike">
                          <a:effectLst/>
                        </a:rPr>
                        <a:t>0.2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27110780"/>
                  </a:ext>
                </a:extLst>
              </a:tr>
              <a:tr h="236105"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u="none" strike="noStrike">
                          <a:effectLst/>
                        </a:rPr>
                        <a:t>0.22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u="none" strike="noStrike" dirty="0">
                          <a:effectLst/>
                        </a:rPr>
                        <a:t>0.1468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u="none" strike="noStrike">
                          <a:effectLst/>
                        </a:rPr>
                        <a:t>0.1868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u="none" strike="noStrike">
                          <a:effectLst/>
                        </a:rPr>
                        <a:t>0.2168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13704521"/>
                  </a:ext>
                </a:extLst>
              </a:tr>
              <a:tr h="236105"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u="none" strike="noStrike">
                          <a:effectLst/>
                        </a:rPr>
                        <a:t>0.25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u="none" strike="noStrike" dirty="0">
                          <a:effectLst/>
                        </a:rPr>
                        <a:t>0.175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u="none" strike="noStrike">
                          <a:effectLst/>
                        </a:rPr>
                        <a:t>0.215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u="none" strike="noStrike">
                          <a:effectLst/>
                        </a:rPr>
                        <a:t>0.245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84526429"/>
                  </a:ext>
                </a:extLst>
              </a:tr>
              <a:tr h="236105"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u="none" strike="noStrike">
                          <a:effectLst/>
                        </a:rPr>
                        <a:t>0.3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u="none" strike="noStrike">
                          <a:effectLst/>
                        </a:rPr>
                        <a:t>0.23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u="none" strike="noStrike" dirty="0">
                          <a:effectLst/>
                        </a:rPr>
                        <a:t>0.27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u="none" strike="noStrike">
                          <a:effectLst/>
                        </a:rPr>
                        <a:t>0.3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10351284"/>
                  </a:ext>
                </a:extLst>
              </a:tr>
              <a:tr h="236105"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u="none" strike="noStrike">
                          <a:effectLst/>
                        </a:rPr>
                        <a:t>0.35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u="none" strike="noStrike">
                          <a:effectLst/>
                        </a:rPr>
                        <a:t>0.295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u="none" strike="noStrike" dirty="0">
                          <a:effectLst/>
                        </a:rPr>
                        <a:t>0.335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u="none" strike="noStrike">
                          <a:effectLst/>
                        </a:rPr>
                        <a:t>0.365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828879206"/>
                  </a:ext>
                </a:extLst>
              </a:tr>
              <a:tr h="236105"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u="none" strike="noStrike">
                          <a:effectLst/>
                        </a:rPr>
                        <a:t>0.4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u="none" strike="noStrike">
                          <a:effectLst/>
                        </a:rPr>
                        <a:t>0.37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u="none" strike="noStrike">
                          <a:effectLst/>
                        </a:rPr>
                        <a:t>0.41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u="none" strike="noStrike" dirty="0">
                          <a:effectLst/>
                        </a:rPr>
                        <a:t>0.44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33029636"/>
                  </a:ext>
                </a:extLst>
              </a:tr>
              <a:tr h="236105"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u="none" strike="noStrike">
                          <a:effectLst/>
                        </a:rPr>
                        <a:t>0.45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u="none" strike="noStrike">
                          <a:effectLst/>
                        </a:rPr>
                        <a:t>0.455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u="none" strike="noStrike">
                          <a:effectLst/>
                        </a:rPr>
                        <a:t>0.495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u="none" strike="noStrike" dirty="0">
                          <a:effectLst/>
                        </a:rPr>
                        <a:t>0.525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69748497"/>
                  </a:ext>
                </a:extLst>
              </a:tr>
            </a:tbl>
          </a:graphicData>
        </a:graphic>
      </p:graphicFrame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A6E65BAB-99AF-3440-874F-91B598A52885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351270" y="2023110"/>
          <a:ext cx="5002530" cy="39778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9569639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644824E-7F56-BF40-BA8C-E4ABD7307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Optimal Portfolio Selection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C71065-AC2D-681E-D314-F9EFA7CAC7C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75A1DB-B1FE-3FEC-3966-54A6F5FE187A}"/>
              </a:ext>
            </a:extLst>
          </p:cNvPr>
          <p:cNvSpPr>
            <a:spLocks noGrp="1"/>
          </p:cNvSpPr>
          <p:nvPr>
            <p:ph type="body" sz="half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71698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0C02C7F-51BB-F33F-4819-E7D696285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Optimal portfolio is the one that….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BCF4E857-F0D5-9FD9-F0CD-86128436ED9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…..</a:t>
                </a:r>
                <a:r>
                  <a:rPr lang="en-US" dirty="0" err="1"/>
                  <a:t>maximises</a:t>
                </a:r>
                <a:r>
                  <a:rPr lang="en-US" dirty="0"/>
                  <a:t> Utility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dirty="0"/>
                  <a:t>That would be portfolio on efficient frontier at the point where indifference curve is tangent to the frontier</a:t>
                </a:r>
              </a:p>
              <a:p>
                <a:pPr marL="135731" lvl="1" indent="0">
                  <a:buNone/>
                </a:pPr>
                <a:endParaRPr lang="en-US" dirty="0"/>
              </a:p>
              <a:p>
                <a:pPr marL="135731" lvl="1" indent="0">
                  <a:buNone/>
                </a:pPr>
                <a:r>
                  <a:rPr lang="en-US" dirty="0"/>
                  <a:t>OR</a:t>
                </a:r>
              </a:p>
              <a:p>
                <a:r>
                  <a:rPr lang="en-US" dirty="0"/>
                  <a:t>….</a:t>
                </a:r>
                <a:r>
                  <a:rPr lang="en-US" dirty="0" err="1"/>
                  <a:t>maximises</a:t>
                </a:r>
                <a:r>
                  <a:rPr lang="en-US" dirty="0"/>
                  <a:t> the Sharpe ratio: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𝑆𝑅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𝑅𝑝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𝑟𝑓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  <a:p>
                <a:pPr lvl="1">
                  <a:lnSpc>
                    <a:spcPct val="150000"/>
                  </a:lnSpc>
                </a:pPr>
                <a:r>
                  <a:rPr lang="en-US" dirty="0"/>
                  <a:t>That approach gives us portfolio with highest excess return per unit of risk</a:t>
                </a:r>
              </a:p>
              <a:p>
                <a:pPr marL="135731" lvl="1" indent="0">
                  <a:lnSpc>
                    <a:spcPct val="150000"/>
                  </a:lnSpc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BCF4E857-F0D5-9FD9-F0CD-86128436ED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61" t="-19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4206698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1899A-8F0E-6D4F-A994-46524B862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/>
              <a:t>Selecting an </a:t>
            </a:r>
            <a:r>
              <a:rPr lang="en-US" sz="3600" dirty="0">
                <a:solidFill>
                  <a:srgbClr val="0070C0"/>
                </a:solidFill>
              </a:rPr>
              <a:t>optimal portfolio </a:t>
            </a:r>
            <a:r>
              <a:rPr lang="en-US" sz="3600" dirty="0"/>
              <a:t>(O): Efficient frontier of </a:t>
            </a:r>
            <a:r>
              <a:rPr lang="en-US" sz="3600" dirty="0">
                <a:solidFill>
                  <a:srgbClr val="0070C0"/>
                </a:solidFill>
              </a:rPr>
              <a:t>risky assets only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6A3A7A-873F-9B4D-82FF-BEE553C834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7548" y="1309816"/>
                <a:ext cx="9954484" cy="5141784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400" dirty="0"/>
                  <a:t>Optimal portfolio (O) is a tangency point between investor’s indifference curve and efficient frontier – i.e. the point that </a:t>
                </a:r>
                <a:r>
                  <a:rPr lang="en-US" sz="2400" dirty="0" err="1"/>
                  <a:t>maximises</a:t>
                </a:r>
                <a:r>
                  <a:rPr lang="en-US" sz="2400" dirty="0"/>
                  <a:t> investor’s utility for a given level or RA: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400" dirty="0">
                    <a:solidFill>
                      <a:srgbClr val="0070C0"/>
                    </a:solidFill>
                  </a:rPr>
                  <a:t>max</a:t>
                </a:r>
                <a14:m>
                  <m:oMath xmlns:m="http://schemas.openxmlformats.org/officeDocument/2006/math">
                    <m:r>
                      <a:rPr lang="en-US" altLang="en-US" sz="2400" i="1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altLang="en-US" sz="2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i="1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altLang="en-US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en-US" sz="2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altLang="en-US" sz="2400" i="1">
                        <a:latin typeface="Cambria Math" panose="02040503050406030204" pitchFamily="18" charset="0"/>
                      </a:rPr>
                      <m:t>)−</m:t>
                    </m:r>
                    <m:f>
                      <m:fPr>
                        <m:ctrlPr>
                          <a:rPr lang="en-US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en-US" sz="2400" i="1">
                        <a:latin typeface="Cambria Math" panose="02040503050406030204" pitchFamily="18" charset="0"/>
                      </a:rPr>
                      <m:t>𝑅𝐴</m:t>
                    </m:r>
                    <m:sSubSup>
                      <m:sSubSupPr>
                        <m:ctrlPr>
                          <a:rPr lang="en-US" alt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a:rPr lang="en-US" alt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6A3A7A-873F-9B4D-82FF-BEE553C834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7548" y="1309816"/>
                <a:ext cx="9954484" cy="5141784"/>
              </a:xfrm>
              <a:blipFill>
                <a:blip r:embed="rId2"/>
                <a:stretch>
                  <a:fillRect l="-10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09DD4F15-9D1A-8C47-96F0-50C61D90E0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9093" y="3129660"/>
            <a:ext cx="4971534" cy="3393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5872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9036F-9033-484D-A960-4909474A3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Selecting </a:t>
            </a:r>
            <a:r>
              <a:rPr lang="en-US" sz="36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optimal portfolios on CAL: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efficient frontier with </a:t>
            </a:r>
            <a:r>
              <a:rPr lang="en-US" sz="36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risk-free lending and borrowing at the same rate</a:t>
            </a:r>
            <a:endParaRPr lang="en-US" sz="3600" dirty="0">
              <a:solidFill>
                <a:srgbClr val="0070C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089336-99DE-4E40-A8F5-C9F812489A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000" dirty="0"/>
              <a:t>Capital Allocation Line (CAL): optimal portfolio that is investor’s choice is also known as COMPLETE portfolio (a combination of risky, maximum Sharpe ratio portfolio T and the risk free rate</a:t>
            </a:r>
            <a:r>
              <a:rPr lang="en-US" dirty="0"/>
              <a:t>):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BA5FAE-0BB2-8445-9850-FCC060DC17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907" y="3371444"/>
            <a:ext cx="4762500" cy="34290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A4166F43-C03F-EE42-A161-2D441B834098}"/>
                  </a:ext>
                </a:extLst>
              </p14:cNvPr>
              <p14:cNvContentPartPr/>
              <p14:nvPr/>
            </p14:nvContentPartPr>
            <p14:xfrm>
              <a:off x="2054160" y="4776480"/>
              <a:ext cx="360" cy="1062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A4166F43-C03F-EE42-A161-2D441B83409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45160" y="4767840"/>
                <a:ext cx="18000" cy="12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03F8DED1-7637-D447-9C77-62B941990115}"/>
                  </a:ext>
                </a:extLst>
              </p14:cNvPr>
              <p14:cNvContentPartPr/>
              <p14:nvPr/>
            </p14:nvContentPartPr>
            <p14:xfrm>
              <a:off x="2020680" y="4794120"/>
              <a:ext cx="88920" cy="709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03F8DED1-7637-D447-9C77-62B94199011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012040" y="4785480"/>
                <a:ext cx="106560" cy="88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A01B170F-7E36-9348-8546-A943E8797181}"/>
              </a:ext>
            </a:extLst>
          </p:cNvPr>
          <p:cNvGrpSpPr/>
          <p:nvPr/>
        </p:nvGrpSpPr>
        <p:grpSpPr>
          <a:xfrm>
            <a:off x="2897280" y="4133880"/>
            <a:ext cx="100440" cy="111600"/>
            <a:chOff x="2897280" y="4133880"/>
            <a:chExt cx="100440" cy="11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95C5A66-A5F2-544F-860B-1A1EB123D3F7}"/>
                    </a:ext>
                  </a:extLst>
                </p14:cNvPr>
                <p14:cNvContentPartPr/>
                <p14:nvPr/>
              </p14:nvContentPartPr>
              <p14:xfrm>
                <a:off x="2944080" y="4133880"/>
                <a:ext cx="23760" cy="1116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95C5A66-A5F2-544F-860B-1A1EB123D3F7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935440" y="4125240"/>
                  <a:ext cx="4140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90486788-CF90-A14E-84AB-D5344646C991}"/>
                    </a:ext>
                  </a:extLst>
                </p14:cNvPr>
                <p14:cNvContentPartPr/>
                <p14:nvPr/>
              </p14:nvContentPartPr>
              <p14:xfrm>
                <a:off x="2897280" y="4190040"/>
                <a:ext cx="100440" cy="532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90486788-CF90-A14E-84AB-D5344646C991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888280" y="4181400"/>
                  <a:ext cx="118080" cy="70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8B0F04D-480A-EA44-827B-A15714B5E97D}"/>
              </a:ext>
            </a:extLst>
          </p:cNvPr>
          <p:cNvGrpSpPr/>
          <p:nvPr/>
        </p:nvGrpSpPr>
        <p:grpSpPr>
          <a:xfrm>
            <a:off x="4276440" y="3170880"/>
            <a:ext cx="106560" cy="78840"/>
            <a:chOff x="4276440" y="3170880"/>
            <a:chExt cx="106560" cy="78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C20FF6FC-F926-4841-8D13-8451C1815270}"/>
                    </a:ext>
                  </a:extLst>
                </p14:cNvPr>
                <p14:cNvContentPartPr/>
                <p14:nvPr/>
              </p14:nvContentPartPr>
              <p14:xfrm>
                <a:off x="4331520" y="3170880"/>
                <a:ext cx="360" cy="788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C20FF6FC-F926-4841-8D13-8451C181527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322520" y="3162240"/>
                  <a:ext cx="1800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BFA495A-C4FB-7843-86C2-BE4EC041FE9C}"/>
                    </a:ext>
                  </a:extLst>
                </p14:cNvPr>
                <p14:cNvContentPartPr/>
                <p14:nvPr/>
              </p14:nvContentPartPr>
              <p14:xfrm>
                <a:off x="4276440" y="3190320"/>
                <a:ext cx="106560" cy="151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BBFA495A-C4FB-7843-86C2-BE4EC041FE9C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267440" y="3181680"/>
                  <a:ext cx="124200" cy="327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EE9A5D93-70A3-F6F2-2367-FB0C43C0B923}"/>
              </a:ext>
            </a:extLst>
          </p:cNvPr>
          <p:cNvSpPr txBox="1"/>
          <p:nvPr/>
        </p:nvSpPr>
        <p:spPr>
          <a:xfrm>
            <a:off x="4692969" y="3820348"/>
            <a:ext cx="2427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Capital Allocation Line</a:t>
            </a:r>
          </a:p>
        </p:txBody>
      </p:sp>
    </p:spTree>
    <p:extLst>
      <p:ext uri="{BB962C8B-B14F-4D97-AF65-F5344CB8AC3E}">
        <p14:creationId xmlns:p14="http://schemas.microsoft.com/office/powerpoint/2010/main" val="337710230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BECEC-3B4F-2D4F-AECD-E55E3DFAE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Optimal portfolio is always on the highest </a:t>
            </a:r>
            <a:r>
              <a:rPr lang="en-US" sz="3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feasible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indifference curve that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maximises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investor’s utility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5265B1-86E6-E84C-8ACC-0FEA983B08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570" y="1999879"/>
            <a:ext cx="5588000" cy="3924300"/>
          </a:xfrm>
          <a:prstGeom prst="rect">
            <a:avLst/>
          </a:prstGeom>
        </p:spPr>
      </p:pic>
      <p:sp>
        <p:nvSpPr>
          <p:cNvPr id="8" name="Arc 7">
            <a:extLst>
              <a:ext uri="{FF2B5EF4-FFF2-40B4-BE49-F238E27FC236}">
                <a16:creationId xmlns:a16="http://schemas.microsoft.com/office/drawing/2014/main" id="{D44710E8-6C58-9943-990E-A496FBEAA07F}"/>
              </a:ext>
            </a:extLst>
          </p:cNvPr>
          <p:cNvSpPr/>
          <p:nvPr/>
        </p:nvSpPr>
        <p:spPr>
          <a:xfrm rot="5400000">
            <a:off x="1674335" y="1664443"/>
            <a:ext cx="1485900" cy="2853371"/>
          </a:xfrm>
          <a:prstGeom prst="arc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c 8">
            <a:extLst>
              <a:ext uri="{FF2B5EF4-FFF2-40B4-BE49-F238E27FC236}">
                <a16:creationId xmlns:a16="http://schemas.microsoft.com/office/drawing/2014/main" id="{ADEB0C8F-7778-3F42-8CD5-AE036D526E99}"/>
              </a:ext>
            </a:extLst>
          </p:cNvPr>
          <p:cNvSpPr/>
          <p:nvPr/>
        </p:nvSpPr>
        <p:spPr>
          <a:xfrm rot="5400000">
            <a:off x="1826735" y="1816843"/>
            <a:ext cx="1485900" cy="2853371"/>
          </a:xfrm>
          <a:prstGeom prst="arc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c 9">
            <a:extLst>
              <a:ext uri="{FF2B5EF4-FFF2-40B4-BE49-F238E27FC236}">
                <a16:creationId xmlns:a16="http://schemas.microsoft.com/office/drawing/2014/main" id="{8B5A9105-9D00-A64F-B75B-A7B39E33D445}"/>
              </a:ext>
            </a:extLst>
          </p:cNvPr>
          <p:cNvSpPr/>
          <p:nvPr/>
        </p:nvSpPr>
        <p:spPr>
          <a:xfrm rot="5400000">
            <a:off x="1979135" y="1991098"/>
            <a:ext cx="1485900" cy="2853371"/>
          </a:xfrm>
          <a:prstGeom prst="arc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FDB2C48E-9ED3-4F4D-8070-3C360B304570}"/>
              </a:ext>
            </a:extLst>
          </p:cNvPr>
          <p:cNvSpPr/>
          <p:nvPr/>
        </p:nvSpPr>
        <p:spPr>
          <a:xfrm rot="5400000">
            <a:off x="2131535" y="2121643"/>
            <a:ext cx="1485900" cy="2853371"/>
          </a:xfrm>
          <a:prstGeom prst="arc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13F4FC9-5D13-F845-84E0-6B21BB419DEF}"/>
              </a:ext>
            </a:extLst>
          </p:cNvPr>
          <p:cNvGrpSpPr/>
          <p:nvPr/>
        </p:nvGrpSpPr>
        <p:grpSpPr>
          <a:xfrm>
            <a:off x="3572640" y="3903840"/>
            <a:ext cx="147600" cy="147600"/>
            <a:chOff x="3572640" y="3903840"/>
            <a:chExt cx="147600" cy="147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35AFBC3-7A33-3743-B050-36D9C3CDCF03}"/>
                    </a:ext>
                  </a:extLst>
                </p14:cNvPr>
                <p14:cNvContentPartPr/>
                <p14:nvPr/>
              </p14:nvContentPartPr>
              <p14:xfrm>
                <a:off x="3629520" y="3903840"/>
                <a:ext cx="38520" cy="1476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35AFBC3-7A33-3743-B050-36D9C3CDCF03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620880" y="3894840"/>
                  <a:ext cx="5616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4424C57-68A9-7B44-A16D-C1EEF48B19CC}"/>
                    </a:ext>
                  </a:extLst>
                </p14:cNvPr>
                <p14:cNvContentPartPr/>
                <p14:nvPr/>
              </p14:nvContentPartPr>
              <p14:xfrm>
                <a:off x="3572640" y="3952800"/>
                <a:ext cx="147600" cy="709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4424C57-68A9-7B44-A16D-C1EEF48B19CC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563640" y="3943800"/>
                  <a:ext cx="165240" cy="88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635ACB5D-FE93-5D4D-B18E-0CA90D505000}"/>
                  </a:ext>
                </a:extLst>
              </p14:cNvPr>
              <p14:cNvContentPartPr/>
              <p14:nvPr/>
            </p14:nvContentPartPr>
            <p14:xfrm>
              <a:off x="3725280" y="3717000"/>
              <a:ext cx="91800" cy="14544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635ACB5D-FE93-5D4D-B18E-0CA90D50500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716280" y="3708360"/>
                <a:ext cx="109440" cy="16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A456153B-BE54-CB47-B261-31B77462CEB5}"/>
                  </a:ext>
                </a:extLst>
              </p14:cNvPr>
              <p14:cNvContentPartPr/>
              <p14:nvPr/>
            </p14:nvContentPartPr>
            <p14:xfrm>
              <a:off x="574560" y="2947320"/>
              <a:ext cx="360" cy="3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A456153B-BE54-CB47-B261-31B77462CEB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65920" y="293868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08048FA3-099A-9544-AB42-7308FB50191C}"/>
                  </a:ext>
                </a:extLst>
              </p14:cNvPr>
              <p14:cNvContentPartPr/>
              <p14:nvPr/>
            </p14:nvContentPartPr>
            <p14:xfrm>
              <a:off x="829440" y="1871280"/>
              <a:ext cx="360" cy="3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08048FA3-099A-9544-AB42-7308FB50191C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20800" y="1862640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012ADC5A-7461-542B-E77B-83C65F262834}"/>
              </a:ext>
            </a:extLst>
          </p:cNvPr>
          <p:cNvSpPr txBox="1"/>
          <p:nvPr/>
        </p:nvSpPr>
        <p:spPr>
          <a:xfrm>
            <a:off x="5700584" y="2947320"/>
            <a:ext cx="2427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Capital Allocation Line</a:t>
            </a:r>
          </a:p>
        </p:txBody>
      </p:sp>
    </p:spTree>
    <p:extLst>
      <p:ext uri="{BB962C8B-B14F-4D97-AF65-F5344CB8AC3E}">
        <p14:creationId xmlns:p14="http://schemas.microsoft.com/office/powerpoint/2010/main" val="118289512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4C5C5-41EE-E649-BE12-DC397E1E3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548" y="335268"/>
            <a:ext cx="9583782" cy="785542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How to determine a point of optimal portfolio of risky and risk-free asset given the level of risk aversion?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738676-553E-8B48-9ECE-903CB211E6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7548" y="1519881"/>
                <a:ext cx="9756776" cy="5141784"/>
              </a:xfrm>
            </p:spPr>
            <p:txBody>
              <a:bodyPr>
                <a:normAutofit fontScale="85000" lnSpcReduction="10000"/>
              </a:bodyPr>
              <a:lstStyle/>
              <a:p>
                <a:pPr>
                  <a:lnSpc>
                    <a:spcPct val="160000"/>
                  </a:lnSpc>
                </a:pPr>
                <a:r>
                  <a:rPr lang="en-US" dirty="0"/>
                  <a:t>Recall the equation of expected return and variance of a portfolio with risky asset and a risk-free asset from Lecture 3:</a:t>
                </a:r>
              </a:p>
              <a:p>
                <a:pPr>
                  <a:lnSpc>
                    <a:spcPct val="16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and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   </m:t>
                        </m:r>
                        <m:r>
                          <a:rPr lang="en-US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  <m:sup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sSubSup>
                      <m:sSubSupPr>
                        <m:ctrlP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  <m:sup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dirty="0"/>
              </a:p>
              <a:p>
                <a:pPr>
                  <a:lnSpc>
                    <a:spcPct val="160000"/>
                  </a:lnSpc>
                </a:pPr>
                <a:r>
                  <a:rPr lang="en-US" dirty="0"/>
                  <a:t>Optimal portfolio of risky and risk-free asset is the one that maximizes utility: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sub>
                            </m:sSub>
                          </m:lim>
                        </m:limLow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)−</m:t>
                        </m:r>
                        <m:f>
                          <m:fPr>
                            <m:ctrlPr>
                              <a:rPr lang="en-US" alt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𝑅𝐴</m:t>
                        </m:r>
                        <m:sSubSup>
                          <m:sSubSupPr>
                            <m:ctrlPr>
                              <a:rPr lang="en-US" alt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  <m:sup>
                            <m:r>
                              <a:rPr lang="en-US" alt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b="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-</a:t>
                </a:r>
                <a:r>
                  <a:rPr lang="en-US" altLang="en-US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𝑅𝐴</m:t>
                    </m:r>
                    <m:sSubSup>
                      <m:sSubSupPr>
                        <m:ctrlP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  <m:sup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sSubSup>
                      <m:sSubSupPr>
                        <m:ctrlP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  <m:sup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dirty="0"/>
              </a:p>
              <a:p>
                <a:pPr>
                  <a:lnSpc>
                    <a:spcPct val="160000"/>
                  </a:lnSpc>
                </a:pPr>
                <a:r>
                  <a:rPr lang="en-US" dirty="0"/>
                  <a:t>This maximization problem is solved by setting the first derivative of Utility with respect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en-US" dirty="0"/>
                  <a:t> to zero:</a:t>
                </a:r>
              </a:p>
              <a:p>
                <a:pPr>
                  <a:lnSpc>
                    <a:spcPct val="100000"/>
                  </a:lnSpc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738676-553E-8B48-9ECE-903CB211E6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7548" y="1519881"/>
                <a:ext cx="9756776" cy="5141784"/>
              </a:xfrm>
              <a:blipFill>
                <a:blip r:embed="rId2"/>
                <a:stretch>
                  <a:fillRect l="-910" r="-16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007753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6DF48-0EFF-E847-9297-1E721A24C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How to determine a point of optimal portfolio of risky and risk-free asset given the level of risk aversion?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48C16B6-FA86-F245-9BAE-7855D2B64B0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7547" y="1309815"/>
                <a:ext cx="9707349" cy="5548185"/>
              </a:xfrm>
            </p:spPr>
            <p:txBody>
              <a:bodyPr>
                <a:normAutofit fontScale="40000" lnSpcReduction="20000"/>
              </a:bodyPr>
              <a:lstStyle/>
              <a:p>
                <a:pPr>
                  <a:lnSpc>
                    <a:spcPct val="170000"/>
                  </a:lnSpc>
                </a:pPr>
                <a:r>
                  <a:rPr lang="en-US" sz="4200" dirty="0"/>
                  <a:t>So: </a:t>
                </a:r>
                <a14:m>
                  <m:oMath xmlns:m="http://schemas.openxmlformats.org/officeDocument/2006/math">
                    <m:r>
                      <a:rPr lang="en-US" sz="4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𝐸</m:t>
                    </m:r>
                    <m:d>
                      <m:dPr>
                        <m:ctrlPr>
                          <a:rPr lang="en-US" sz="4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4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4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4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𝐸</m:t>
                            </m:r>
                          </m:sub>
                        </m:sSub>
                      </m:e>
                    </m:d>
                    <m:r>
                      <a:rPr lang="en-US" sz="4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en-US" sz="4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4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4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sub>
                    </m:sSub>
                    <m:r>
                      <a:rPr lang="en-US" sz="4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f>
                      <m:fPr>
                        <m:ctrlPr>
                          <a:rPr lang="en-US" sz="4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4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4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r>
                      <a:rPr lang="en-US" sz="4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𝑅𝐴𝑥</m:t>
                    </m:r>
                    <m:r>
                      <a:rPr lang="en-US" sz="4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sSub>
                      <m:sSubPr>
                        <m:ctrlPr>
                          <a:rPr lang="en-US" sz="4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4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4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𝐸</m:t>
                        </m:r>
                      </m:sub>
                    </m:sSub>
                    <m:sSubSup>
                      <m:sSubSupPr>
                        <m:ctrlPr>
                          <a:rPr lang="en-US" sz="4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4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4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𝐸</m:t>
                        </m:r>
                      </m:sub>
                      <m:sup>
                        <m:r>
                          <a:rPr lang="en-US" sz="4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bSup>
                    <m:r>
                      <a:rPr lang="en-US" sz="4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endParaRPr lang="en-US" sz="4200" b="0" dirty="0"/>
              </a:p>
              <a:p>
                <a:pPr>
                  <a:lnSpc>
                    <a:spcPct val="170000"/>
                  </a:lnSpc>
                </a:pPr>
                <a:r>
                  <a:rPr lang="en-US" sz="4200" dirty="0"/>
                  <a:t>And: </a:t>
                </a:r>
                <a14:m>
                  <m:oMath xmlns:m="http://schemas.openxmlformats.org/officeDocument/2006/math">
                    <m:r>
                      <a:rPr lang="en-US" sz="4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𝐸</m:t>
                    </m:r>
                    <m:d>
                      <m:dPr>
                        <m:ctrlPr>
                          <a:rPr lang="en-US" sz="4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4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4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4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𝐸</m:t>
                            </m:r>
                          </m:sub>
                        </m:sSub>
                      </m:e>
                    </m:d>
                    <m:r>
                      <a:rPr lang="en-US" sz="4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en-US" sz="4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4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4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sub>
                    </m:sSub>
                    <m:r>
                      <a:rPr lang="en-US" sz="4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4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𝑅𝐴</m:t>
                    </m:r>
                  </m:oMath>
                </a14:m>
                <a:r>
                  <a:rPr lang="en-US" sz="4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4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4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𝐸</m:t>
                        </m:r>
                      </m:sub>
                    </m:sSub>
                    <m:sSubSup>
                      <m:sSubSupPr>
                        <m:ctrlPr>
                          <a:rPr lang="en-US" sz="4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4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4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𝐸</m:t>
                        </m:r>
                      </m:sub>
                      <m:sup>
                        <m:r>
                          <a:rPr lang="en-US" sz="4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sz="4200" dirty="0"/>
              </a:p>
              <a:p>
                <a:pPr>
                  <a:lnSpc>
                    <a:spcPct val="170000"/>
                  </a:lnSpc>
                </a:pPr>
                <a:r>
                  <a:rPr lang="en-US" sz="4200" dirty="0"/>
                  <a:t>Solving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4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en-US" sz="4200" dirty="0"/>
                  <a:t> will help us determine where optimal portfolio is positioned on the straight line, i.e. what is the optimal weight investor should have in a risky portfolio: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4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4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𝐸</m:t>
                        </m:r>
                      </m:sub>
                    </m:sSub>
                    <m:r>
                      <a:rPr lang="en-US" sz="4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4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4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en-US" sz="4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42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42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sz="42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𝐸</m:t>
                                </m:r>
                              </m:sub>
                            </m:sSub>
                          </m:e>
                        </m:d>
                        <m:r>
                          <a:rPr lang="en-US" sz="4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4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4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4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𝑓</m:t>
                            </m:r>
                          </m:sub>
                        </m:sSub>
                      </m:num>
                      <m:den>
                        <m:r>
                          <a:rPr lang="en-US" sz="4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𝑅𝐴</m:t>
                        </m:r>
                        <m:sSubSup>
                          <m:sSubSupPr>
                            <m:ctrlPr>
                              <a:rPr lang="en-US" sz="4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sz="4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4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𝐸</m:t>
                            </m:r>
                          </m:sub>
                          <m:sup>
                            <m:r>
                              <a:rPr lang="en-US" sz="4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</m:oMath>
                </a14:m>
                <a:endParaRPr lang="en-US" sz="4200" dirty="0"/>
              </a:p>
              <a:p>
                <a:pPr>
                  <a:lnSpc>
                    <a:spcPct val="170000"/>
                  </a:lnSpc>
                </a:pPr>
                <a:r>
                  <a:rPr lang="en-US" sz="4200" dirty="0"/>
                  <a:t>Hence, if the risk-free rate is 7%, an investor with risk aversion RA=4 considers how much to invest in a risky portfolio with 15% annual return and standard deviation of 22% p.a. to maximize their utility. </a:t>
                </a:r>
                <a:endParaRPr lang="en-US" sz="4200" i="1" dirty="0"/>
              </a:p>
              <a:p>
                <a:pPr>
                  <a:lnSpc>
                    <a:spcPct val="17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4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4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4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𝐸</m:t>
                        </m:r>
                      </m:sub>
                    </m:sSub>
                    <m:r>
                      <a:rPr lang="en-US" sz="4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4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4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0.15</m:t>
                        </m:r>
                        <m:r>
                          <a:rPr lang="en-US" sz="4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sz="4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0.07</m:t>
                        </m:r>
                      </m:num>
                      <m:den>
                        <m:r>
                          <a:rPr lang="en-US" sz="4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  <m:r>
                          <a:rPr lang="en-US" sz="4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sSup>
                          <m:sSupPr>
                            <m:ctrlPr>
                              <a:rPr lang="en-US" sz="4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4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0.22</m:t>
                            </m:r>
                          </m:e>
                          <m:sup>
                            <m:r>
                              <a:rPr lang="en-US" sz="4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sz="4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=0.41=41%</m:t>
                    </m:r>
                  </m:oMath>
                </a14:m>
                <a:endParaRPr lang="en-US" sz="4200" dirty="0"/>
              </a:p>
              <a:p>
                <a:pPr>
                  <a:lnSpc>
                    <a:spcPct val="170000"/>
                  </a:lnSpc>
                </a:pPr>
                <a:r>
                  <a:rPr lang="en-US" sz="4200" dirty="0"/>
                  <a:t>S/he will have to invest 41% in a risky portfolio and (1-</a:t>
                </a:r>
                <a:r>
                  <a:rPr lang="en-US" sz="4200" b="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4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en-US" sz="4200" dirty="0"/>
                  <a:t>=) 59% in the risk-free asset</a:t>
                </a:r>
              </a:p>
              <a:p>
                <a:pPr>
                  <a:lnSpc>
                    <a:spcPct val="170000"/>
                  </a:lnSpc>
                </a:pPr>
                <a:endParaRPr lang="en-US" sz="4200" dirty="0"/>
              </a:p>
              <a:p>
                <a:pPr>
                  <a:lnSpc>
                    <a:spcPct val="100000"/>
                  </a:lnSpc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48C16B6-FA86-F245-9BAE-7855D2B64B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7547" y="1309815"/>
                <a:ext cx="9707349" cy="5548185"/>
              </a:xfrm>
              <a:blipFill>
                <a:blip r:embed="rId2"/>
                <a:stretch>
                  <a:fillRect l="-3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968901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36B76-9C3E-374B-A92B-4C3F52529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547" y="406400"/>
            <a:ext cx="11315248" cy="785542"/>
          </a:xfrm>
        </p:spPr>
        <p:txBody>
          <a:bodyPr/>
          <a:lstStyle/>
          <a:p>
            <a:r>
              <a:rPr lang="en-US" sz="2800" dirty="0"/>
              <a:t>Optimal portfolio selection: </a:t>
            </a:r>
            <a:r>
              <a:rPr lang="en-US" sz="2800" dirty="0" err="1"/>
              <a:t>maximisation</a:t>
            </a:r>
            <a:r>
              <a:rPr lang="en-US" sz="2800" dirty="0"/>
              <a:t> of Sharpe ratio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AC1411-2952-1C4A-9A56-D5206EB130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547" y="1437640"/>
            <a:ext cx="9497367" cy="44196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000" dirty="0"/>
              <a:t>Maximum Sharpe ratio method derives optimal portfolio as a portfolio is a portfolio of risky assets where linear efficient frontier reaches its maximum slope – i.e. the tangency portfolio T! 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Refer to excel file and video for demonstration of optimal portfolio selection</a:t>
            </a:r>
          </a:p>
          <a:p>
            <a:pPr lvl="2">
              <a:lnSpc>
                <a:spcPct val="150000"/>
              </a:lnSpc>
            </a:pPr>
            <a:r>
              <a:rPr lang="en-US" dirty="0"/>
              <a:t>Portfolio that maximizes Utility and how to plot ICs is also shown in the same video</a:t>
            </a:r>
          </a:p>
          <a:p>
            <a:pPr>
              <a:lnSpc>
                <a:spcPct val="150000"/>
              </a:lnSpc>
            </a:pPr>
            <a:endParaRPr lang="en-US" sz="2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178083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4F834-E1A4-6346-831E-994A35686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6DF0E0-728B-5E4B-A2C1-243C2974B2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Relevant parts of Chapter 6, BKM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Parts of Chapter 11, EGMG</a:t>
            </a:r>
          </a:p>
        </p:txBody>
      </p:sp>
    </p:spTree>
    <p:extLst>
      <p:ext uri="{BB962C8B-B14F-4D97-AF65-F5344CB8AC3E}">
        <p14:creationId xmlns:p14="http://schemas.microsoft.com/office/powerpoint/2010/main" val="4809972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Bayes_PP_Template" id="{ACDB4250-AEAB-3845-99F8-305C0D54AF46}" vid="{BF418155-9E7F-8A43-95E0-3E210703B47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5bd5d15-c8c7-4a08-a581-ad858f9537bc" xsi:nil="true"/>
    <lcf76f155ced4ddcb4097134ff3c332f xmlns="51947a9a-b379-44ec-ba92-0b580fcd88c6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D636429A6E36D4181F2717D9C82FA19" ma:contentTypeVersion="18" ma:contentTypeDescription="Create a new document." ma:contentTypeScope="" ma:versionID="3495257934bf8a2aadcd26b39434f447">
  <xsd:schema xmlns:xsd="http://www.w3.org/2001/XMLSchema" xmlns:xs="http://www.w3.org/2001/XMLSchema" xmlns:p="http://schemas.microsoft.com/office/2006/metadata/properties" xmlns:ns2="51947a9a-b379-44ec-ba92-0b580fcd88c6" xmlns:ns3="35bd5d15-c8c7-4a08-a581-ad858f9537bc" targetNamespace="http://schemas.microsoft.com/office/2006/metadata/properties" ma:root="true" ma:fieldsID="df7ca6b90c74802e8c59c9d6e21929b2" ns2:_="" ns3:_="">
    <xsd:import namespace="51947a9a-b379-44ec-ba92-0b580fcd88c6"/>
    <xsd:import namespace="35bd5d15-c8c7-4a08-a581-ad858f9537b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1947a9a-b379-44ec-ba92-0b580fcd88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a60370ab-239c-4f69-b9f9-a829e5a5e91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5bd5d15-c8c7-4a08-a581-ad858f9537b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85f2df4c-31ca-49d4-a813-e4ccb5e76347}" ma:internalName="TaxCatchAll" ma:showField="CatchAllData" ma:web="35bd5d15-c8c7-4a08-a581-ad858f9537b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20FFB76-CCE5-4D43-89A2-3DA16FC4EBE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A59FC1F-AC2E-46FB-8A96-03F812DE5545}">
  <ds:schemaRefs>
    <ds:schemaRef ds:uri="http://schemas.microsoft.com/office/2006/metadata/properties"/>
    <ds:schemaRef ds:uri="http://schemas.microsoft.com/office/infopath/2007/PartnerControls"/>
    <ds:schemaRef ds:uri="35bd5d15-c8c7-4a08-a581-ad858f9537bc"/>
    <ds:schemaRef ds:uri="51947a9a-b379-44ec-ba92-0b580fcd88c6"/>
  </ds:schemaRefs>
</ds:datastoreItem>
</file>

<file path=customXml/itemProps3.xml><?xml version="1.0" encoding="utf-8"?>
<ds:datastoreItem xmlns:ds="http://schemas.openxmlformats.org/officeDocument/2006/customXml" ds:itemID="{87C0D5ED-1E5F-47F0-9FE5-043EE275635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1947a9a-b379-44ec-ba92-0b580fcd88c6"/>
    <ds:schemaRef ds:uri="35bd5d15-c8c7-4a08-a581-ad858f9537b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City-St-Georges-Bayes-powerpoint-template_2024</Template>
  <TotalTime>2692</TotalTime>
  <Words>2586</Words>
  <Application>Microsoft Macintosh PowerPoint</Application>
  <PresentationFormat>Widescreen</PresentationFormat>
  <Paragraphs>271</Paragraphs>
  <Slides>39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51" baseType="lpstr">
      <vt:lpstr>Bitstream Charter</vt:lpstr>
      <vt:lpstr>Aptos</vt:lpstr>
      <vt:lpstr>Arial</vt:lpstr>
      <vt:lpstr>Calibri</vt:lpstr>
      <vt:lpstr>Cambria Math</vt:lpstr>
      <vt:lpstr>Lucida Grande</vt:lpstr>
      <vt:lpstr>Monotype Sorts</vt:lpstr>
      <vt:lpstr>Symbol</vt:lpstr>
      <vt:lpstr>Times New Roman</vt:lpstr>
      <vt:lpstr>Wingdings</vt:lpstr>
      <vt:lpstr>Office Theme</vt:lpstr>
      <vt:lpstr>Equation.3</vt:lpstr>
      <vt:lpstr>Portfolio Theory III: Selection of optimal portfolios </vt:lpstr>
      <vt:lpstr>PowerPoint Presentation</vt:lpstr>
      <vt:lpstr>Utility</vt:lpstr>
      <vt:lpstr>Utility</vt:lpstr>
      <vt:lpstr>Deriving utility from risky (uncertain) investments</vt:lpstr>
      <vt:lpstr>Expected Utility Example</vt:lpstr>
      <vt:lpstr>Risk Aversion</vt:lpstr>
      <vt:lpstr>The Concept of Risk Aversion</vt:lpstr>
      <vt:lpstr>Risk averse, risk seeking and risk neutral investors</vt:lpstr>
      <vt:lpstr>Risk averse, risk seeking and risk neutral investors</vt:lpstr>
      <vt:lpstr>Rational investors’ attitude towards risk</vt:lpstr>
      <vt:lpstr>How do we quantify utility? Examples of utility functions</vt:lpstr>
      <vt:lpstr>Establish the link between utility and risk aversion</vt:lpstr>
      <vt:lpstr>How do we derive the level of risk aversion?</vt:lpstr>
      <vt:lpstr>Absolute risk aversion (ARA)</vt:lpstr>
      <vt:lpstr>Relative risk aversion</vt:lpstr>
      <vt:lpstr>HARA – risk tolerance</vt:lpstr>
      <vt:lpstr>Risk aversion in the market as a whole</vt:lpstr>
      <vt:lpstr>Risk questionnaires</vt:lpstr>
      <vt:lpstr>Attitudes Towards Risk and Indifference Curves</vt:lpstr>
      <vt:lpstr>Indifference curves</vt:lpstr>
      <vt:lpstr>Slope of indifference curves</vt:lpstr>
      <vt:lpstr>Slope of indifference curves (ICs) of different types of investors</vt:lpstr>
      <vt:lpstr>Indifference curves of one investor</vt:lpstr>
      <vt:lpstr>Why are indifference curves for one investor parallel? </vt:lpstr>
      <vt:lpstr>More risk averse vs. less risk averse investors</vt:lpstr>
      <vt:lpstr>How to plot indifference curves</vt:lpstr>
      <vt:lpstr>How to plot indifference curves</vt:lpstr>
      <vt:lpstr>How to plot indifference curves - example</vt:lpstr>
      <vt:lpstr>How to plot indifference curves - example</vt:lpstr>
      <vt:lpstr>Optimal Portfolio Selection</vt:lpstr>
      <vt:lpstr>Optimal portfolio is the one that….</vt:lpstr>
      <vt:lpstr>Selecting an optimal portfolio (O): Efficient frontier of risky assets only</vt:lpstr>
      <vt:lpstr>Selecting optimal portfolios on CAL: efficient frontier with risk-free lending and borrowing at the same rate</vt:lpstr>
      <vt:lpstr>Optimal portfolio is always on the highest feasible indifference curve that maximises investor’s utility </vt:lpstr>
      <vt:lpstr>How to determine a point of optimal portfolio of risky and risk-free asset given the level of risk aversion?</vt:lpstr>
      <vt:lpstr>How to determine a point of optimal portfolio of risky and risk-free asset given the level of risk aversion?</vt:lpstr>
      <vt:lpstr>Optimal portfolio selection: maximisation of Sharpe ratio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Owen, Zoe</dc:creator>
  <cp:lastModifiedBy>PG-Zhong, Yuguang</cp:lastModifiedBy>
  <cp:revision>20</cp:revision>
  <dcterms:created xsi:type="dcterms:W3CDTF">2024-07-17T12:41:19Z</dcterms:created>
  <dcterms:modified xsi:type="dcterms:W3CDTF">2026-10-16T11:39:41Z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6c24981-b6df-48f8-949b-0896357b9b03_Enabled">
    <vt:lpwstr>true</vt:lpwstr>
  </property>
  <property fmtid="{D5CDD505-2E9C-101B-9397-08002B2CF9AE}" pid="3" name="MSIP_Label_06c24981-b6df-48f8-949b-0896357b9b03_SetDate">
    <vt:lpwstr>2024-07-09T13:37:50Z</vt:lpwstr>
  </property>
  <property fmtid="{D5CDD505-2E9C-101B-9397-08002B2CF9AE}" pid="4" name="MSIP_Label_06c24981-b6df-48f8-949b-0896357b9b03_Method">
    <vt:lpwstr>Standard</vt:lpwstr>
  </property>
  <property fmtid="{D5CDD505-2E9C-101B-9397-08002B2CF9AE}" pid="5" name="MSIP_Label_06c24981-b6df-48f8-949b-0896357b9b03_Name">
    <vt:lpwstr>Official</vt:lpwstr>
  </property>
  <property fmtid="{D5CDD505-2E9C-101B-9397-08002B2CF9AE}" pid="6" name="MSIP_Label_06c24981-b6df-48f8-949b-0896357b9b03_SiteId">
    <vt:lpwstr>dd615949-5bd0-4da0-ac52-28ef8d336373</vt:lpwstr>
  </property>
  <property fmtid="{D5CDD505-2E9C-101B-9397-08002B2CF9AE}" pid="7" name="MSIP_Label_06c24981-b6df-48f8-949b-0896357b9b03_ActionId">
    <vt:lpwstr>31af5868-b9af-4160-8bf7-e70a2e425d89</vt:lpwstr>
  </property>
  <property fmtid="{D5CDD505-2E9C-101B-9397-08002B2CF9AE}" pid="8" name="MSIP_Label_06c24981-b6df-48f8-949b-0896357b9b03_ContentBits">
    <vt:lpwstr>0</vt:lpwstr>
  </property>
  <property fmtid="{D5CDD505-2E9C-101B-9397-08002B2CF9AE}" pid="9" name="ContentTypeId">
    <vt:lpwstr>0x010100FD636429A6E36D4181F2717D9C82FA19</vt:lpwstr>
  </property>
</Properties>
</file>