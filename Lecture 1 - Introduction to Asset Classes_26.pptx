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sldIdLst>
    <p:sldId id="270" r:id="rId5"/>
    <p:sldId id="881" r:id="rId6"/>
    <p:sldId id="494" r:id="rId7"/>
    <p:sldId id="350" r:id="rId8"/>
    <p:sldId id="395" r:id="rId9"/>
    <p:sldId id="438" r:id="rId10"/>
    <p:sldId id="461" r:id="rId11"/>
    <p:sldId id="456" r:id="rId12"/>
    <p:sldId id="256" r:id="rId13"/>
    <p:sldId id="399" r:id="rId14"/>
    <p:sldId id="400" r:id="rId15"/>
    <p:sldId id="401" r:id="rId16"/>
    <p:sldId id="882" r:id="rId17"/>
    <p:sldId id="402" r:id="rId18"/>
    <p:sldId id="404" r:id="rId19"/>
    <p:sldId id="405" r:id="rId20"/>
    <p:sldId id="441" r:id="rId21"/>
    <p:sldId id="406" r:id="rId22"/>
    <p:sldId id="883" r:id="rId23"/>
    <p:sldId id="407" r:id="rId24"/>
    <p:sldId id="442" r:id="rId25"/>
    <p:sldId id="875" r:id="rId26"/>
    <p:sldId id="408" r:id="rId27"/>
    <p:sldId id="878" r:id="rId28"/>
    <p:sldId id="409" r:id="rId29"/>
    <p:sldId id="469" r:id="rId30"/>
    <p:sldId id="869" r:id="rId31"/>
    <p:sldId id="471" r:id="rId32"/>
    <p:sldId id="472" r:id="rId33"/>
    <p:sldId id="473" r:id="rId34"/>
    <p:sldId id="414" r:id="rId35"/>
    <p:sldId id="415" r:id="rId36"/>
    <p:sldId id="417" r:id="rId37"/>
    <p:sldId id="418" r:id="rId38"/>
    <p:sldId id="419" r:id="rId39"/>
    <p:sldId id="433" r:id="rId40"/>
    <p:sldId id="420" r:id="rId41"/>
    <p:sldId id="421" r:id="rId42"/>
    <p:sldId id="434" r:id="rId43"/>
    <p:sldId id="435" r:id="rId44"/>
    <p:sldId id="436" r:id="rId45"/>
    <p:sldId id="437" r:id="rId46"/>
    <p:sldId id="455" r:id="rId47"/>
    <p:sldId id="266" r:id="rId48"/>
    <p:sldId id="391" r:id="rId49"/>
    <p:sldId id="27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658"/>
  </p:normalViewPr>
  <p:slideViewPr>
    <p:cSldViewPr snapToGrid="0">
      <p:cViewPr varScale="1">
        <p:scale>
          <a:sx n="120" d="100"/>
          <a:sy n="120" d="100"/>
        </p:scale>
        <p:origin x="5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FEB709-236F-F24C-B14E-122C6ED07A3C}" type="datetimeFigureOut">
              <a:rPr lang="en-US" smtClean="0"/>
              <a:t>10/16/26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046192-8824-C448-AC1C-7BDDD77FA57E}" type="slidenum">
              <a:rPr lang="en-US" smtClean="0"/>
              <a:t>‹#›</a:t>
            </a:fld>
            <a:endParaRPr lang="en-US"/>
          </a:p>
        </p:txBody>
      </p:sp>
    </p:spTree>
    <p:extLst>
      <p:ext uri="{BB962C8B-B14F-4D97-AF65-F5344CB8AC3E}">
        <p14:creationId xmlns:p14="http://schemas.microsoft.com/office/powerpoint/2010/main" val="3667629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3" name="Rectangle 7"/>
          <p:cNvSpPr>
            <a:spLocks noGrp="1" noChangeArrowheads="1"/>
          </p:cNvSpPr>
          <p:nvPr>
            <p:ph type="sldNum" sz="quarter" idx="5"/>
          </p:nvPr>
        </p:nvSpPr>
        <p:spPr>
          <a:noFill/>
          <a:ln>
            <a:miter lim="800000"/>
            <a:headEnd/>
            <a:tailEnd/>
          </a:ln>
        </p:spPr>
        <p:txBody>
          <a:bodyPr/>
          <a:lstStyle/>
          <a:p>
            <a:fld id="{D75D98F7-A29D-48F5-89CB-1A6E62BE9AFC}" type="slidenum">
              <a:rPr lang="en-GB" smtClean="0"/>
              <a:pPr/>
              <a:t>6</a:t>
            </a:fld>
            <a:endParaRPr lang="en-GB"/>
          </a:p>
        </p:txBody>
      </p:sp>
      <p:sp>
        <p:nvSpPr>
          <p:cNvPr id="940034" name="Rectangle 2"/>
          <p:cNvSpPr>
            <a:spLocks noGrp="1" noRot="1" noChangeAspect="1" noChangeArrowheads="1" noTextEdit="1"/>
          </p:cNvSpPr>
          <p:nvPr>
            <p:ph type="sldImg"/>
          </p:nvPr>
        </p:nvSpPr>
        <p:spPr>
          <a:xfrm>
            <a:off x="26988" y="744538"/>
            <a:ext cx="6616700" cy="3722687"/>
          </a:xfrm>
          <a:ln/>
        </p:spPr>
      </p:sp>
      <p:sp>
        <p:nvSpPr>
          <p:cNvPr id="940035" name="Rectangle 3"/>
          <p:cNvSpPr>
            <a:spLocks noGrp="1" noChangeArrowheads="1"/>
          </p:cNvSpPr>
          <p:nvPr>
            <p:ph type="body" idx="1"/>
          </p:nvPr>
        </p:nvSpPr>
        <p:spPr>
          <a:noFill/>
        </p:spPr>
        <p:txBody>
          <a:bodyPr/>
          <a:lstStyle/>
          <a:p>
            <a:endParaRPr lang="en-GB"/>
          </a:p>
        </p:txBody>
      </p:sp>
    </p:spTree>
    <p:extLst>
      <p:ext uri="{BB962C8B-B14F-4D97-AF65-F5344CB8AC3E}">
        <p14:creationId xmlns:p14="http://schemas.microsoft.com/office/powerpoint/2010/main" val="4146303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Standard corporate-finance ordering of investor claims; no external source used.</a:t>
            </a:r>
          </a:p>
          <a:p>
            <a:endParaRPr/>
          </a:p>
          <a:p>
            <a:r>
              <a:t>Teaching note: operating costs and taxes are paid before distributions to investors; this slide focuses only on investor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miter lim="800000"/>
            <a:headEnd/>
            <a:tailEnd/>
          </a:ln>
        </p:spPr>
        <p:txBody>
          <a:bodyPr/>
          <a:lstStyle/>
          <a:p>
            <a:fld id="{C5A18AB9-8277-40AC-AA1B-F2DF0C1293A5}" type="slidenum">
              <a:rPr lang="en-GB" smtClean="0"/>
              <a:pPr/>
              <a:t>10</a:t>
            </a:fld>
            <a:endParaRPr lang="en-GB"/>
          </a:p>
        </p:txBody>
      </p:sp>
      <p:sp>
        <p:nvSpPr>
          <p:cNvPr id="27650" name="Rectangle 2"/>
          <p:cNvSpPr>
            <a:spLocks noGrp="1" noRot="1" noChangeAspect="1" noChangeArrowheads="1" noTextEdit="1"/>
          </p:cNvSpPr>
          <p:nvPr>
            <p:ph type="sldImg"/>
          </p:nvPr>
        </p:nvSpPr>
        <p:spPr>
          <a:xfrm>
            <a:off x="26988" y="744538"/>
            <a:ext cx="6616700" cy="3722687"/>
          </a:xfrm>
          <a:ln/>
        </p:spPr>
      </p:sp>
      <p:sp>
        <p:nvSpPr>
          <p:cNvPr id="27651" name="Rectangle 3"/>
          <p:cNvSpPr>
            <a:spLocks noGrp="1" noChangeArrowheads="1"/>
          </p:cNvSpPr>
          <p:nvPr>
            <p:ph type="body" idx="1"/>
          </p:nvPr>
        </p:nvSpPr>
        <p:spPr>
          <a:xfrm>
            <a:off x="666750" y="4716463"/>
            <a:ext cx="5335588" cy="4465637"/>
          </a:xfrm>
          <a:noFill/>
        </p:spPr>
        <p:txBody>
          <a:bodyPr/>
          <a:lstStyle/>
          <a:p>
            <a:pPr marL="228600" indent="-228600"/>
            <a:endParaRPr lang="en-GB"/>
          </a:p>
        </p:txBody>
      </p:sp>
    </p:spTree>
    <p:extLst>
      <p:ext uri="{BB962C8B-B14F-4D97-AF65-F5344CB8AC3E}">
        <p14:creationId xmlns:p14="http://schemas.microsoft.com/office/powerpoint/2010/main" val="902745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ln>
            <a:miter lim="800000"/>
            <a:headEnd/>
            <a:tailEnd/>
          </a:ln>
        </p:spPr>
        <p:txBody>
          <a:bodyPr/>
          <a:lstStyle/>
          <a:p>
            <a:fld id="{2E2942DE-43D0-4996-BF33-CC721D607DF1}" type="slidenum">
              <a:rPr lang="en-GB" smtClean="0"/>
              <a:pPr/>
              <a:t>11</a:t>
            </a:fld>
            <a:endParaRPr lang="en-GB"/>
          </a:p>
        </p:txBody>
      </p:sp>
      <p:sp>
        <p:nvSpPr>
          <p:cNvPr id="29698" name="Rectangle 2"/>
          <p:cNvSpPr>
            <a:spLocks noGrp="1" noRot="1" noChangeAspect="1" noChangeArrowheads="1" noTextEdit="1"/>
          </p:cNvSpPr>
          <p:nvPr>
            <p:ph type="sldImg"/>
          </p:nvPr>
        </p:nvSpPr>
        <p:spPr>
          <a:xfrm>
            <a:off x="26988" y="744538"/>
            <a:ext cx="6616700" cy="3722687"/>
          </a:xfrm>
          <a:ln/>
        </p:spPr>
      </p:sp>
      <p:sp>
        <p:nvSpPr>
          <p:cNvPr id="29699" name="Rectangle 3"/>
          <p:cNvSpPr>
            <a:spLocks noGrp="1" noChangeArrowheads="1"/>
          </p:cNvSpPr>
          <p:nvPr>
            <p:ph type="body" idx="1"/>
          </p:nvPr>
        </p:nvSpPr>
        <p:spPr>
          <a:xfrm>
            <a:off x="666750" y="4716463"/>
            <a:ext cx="5335588" cy="4465637"/>
          </a:xfrm>
          <a:noFill/>
        </p:spPr>
        <p:txBody>
          <a:bodyPr/>
          <a:lstStyle/>
          <a:p>
            <a:pPr marL="228600" indent="-228600"/>
            <a:endParaRPr lang="en-GB"/>
          </a:p>
        </p:txBody>
      </p:sp>
    </p:spTree>
    <p:extLst>
      <p:ext uri="{BB962C8B-B14F-4D97-AF65-F5344CB8AC3E}">
        <p14:creationId xmlns:p14="http://schemas.microsoft.com/office/powerpoint/2010/main" val="4200330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miter lim="800000"/>
            <a:headEnd/>
            <a:tailEnd/>
          </a:ln>
        </p:spPr>
        <p:txBody>
          <a:bodyPr/>
          <a:lstStyle/>
          <a:p>
            <a:fld id="{3B16992F-16C1-4C8B-870A-CE353075C561}" type="slidenum">
              <a:rPr lang="en-GB" smtClean="0"/>
              <a:pPr/>
              <a:t>12</a:t>
            </a:fld>
            <a:endParaRPr lang="en-GB"/>
          </a:p>
        </p:txBody>
      </p:sp>
      <p:sp>
        <p:nvSpPr>
          <p:cNvPr id="31746" name="Rectangle 2"/>
          <p:cNvSpPr>
            <a:spLocks noGrp="1" noRot="1" noChangeAspect="1" noChangeArrowheads="1" noTextEdit="1"/>
          </p:cNvSpPr>
          <p:nvPr>
            <p:ph type="sldImg"/>
          </p:nvPr>
        </p:nvSpPr>
        <p:spPr>
          <a:xfrm>
            <a:off x="26988" y="744538"/>
            <a:ext cx="6616700" cy="3722687"/>
          </a:xfrm>
          <a:ln/>
        </p:spPr>
      </p:sp>
      <p:sp>
        <p:nvSpPr>
          <p:cNvPr id="31747" name="Rectangle 3"/>
          <p:cNvSpPr>
            <a:spLocks noGrp="1" noChangeArrowheads="1"/>
          </p:cNvSpPr>
          <p:nvPr>
            <p:ph type="body" idx="1"/>
          </p:nvPr>
        </p:nvSpPr>
        <p:spPr>
          <a:xfrm>
            <a:off x="666750" y="4716463"/>
            <a:ext cx="5335588" cy="4465637"/>
          </a:xfrm>
          <a:noFill/>
        </p:spPr>
        <p:txBody>
          <a:bodyPr/>
          <a:lstStyle/>
          <a:p>
            <a:pPr marL="228600" indent="-228600">
              <a:lnSpc>
                <a:spcPct val="80000"/>
              </a:lnSpc>
            </a:pPr>
            <a:endParaRPr lang="en-GB" sz="800"/>
          </a:p>
        </p:txBody>
      </p:sp>
    </p:spTree>
    <p:extLst>
      <p:ext uri="{BB962C8B-B14F-4D97-AF65-F5344CB8AC3E}">
        <p14:creationId xmlns:p14="http://schemas.microsoft.com/office/powerpoint/2010/main" val="3167114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miter lim="800000"/>
            <a:headEnd/>
            <a:tailEnd/>
          </a:ln>
        </p:spPr>
        <p:txBody>
          <a:bodyPr/>
          <a:lstStyle/>
          <a:p>
            <a:fld id="{A4A46996-5E2A-4CD9-90BF-0B24E58DC82E}" type="slidenum">
              <a:rPr lang="en-GB" smtClean="0"/>
              <a:pPr/>
              <a:t>14</a:t>
            </a:fld>
            <a:endParaRPr lang="en-GB"/>
          </a:p>
        </p:txBody>
      </p:sp>
      <p:sp>
        <p:nvSpPr>
          <p:cNvPr id="33794" name="Rectangle 2"/>
          <p:cNvSpPr>
            <a:spLocks noGrp="1" noRot="1" noChangeAspect="1" noChangeArrowheads="1" noTextEdit="1"/>
          </p:cNvSpPr>
          <p:nvPr>
            <p:ph type="sldImg"/>
          </p:nvPr>
        </p:nvSpPr>
        <p:spPr>
          <a:xfrm>
            <a:off x="26988" y="744538"/>
            <a:ext cx="6616700" cy="3722687"/>
          </a:xfrm>
          <a:ln/>
        </p:spPr>
      </p:sp>
      <p:sp>
        <p:nvSpPr>
          <p:cNvPr id="33795" name="Rectangle 3"/>
          <p:cNvSpPr>
            <a:spLocks noGrp="1" noChangeArrowheads="1"/>
          </p:cNvSpPr>
          <p:nvPr>
            <p:ph type="body" idx="1"/>
          </p:nvPr>
        </p:nvSpPr>
        <p:spPr>
          <a:xfrm>
            <a:off x="666750" y="4716463"/>
            <a:ext cx="5335588" cy="4465637"/>
          </a:xfrm>
          <a:noFill/>
        </p:spPr>
        <p:txBody>
          <a:bodyPr/>
          <a:lstStyle/>
          <a:p>
            <a:pPr marL="228600" indent="-228600">
              <a:lnSpc>
                <a:spcPct val="90000"/>
              </a:lnSpc>
            </a:pPr>
            <a:endParaRPr lang="en-GB" sz="1000"/>
          </a:p>
        </p:txBody>
      </p:sp>
    </p:spTree>
    <p:extLst>
      <p:ext uri="{BB962C8B-B14F-4D97-AF65-F5344CB8AC3E}">
        <p14:creationId xmlns:p14="http://schemas.microsoft.com/office/powerpoint/2010/main" val="3777574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miter lim="800000"/>
            <a:headEnd/>
            <a:tailEnd/>
          </a:ln>
        </p:spPr>
        <p:txBody>
          <a:bodyPr/>
          <a:lstStyle/>
          <a:p>
            <a:fld id="{FD2F62E5-B226-4AF1-BB5B-5022081E19A3}" type="slidenum">
              <a:rPr lang="en-GB" smtClean="0"/>
              <a:pPr/>
              <a:t>15</a:t>
            </a:fld>
            <a:endParaRPr lang="en-GB"/>
          </a:p>
        </p:txBody>
      </p:sp>
      <p:sp>
        <p:nvSpPr>
          <p:cNvPr id="35842" name="Rectangle 2"/>
          <p:cNvSpPr>
            <a:spLocks noGrp="1" noRot="1" noChangeAspect="1" noChangeArrowheads="1" noTextEdit="1"/>
          </p:cNvSpPr>
          <p:nvPr>
            <p:ph type="sldImg"/>
          </p:nvPr>
        </p:nvSpPr>
        <p:spPr>
          <a:xfrm>
            <a:off x="26988" y="744538"/>
            <a:ext cx="6616700" cy="3722687"/>
          </a:xfrm>
          <a:ln/>
        </p:spPr>
      </p:sp>
      <p:sp>
        <p:nvSpPr>
          <p:cNvPr id="35843" name="Rectangle 3"/>
          <p:cNvSpPr>
            <a:spLocks noGrp="1" noChangeArrowheads="1"/>
          </p:cNvSpPr>
          <p:nvPr>
            <p:ph type="body" idx="1"/>
          </p:nvPr>
        </p:nvSpPr>
        <p:spPr>
          <a:xfrm>
            <a:off x="666750" y="4716463"/>
            <a:ext cx="5335588" cy="4465637"/>
          </a:xfrm>
          <a:noFill/>
        </p:spPr>
        <p:txBody>
          <a:bodyPr/>
          <a:lstStyle/>
          <a:p>
            <a:pPr marL="228600" indent="-228600">
              <a:lnSpc>
                <a:spcPct val="90000"/>
              </a:lnSpc>
            </a:pPr>
            <a:endParaRPr lang="en-GB"/>
          </a:p>
        </p:txBody>
      </p:sp>
    </p:spTree>
    <p:extLst>
      <p:ext uri="{BB962C8B-B14F-4D97-AF65-F5344CB8AC3E}">
        <p14:creationId xmlns:p14="http://schemas.microsoft.com/office/powerpoint/2010/main" val="7835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ln>
            <a:miter lim="800000"/>
            <a:headEnd/>
            <a:tailEnd/>
          </a:ln>
        </p:spPr>
        <p:txBody>
          <a:bodyPr/>
          <a:lstStyle/>
          <a:p>
            <a:fld id="{100AAE8E-C0C1-4400-B945-1B9DFB2FF686}" type="slidenum">
              <a:rPr lang="en-GB" smtClean="0"/>
              <a:pPr/>
              <a:t>16</a:t>
            </a:fld>
            <a:endParaRPr lang="en-GB"/>
          </a:p>
        </p:txBody>
      </p:sp>
      <p:sp>
        <p:nvSpPr>
          <p:cNvPr id="37890" name="Rectangle 2"/>
          <p:cNvSpPr>
            <a:spLocks noGrp="1" noRot="1" noChangeAspect="1" noChangeArrowheads="1" noTextEdit="1"/>
          </p:cNvSpPr>
          <p:nvPr>
            <p:ph type="sldImg"/>
          </p:nvPr>
        </p:nvSpPr>
        <p:spPr>
          <a:xfrm>
            <a:off x="26988" y="744538"/>
            <a:ext cx="6616700" cy="3722687"/>
          </a:xfrm>
          <a:ln/>
        </p:spPr>
      </p:sp>
      <p:sp>
        <p:nvSpPr>
          <p:cNvPr id="37891" name="Rectangle 3"/>
          <p:cNvSpPr>
            <a:spLocks noGrp="1" noChangeArrowheads="1"/>
          </p:cNvSpPr>
          <p:nvPr>
            <p:ph type="body" idx="1"/>
          </p:nvPr>
        </p:nvSpPr>
        <p:spPr>
          <a:xfrm>
            <a:off x="666750" y="4716463"/>
            <a:ext cx="5335588" cy="4465637"/>
          </a:xfrm>
          <a:noFill/>
        </p:spPr>
        <p:txBody>
          <a:bodyPr/>
          <a:lstStyle/>
          <a:p>
            <a:pPr marL="228600" indent="-228600">
              <a:lnSpc>
                <a:spcPct val="90000"/>
              </a:lnSpc>
            </a:pPr>
            <a:endParaRPr lang="en-GB" sz="1000"/>
          </a:p>
        </p:txBody>
      </p:sp>
    </p:spTree>
    <p:extLst>
      <p:ext uri="{BB962C8B-B14F-4D97-AF65-F5344CB8AC3E}">
        <p14:creationId xmlns:p14="http://schemas.microsoft.com/office/powerpoint/2010/main" val="1404072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miter lim="800000"/>
            <a:headEnd/>
            <a:tailEnd/>
          </a:ln>
        </p:spPr>
        <p:txBody>
          <a:bodyPr/>
          <a:lstStyle/>
          <a:p>
            <a:fld id="{F369D797-3B4A-44AD-B383-48EB8E862DB1}" type="slidenum">
              <a:rPr lang="en-GB" smtClean="0"/>
              <a:pPr/>
              <a:t>18</a:t>
            </a:fld>
            <a:endParaRPr lang="en-GB"/>
          </a:p>
        </p:txBody>
      </p:sp>
      <p:sp>
        <p:nvSpPr>
          <p:cNvPr id="39938" name="Rectangle 2"/>
          <p:cNvSpPr>
            <a:spLocks noGrp="1" noRot="1" noChangeAspect="1" noChangeArrowheads="1" noTextEdit="1"/>
          </p:cNvSpPr>
          <p:nvPr>
            <p:ph type="sldImg"/>
          </p:nvPr>
        </p:nvSpPr>
        <p:spPr>
          <a:xfrm>
            <a:off x="26988" y="744538"/>
            <a:ext cx="6616700" cy="3722687"/>
          </a:xfrm>
          <a:ln/>
        </p:spPr>
      </p:sp>
      <p:sp>
        <p:nvSpPr>
          <p:cNvPr id="39939" name="Rectangle 3"/>
          <p:cNvSpPr>
            <a:spLocks noGrp="1" noChangeArrowheads="1"/>
          </p:cNvSpPr>
          <p:nvPr>
            <p:ph type="body" idx="1"/>
          </p:nvPr>
        </p:nvSpPr>
        <p:spPr>
          <a:xfrm>
            <a:off x="666750" y="4716463"/>
            <a:ext cx="5335588" cy="4465637"/>
          </a:xfrm>
          <a:noFill/>
        </p:spPr>
        <p:txBody>
          <a:bodyPr/>
          <a:lstStyle/>
          <a:p>
            <a:pPr marL="228600" indent="-228600"/>
            <a:endParaRPr lang="en-GB"/>
          </a:p>
        </p:txBody>
      </p:sp>
    </p:spTree>
    <p:extLst>
      <p:ext uri="{BB962C8B-B14F-4D97-AF65-F5344CB8AC3E}">
        <p14:creationId xmlns:p14="http://schemas.microsoft.com/office/powerpoint/2010/main" val="1858987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miter lim="800000"/>
            <a:headEnd/>
            <a:tailEnd/>
          </a:ln>
        </p:spPr>
        <p:txBody>
          <a:bodyPr/>
          <a:lstStyle/>
          <a:p>
            <a:fld id="{89E63B67-E248-4587-A442-6EBA1475BCAB}" type="slidenum">
              <a:rPr lang="en-GB" smtClean="0"/>
              <a:pPr/>
              <a:t>20</a:t>
            </a:fld>
            <a:endParaRPr lang="en-GB"/>
          </a:p>
        </p:txBody>
      </p:sp>
      <p:sp>
        <p:nvSpPr>
          <p:cNvPr id="41986" name="Rectangle 2"/>
          <p:cNvSpPr>
            <a:spLocks noGrp="1" noRot="1" noChangeAspect="1" noChangeArrowheads="1" noTextEdit="1"/>
          </p:cNvSpPr>
          <p:nvPr>
            <p:ph type="sldImg"/>
          </p:nvPr>
        </p:nvSpPr>
        <p:spPr>
          <a:xfrm>
            <a:off x="26988" y="744538"/>
            <a:ext cx="6616700" cy="3722687"/>
          </a:xfrm>
          <a:ln/>
        </p:spPr>
      </p:sp>
      <p:sp>
        <p:nvSpPr>
          <p:cNvPr id="41987" name="Rectangle 3"/>
          <p:cNvSpPr>
            <a:spLocks noGrp="1" noChangeArrowheads="1"/>
          </p:cNvSpPr>
          <p:nvPr>
            <p:ph type="body" idx="1"/>
          </p:nvPr>
        </p:nvSpPr>
        <p:spPr>
          <a:xfrm>
            <a:off x="666750" y="4716463"/>
            <a:ext cx="5335588" cy="4465637"/>
          </a:xfrm>
          <a:noFill/>
        </p:spPr>
        <p:txBody>
          <a:bodyPr/>
          <a:lstStyle/>
          <a:p>
            <a:pPr marL="247650" indent="-247650"/>
            <a:endParaRPr lang="en-GB"/>
          </a:p>
        </p:txBody>
      </p:sp>
    </p:spTree>
    <p:extLst>
      <p:ext uri="{BB962C8B-B14F-4D97-AF65-F5344CB8AC3E}">
        <p14:creationId xmlns:p14="http://schemas.microsoft.com/office/powerpoint/2010/main" val="1823928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ln>
            <a:miter lim="800000"/>
            <a:headEnd/>
            <a:tailEnd/>
          </a:ln>
        </p:spPr>
        <p:txBody>
          <a:bodyPr/>
          <a:lstStyle/>
          <a:p>
            <a:fld id="{C78F4142-F068-4047-B3AB-B7E591B1C017}" type="slidenum">
              <a:rPr lang="en-GB" smtClean="0"/>
              <a:pPr/>
              <a:t>23</a:t>
            </a:fld>
            <a:endParaRPr lang="en-GB"/>
          </a:p>
        </p:txBody>
      </p:sp>
      <p:sp>
        <p:nvSpPr>
          <p:cNvPr id="44034" name="Rectangle 2"/>
          <p:cNvSpPr>
            <a:spLocks noGrp="1" noRot="1" noChangeAspect="1" noChangeArrowheads="1" noTextEdit="1"/>
          </p:cNvSpPr>
          <p:nvPr>
            <p:ph type="sldImg"/>
          </p:nvPr>
        </p:nvSpPr>
        <p:spPr>
          <a:xfrm>
            <a:off x="26988" y="744538"/>
            <a:ext cx="6616700" cy="3722687"/>
          </a:xfrm>
          <a:ln/>
        </p:spPr>
      </p:sp>
      <p:sp>
        <p:nvSpPr>
          <p:cNvPr id="44035" name="Rectangle 3"/>
          <p:cNvSpPr>
            <a:spLocks noGrp="1" noChangeArrowheads="1"/>
          </p:cNvSpPr>
          <p:nvPr>
            <p:ph type="body" idx="1"/>
          </p:nvPr>
        </p:nvSpPr>
        <p:spPr>
          <a:xfrm>
            <a:off x="666750" y="4716463"/>
            <a:ext cx="5335588" cy="4465637"/>
          </a:xfrm>
          <a:noFill/>
        </p:spPr>
        <p:txBody>
          <a:bodyPr/>
          <a:lstStyle/>
          <a:p>
            <a:pPr marL="247650" indent="-247650"/>
            <a:endParaRPr lang="en-GB"/>
          </a:p>
        </p:txBody>
      </p:sp>
    </p:spTree>
    <p:extLst>
      <p:ext uri="{BB962C8B-B14F-4D97-AF65-F5344CB8AC3E}">
        <p14:creationId xmlns:p14="http://schemas.microsoft.com/office/powerpoint/2010/main" val="2530531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ln>
            <a:miter lim="800000"/>
            <a:headEnd/>
            <a:tailEnd/>
          </a:ln>
        </p:spPr>
        <p:txBody>
          <a:bodyPr/>
          <a:lstStyle/>
          <a:p>
            <a:fld id="{81726314-48BE-4774-81EE-85AEF94196C0}" type="slidenum">
              <a:rPr lang="en-GB" smtClean="0"/>
              <a:pPr/>
              <a:t>25</a:t>
            </a:fld>
            <a:endParaRPr lang="en-GB"/>
          </a:p>
        </p:txBody>
      </p:sp>
      <p:sp>
        <p:nvSpPr>
          <p:cNvPr id="46082" name="Rectangle 2"/>
          <p:cNvSpPr>
            <a:spLocks noGrp="1" noRot="1" noChangeAspect="1" noChangeArrowheads="1" noTextEdit="1"/>
          </p:cNvSpPr>
          <p:nvPr>
            <p:ph type="sldImg"/>
          </p:nvPr>
        </p:nvSpPr>
        <p:spPr>
          <a:xfrm>
            <a:off x="26988" y="744538"/>
            <a:ext cx="6616700" cy="3722687"/>
          </a:xfrm>
          <a:ln/>
        </p:spPr>
      </p:sp>
      <p:sp>
        <p:nvSpPr>
          <p:cNvPr id="46083" name="Rectangle 3"/>
          <p:cNvSpPr>
            <a:spLocks noGrp="1" noChangeArrowheads="1"/>
          </p:cNvSpPr>
          <p:nvPr>
            <p:ph type="body" idx="1"/>
          </p:nvPr>
        </p:nvSpPr>
        <p:spPr>
          <a:xfrm>
            <a:off x="666750" y="4716463"/>
            <a:ext cx="5335588" cy="4465637"/>
          </a:xfrm>
          <a:noFill/>
        </p:spPr>
        <p:txBody>
          <a:bodyPr/>
          <a:lstStyle/>
          <a:p>
            <a:pPr marL="228600" indent="-228600">
              <a:lnSpc>
                <a:spcPct val="90000"/>
              </a:lnSpc>
            </a:pPr>
            <a:endParaRPr lang="en-GB" sz="900"/>
          </a:p>
        </p:txBody>
      </p:sp>
    </p:spTree>
    <p:extLst>
      <p:ext uri="{BB962C8B-B14F-4D97-AF65-F5344CB8AC3E}">
        <p14:creationId xmlns:p14="http://schemas.microsoft.com/office/powerpoint/2010/main" val="2040504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7" name="Rectangle 7"/>
          <p:cNvSpPr>
            <a:spLocks noGrp="1" noChangeArrowheads="1"/>
          </p:cNvSpPr>
          <p:nvPr>
            <p:ph type="sldNum" sz="quarter" idx="5"/>
          </p:nvPr>
        </p:nvSpPr>
        <p:spPr>
          <a:noFill/>
          <a:ln>
            <a:miter lim="800000"/>
            <a:headEnd/>
            <a:tailEnd/>
          </a:ln>
        </p:spPr>
        <p:txBody>
          <a:bodyPr/>
          <a:lstStyle/>
          <a:p>
            <a:fld id="{76A3D115-5DB9-43A2-B917-D71C4D84C4E3}" type="slidenum">
              <a:rPr lang="en-GB" smtClean="0"/>
              <a:pPr/>
              <a:t>33</a:t>
            </a:fld>
            <a:endParaRPr lang="en-GB"/>
          </a:p>
        </p:txBody>
      </p:sp>
      <p:sp>
        <p:nvSpPr>
          <p:cNvPr id="1007618" name="Rectangle 2"/>
          <p:cNvSpPr>
            <a:spLocks noGrp="1" noRot="1" noChangeAspect="1" noChangeArrowheads="1" noTextEdit="1"/>
          </p:cNvSpPr>
          <p:nvPr>
            <p:ph type="sldImg"/>
          </p:nvPr>
        </p:nvSpPr>
        <p:spPr>
          <a:xfrm>
            <a:off x="242888" y="865188"/>
            <a:ext cx="6183312" cy="3479800"/>
          </a:xfrm>
          <a:ln/>
        </p:spPr>
      </p:sp>
      <p:sp>
        <p:nvSpPr>
          <p:cNvPr id="1007619" name="Rectangle 3"/>
          <p:cNvSpPr>
            <a:spLocks noGrp="1" noChangeArrowheads="1"/>
          </p:cNvSpPr>
          <p:nvPr>
            <p:ph type="body" idx="1"/>
          </p:nvPr>
        </p:nvSpPr>
        <p:spPr>
          <a:xfrm>
            <a:off x="889000" y="4718050"/>
            <a:ext cx="4891088" cy="4179888"/>
          </a:xfrm>
          <a:noFill/>
        </p:spPr>
        <p:txBody>
          <a:bodyPr/>
          <a:lstStyle/>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231921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89" name="Rectangle 7"/>
          <p:cNvSpPr>
            <a:spLocks noGrp="1" noChangeArrowheads="1"/>
          </p:cNvSpPr>
          <p:nvPr>
            <p:ph type="sldNum" sz="quarter" idx="5"/>
          </p:nvPr>
        </p:nvSpPr>
        <p:spPr>
          <a:noFill/>
          <a:ln>
            <a:miter lim="800000"/>
            <a:headEnd/>
            <a:tailEnd/>
          </a:ln>
        </p:spPr>
        <p:txBody>
          <a:bodyPr/>
          <a:lstStyle/>
          <a:p>
            <a:fld id="{BA5214EF-93F5-454A-A5F3-FFCF678D3354}" type="slidenum">
              <a:rPr lang="en-GB" smtClean="0"/>
              <a:pPr/>
              <a:t>35</a:t>
            </a:fld>
            <a:endParaRPr lang="en-GB"/>
          </a:p>
        </p:txBody>
      </p:sp>
      <p:sp>
        <p:nvSpPr>
          <p:cNvPr id="1010690" name="Rectangle 2"/>
          <p:cNvSpPr>
            <a:spLocks noGrp="1" noRot="1" noChangeAspect="1" noChangeArrowheads="1" noTextEdit="1"/>
          </p:cNvSpPr>
          <p:nvPr>
            <p:ph type="sldImg"/>
          </p:nvPr>
        </p:nvSpPr>
        <p:spPr>
          <a:xfrm>
            <a:off x="242888" y="865188"/>
            <a:ext cx="6184900" cy="3479800"/>
          </a:xfrm>
          <a:ln/>
        </p:spPr>
      </p:sp>
      <p:sp>
        <p:nvSpPr>
          <p:cNvPr id="1010691" name="Rectangle 3"/>
          <p:cNvSpPr>
            <a:spLocks noGrp="1" noChangeArrowheads="1"/>
          </p:cNvSpPr>
          <p:nvPr>
            <p:ph type="body" idx="1"/>
          </p:nvPr>
        </p:nvSpPr>
        <p:spPr>
          <a:xfrm>
            <a:off x="889000" y="4718050"/>
            <a:ext cx="4891088" cy="4179888"/>
          </a:xfrm>
          <a:noFill/>
        </p:spPr>
        <p:txBody>
          <a:bodyPr/>
          <a:lstStyle/>
          <a:p>
            <a:pPr defTabSz="992188"/>
            <a:endParaRPr lang="en-US" dirty="0"/>
          </a:p>
          <a:p>
            <a:pPr defTabSz="992188"/>
            <a:endParaRPr lang="en-US" dirty="0"/>
          </a:p>
          <a:p>
            <a:pPr defTabSz="992188"/>
            <a:r>
              <a:rPr lang="en-US" b="1" dirty="0"/>
              <a:t>Advantages : </a:t>
            </a:r>
          </a:p>
          <a:p>
            <a:pPr defTabSz="992188"/>
            <a:r>
              <a:rPr lang="en-US" dirty="0"/>
              <a:t>(1.) </a:t>
            </a:r>
          </a:p>
          <a:p>
            <a:pPr defTabSz="992188"/>
            <a:endParaRPr lang="en-US" dirty="0"/>
          </a:p>
          <a:p>
            <a:pPr defTabSz="992188"/>
            <a:r>
              <a:rPr lang="en-US" dirty="0"/>
              <a:t>(2.) After 2 periods wealth has not changed !!!</a:t>
            </a:r>
          </a:p>
          <a:p>
            <a:pPr defTabSz="992188"/>
            <a:r>
              <a:rPr lang="en-US" dirty="0"/>
              <a:t>	P</a:t>
            </a:r>
            <a:r>
              <a:rPr lang="en-US" baseline="-25000" dirty="0"/>
              <a:t>t</a:t>
            </a:r>
            <a:r>
              <a:rPr lang="en-US" dirty="0"/>
              <a:t> = 100	P</a:t>
            </a:r>
            <a:r>
              <a:rPr lang="en-US" baseline="-25000" dirty="0"/>
              <a:t>t+1</a:t>
            </a:r>
            <a:r>
              <a:rPr lang="en-US" dirty="0"/>
              <a:t> = 110 	P</a:t>
            </a:r>
            <a:r>
              <a:rPr lang="en-US" baseline="-25000" dirty="0"/>
              <a:t>t+2</a:t>
            </a:r>
            <a:r>
              <a:rPr lang="en-US" dirty="0"/>
              <a:t> = 100</a:t>
            </a:r>
          </a:p>
          <a:p>
            <a:pPr defTabSz="992188"/>
            <a:r>
              <a:rPr lang="en-US" dirty="0"/>
              <a:t>	Rt+1 = ln(110/100) = 9.531%</a:t>
            </a:r>
          </a:p>
          <a:p>
            <a:pPr defTabSz="992188"/>
            <a:r>
              <a:rPr lang="en-US" dirty="0"/>
              <a:t>	Rt+2 = ln(100/110) = -9.531%</a:t>
            </a:r>
          </a:p>
          <a:p>
            <a:pPr defTabSz="992188"/>
            <a:endParaRPr lang="en-US" dirty="0"/>
          </a:p>
          <a:p>
            <a:pPr defTabSz="992188"/>
            <a:r>
              <a:rPr lang="en-US" b="1" dirty="0"/>
              <a:t>	Arithmetic Return</a:t>
            </a:r>
            <a:r>
              <a:rPr lang="en-US" dirty="0"/>
              <a:t> would be : </a:t>
            </a:r>
          </a:p>
          <a:p>
            <a:pPr defTabSz="992188"/>
            <a:r>
              <a:rPr lang="en-US" dirty="0"/>
              <a:t>	Rt+1 = (110-100)/100 = 10%</a:t>
            </a:r>
          </a:p>
          <a:p>
            <a:pPr defTabSz="992188"/>
            <a:r>
              <a:rPr lang="en-US" dirty="0"/>
              <a:t>	Rt+2 = (100-110)/110 = -9.1%</a:t>
            </a:r>
          </a:p>
          <a:p>
            <a:pPr defTabSz="992188"/>
            <a:r>
              <a:rPr lang="en-US" dirty="0"/>
              <a:t>	Average = 0.45% (WRONG !!!). </a:t>
            </a:r>
          </a:p>
        </p:txBody>
      </p:sp>
    </p:spTree>
    <p:extLst>
      <p:ext uri="{BB962C8B-B14F-4D97-AF65-F5344CB8AC3E}">
        <p14:creationId xmlns:p14="http://schemas.microsoft.com/office/powerpoint/2010/main" val="280381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69" name="Rectangle 7"/>
          <p:cNvSpPr>
            <a:spLocks noGrp="1" noChangeArrowheads="1"/>
          </p:cNvSpPr>
          <p:nvPr>
            <p:ph type="sldNum" sz="quarter" idx="5"/>
          </p:nvPr>
        </p:nvSpPr>
        <p:spPr>
          <a:noFill/>
          <a:ln>
            <a:miter lim="800000"/>
            <a:headEnd/>
            <a:tailEnd/>
          </a:ln>
        </p:spPr>
        <p:txBody>
          <a:bodyPr/>
          <a:lstStyle/>
          <a:p>
            <a:fld id="{FFA2C793-6009-4C87-9C76-EA6242879D55}" type="slidenum">
              <a:rPr lang="en-GB" smtClean="0"/>
              <a:pPr/>
              <a:t>37</a:t>
            </a:fld>
            <a:endParaRPr lang="en-GB"/>
          </a:p>
        </p:txBody>
      </p:sp>
      <p:sp>
        <p:nvSpPr>
          <p:cNvPr id="954370" name="Rectangle 2"/>
          <p:cNvSpPr>
            <a:spLocks noGrp="1" noRot="1" noChangeAspect="1" noChangeArrowheads="1" noTextEdit="1"/>
          </p:cNvSpPr>
          <p:nvPr>
            <p:ph type="sldImg"/>
          </p:nvPr>
        </p:nvSpPr>
        <p:spPr>
          <a:xfrm>
            <a:off x="242888" y="865188"/>
            <a:ext cx="6184900" cy="3479800"/>
          </a:xfrm>
          <a:ln/>
        </p:spPr>
      </p:sp>
      <p:sp>
        <p:nvSpPr>
          <p:cNvPr id="954371" name="Rectangle 3"/>
          <p:cNvSpPr>
            <a:spLocks noGrp="1" noChangeArrowheads="1"/>
          </p:cNvSpPr>
          <p:nvPr>
            <p:ph type="body" idx="1"/>
          </p:nvPr>
        </p:nvSpPr>
        <p:spPr>
          <a:xfrm>
            <a:off x="889000" y="4718050"/>
            <a:ext cx="4891088" cy="4179888"/>
          </a:xfrm>
          <a:noFill/>
        </p:spPr>
        <p:txBody>
          <a:bodyPr/>
          <a:lstStyle/>
          <a:p>
            <a:pPr defTabSz="992188"/>
            <a:r>
              <a:rPr lang="en-GB"/>
              <a:t>Scenario Analysis </a:t>
            </a:r>
          </a:p>
          <a:p>
            <a:pPr defTabSz="992188"/>
            <a:r>
              <a:rPr lang="en-GB"/>
              <a:t>Process of devising a list of possible economic scenarios and specific likelihood of each one as well as HPR which will be realised in each case</a:t>
            </a:r>
          </a:p>
          <a:p>
            <a:pPr defTabSz="992188"/>
            <a:endParaRPr lang="en-GB"/>
          </a:p>
          <a:p>
            <a:pPr defTabSz="992188"/>
            <a:r>
              <a:rPr lang="en-GB"/>
              <a:t>Probability Distribution </a:t>
            </a:r>
          </a:p>
          <a:p>
            <a:pPr defTabSz="992188"/>
            <a:r>
              <a:rPr lang="en-GB"/>
              <a:t>List of possible outcomes with assiociated probabilities.  </a:t>
            </a:r>
          </a:p>
        </p:txBody>
      </p:sp>
    </p:spTree>
    <p:extLst>
      <p:ext uri="{BB962C8B-B14F-4D97-AF65-F5344CB8AC3E}">
        <p14:creationId xmlns:p14="http://schemas.microsoft.com/office/powerpoint/2010/main" val="10137139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7" name="Rectangle 7"/>
          <p:cNvSpPr>
            <a:spLocks noGrp="1" noChangeArrowheads="1"/>
          </p:cNvSpPr>
          <p:nvPr>
            <p:ph type="sldNum" sz="quarter" idx="5"/>
          </p:nvPr>
        </p:nvSpPr>
        <p:spPr>
          <a:noFill/>
          <a:ln>
            <a:miter lim="800000"/>
            <a:headEnd/>
            <a:tailEnd/>
          </a:ln>
        </p:spPr>
        <p:txBody>
          <a:bodyPr/>
          <a:lstStyle/>
          <a:p>
            <a:fld id="{BC30EB2A-8637-4EA8-BF56-66F2C317845B}" type="slidenum">
              <a:rPr lang="en-GB" smtClean="0"/>
              <a:pPr/>
              <a:t>45</a:t>
            </a:fld>
            <a:endParaRPr lang="en-GB"/>
          </a:p>
        </p:txBody>
      </p:sp>
      <p:sp>
        <p:nvSpPr>
          <p:cNvPr id="1012738" name="Rectangle 2"/>
          <p:cNvSpPr>
            <a:spLocks noGrp="1" noRot="1" noChangeAspect="1" noChangeArrowheads="1" noTextEdit="1"/>
          </p:cNvSpPr>
          <p:nvPr>
            <p:ph type="sldImg"/>
          </p:nvPr>
        </p:nvSpPr>
        <p:spPr>
          <a:xfrm>
            <a:off x="26988" y="744538"/>
            <a:ext cx="6616700" cy="3722687"/>
          </a:xfrm>
          <a:ln/>
        </p:spPr>
      </p:sp>
      <p:sp>
        <p:nvSpPr>
          <p:cNvPr id="1012739" name="Rectangle 3"/>
          <p:cNvSpPr>
            <a:spLocks noGrp="1" noChangeArrowheads="1"/>
          </p:cNvSpPr>
          <p:nvPr>
            <p:ph type="body" idx="1"/>
          </p:nvPr>
        </p:nvSpPr>
        <p:spPr>
          <a:noFill/>
        </p:spPr>
        <p:txBody>
          <a:bodyPr/>
          <a:lstStyle/>
          <a:p>
            <a:endParaRPr lang="en-GB" sz="1000"/>
          </a:p>
        </p:txBody>
      </p:sp>
    </p:spTree>
    <p:extLst>
      <p:ext uri="{BB962C8B-B14F-4D97-AF65-F5344CB8AC3E}">
        <p14:creationId xmlns:p14="http://schemas.microsoft.com/office/powerpoint/2010/main" val="13134698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0DDA1CF-CC3B-52BE-93DB-F49F04C33559}"/>
              </a:ext>
            </a:extLst>
          </p:cNvPr>
          <p:cNvSpPr>
            <a:spLocks noGrp="1"/>
          </p:cNvSpPr>
          <p:nvPr>
            <p:ph type="title" hasCustomPrompt="1"/>
          </p:nvPr>
        </p:nvSpPr>
        <p:spPr>
          <a:xfrm>
            <a:off x="7142205" y="2331889"/>
            <a:ext cx="4707924" cy="1296144"/>
          </a:xfrm>
        </p:spPr>
        <p:txBody>
          <a:bodyPr/>
          <a:lstStyle>
            <a:lvl1pPr algn="l">
              <a:defRPr sz="4000" b="1" i="0">
                <a:solidFill>
                  <a:schemeClr val="bg1"/>
                </a:solidFill>
                <a:latin typeface="Arial" charset="0"/>
                <a:ea typeface="Arial" charset="0"/>
                <a:cs typeface="Arial" charset="0"/>
              </a:defRPr>
            </a:lvl1pPr>
          </a:lstStyle>
          <a:p>
            <a:r>
              <a:rPr lang="en-US" dirty="0"/>
              <a:t>Title here </a:t>
            </a:r>
            <a:br>
              <a:rPr lang="en-US" dirty="0"/>
            </a:br>
            <a:r>
              <a:rPr lang="en-US" dirty="0"/>
              <a:t>(Cover option 1)</a:t>
            </a:r>
          </a:p>
        </p:txBody>
      </p:sp>
      <p:sp>
        <p:nvSpPr>
          <p:cNvPr id="8" name="Content Placeholder 2">
            <a:extLst>
              <a:ext uri="{FF2B5EF4-FFF2-40B4-BE49-F238E27FC236}">
                <a16:creationId xmlns:a16="http://schemas.microsoft.com/office/drawing/2014/main" id="{E4F37063-BEEF-7D62-9408-D095FAB10455}"/>
              </a:ext>
            </a:extLst>
          </p:cNvPr>
          <p:cNvSpPr>
            <a:spLocks noGrp="1"/>
          </p:cNvSpPr>
          <p:nvPr>
            <p:ph idx="1" hasCustomPrompt="1"/>
          </p:nvPr>
        </p:nvSpPr>
        <p:spPr>
          <a:xfrm>
            <a:off x="7141393" y="3988073"/>
            <a:ext cx="4707924" cy="485073"/>
          </a:xfrm>
        </p:spPr>
        <p:txBody>
          <a:bodyPr/>
          <a:lstStyle>
            <a:lvl1pPr marL="0" indent="0" algn="l">
              <a:buClr>
                <a:srgbClr val="C9122B"/>
              </a:buClr>
              <a:buFont typeface="Lucida Grande"/>
              <a:buNone/>
              <a:defRPr sz="2800">
                <a:solidFill>
                  <a:schemeClr val="bg1"/>
                </a:solidFill>
              </a:defRPr>
            </a:lvl1pPr>
            <a:lvl2pPr marL="347659" indent="-166686">
              <a:buClr>
                <a:srgbClr val="C9122B"/>
              </a:buClr>
              <a:buFont typeface="Lucida Grande"/>
              <a:buChar char="■"/>
              <a:defRPr/>
            </a:lvl2pPr>
            <a:lvl3pPr marL="538158" indent="-188911">
              <a:buClr>
                <a:srgbClr val="C9122B"/>
              </a:buClr>
              <a:buFont typeface="Lucida Grande"/>
              <a:buChar char="■"/>
              <a:defRPr/>
            </a:lvl3pPr>
            <a:lvl4pPr marL="712781" indent="-173037">
              <a:buClr>
                <a:srgbClr val="C9122B"/>
              </a:buClr>
              <a:buFont typeface="Lucida Grande"/>
              <a:buChar char="■"/>
              <a:defRPr sz="1800"/>
            </a:lvl4pPr>
            <a:lvl5pPr marL="898516" indent="-184148">
              <a:buClr>
                <a:srgbClr val="C9122B"/>
              </a:buClr>
              <a:buFont typeface="Lucida Grande"/>
              <a:buChar char="■"/>
              <a:defRPr sz="1800"/>
            </a:lvl5pPr>
          </a:lstStyle>
          <a:p>
            <a:pPr lvl="0"/>
            <a:r>
              <a:rPr lang="en-US" dirty="0"/>
              <a:t>Subtitle here</a:t>
            </a:r>
          </a:p>
        </p:txBody>
      </p:sp>
    </p:spTree>
    <p:extLst>
      <p:ext uri="{BB962C8B-B14F-4D97-AF65-F5344CB8AC3E}">
        <p14:creationId xmlns:p14="http://schemas.microsoft.com/office/powerpoint/2010/main" val="2163132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0DDA1CF-CC3B-52BE-93DB-F49F04C33559}"/>
              </a:ext>
            </a:extLst>
          </p:cNvPr>
          <p:cNvSpPr>
            <a:spLocks noGrp="1"/>
          </p:cNvSpPr>
          <p:nvPr>
            <p:ph type="title" hasCustomPrompt="1"/>
          </p:nvPr>
        </p:nvSpPr>
        <p:spPr>
          <a:xfrm>
            <a:off x="296561" y="2331889"/>
            <a:ext cx="4707924" cy="1296144"/>
          </a:xfrm>
        </p:spPr>
        <p:txBody>
          <a:bodyPr/>
          <a:lstStyle>
            <a:lvl1pPr algn="l">
              <a:defRPr sz="4000" b="1" i="0">
                <a:solidFill>
                  <a:schemeClr val="bg1"/>
                </a:solidFill>
                <a:latin typeface="Arial" charset="0"/>
                <a:ea typeface="Arial" charset="0"/>
                <a:cs typeface="Arial" charset="0"/>
              </a:defRPr>
            </a:lvl1pPr>
          </a:lstStyle>
          <a:p>
            <a:r>
              <a:rPr lang="en-US" dirty="0"/>
              <a:t>Title here </a:t>
            </a:r>
            <a:br>
              <a:rPr lang="en-US" dirty="0"/>
            </a:br>
            <a:r>
              <a:rPr lang="en-US" dirty="0"/>
              <a:t>(Cover option 2)</a:t>
            </a:r>
          </a:p>
        </p:txBody>
      </p:sp>
      <p:sp>
        <p:nvSpPr>
          <p:cNvPr id="8" name="Content Placeholder 2">
            <a:extLst>
              <a:ext uri="{FF2B5EF4-FFF2-40B4-BE49-F238E27FC236}">
                <a16:creationId xmlns:a16="http://schemas.microsoft.com/office/drawing/2014/main" id="{E4F37063-BEEF-7D62-9408-D095FAB10455}"/>
              </a:ext>
            </a:extLst>
          </p:cNvPr>
          <p:cNvSpPr>
            <a:spLocks noGrp="1"/>
          </p:cNvSpPr>
          <p:nvPr>
            <p:ph idx="1" hasCustomPrompt="1"/>
          </p:nvPr>
        </p:nvSpPr>
        <p:spPr>
          <a:xfrm>
            <a:off x="295749" y="3988073"/>
            <a:ext cx="4707924" cy="485073"/>
          </a:xfrm>
        </p:spPr>
        <p:txBody>
          <a:bodyPr/>
          <a:lstStyle>
            <a:lvl1pPr marL="0" indent="0" algn="l">
              <a:buClr>
                <a:srgbClr val="C9122B"/>
              </a:buClr>
              <a:buFont typeface="Lucida Grande"/>
              <a:buNone/>
              <a:defRPr sz="2800">
                <a:solidFill>
                  <a:schemeClr val="bg1"/>
                </a:solidFill>
              </a:defRPr>
            </a:lvl1pPr>
            <a:lvl2pPr marL="347659" indent="-166686">
              <a:buClr>
                <a:srgbClr val="C9122B"/>
              </a:buClr>
              <a:buFont typeface="Lucida Grande"/>
              <a:buChar char="■"/>
              <a:defRPr/>
            </a:lvl2pPr>
            <a:lvl3pPr marL="538158" indent="-188911">
              <a:buClr>
                <a:srgbClr val="C9122B"/>
              </a:buClr>
              <a:buFont typeface="Lucida Grande"/>
              <a:buChar char="■"/>
              <a:defRPr/>
            </a:lvl3pPr>
            <a:lvl4pPr marL="712781" indent="-173037">
              <a:buClr>
                <a:srgbClr val="C9122B"/>
              </a:buClr>
              <a:buFont typeface="Lucida Grande"/>
              <a:buChar char="■"/>
              <a:defRPr sz="1800"/>
            </a:lvl4pPr>
            <a:lvl5pPr marL="898516" indent="-184148">
              <a:buClr>
                <a:srgbClr val="C9122B"/>
              </a:buClr>
              <a:buFont typeface="Lucida Grande"/>
              <a:buChar char="■"/>
              <a:defRPr sz="1800"/>
            </a:lvl5pPr>
          </a:lstStyle>
          <a:p>
            <a:pPr lvl="0"/>
            <a:r>
              <a:rPr lang="en-US" dirty="0"/>
              <a:t>Subtitle here</a:t>
            </a:r>
          </a:p>
        </p:txBody>
      </p:sp>
    </p:spTree>
    <p:extLst>
      <p:ext uri="{BB962C8B-B14F-4D97-AF65-F5344CB8AC3E}">
        <p14:creationId xmlns:p14="http://schemas.microsoft.com/office/powerpoint/2010/main" val="2149405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0DDA1CF-CC3B-52BE-93DB-F49F04C33559}"/>
              </a:ext>
            </a:extLst>
          </p:cNvPr>
          <p:cNvSpPr>
            <a:spLocks noGrp="1"/>
          </p:cNvSpPr>
          <p:nvPr>
            <p:ph type="title" hasCustomPrompt="1"/>
          </p:nvPr>
        </p:nvSpPr>
        <p:spPr>
          <a:xfrm>
            <a:off x="2681415" y="428948"/>
            <a:ext cx="9156358" cy="1296144"/>
          </a:xfrm>
        </p:spPr>
        <p:txBody>
          <a:bodyPr/>
          <a:lstStyle>
            <a:lvl1pPr algn="l">
              <a:defRPr sz="4000" b="1" i="0">
                <a:solidFill>
                  <a:schemeClr val="bg1"/>
                </a:solidFill>
                <a:latin typeface="Arial" charset="0"/>
                <a:ea typeface="Arial" charset="0"/>
                <a:cs typeface="Arial" charset="0"/>
              </a:defRPr>
            </a:lvl1pPr>
          </a:lstStyle>
          <a:p>
            <a:r>
              <a:rPr lang="en-US" dirty="0"/>
              <a:t>Title here </a:t>
            </a:r>
            <a:br>
              <a:rPr lang="en-US" dirty="0"/>
            </a:br>
            <a:r>
              <a:rPr lang="en-US" dirty="0"/>
              <a:t>(Cover option 2)</a:t>
            </a:r>
          </a:p>
        </p:txBody>
      </p:sp>
      <p:sp>
        <p:nvSpPr>
          <p:cNvPr id="8" name="Content Placeholder 2">
            <a:extLst>
              <a:ext uri="{FF2B5EF4-FFF2-40B4-BE49-F238E27FC236}">
                <a16:creationId xmlns:a16="http://schemas.microsoft.com/office/drawing/2014/main" id="{E4F37063-BEEF-7D62-9408-D095FAB10455}"/>
              </a:ext>
            </a:extLst>
          </p:cNvPr>
          <p:cNvSpPr>
            <a:spLocks noGrp="1"/>
          </p:cNvSpPr>
          <p:nvPr>
            <p:ph idx="1" hasCustomPrompt="1"/>
          </p:nvPr>
        </p:nvSpPr>
        <p:spPr>
          <a:xfrm>
            <a:off x="2680603" y="2085132"/>
            <a:ext cx="9156358" cy="4343920"/>
          </a:xfrm>
        </p:spPr>
        <p:txBody>
          <a:bodyPr/>
          <a:lstStyle>
            <a:lvl1pPr marL="0" indent="0" algn="l">
              <a:buClr>
                <a:srgbClr val="C9122B"/>
              </a:buClr>
              <a:buFont typeface="Lucida Grande"/>
              <a:buNone/>
              <a:defRPr sz="2800">
                <a:solidFill>
                  <a:schemeClr val="bg1"/>
                </a:solidFill>
              </a:defRPr>
            </a:lvl1pPr>
            <a:lvl2pPr marL="347659" indent="-166686">
              <a:buClr>
                <a:srgbClr val="C9122B"/>
              </a:buClr>
              <a:buFont typeface="Lucida Grande"/>
              <a:buChar char="■"/>
              <a:defRPr/>
            </a:lvl2pPr>
            <a:lvl3pPr marL="538158" indent="-188911">
              <a:buClr>
                <a:srgbClr val="C9122B"/>
              </a:buClr>
              <a:buFont typeface="Lucida Grande"/>
              <a:buChar char="■"/>
              <a:defRPr/>
            </a:lvl3pPr>
            <a:lvl4pPr marL="712781" indent="-173037">
              <a:buClr>
                <a:srgbClr val="C9122B"/>
              </a:buClr>
              <a:buFont typeface="Lucida Grande"/>
              <a:buChar char="■"/>
              <a:defRPr sz="1800"/>
            </a:lvl4pPr>
            <a:lvl5pPr marL="898516" indent="-184148">
              <a:buClr>
                <a:srgbClr val="C9122B"/>
              </a:buClr>
              <a:buFont typeface="Lucida Grande"/>
              <a:buChar char="■"/>
              <a:defRPr sz="1800"/>
            </a:lvl5pPr>
          </a:lstStyle>
          <a:p>
            <a:pPr lvl="0"/>
            <a:r>
              <a:rPr lang="en-US" dirty="0"/>
              <a:t>Subtitle here</a:t>
            </a:r>
          </a:p>
        </p:txBody>
      </p:sp>
    </p:spTree>
    <p:extLst>
      <p:ext uri="{BB962C8B-B14F-4D97-AF65-F5344CB8AC3E}">
        <p14:creationId xmlns:p14="http://schemas.microsoft.com/office/powerpoint/2010/main" val="2125316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7548" y="335268"/>
            <a:ext cx="9324290" cy="785542"/>
          </a:xfrm>
          <a:noFill/>
        </p:spPr>
        <p:txBody>
          <a:bodyPr/>
          <a:lstStyle>
            <a:lvl1pPr>
              <a:defRPr>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437548" y="1309816"/>
            <a:ext cx="9324290" cy="5141784"/>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05315998"/>
      </p:ext>
    </p:extLst>
  </p:cSld>
  <p:clrMapOvr>
    <a:masterClrMapping/>
  </p:clrMapOvr>
  <p:extLst>
    <p:ext uri="{DCECCB84-F9BA-43D5-87BE-67443E8EF086}">
      <p15:sldGuideLst xmlns:p15="http://schemas.microsoft.com/office/powerpoint/2012/main">
        <p15:guide id="1" orient="horz" pos="799">
          <p15:clr>
            <a:srgbClr val="FBAE40"/>
          </p15:clr>
        </p15:guide>
        <p15:guide id="2" pos="301">
          <p15:clr>
            <a:srgbClr val="FBAE40"/>
          </p15:clr>
        </p15:guide>
        <p15:guide id="3" pos="737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7547" y="332258"/>
            <a:ext cx="9200723" cy="785542"/>
          </a:xfrm>
          <a:noFill/>
        </p:spPr>
        <p:txBody>
          <a:bodyPr/>
          <a:lstStyle>
            <a:lvl1pPr>
              <a:defRPr>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437547" y="1309817"/>
            <a:ext cx="10399329" cy="5141784"/>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27822158"/>
      </p:ext>
    </p:extLst>
  </p:cSld>
  <p:clrMapOvr>
    <a:masterClrMapping/>
  </p:clrMapOvr>
  <p:extLst>
    <p:ext uri="{DCECCB84-F9BA-43D5-87BE-67443E8EF086}">
      <p15:sldGuideLst xmlns:p15="http://schemas.microsoft.com/office/powerpoint/2012/main">
        <p15:guide id="1" orient="horz" pos="799">
          <p15:clr>
            <a:srgbClr val="FBAE40"/>
          </p15:clr>
        </p15:guide>
        <p15:guide id="2" pos="301">
          <p15:clr>
            <a:srgbClr val="FBAE40"/>
          </p15:clr>
        </p15:guide>
        <p15:guide id="3" pos="737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C6F6B355-92FE-8F40-AFC6-7F97430F3C44}"/>
              </a:ext>
            </a:extLst>
          </p:cNvPr>
          <p:cNvSpPr>
            <a:spLocks noGrp="1"/>
          </p:cNvSpPr>
          <p:nvPr>
            <p:ph sz="half" idx="2"/>
          </p:nvPr>
        </p:nvSpPr>
        <p:spPr>
          <a:xfrm>
            <a:off x="6301154" y="1458097"/>
            <a:ext cx="3831387" cy="5141784"/>
          </a:xfrm>
        </p:spPr>
        <p:txBody>
          <a:bodyPr/>
          <a:lstStyle>
            <a:lvl1pPr marL="134541" indent="-134541">
              <a:buClr>
                <a:srgbClr val="C9122B"/>
              </a:buClr>
              <a:buFont typeface="Lucida Grande"/>
              <a:buChar char="■"/>
              <a:defRPr sz="1800"/>
            </a:lvl1pPr>
            <a:lvl2pPr marL="260747" indent="-125016">
              <a:buClr>
                <a:srgbClr val="C9122B"/>
              </a:buClr>
              <a:buFont typeface="Lucida Grande"/>
              <a:buChar char="■"/>
              <a:defRPr sz="1650"/>
            </a:lvl2pPr>
            <a:lvl3pPr marL="403622" indent="-141685">
              <a:buClr>
                <a:srgbClr val="C9122B"/>
              </a:buClr>
              <a:buFont typeface="Lucida Grande"/>
              <a:buChar char="■"/>
              <a:defRPr sz="1500"/>
            </a:lvl3pPr>
            <a:lvl4pPr marL="534591" indent="-129779">
              <a:buClr>
                <a:srgbClr val="C9122B"/>
              </a:buClr>
              <a:buFont typeface="Lucida Grande"/>
              <a:buChar char="■"/>
              <a:defRPr sz="1350"/>
            </a:lvl4pPr>
            <a:lvl5pPr marL="673894" indent="-138113">
              <a:buClr>
                <a:srgbClr val="C9122B"/>
              </a:buClr>
              <a:buFont typeface="Lucida Grande"/>
              <a:buChar char="■"/>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6B37A479-2A14-1544-9DFD-0E49B60F4DD8}"/>
              </a:ext>
            </a:extLst>
          </p:cNvPr>
          <p:cNvSpPr>
            <a:spLocks noGrp="1"/>
          </p:cNvSpPr>
          <p:nvPr>
            <p:ph type="title"/>
          </p:nvPr>
        </p:nvSpPr>
        <p:spPr>
          <a:xfrm>
            <a:off x="438376" y="344415"/>
            <a:ext cx="9088683" cy="785542"/>
          </a:xfrm>
          <a:noFill/>
        </p:spPr>
        <p:txBody>
          <a:bodyPr/>
          <a:lstStyle>
            <a:lvl1pPr>
              <a:defRPr>
                <a:solidFill>
                  <a:schemeClr val="tx1"/>
                </a:solidFill>
              </a:defRPr>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23517C1E-EE6F-E246-8DCE-66C8D904C87E}"/>
              </a:ext>
            </a:extLst>
          </p:cNvPr>
          <p:cNvSpPr>
            <a:spLocks noGrp="1"/>
          </p:cNvSpPr>
          <p:nvPr>
            <p:ph idx="1"/>
          </p:nvPr>
        </p:nvSpPr>
        <p:spPr>
          <a:xfrm>
            <a:off x="437547" y="1458097"/>
            <a:ext cx="5658453" cy="5141784"/>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31070946"/>
      </p:ext>
    </p:extLst>
  </p:cSld>
  <p:clrMapOvr>
    <a:masterClrMapping/>
  </p:clrMapOvr>
  <p:extLst>
    <p:ext uri="{DCECCB84-F9BA-43D5-87BE-67443E8EF086}">
      <p15:sldGuideLst xmlns:p15="http://schemas.microsoft.com/office/powerpoint/2012/main">
        <p15:guide id="1" orient="horz" pos="4133">
          <p15:clr>
            <a:srgbClr val="FBAE40"/>
          </p15:clr>
        </p15:guide>
        <p15:guide id="2" pos="7379">
          <p15:clr>
            <a:srgbClr val="FBAE40"/>
          </p15:clr>
        </p15:guide>
        <p15:guide id="3" pos="3719">
          <p15:clr>
            <a:srgbClr val="FBAE40"/>
          </p15:clr>
        </p15:guide>
        <p15:guide id="4" pos="3961">
          <p15:clr>
            <a:srgbClr val="FBAE40"/>
          </p15:clr>
        </p15:guide>
        <p15:guide id="5" orient="horz" pos="324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C6F6B355-92FE-8F40-AFC6-7F97430F3C44}"/>
              </a:ext>
            </a:extLst>
          </p:cNvPr>
          <p:cNvSpPr>
            <a:spLocks noGrp="1"/>
          </p:cNvSpPr>
          <p:nvPr>
            <p:ph sz="half" idx="2"/>
          </p:nvPr>
        </p:nvSpPr>
        <p:spPr>
          <a:xfrm>
            <a:off x="6299497" y="1285103"/>
            <a:ext cx="4537379" cy="5166497"/>
          </a:xfrm>
        </p:spPr>
        <p:txBody>
          <a:bodyPr/>
          <a:lstStyle>
            <a:lvl1pPr marL="134541" indent="-134541">
              <a:buClr>
                <a:srgbClr val="C9122B"/>
              </a:buClr>
              <a:buFont typeface="Lucida Grande"/>
              <a:buChar char="■"/>
              <a:defRPr sz="1800"/>
            </a:lvl1pPr>
            <a:lvl2pPr marL="260747" indent="-125016">
              <a:buClr>
                <a:srgbClr val="C9122B"/>
              </a:buClr>
              <a:buFont typeface="Lucida Grande"/>
              <a:buChar char="■"/>
              <a:defRPr sz="1650"/>
            </a:lvl2pPr>
            <a:lvl3pPr marL="403622" indent="-141685">
              <a:buClr>
                <a:srgbClr val="C9122B"/>
              </a:buClr>
              <a:buFont typeface="Lucida Grande"/>
              <a:buChar char="■"/>
              <a:defRPr sz="1500"/>
            </a:lvl3pPr>
            <a:lvl4pPr marL="534591" indent="-129779">
              <a:buClr>
                <a:srgbClr val="C9122B"/>
              </a:buClr>
              <a:buFont typeface="Lucida Grande"/>
              <a:buChar char="■"/>
              <a:defRPr sz="1350"/>
            </a:lvl4pPr>
            <a:lvl5pPr marL="673894" indent="-138113">
              <a:buClr>
                <a:srgbClr val="C9122B"/>
              </a:buClr>
              <a:buFont typeface="Lucida Grande"/>
              <a:buChar char="■"/>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6B37A479-2A14-1544-9DFD-0E49B60F4DD8}"/>
              </a:ext>
            </a:extLst>
          </p:cNvPr>
          <p:cNvSpPr>
            <a:spLocks noGrp="1"/>
          </p:cNvSpPr>
          <p:nvPr>
            <p:ph type="title"/>
          </p:nvPr>
        </p:nvSpPr>
        <p:spPr>
          <a:xfrm>
            <a:off x="437547" y="298197"/>
            <a:ext cx="9250149" cy="785542"/>
          </a:xfrm>
          <a:noFill/>
        </p:spPr>
        <p:txBody>
          <a:bodyPr/>
          <a:lstStyle>
            <a:lvl1pPr>
              <a:defRPr>
                <a:solidFill>
                  <a:schemeClr val="tx1"/>
                </a:solidFill>
              </a:defRPr>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23517C1E-EE6F-E246-8DCE-66C8D904C87E}"/>
              </a:ext>
            </a:extLst>
          </p:cNvPr>
          <p:cNvSpPr>
            <a:spLocks noGrp="1"/>
          </p:cNvSpPr>
          <p:nvPr>
            <p:ph idx="1"/>
          </p:nvPr>
        </p:nvSpPr>
        <p:spPr>
          <a:xfrm>
            <a:off x="437547" y="1285103"/>
            <a:ext cx="5658453" cy="5166497"/>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6286898"/>
      </p:ext>
    </p:extLst>
  </p:cSld>
  <p:clrMapOvr>
    <a:masterClrMapping/>
  </p:clrMapOvr>
  <p:extLst>
    <p:ext uri="{DCECCB84-F9BA-43D5-87BE-67443E8EF086}">
      <p15:sldGuideLst xmlns:p15="http://schemas.microsoft.com/office/powerpoint/2012/main">
        <p15:guide id="1" orient="horz" pos="4133">
          <p15:clr>
            <a:srgbClr val="FBAE40"/>
          </p15:clr>
        </p15:guide>
        <p15:guide id="2" pos="7379">
          <p15:clr>
            <a:srgbClr val="FBAE40"/>
          </p15:clr>
        </p15:guide>
        <p15:guide id="3" pos="3719">
          <p15:clr>
            <a:srgbClr val="FBAE40"/>
          </p15:clr>
        </p15:guide>
        <p15:guide id="4" pos="3961">
          <p15:clr>
            <a:srgbClr val="FBAE40"/>
          </p15:clr>
        </p15:guide>
        <p15:guide id="5" orient="horz" pos="324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08345D86-D420-FF49-8849-9F3A0AD28E56}"/>
              </a:ext>
            </a:extLst>
          </p:cNvPr>
          <p:cNvSpPr>
            <a:spLocks noGrp="1"/>
          </p:cNvSpPr>
          <p:nvPr>
            <p:ph type="pic" idx="10"/>
          </p:nvPr>
        </p:nvSpPr>
        <p:spPr>
          <a:xfrm>
            <a:off x="6299497" y="1334530"/>
            <a:ext cx="3462341" cy="5117069"/>
          </a:xfrm>
        </p:spPr>
        <p:txBody>
          <a:bodyPr/>
          <a:lstStyle>
            <a:lvl1pPr marL="0" indent="0">
              <a:buNone/>
              <a:defRPr sz="18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10" name="Title 1">
            <a:extLst>
              <a:ext uri="{FF2B5EF4-FFF2-40B4-BE49-F238E27FC236}">
                <a16:creationId xmlns:a16="http://schemas.microsoft.com/office/drawing/2014/main" id="{97496A52-D758-0B4A-89BF-3CD4F59966FA}"/>
              </a:ext>
            </a:extLst>
          </p:cNvPr>
          <p:cNvSpPr>
            <a:spLocks noGrp="1"/>
          </p:cNvSpPr>
          <p:nvPr>
            <p:ph type="title"/>
          </p:nvPr>
        </p:nvSpPr>
        <p:spPr>
          <a:xfrm>
            <a:off x="438376" y="319903"/>
            <a:ext cx="9323462" cy="785542"/>
          </a:xfrm>
          <a:noFill/>
        </p:spPr>
        <p:txBody>
          <a:bodyPr/>
          <a:lstStyle>
            <a:lvl1pPr>
              <a:defRPr>
                <a:solidFill>
                  <a:schemeClr val="tx1"/>
                </a:solidFill>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0D1ADA29-50F7-A347-969E-20006A64FA7F}"/>
              </a:ext>
            </a:extLst>
          </p:cNvPr>
          <p:cNvSpPr>
            <a:spLocks noGrp="1"/>
          </p:cNvSpPr>
          <p:nvPr>
            <p:ph idx="1"/>
          </p:nvPr>
        </p:nvSpPr>
        <p:spPr>
          <a:xfrm>
            <a:off x="437547" y="1334530"/>
            <a:ext cx="5658453" cy="5117070"/>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6600878"/>
      </p:ext>
    </p:extLst>
  </p:cSld>
  <p:clrMapOvr>
    <a:masterClrMapping/>
  </p:clrMapOvr>
  <p:extLst>
    <p:ext uri="{DCECCB84-F9BA-43D5-87BE-67443E8EF086}">
      <p15:sldGuideLst xmlns:p15="http://schemas.microsoft.com/office/powerpoint/2012/main">
        <p15:guide id="1" orient="horz" pos="3249">
          <p15:clr>
            <a:srgbClr val="FBAE40"/>
          </p15:clr>
        </p15:guide>
        <p15:guide id="2" pos="301">
          <p15:clr>
            <a:srgbClr val="FBAE40"/>
          </p15:clr>
        </p15:guide>
        <p15:guide id="3" pos="737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08345D86-D420-FF49-8849-9F3A0AD28E56}"/>
              </a:ext>
            </a:extLst>
          </p:cNvPr>
          <p:cNvSpPr>
            <a:spLocks noGrp="1"/>
          </p:cNvSpPr>
          <p:nvPr>
            <p:ph type="pic" idx="10"/>
          </p:nvPr>
        </p:nvSpPr>
        <p:spPr>
          <a:xfrm>
            <a:off x="6299497" y="1322173"/>
            <a:ext cx="4549735" cy="5129425"/>
          </a:xfrm>
        </p:spPr>
        <p:txBody>
          <a:bodyPr/>
          <a:lstStyle>
            <a:lvl1pPr marL="0" indent="0">
              <a:buNone/>
              <a:defRPr sz="18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10" name="Title 1">
            <a:extLst>
              <a:ext uri="{FF2B5EF4-FFF2-40B4-BE49-F238E27FC236}">
                <a16:creationId xmlns:a16="http://schemas.microsoft.com/office/drawing/2014/main" id="{97496A52-D758-0B4A-89BF-3CD4F59966FA}"/>
              </a:ext>
            </a:extLst>
          </p:cNvPr>
          <p:cNvSpPr>
            <a:spLocks noGrp="1"/>
          </p:cNvSpPr>
          <p:nvPr>
            <p:ph type="title"/>
          </p:nvPr>
        </p:nvSpPr>
        <p:spPr>
          <a:xfrm>
            <a:off x="437547" y="310554"/>
            <a:ext cx="9237794" cy="785542"/>
          </a:xfrm>
          <a:noFill/>
        </p:spPr>
        <p:txBody>
          <a:bodyPr/>
          <a:lstStyle>
            <a:lvl1pPr>
              <a:defRPr>
                <a:solidFill>
                  <a:schemeClr val="tx1"/>
                </a:solidFill>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0D1ADA29-50F7-A347-969E-20006A64FA7F}"/>
              </a:ext>
            </a:extLst>
          </p:cNvPr>
          <p:cNvSpPr>
            <a:spLocks noGrp="1"/>
          </p:cNvSpPr>
          <p:nvPr>
            <p:ph idx="1"/>
          </p:nvPr>
        </p:nvSpPr>
        <p:spPr>
          <a:xfrm>
            <a:off x="437547" y="1322174"/>
            <a:ext cx="5658453" cy="5129426"/>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6573843"/>
      </p:ext>
    </p:extLst>
  </p:cSld>
  <p:clrMapOvr>
    <a:masterClrMapping/>
  </p:clrMapOvr>
  <p:extLst>
    <p:ext uri="{DCECCB84-F9BA-43D5-87BE-67443E8EF086}">
      <p15:sldGuideLst xmlns:p15="http://schemas.microsoft.com/office/powerpoint/2012/main">
        <p15:guide id="1" orient="horz" pos="3249">
          <p15:clr>
            <a:srgbClr val="FBAE40"/>
          </p15:clr>
        </p15:guide>
        <p15:guide id="2" pos="301">
          <p15:clr>
            <a:srgbClr val="FBAE40"/>
          </p15:clr>
        </p15:guide>
        <p15:guide id="3" pos="737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09B93E9-946F-6845-8402-931426E912D4}"/>
              </a:ext>
            </a:extLst>
          </p:cNvPr>
          <p:cNvSpPr>
            <a:spLocks noGrp="1"/>
          </p:cNvSpPr>
          <p:nvPr>
            <p:ph type="title"/>
          </p:nvPr>
        </p:nvSpPr>
        <p:spPr>
          <a:xfrm>
            <a:off x="437547" y="5107276"/>
            <a:ext cx="9064798" cy="515216"/>
          </a:xfrm>
        </p:spPr>
        <p:txBody>
          <a:bodyPr anchor="b"/>
          <a:lstStyle>
            <a:lvl1pPr algn="l">
              <a:defRPr sz="1500" b="1">
                <a:solidFill>
                  <a:schemeClr val="tx1"/>
                </a:solidFill>
              </a:defRPr>
            </a:lvl1pPr>
          </a:lstStyle>
          <a:p>
            <a:r>
              <a:rPr lang="en-US"/>
              <a:t>Click to edit Master title style</a:t>
            </a:r>
            <a:endParaRPr lang="en-US" dirty="0"/>
          </a:p>
        </p:txBody>
      </p:sp>
      <p:sp>
        <p:nvSpPr>
          <p:cNvPr id="7" name="Picture Placeholder 2">
            <a:extLst>
              <a:ext uri="{FF2B5EF4-FFF2-40B4-BE49-F238E27FC236}">
                <a16:creationId xmlns:a16="http://schemas.microsoft.com/office/drawing/2014/main" id="{1B72CCB6-2CD4-EF46-AEC6-D480E2696D88}"/>
              </a:ext>
            </a:extLst>
          </p:cNvPr>
          <p:cNvSpPr>
            <a:spLocks noGrp="1"/>
          </p:cNvSpPr>
          <p:nvPr>
            <p:ph type="pic" idx="1"/>
          </p:nvPr>
        </p:nvSpPr>
        <p:spPr>
          <a:xfrm>
            <a:off x="437547" y="441470"/>
            <a:ext cx="9064799" cy="447053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8" name="Text Placeholder 3">
            <a:extLst>
              <a:ext uri="{FF2B5EF4-FFF2-40B4-BE49-F238E27FC236}">
                <a16:creationId xmlns:a16="http://schemas.microsoft.com/office/drawing/2014/main" id="{6E0B6D0F-76A7-FD4E-9B91-21EA5661FEF8}"/>
              </a:ext>
            </a:extLst>
          </p:cNvPr>
          <p:cNvSpPr>
            <a:spLocks noGrp="1"/>
          </p:cNvSpPr>
          <p:nvPr>
            <p:ph type="body" sz="half" idx="2"/>
          </p:nvPr>
        </p:nvSpPr>
        <p:spPr>
          <a:xfrm>
            <a:off x="437547" y="5684838"/>
            <a:ext cx="9064798" cy="73169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45511158"/>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23D9-ECCD-2741-5F1F-90F7C7A3996A}"/>
              </a:ext>
            </a:extLst>
          </p:cNvPr>
          <p:cNvSpPr>
            <a:spLocks noGrp="1"/>
          </p:cNvSpPr>
          <p:nvPr>
            <p:ph type="title"/>
          </p:nvPr>
        </p:nvSpPr>
        <p:spPr>
          <a:xfrm>
            <a:off x="437547" y="5107276"/>
            <a:ext cx="9126582" cy="515216"/>
          </a:xfrm>
        </p:spPr>
        <p:txBody>
          <a:bodyPr anchor="b"/>
          <a:lstStyle>
            <a:lvl1pPr algn="l">
              <a:defRPr sz="1500" b="1">
                <a:solidFill>
                  <a:schemeClr val="tx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93B10B7-EAC8-B183-F77B-44B41CA2355D}"/>
              </a:ext>
            </a:extLst>
          </p:cNvPr>
          <p:cNvSpPr>
            <a:spLocks noGrp="1"/>
          </p:cNvSpPr>
          <p:nvPr>
            <p:ph type="pic" idx="1"/>
          </p:nvPr>
        </p:nvSpPr>
        <p:spPr>
          <a:xfrm>
            <a:off x="437547" y="441470"/>
            <a:ext cx="9126583" cy="447053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a:extLst>
              <a:ext uri="{FF2B5EF4-FFF2-40B4-BE49-F238E27FC236}">
                <a16:creationId xmlns:a16="http://schemas.microsoft.com/office/drawing/2014/main" id="{F69A1F4D-EF2D-BC5D-CB36-AFC71E0ECD51}"/>
              </a:ext>
            </a:extLst>
          </p:cNvPr>
          <p:cNvSpPr>
            <a:spLocks noGrp="1"/>
          </p:cNvSpPr>
          <p:nvPr>
            <p:ph type="body" sz="half" idx="2"/>
          </p:nvPr>
        </p:nvSpPr>
        <p:spPr>
          <a:xfrm>
            <a:off x="437547" y="5684838"/>
            <a:ext cx="9126582" cy="73169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987048773"/>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4C9520-5175-3E3C-D440-C1C59A067B82}"/>
              </a:ext>
            </a:extLst>
          </p:cNvPr>
          <p:cNvSpPr txBox="1"/>
          <p:nvPr userDrawn="1"/>
        </p:nvSpPr>
        <p:spPr>
          <a:xfrm>
            <a:off x="491182" y="4961405"/>
            <a:ext cx="2981067" cy="1477328"/>
          </a:xfrm>
          <a:prstGeom prst="rect">
            <a:avLst/>
          </a:prstGeom>
          <a:noFill/>
        </p:spPr>
        <p:txBody>
          <a:bodyPr wrap="square">
            <a:spAutoFit/>
          </a:bodyPr>
          <a:lstStyle/>
          <a:p>
            <a:pPr lvl="0"/>
            <a:r>
              <a:rPr lang="en-US" dirty="0">
                <a:solidFill>
                  <a:schemeClr val="bg1"/>
                </a:solidFill>
              </a:rPr>
              <a:t>Bayes Business School</a:t>
            </a:r>
          </a:p>
          <a:p>
            <a:pPr lvl="0"/>
            <a:r>
              <a:rPr lang="en-US" dirty="0">
                <a:solidFill>
                  <a:schemeClr val="bg1"/>
                </a:solidFill>
              </a:rPr>
              <a:t>106 Bunhill Row</a:t>
            </a:r>
          </a:p>
          <a:p>
            <a:pPr lvl="0"/>
            <a:r>
              <a:rPr lang="en-US" dirty="0">
                <a:solidFill>
                  <a:schemeClr val="bg1"/>
                </a:solidFill>
              </a:rPr>
              <a:t>London EC1Y 8TZ</a:t>
            </a:r>
          </a:p>
          <a:p>
            <a:pPr lvl="0"/>
            <a:r>
              <a:rPr lang="en-US" dirty="0">
                <a:solidFill>
                  <a:schemeClr val="bg1"/>
                </a:solidFill>
              </a:rPr>
              <a:t>Tel + 44 (0)20 7040 8600</a:t>
            </a:r>
          </a:p>
          <a:p>
            <a:pPr lvl="0"/>
            <a:r>
              <a:rPr lang="en-US" dirty="0" err="1">
                <a:solidFill>
                  <a:schemeClr val="bg1"/>
                </a:solidFill>
              </a:rPr>
              <a:t>bayes.city.ac.uk</a:t>
            </a:r>
            <a:endParaRPr lang="en-US" dirty="0">
              <a:solidFill>
                <a:schemeClr val="bg1"/>
              </a:solidFill>
            </a:endParaRPr>
          </a:p>
        </p:txBody>
      </p:sp>
    </p:spTree>
    <p:extLst>
      <p:ext uri="{BB962C8B-B14F-4D97-AF65-F5344CB8AC3E}">
        <p14:creationId xmlns:p14="http://schemas.microsoft.com/office/powerpoint/2010/main" val="99760891"/>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4C9520-5175-3E3C-D440-C1C59A067B82}"/>
              </a:ext>
            </a:extLst>
          </p:cNvPr>
          <p:cNvSpPr txBox="1"/>
          <p:nvPr userDrawn="1"/>
        </p:nvSpPr>
        <p:spPr>
          <a:xfrm>
            <a:off x="491182" y="4961405"/>
            <a:ext cx="2981067" cy="1477328"/>
          </a:xfrm>
          <a:prstGeom prst="rect">
            <a:avLst/>
          </a:prstGeom>
          <a:noFill/>
        </p:spPr>
        <p:txBody>
          <a:bodyPr wrap="square">
            <a:spAutoFit/>
          </a:bodyPr>
          <a:lstStyle/>
          <a:p>
            <a:pPr lvl="0"/>
            <a:r>
              <a:rPr lang="en-US" dirty="0">
                <a:solidFill>
                  <a:schemeClr val="bg1"/>
                </a:solidFill>
              </a:rPr>
              <a:t>Bayes Business School</a:t>
            </a:r>
          </a:p>
          <a:p>
            <a:pPr lvl="0"/>
            <a:r>
              <a:rPr lang="en-US" dirty="0">
                <a:solidFill>
                  <a:schemeClr val="bg1"/>
                </a:solidFill>
              </a:rPr>
              <a:t>33 Finsbury Square</a:t>
            </a:r>
          </a:p>
          <a:p>
            <a:pPr lvl="0"/>
            <a:r>
              <a:rPr lang="en-US" dirty="0">
                <a:solidFill>
                  <a:schemeClr val="bg1"/>
                </a:solidFill>
              </a:rPr>
              <a:t>London EC2A 1AG</a:t>
            </a:r>
          </a:p>
          <a:p>
            <a:pPr lvl="0"/>
            <a:r>
              <a:rPr lang="en-US" dirty="0">
                <a:solidFill>
                  <a:schemeClr val="bg1"/>
                </a:solidFill>
              </a:rPr>
              <a:t>Tel + 44 (0)20 7040 8600</a:t>
            </a:r>
          </a:p>
          <a:p>
            <a:pPr lvl="0"/>
            <a:r>
              <a:rPr lang="en-US" dirty="0" err="1">
                <a:solidFill>
                  <a:schemeClr val="bg1"/>
                </a:solidFill>
              </a:rPr>
              <a:t>bayes.city.ac.uk</a:t>
            </a:r>
            <a:endParaRPr lang="en-US" dirty="0">
              <a:solidFill>
                <a:schemeClr val="bg1"/>
              </a:solidFill>
            </a:endParaRPr>
          </a:p>
        </p:txBody>
      </p:sp>
    </p:spTree>
    <p:extLst>
      <p:ext uri="{BB962C8B-B14F-4D97-AF65-F5344CB8AC3E}">
        <p14:creationId xmlns:p14="http://schemas.microsoft.com/office/powerpoint/2010/main" val="1231917724"/>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D89DF3B3-CB51-0841-9988-2C74B62B9263}"/>
              </a:ext>
            </a:extLst>
          </p:cNvPr>
          <p:cNvSpPr>
            <a:spLocks noGrp="1"/>
          </p:cNvSpPr>
          <p:nvPr>
            <p:ph type="body" sz="half" idx="2"/>
          </p:nvPr>
        </p:nvSpPr>
        <p:spPr>
          <a:xfrm>
            <a:off x="0" y="4398154"/>
            <a:ext cx="5758543" cy="483150"/>
          </a:xfrm>
        </p:spPr>
        <p:txBody>
          <a:bodyPr anchor="ctr"/>
          <a:lstStyle>
            <a:lvl1pPr marL="0" indent="0" algn="ctr">
              <a:buNone/>
              <a:defRPr sz="200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8" name="Rectangle 2">
            <a:extLst>
              <a:ext uri="{FF2B5EF4-FFF2-40B4-BE49-F238E27FC236}">
                <a16:creationId xmlns:a16="http://schemas.microsoft.com/office/drawing/2014/main" id="{26AA18C7-22AE-6F47-9EF7-4EA3DA141F54}"/>
              </a:ext>
            </a:extLst>
          </p:cNvPr>
          <p:cNvSpPr>
            <a:spLocks noGrp="1" noChangeArrowheads="1"/>
          </p:cNvSpPr>
          <p:nvPr>
            <p:ph type="title"/>
          </p:nvPr>
        </p:nvSpPr>
        <p:spPr bwMode="auto">
          <a:xfrm>
            <a:off x="0" y="3307814"/>
            <a:ext cx="5758543" cy="864096"/>
          </a:xfrm>
          <a:prstGeom prst="rect">
            <a:avLst/>
          </a:prstGeom>
          <a:noFill/>
          <a:ln w="9525">
            <a:noFill/>
            <a:miter lim="800000"/>
            <a:headEnd/>
            <a:tailEnd/>
          </a:ln>
        </p:spPr>
        <p:txBody>
          <a:bodyPr anchor="ctr"/>
          <a:lstStyle>
            <a:lvl1pPr algn="ctr">
              <a:defRPr sz="2800">
                <a:solidFill>
                  <a:schemeClr val="tx1"/>
                </a:solidFill>
              </a:defRPr>
            </a:lvl1pPr>
          </a:lstStyle>
          <a:p>
            <a:pPr lvl="0"/>
            <a:r>
              <a:rPr lang="en-GB"/>
              <a:t>Click to edit Master title style</a:t>
            </a:r>
            <a:endParaRPr lang="en-GB" dirty="0"/>
          </a:p>
        </p:txBody>
      </p:sp>
    </p:spTree>
    <p:extLst>
      <p:ext uri="{BB962C8B-B14F-4D97-AF65-F5344CB8AC3E}">
        <p14:creationId xmlns:p14="http://schemas.microsoft.com/office/powerpoint/2010/main" val="1713123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Divider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2870EF4-331B-1641-B431-8906530116AF}"/>
              </a:ext>
            </a:extLst>
          </p:cNvPr>
          <p:cNvSpPr>
            <a:spLocks noGrp="1"/>
          </p:cNvSpPr>
          <p:nvPr>
            <p:ph type="title"/>
          </p:nvPr>
        </p:nvSpPr>
        <p:spPr>
          <a:xfrm>
            <a:off x="0" y="2420888"/>
            <a:ext cx="5769429" cy="1008112"/>
          </a:xfrm>
          <a:noFill/>
        </p:spPr>
        <p:txBody>
          <a:bodyPr anchor="ctr"/>
          <a:lstStyle>
            <a:lvl1pPr algn="ctr">
              <a:defRPr sz="2800">
                <a:solidFill>
                  <a:schemeClr val="tx1"/>
                </a:solidFill>
              </a:defRPr>
            </a:lvl1pPr>
          </a:lstStyle>
          <a:p>
            <a:r>
              <a:rPr lang="en-GB"/>
              <a:t>Click to edit Master title style</a:t>
            </a:r>
            <a:endParaRPr lang="en-US" dirty="0"/>
          </a:p>
        </p:txBody>
      </p:sp>
      <p:sp>
        <p:nvSpPr>
          <p:cNvPr id="10" name="Text Placeholder 3">
            <a:extLst>
              <a:ext uri="{FF2B5EF4-FFF2-40B4-BE49-F238E27FC236}">
                <a16:creationId xmlns:a16="http://schemas.microsoft.com/office/drawing/2014/main" id="{7889D59F-9699-EC45-9CCC-C83B922D854F}"/>
              </a:ext>
            </a:extLst>
          </p:cNvPr>
          <p:cNvSpPr>
            <a:spLocks noGrp="1"/>
          </p:cNvSpPr>
          <p:nvPr>
            <p:ph type="body" sz="half" idx="2"/>
          </p:nvPr>
        </p:nvSpPr>
        <p:spPr>
          <a:xfrm>
            <a:off x="0" y="3556049"/>
            <a:ext cx="5769429" cy="881062"/>
          </a:xfrm>
          <a:noFill/>
        </p:spPr>
        <p:txBody>
          <a:bodyPr anchor="ctr"/>
          <a:lstStyle>
            <a:lvl1pPr marL="0" indent="0" algn="ctr">
              <a:buNone/>
              <a:defRPr sz="200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Text Placeholder 3">
            <a:extLst>
              <a:ext uri="{FF2B5EF4-FFF2-40B4-BE49-F238E27FC236}">
                <a16:creationId xmlns:a16="http://schemas.microsoft.com/office/drawing/2014/main" id="{5E2D951E-9554-8F4A-A8DB-C0A96A57E94A}"/>
              </a:ext>
            </a:extLst>
          </p:cNvPr>
          <p:cNvSpPr>
            <a:spLocks noGrp="1"/>
          </p:cNvSpPr>
          <p:nvPr>
            <p:ph type="body" sz="half" idx="10" hasCustomPrompt="1"/>
          </p:nvPr>
        </p:nvSpPr>
        <p:spPr>
          <a:xfrm>
            <a:off x="0" y="6381549"/>
            <a:ext cx="5769430" cy="311082"/>
          </a:xfrm>
          <a:noFill/>
        </p:spPr>
        <p:txBody>
          <a:bodyPr anchor="ctr"/>
          <a:lstStyle>
            <a:lvl1pPr marL="0" indent="0" algn="ctr">
              <a:buNone/>
              <a:defRPr sz="1200">
                <a:solidFill>
                  <a:srgbClr val="999999"/>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dirty="0"/>
              <a:t>Bayes Business School (formerly Cass)</a:t>
            </a:r>
          </a:p>
        </p:txBody>
      </p:sp>
    </p:spTree>
    <p:extLst>
      <p:ext uri="{BB962C8B-B14F-4D97-AF65-F5344CB8AC3E}">
        <p14:creationId xmlns:p14="http://schemas.microsoft.com/office/powerpoint/2010/main" val="3019673353"/>
      </p:ext>
    </p:extLst>
  </p:cSld>
  <p:clrMapOvr>
    <a:masterClrMapping/>
  </p:clrMapOvr>
  <p:extLst>
    <p:ext uri="{DCECCB84-F9BA-43D5-87BE-67443E8EF086}">
      <p15:sldGuideLst xmlns:p15="http://schemas.microsoft.com/office/powerpoint/2012/main">
        <p15:guide id="1" orient="horz" pos="2160">
          <p15:clr>
            <a:srgbClr val="FBAE40"/>
          </p15:clr>
        </p15:guide>
        <p15:guide id="2" pos="604">
          <p15:clr>
            <a:srgbClr val="FBAE40"/>
          </p15:clr>
        </p15:guide>
        <p15:guide id="3" pos="7076">
          <p15:clr>
            <a:srgbClr val="FBAE40"/>
          </p15:clr>
        </p15:guide>
        <p15:guide id="4" pos="907">
          <p15:clr>
            <a:srgbClr val="FBAE40"/>
          </p15:clr>
        </p15:guide>
        <p15:guide id="5" pos="677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_Final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4909458" y="2547717"/>
            <a:ext cx="6498772" cy="1762566"/>
          </a:xfrm>
        </p:spPr>
        <p:txBody>
          <a:bodyPr anchor="ctr" anchorCtr="0"/>
          <a:lstStyle>
            <a:lvl1pPr marL="0" indent="0" algn="ctr">
              <a:buNone/>
              <a:defRPr lang="en-US" sz="2000" smtClean="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Bayes Business School</a:t>
            </a:r>
          </a:p>
          <a:p>
            <a:pPr lvl="0"/>
            <a:r>
              <a:rPr lang="en-US" dirty="0"/>
              <a:t>(formerly Cass)</a:t>
            </a:r>
          </a:p>
          <a:p>
            <a:pPr lvl="0"/>
            <a:r>
              <a:rPr lang="en-US" dirty="0"/>
              <a:t>106 </a:t>
            </a:r>
            <a:r>
              <a:rPr lang="en-US" dirty="0" err="1"/>
              <a:t>Bunhill</a:t>
            </a:r>
            <a:r>
              <a:rPr lang="en-US" dirty="0"/>
              <a:t> Row</a:t>
            </a:r>
          </a:p>
          <a:p>
            <a:pPr lvl="0"/>
            <a:r>
              <a:rPr lang="en-US" dirty="0"/>
              <a:t>London EC1Y 8TZ</a:t>
            </a:r>
          </a:p>
          <a:p>
            <a:pPr lvl="0"/>
            <a:r>
              <a:rPr lang="en-US" dirty="0"/>
              <a:t>Tel + 44 (0)20 7040 8600</a:t>
            </a:r>
          </a:p>
          <a:p>
            <a:pPr lvl="0"/>
            <a:r>
              <a:rPr lang="en-US" dirty="0" err="1"/>
              <a:t>bayes.city.ac.uk</a:t>
            </a:r>
            <a:endParaRPr lang="en-US" dirty="0"/>
          </a:p>
        </p:txBody>
      </p:sp>
      <p:sp>
        <p:nvSpPr>
          <p:cNvPr id="25" name="AutoShape 3"/>
          <p:cNvSpPr>
            <a:spLocks noChangeAspect="1" noChangeArrowheads="1" noTextEdit="1"/>
          </p:cNvSpPr>
          <p:nvPr/>
        </p:nvSpPr>
        <p:spPr bwMode="auto">
          <a:xfrm>
            <a:off x="4271798" y="3249095"/>
            <a:ext cx="3936572" cy="2215091"/>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endParaRPr lang="en-GB"/>
          </a:p>
        </p:txBody>
      </p:sp>
    </p:spTree>
    <p:extLst>
      <p:ext uri="{BB962C8B-B14F-4D97-AF65-F5344CB8AC3E}">
        <p14:creationId xmlns:p14="http://schemas.microsoft.com/office/powerpoint/2010/main" val="1616118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9951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981200"/>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Natasa Todorovic</a:t>
            </a:r>
          </a:p>
        </p:txBody>
      </p:sp>
      <p:sp>
        <p:nvSpPr>
          <p:cNvPr id="6" name="Rectangle 6"/>
          <p:cNvSpPr>
            <a:spLocks noGrp="1" noChangeArrowheads="1"/>
          </p:cNvSpPr>
          <p:nvPr>
            <p:ph type="sldNum" sz="quarter" idx="12"/>
          </p:nvPr>
        </p:nvSpPr>
        <p:spPr>
          <a:ln/>
        </p:spPr>
        <p:txBody>
          <a:bodyPr/>
          <a:lstStyle>
            <a:lvl1pPr>
              <a:defRPr/>
            </a:lvl1pPr>
          </a:lstStyle>
          <a:p>
            <a:pPr>
              <a:defRPr/>
            </a:pPr>
            <a:fld id="{EDAC4E2B-2CFA-4334-8518-02DD7254B77C}" type="slidenum">
              <a:rPr lang="en-GB"/>
              <a:pPr>
                <a:defRPr/>
              </a:pPr>
              <a:t>‹#›</a:t>
            </a:fld>
            <a:endParaRPr lang="en-GB"/>
          </a:p>
        </p:txBody>
      </p:sp>
    </p:spTree>
    <p:extLst>
      <p:ext uri="{BB962C8B-B14F-4D97-AF65-F5344CB8AC3E}">
        <p14:creationId xmlns:p14="http://schemas.microsoft.com/office/powerpoint/2010/main" val="1812757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13E482-9D17-6A0D-5713-3FD61DD392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0D7EB61-A9F0-7F83-B9F8-7B0A406045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AFB5F4-4E75-D9CC-24E0-8FE2595AF7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211DD3-7A43-854F-A3AE-657852C1518D}" type="datetimeFigureOut">
              <a:rPr lang="en-US" smtClean="0"/>
              <a:t>10/16/26</a:t>
            </a:fld>
            <a:endParaRPr lang="en-US"/>
          </a:p>
        </p:txBody>
      </p:sp>
      <p:sp>
        <p:nvSpPr>
          <p:cNvPr id="5" name="Footer Placeholder 4">
            <a:extLst>
              <a:ext uri="{FF2B5EF4-FFF2-40B4-BE49-F238E27FC236}">
                <a16:creationId xmlns:a16="http://schemas.microsoft.com/office/drawing/2014/main" id="{FF3900EE-6D9D-CB75-733D-D6D88B8118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FCD2BF-2CD7-399E-1E2B-243F98A29F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87B854-0E4A-2F4C-B2C1-C1C4D37D9A20}" type="slidenum">
              <a:rPr lang="en-US" smtClean="0"/>
              <a:t>‹#›</a:t>
            </a:fld>
            <a:endParaRPr lang="en-US"/>
          </a:p>
        </p:txBody>
      </p:sp>
    </p:spTree>
    <p:extLst>
      <p:ext uri="{BB962C8B-B14F-4D97-AF65-F5344CB8AC3E}">
        <p14:creationId xmlns:p14="http://schemas.microsoft.com/office/powerpoint/2010/main" val="3650762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D61726"/>
        </a:buClr>
        <a:buFont typeface="Wingdings"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D61726"/>
        </a:buClr>
        <a:buFont typeface="Wingdings"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D61726"/>
        </a:buClr>
        <a:buFont typeface="Wingdings"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D61726"/>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D61726"/>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invesco.com/content/dam/invesco/apac/en/pdf/insights/2023/july/igsam-main-study-july-2023.pdf" TargetMode="Externa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hyperlink" Target="mailto:natasha.todorovic.1@city.ac.uk"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sz="3200" dirty="0">
                <a:effectLst>
                  <a:outerShdw blurRad="38100" dist="38100" dir="2700000" algn="tl">
                    <a:srgbClr val="000000">
                      <a:alpha val="43137"/>
                    </a:srgbClr>
                  </a:outerShdw>
                </a:effectLst>
                <a:latin typeface="Arial" charset="0"/>
              </a:rPr>
              <a:t>Introduction to Investments, Asset Classes, Risk and Return </a:t>
            </a:r>
            <a:endParaRPr lang="en-US" sz="3200" dirty="0"/>
          </a:p>
        </p:txBody>
      </p:sp>
      <p:sp>
        <p:nvSpPr>
          <p:cNvPr id="2" name="Text Placeholder 1"/>
          <p:cNvSpPr>
            <a:spLocks noGrp="1"/>
          </p:cNvSpPr>
          <p:nvPr>
            <p:ph idx="1"/>
          </p:nvPr>
        </p:nvSpPr>
        <p:spPr/>
        <p:txBody>
          <a:bodyPr/>
          <a:lstStyle/>
          <a:p>
            <a:r>
              <a:rPr lang="en-US" dirty="0"/>
              <a:t>Dr. Natasha </a:t>
            </a:r>
            <a:r>
              <a:rPr lang="en-US" dirty="0" err="1"/>
              <a:t>Todorovic</a:t>
            </a:r>
            <a:endParaRPr lang="en-US" dirty="0"/>
          </a:p>
        </p:txBody>
      </p:sp>
    </p:spTree>
    <p:extLst>
      <p:ext uri="{BB962C8B-B14F-4D97-AF65-F5344CB8AC3E}">
        <p14:creationId xmlns:p14="http://schemas.microsoft.com/office/powerpoint/2010/main" val="203424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B9CD7-DC0A-8AF0-62A4-F470597771A0}"/>
              </a:ext>
            </a:extLst>
          </p:cNvPr>
          <p:cNvSpPr>
            <a:spLocks noGrp="1"/>
          </p:cNvSpPr>
          <p:nvPr>
            <p:ph type="title"/>
          </p:nvPr>
        </p:nvSpPr>
        <p:spPr/>
        <p:txBody>
          <a:bodyPr>
            <a:normAutofit fontScale="90000"/>
          </a:bodyPr>
          <a:lstStyle/>
          <a:p>
            <a:r>
              <a:rPr lang="en-US" sz="3600" dirty="0"/>
              <a:t>SMM148 Securities &amp; Investments Course…</a:t>
            </a:r>
          </a:p>
        </p:txBody>
      </p:sp>
      <p:sp>
        <p:nvSpPr>
          <p:cNvPr id="3" name="Content Placeholder 2">
            <a:extLst>
              <a:ext uri="{FF2B5EF4-FFF2-40B4-BE49-F238E27FC236}">
                <a16:creationId xmlns:a16="http://schemas.microsoft.com/office/drawing/2014/main" id="{A060DBC7-4F5E-DE73-8601-293CE676D0F1}"/>
              </a:ext>
            </a:extLst>
          </p:cNvPr>
          <p:cNvSpPr>
            <a:spLocks noGrp="1"/>
          </p:cNvSpPr>
          <p:nvPr>
            <p:ph idx="1"/>
          </p:nvPr>
        </p:nvSpPr>
        <p:spPr>
          <a:xfrm>
            <a:off x="437547" y="1117800"/>
            <a:ext cx="10399329" cy="5141784"/>
          </a:xfrm>
        </p:spPr>
        <p:txBody>
          <a:bodyPr>
            <a:normAutofit fontScale="92500" lnSpcReduction="10000"/>
          </a:bodyPr>
          <a:lstStyle/>
          <a:p>
            <a:pPr>
              <a:lnSpc>
                <a:spcPct val="150000"/>
              </a:lnSpc>
            </a:pPr>
            <a:r>
              <a:rPr lang="en-GB" sz="2000" dirty="0"/>
              <a:t>… introduces basic investment concepts (i.e. theory) used by various financial institutions (i.e. investment banks, asset management companies, etc.)</a:t>
            </a:r>
          </a:p>
          <a:p>
            <a:pPr>
              <a:lnSpc>
                <a:spcPct val="150000"/>
              </a:lnSpc>
            </a:pPr>
            <a:r>
              <a:rPr lang="en-GB" sz="2000" dirty="0"/>
              <a:t>…introduces the applications of these investment concepts that we will study further in SMM201 Asset Management &amp; Sustainable Investing in Term 2</a:t>
            </a:r>
          </a:p>
          <a:p>
            <a:pPr>
              <a:lnSpc>
                <a:spcPct val="150000"/>
              </a:lnSpc>
            </a:pPr>
            <a:r>
              <a:rPr lang="en-GB" sz="2000" dirty="0"/>
              <a:t>… introduces the key financial instruments and ways to value them (equities, fixed income and derivatives)</a:t>
            </a:r>
          </a:p>
          <a:p>
            <a:pPr>
              <a:lnSpc>
                <a:spcPct val="150000"/>
              </a:lnSpc>
            </a:pPr>
            <a:r>
              <a:rPr lang="en-GB" sz="2000" dirty="0"/>
              <a:t>… analyses relationship between risk and return:</a:t>
            </a:r>
          </a:p>
          <a:p>
            <a:pPr marL="469106" lvl="1" indent="-342900">
              <a:lnSpc>
                <a:spcPct val="150000"/>
              </a:lnSpc>
            </a:pPr>
            <a:r>
              <a:rPr lang="en-GB" sz="2000" dirty="0"/>
              <a:t>Diversification: process of risk reduction in a portfolio of assets</a:t>
            </a:r>
          </a:p>
          <a:p>
            <a:pPr marL="469106" lvl="1" indent="-342900">
              <a:lnSpc>
                <a:spcPct val="150000"/>
              </a:lnSpc>
            </a:pPr>
            <a:r>
              <a:rPr lang="en-GB" sz="2000" dirty="0"/>
              <a:t>Construction of portfolios that maximise returns given client’s risk requirements or portfolios that minimise risk given level of required return</a:t>
            </a:r>
          </a:p>
          <a:p>
            <a:pPr marL="469106" lvl="1" indent="-342900">
              <a:lnSpc>
                <a:spcPct val="150000"/>
              </a:lnSpc>
            </a:pPr>
            <a:r>
              <a:rPr lang="en-GB" sz="2000" dirty="0"/>
              <a:t>CAPM and other factor models</a:t>
            </a:r>
          </a:p>
          <a:p>
            <a:pPr marL="0" indent="0">
              <a:lnSpc>
                <a:spcPct val="150000"/>
              </a:lnSpc>
              <a:buNone/>
            </a:pPr>
            <a:endParaRPr lang="en-GB" sz="2400" dirty="0"/>
          </a:p>
          <a:p>
            <a:pPr marL="469106" lvl="1" indent="-342900">
              <a:lnSpc>
                <a:spcPct val="150000"/>
              </a:lnSpc>
            </a:pPr>
            <a:endParaRPr lang="en-GB" sz="2000" dirty="0"/>
          </a:p>
          <a:p>
            <a:endParaRPr lang="en-US" dirty="0"/>
          </a:p>
        </p:txBody>
      </p:sp>
    </p:spTree>
    <p:extLst>
      <p:ext uri="{BB962C8B-B14F-4D97-AF65-F5344CB8AC3E}">
        <p14:creationId xmlns:p14="http://schemas.microsoft.com/office/powerpoint/2010/main" val="4008617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E8B8A-5F63-CE47-B606-F6B5C04A08A6}"/>
              </a:ext>
            </a:extLst>
          </p:cNvPr>
          <p:cNvSpPr>
            <a:spLocks noGrp="1"/>
          </p:cNvSpPr>
          <p:nvPr>
            <p:ph type="title"/>
          </p:nvPr>
        </p:nvSpPr>
        <p:spPr/>
        <p:txBody>
          <a:bodyPr anchor="ctr">
            <a:normAutofit/>
          </a:bodyPr>
          <a:lstStyle/>
          <a:p>
            <a:r>
              <a:rPr lang="en-GB" sz="3100" dirty="0">
                <a:effectLst>
                  <a:outerShdw blurRad="38100" dist="38100" dir="2700000" algn="tl">
                    <a:srgbClr val="000000">
                      <a:alpha val="43137"/>
                    </a:srgbClr>
                  </a:outerShdw>
                </a:effectLst>
              </a:rPr>
              <a:t>Investment and Investment Process</a:t>
            </a:r>
            <a:endParaRPr lang="en-US" sz="3100" dirty="0"/>
          </a:p>
        </p:txBody>
      </p:sp>
      <p:sp>
        <p:nvSpPr>
          <p:cNvPr id="3" name="Text Placeholder 2">
            <a:extLst>
              <a:ext uri="{FF2B5EF4-FFF2-40B4-BE49-F238E27FC236}">
                <a16:creationId xmlns:a16="http://schemas.microsoft.com/office/drawing/2014/main" id="{A967804D-A53B-F140-47B4-BC5372346EF1}"/>
              </a:ext>
            </a:extLst>
          </p:cNvPr>
          <p:cNvSpPr>
            <a:spLocks noGrp="1"/>
          </p:cNvSpPr>
          <p:nvPr>
            <p:ph type="body" sz="half" idx="2"/>
          </p:nvPr>
        </p:nvSpPr>
        <p:spPr/>
        <p:txBody>
          <a:bodyPr/>
          <a:lstStyle/>
          <a:p>
            <a:endParaRPr lang="en-US"/>
          </a:p>
        </p:txBody>
      </p:sp>
      <p:sp>
        <p:nvSpPr>
          <p:cNvPr id="4" name="Text Placeholder 3">
            <a:extLst>
              <a:ext uri="{FF2B5EF4-FFF2-40B4-BE49-F238E27FC236}">
                <a16:creationId xmlns:a16="http://schemas.microsoft.com/office/drawing/2014/main" id="{B4322173-4D0C-7266-982E-8513E9559747}"/>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4165064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eaLnBrk="1" hangingPunct="1"/>
            <a:r>
              <a:rPr lang="en-GB" sz="3600" dirty="0">
                <a:latin typeface="+mn-lt"/>
              </a:rPr>
              <a:t>What is an investment?</a:t>
            </a:r>
          </a:p>
        </p:txBody>
      </p:sp>
      <p:sp>
        <p:nvSpPr>
          <p:cNvPr id="29699" name="Rectangle 3"/>
          <p:cNvSpPr>
            <a:spLocks noGrp="1" noChangeArrowheads="1"/>
          </p:cNvSpPr>
          <p:nvPr>
            <p:ph idx="1"/>
          </p:nvPr>
        </p:nvSpPr>
        <p:spPr/>
        <p:txBody>
          <a:bodyPr>
            <a:normAutofit/>
          </a:bodyPr>
          <a:lstStyle/>
          <a:p>
            <a:pPr>
              <a:lnSpc>
                <a:spcPct val="150000"/>
              </a:lnSpc>
            </a:pPr>
            <a:r>
              <a:rPr lang="en-US" sz="2000" dirty="0">
                <a:solidFill>
                  <a:srgbClr val="0070C0"/>
                </a:solidFill>
                <a:latin typeface="Arial" charset="0"/>
              </a:rPr>
              <a:t>Commitment of funds to assets </a:t>
            </a:r>
            <a:r>
              <a:rPr lang="en-US" sz="2000" dirty="0">
                <a:latin typeface="Arial" charset="0"/>
              </a:rPr>
              <a:t>that will be held over the future time period.</a:t>
            </a:r>
          </a:p>
          <a:p>
            <a:pPr>
              <a:lnSpc>
                <a:spcPct val="150000"/>
              </a:lnSpc>
            </a:pPr>
            <a:r>
              <a:rPr lang="en-US" sz="2000" dirty="0">
                <a:latin typeface="Arial" charset="0"/>
              </a:rPr>
              <a:t>Real assets vs. </a:t>
            </a:r>
            <a:r>
              <a:rPr lang="en-US" sz="2000" dirty="0">
                <a:solidFill>
                  <a:srgbClr val="0070C0"/>
                </a:solidFill>
                <a:latin typeface="Arial" charset="0"/>
              </a:rPr>
              <a:t>financial assets</a:t>
            </a:r>
          </a:p>
          <a:p>
            <a:pPr lvl="1">
              <a:lnSpc>
                <a:spcPct val="150000"/>
              </a:lnSpc>
            </a:pPr>
            <a:r>
              <a:rPr lang="en-US" sz="1800" dirty="0">
                <a:latin typeface="Arial" charset="0"/>
              </a:rPr>
              <a:t>Real assets are physical, tangible assets such as gold or real estate</a:t>
            </a:r>
          </a:p>
          <a:p>
            <a:pPr lvl="1">
              <a:lnSpc>
                <a:spcPct val="150000"/>
              </a:lnSpc>
            </a:pPr>
            <a:r>
              <a:rPr lang="en-US" sz="1800" dirty="0">
                <a:latin typeface="Arial" charset="0"/>
              </a:rPr>
              <a:t>Financial assets are paper (electronic) claims on some issuer (e.g. corporation or government)</a:t>
            </a:r>
          </a:p>
          <a:p>
            <a:pPr lvl="1">
              <a:lnSpc>
                <a:spcPct val="150000"/>
              </a:lnSpc>
            </a:pPr>
            <a:r>
              <a:rPr lang="en-US" sz="1800" dirty="0">
                <a:latin typeface="Arial" charset="0"/>
              </a:rPr>
              <a:t>Type of financial assets investors are mainly interested in are marketable securities</a:t>
            </a:r>
          </a:p>
          <a:p>
            <a:pPr>
              <a:lnSpc>
                <a:spcPct val="150000"/>
              </a:lnSpc>
            </a:pPr>
            <a:r>
              <a:rPr lang="en-US" sz="2000" dirty="0">
                <a:latin typeface="Arial" charset="0"/>
              </a:rPr>
              <a:t>Investment refers in general to financial assets and in particular to </a:t>
            </a:r>
            <a:r>
              <a:rPr lang="en-US" sz="2000" dirty="0">
                <a:solidFill>
                  <a:srgbClr val="0070C0"/>
                </a:solidFill>
                <a:latin typeface="Arial" charset="0"/>
              </a:rPr>
              <a:t>marketable securities</a:t>
            </a:r>
            <a:r>
              <a:rPr lang="en-US" sz="2000" dirty="0">
                <a:latin typeface="Arial" charset="0"/>
              </a:rPr>
              <a:t>.</a:t>
            </a:r>
          </a:p>
          <a:p>
            <a:pPr lvl="1">
              <a:lnSpc>
                <a:spcPct val="150000"/>
              </a:lnSpc>
            </a:pPr>
            <a:r>
              <a:rPr lang="en-US" sz="1800" dirty="0">
                <a:latin typeface="Arial" charset="0"/>
              </a:rPr>
              <a:t>Marketable securities are financial assets that are easily traded on the </a:t>
            </a:r>
            <a:r>
              <a:rPr lang="en-US" sz="1800" dirty="0" err="1">
                <a:latin typeface="Arial" charset="0"/>
              </a:rPr>
              <a:t>organised</a:t>
            </a:r>
            <a:r>
              <a:rPr lang="en-US" sz="1800" dirty="0">
                <a:latin typeface="Arial" charset="0"/>
              </a:rPr>
              <a:t> exchanges </a:t>
            </a:r>
          </a:p>
          <a:p>
            <a:pPr lvl="1">
              <a:lnSpc>
                <a:spcPct val="150000"/>
              </a:lnSpc>
            </a:pPr>
            <a:r>
              <a:rPr lang="en-US" sz="1800" dirty="0">
                <a:latin typeface="Arial" charset="0"/>
              </a:rPr>
              <a:t>Impersonal trading</a:t>
            </a:r>
            <a:endParaRPr lang="en-GB" sz="20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4038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5"/>
          <p:cNvSpPr>
            <a:spLocks noGrp="1"/>
          </p:cNvSpPr>
          <p:nvPr>
            <p:ph type="sldNum" sz="quarter" idx="12"/>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itchFamily="18" charset="0"/>
                <a:ea typeface="+mn-ea"/>
                <a:cs typeface="+mn-cs"/>
              </a:defRPr>
            </a:lvl1pPr>
            <a:lvl2pPr marL="457200" algn="l" rtl="0" fontAlgn="base">
              <a:spcBef>
                <a:spcPct val="0"/>
              </a:spcBef>
              <a:spcAft>
                <a:spcPct val="0"/>
              </a:spcAft>
              <a:defRPr sz="5400" kern="1200">
                <a:solidFill>
                  <a:schemeClr val="tx1"/>
                </a:solidFill>
                <a:latin typeface="Times New Roman" pitchFamily="18" charset="0"/>
                <a:ea typeface="+mn-ea"/>
                <a:cs typeface="+mn-cs"/>
              </a:defRPr>
            </a:lvl2pPr>
            <a:lvl3pPr marL="914400" algn="l" rtl="0" fontAlgn="base">
              <a:spcBef>
                <a:spcPct val="0"/>
              </a:spcBef>
              <a:spcAft>
                <a:spcPct val="0"/>
              </a:spcAft>
              <a:defRPr sz="5400" kern="1200">
                <a:solidFill>
                  <a:schemeClr val="tx1"/>
                </a:solidFill>
                <a:latin typeface="Times New Roman" pitchFamily="18" charset="0"/>
                <a:ea typeface="+mn-ea"/>
                <a:cs typeface="+mn-cs"/>
              </a:defRPr>
            </a:lvl3pPr>
            <a:lvl4pPr marL="1371600" algn="l" rtl="0" fontAlgn="base">
              <a:spcBef>
                <a:spcPct val="0"/>
              </a:spcBef>
              <a:spcAft>
                <a:spcPct val="0"/>
              </a:spcAft>
              <a:defRPr sz="5400" kern="1200">
                <a:solidFill>
                  <a:schemeClr val="tx1"/>
                </a:solidFill>
                <a:latin typeface="Times New Roman" pitchFamily="18" charset="0"/>
                <a:ea typeface="+mn-ea"/>
                <a:cs typeface="+mn-cs"/>
              </a:defRPr>
            </a:lvl4pPr>
            <a:lvl5pPr marL="1828800" algn="l" rtl="0" fontAlgn="base">
              <a:spcBef>
                <a:spcPct val="0"/>
              </a:spcBef>
              <a:spcAft>
                <a:spcPct val="0"/>
              </a:spcAft>
              <a:defRPr sz="5400" kern="1200">
                <a:solidFill>
                  <a:schemeClr val="tx1"/>
                </a:solidFill>
                <a:latin typeface="Times New Roman" pitchFamily="18" charset="0"/>
                <a:ea typeface="+mn-ea"/>
                <a:cs typeface="+mn-cs"/>
              </a:defRPr>
            </a:lvl5pPr>
            <a:lvl6pPr marL="2286000" algn="l" defTabSz="914400" rtl="0" eaLnBrk="1" latinLnBrk="0" hangingPunct="1">
              <a:defRPr sz="5400" kern="1200">
                <a:solidFill>
                  <a:schemeClr val="tx1"/>
                </a:solidFill>
                <a:latin typeface="Times New Roman" pitchFamily="18" charset="0"/>
                <a:ea typeface="+mn-ea"/>
                <a:cs typeface="+mn-cs"/>
              </a:defRPr>
            </a:lvl6pPr>
            <a:lvl7pPr marL="2743200" algn="l" defTabSz="914400" rtl="0" eaLnBrk="1" latinLnBrk="0" hangingPunct="1">
              <a:defRPr sz="5400" kern="1200">
                <a:solidFill>
                  <a:schemeClr val="tx1"/>
                </a:solidFill>
                <a:latin typeface="Times New Roman" pitchFamily="18" charset="0"/>
                <a:ea typeface="+mn-ea"/>
                <a:cs typeface="+mn-cs"/>
              </a:defRPr>
            </a:lvl7pPr>
            <a:lvl8pPr marL="3200400" algn="l" defTabSz="914400" rtl="0" eaLnBrk="1" latinLnBrk="0" hangingPunct="1">
              <a:defRPr sz="5400" kern="1200">
                <a:solidFill>
                  <a:schemeClr val="tx1"/>
                </a:solidFill>
                <a:latin typeface="Times New Roman" pitchFamily="18" charset="0"/>
                <a:ea typeface="+mn-ea"/>
                <a:cs typeface="+mn-cs"/>
              </a:defRPr>
            </a:lvl8pPr>
            <a:lvl9pPr marL="3657600" algn="l" defTabSz="914400" rtl="0" eaLnBrk="1" latinLnBrk="0" hangingPunct="1">
              <a:defRPr sz="5400" kern="1200">
                <a:solidFill>
                  <a:schemeClr val="tx1"/>
                </a:solidFill>
                <a:latin typeface="Times New Roman" pitchFamily="18" charset="0"/>
                <a:ea typeface="+mn-ea"/>
                <a:cs typeface="+mn-cs"/>
              </a:defRPr>
            </a:lvl9pPr>
          </a:lstStyle>
          <a:p>
            <a:pPr>
              <a:defRPr/>
            </a:pPr>
            <a:fld id="{36E8DC7C-4658-4858-8D92-9486E0306651}" type="slidenum">
              <a:rPr lang="en-GB" smtClean="0"/>
              <a:pPr>
                <a:defRPr/>
              </a:pPr>
              <a:t>5</a:t>
            </a:fld>
            <a:endParaRPr lang="en-GB" dirty="0"/>
          </a:p>
        </p:txBody>
      </p:sp>
      <p:sp>
        <p:nvSpPr>
          <p:cNvPr id="22530" name="Rectangle 2"/>
          <p:cNvSpPr>
            <a:spLocks noGrp="1" noChangeArrowheads="1"/>
          </p:cNvSpPr>
          <p:nvPr>
            <p:ph type="title"/>
          </p:nvPr>
        </p:nvSpPr>
        <p:spPr/>
        <p:txBody>
          <a:bodyPr/>
          <a:lstStyle/>
          <a:p>
            <a:r>
              <a:rPr lang="en-US" sz="3600" dirty="0">
                <a:latin typeface="Arial" charset="0"/>
              </a:rPr>
              <a:t>Why do we invest?</a:t>
            </a:r>
          </a:p>
        </p:txBody>
      </p:sp>
      <p:sp>
        <p:nvSpPr>
          <p:cNvPr id="22531" name="Rectangle 3"/>
          <p:cNvSpPr>
            <a:spLocks noGrp="1" noChangeArrowheads="1"/>
          </p:cNvSpPr>
          <p:nvPr>
            <p:ph type="body" idx="1"/>
          </p:nvPr>
        </p:nvSpPr>
        <p:spPr/>
        <p:txBody>
          <a:bodyPr/>
          <a:lstStyle/>
          <a:p>
            <a:r>
              <a:rPr lang="en-US" sz="2000" dirty="0">
                <a:latin typeface="Arial" charset="0"/>
              </a:rPr>
              <a:t>The purpose is to </a:t>
            </a:r>
            <a:r>
              <a:rPr lang="en-US" sz="2000" dirty="0">
                <a:solidFill>
                  <a:srgbClr val="0070C0"/>
                </a:solidFill>
                <a:latin typeface="Arial" charset="0"/>
              </a:rPr>
              <a:t>increase one’s wealth </a:t>
            </a:r>
          </a:p>
          <a:p>
            <a:pPr lvl="1"/>
            <a:r>
              <a:rPr lang="en-US" sz="1800" dirty="0">
                <a:latin typeface="Arial" charset="0"/>
              </a:rPr>
              <a:t>Wealth = current income or funds + present value of all income in the future</a:t>
            </a:r>
          </a:p>
          <a:p>
            <a:pPr lvl="1"/>
            <a:r>
              <a:rPr lang="en-US" sz="1800" dirty="0">
                <a:latin typeface="Arial" charset="0"/>
              </a:rPr>
              <a:t>We are concerned with monetary wealth</a:t>
            </a:r>
          </a:p>
          <a:p>
            <a:endParaRPr lang="en-US" sz="1800" dirty="0">
              <a:latin typeface="Arial" charset="0"/>
            </a:endParaRPr>
          </a:p>
          <a:p>
            <a:r>
              <a:rPr lang="en-US" sz="2000" dirty="0">
                <a:latin typeface="Arial" charset="0"/>
              </a:rPr>
              <a:t>Get a return on the money, </a:t>
            </a:r>
            <a:r>
              <a:rPr lang="en-US" sz="2000" dirty="0">
                <a:solidFill>
                  <a:srgbClr val="0070C0"/>
                </a:solidFill>
                <a:latin typeface="Arial" charset="0"/>
              </a:rPr>
              <a:t>do not hold cash</a:t>
            </a:r>
            <a:r>
              <a:rPr lang="en-US" sz="2000" dirty="0">
                <a:latin typeface="Arial" charset="0"/>
              </a:rPr>
              <a:t>. </a:t>
            </a:r>
          </a:p>
          <a:p>
            <a:pPr lvl="1"/>
            <a:r>
              <a:rPr lang="en-US" sz="1800" dirty="0">
                <a:latin typeface="Arial" charset="0"/>
              </a:rPr>
              <a:t>Opportunity cost</a:t>
            </a:r>
          </a:p>
          <a:p>
            <a:pPr lvl="1"/>
            <a:r>
              <a:rPr lang="en-US" sz="1800" dirty="0">
                <a:latin typeface="Arial" charset="0"/>
              </a:rPr>
              <a:t>Inflation</a:t>
            </a:r>
          </a:p>
          <a:p>
            <a:pPr lvl="1"/>
            <a:r>
              <a:rPr lang="en-US" sz="1800" dirty="0">
                <a:latin typeface="Arial" charset="0"/>
              </a:rPr>
              <a:t>Purchasing power diminishes </a:t>
            </a:r>
          </a:p>
          <a:p>
            <a:endParaRPr lang="en-US" sz="1800" dirty="0">
              <a:latin typeface="Arial" charset="0"/>
            </a:endParaRPr>
          </a:p>
          <a:p>
            <a:r>
              <a:rPr lang="en-US" sz="2000" dirty="0">
                <a:latin typeface="Arial" charset="0"/>
              </a:rPr>
              <a:t>Protect yourself from inflation, taxes, etc. and </a:t>
            </a:r>
            <a:r>
              <a:rPr lang="en-US" sz="2000" dirty="0">
                <a:solidFill>
                  <a:srgbClr val="0070C0"/>
                </a:solidFill>
                <a:latin typeface="Arial" charset="0"/>
              </a:rPr>
              <a:t>make returns</a:t>
            </a:r>
            <a:r>
              <a:rPr lang="en-US" sz="2000" dirty="0">
                <a:latin typeface="Arial" charset="0"/>
              </a:rPr>
              <a:t>!</a:t>
            </a:r>
          </a:p>
          <a:p>
            <a:endParaRPr lang="en-US" sz="2000" dirty="0">
              <a:latin typeface="Arial" charset="0"/>
            </a:endParaRPr>
          </a:p>
          <a:p>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0" name="Rectangle 1599"/>
          <p:cNvSpPr>
            <a:spLocks noGrp="1" noChangeArrowheads="1"/>
          </p:cNvSpPr>
          <p:nvPr>
            <p:ph type="title"/>
          </p:nvPr>
        </p:nvSpPr>
        <p:spPr>
          <a:xfrm>
            <a:off x="567791" y="24714"/>
            <a:ext cx="9200723" cy="785542"/>
          </a:xfrm>
        </p:spPr>
        <p:txBody>
          <a:bodyPr/>
          <a:lstStyle/>
          <a:p>
            <a:r>
              <a:rPr lang="en-GB" sz="3200" dirty="0">
                <a:latin typeface="Arial" charset="0"/>
              </a:rPr>
              <a:t>Investment process</a:t>
            </a:r>
          </a:p>
        </p:txBody>
      </p:sp>
      <p:pic>
        <p:nvPicPr>
          <p:cNvPr id="939011" name="Picture 4583"/>
          <p:cNvPicPr>
            <a:picLocks noGrp="1" noChangeAspect="1" noChangeArrowheads="1"/>
          </p:cNvPicPr>
          <p:nvPr>
            <p:ph idx="1"/>
          </p:nvPr>
        </p:nvPicPr>
        <p:blipFill>
          <a:blip r:embed="rId3" cstate="print"/>
          <a:stretch>
            <a:fillRect/>
          </a:stretch>
        </p:blipFill>
        <p:spPr>
          <a:xfrm>
            <a:off x="567791" y="934555"/>
            <a:ext cx="8773917" cy="5836948"/>
          </a:xfrm>
        </p:spPr>
      </p:pic>
    </p:spTree>
    <p:extLst>
      <p:ext uri="{BB962C8B-B14F-4D97-AF65-F5344CB8AC3E}">
        <p14:creationId xmlns:p14="http://schemas.microsoft.com/office/powerpoint/2010/main" val="3316309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179EC-AA93-BC46-9A51-C96155969600}"/>
              </a:ext>
            </a:extLst>
          </p:cNvPr>
          <p:cNvSpPr>
            <a:spLocks noGrp="1"/>
          </p:cNvSpPr>
          <p:nvPr>
            <p:ph type="title"/>
          </p:nvPr>
        </p:nvSpPr>
        <p:spPr/>
        <p:txBody>
          <a:bodyPr/>
          <a:lstStyle/>
          <a:p>
            <a:r>
              <a:rPr lang="en-GB" sz="3200" dirty="0">
                <a:latin typeface="Arial" charset="0"/>
              </a:rPr>
              <a:t>Asset classes as part of investment portfolio</a:t>
            </a:r>
            <a:endParaRPr lang="en-GB" sz="3200" dirty="0"/>
          </a:p>
        </p:txBody>
      </p:sp>
      <p:sp>
        <p:nvSpPr>
          <p:cNvPr id="3" name="Text Placeholder 2">
            <a:extLst>
              <a:ext uri="{FF2B5EF4-FFF2-40B4-BE49-F238E27FC236}">
                <a16:creationId xmlns:a16="http://schemas.microsoft.com/office/drawing/2014/main" id="{2F0F8D65-2B33-633C-69DB-8AD17AD050CE}"/>
              </a:ext>
            </a:extLst>
          </p:cNvPr>
          <p:cNvSpPr>
            <a:spLocks noGrp="1"/>
          </p:cNvSpPr>
          <p:nvPr>
            <p:ph type="body" sz="half" idx="2"/>
          </p:nvPr>
        </p:nvSpPr>
        <p:spPr/>
        <p:txBody>
          <a:bodyPr/>
          <a:lstStyle/>
          <a:p>
            <a:endParaRPr lang="en-US"/>
          </a:p>
        </p:txBody>
      </p:sp>
      <p:sp>
        <p:nvSpPr>
          <p:cNvPr id="4" name="Text Placeholder 3">
            <a:extLst>
              <a:ext uri="{FF2B5EF4-FFF2-40B4-BE49-F238E27FC236}">
                <a16:creationId xmlns:a16="http://schemas.microsoft.com/office/drawing/2014/main" id="{7FB8A95B-A9BF-CAD3-D480-91A65B43A21A}"/>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3256706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5FB20-E18E-7C4D-A25D-78DCE2EC5996}"/>
              </a:ext>
            </a:extLst>
          </p:cNvPr>
          <p:cNvSpPr>
            <a:spLocks noGrp="1"/>
          </p:cNvSpPr>
          <p:nvPr>
            <p:ph type="title"/>
          </p:nvPr>
        </p:nvSpPr>
        <p:spPr/>
        <p:txBody>
          <a:bodyPr/>
          <a:lstStyle/>
          <a:p>
            <a:r>
              <a:rPr lang="en-US" sz="3200" dirty="0">
                <a:latin typeface="Arial" panose="020B0604020202020204" pitchFamily="34" charset="0"/>
                <a:cs typeface="Arial" panose="020B0604020202020204" pitchFamily="34" charset="0"/>
              </a:rPr>
              <a:t>Traditional vs. alternative asset classes</a:t>
            </a:r>
          </a:p>
        </p:txBody>
      </p:sp>
      <p:sp>
        <p:nvSpPr>
          <p:cNvPr id="3" name="Content Placeholder 2">
            <a:extLst>
              <a:ext uri="{FF2B5EF4-FFF2-40B4-BE49-F238E27FC236}">
                <a16:creationId xmlns:a16="http://schemas.microsoft.com/office/drawing/2014/main" id="{E4FEEF71-5FB2-4C41-9AF8-E49007BBB877}"/>
              </a:ext>
            </a:extLst>
          </p:cNvPr>
          <p:cNvSpPr>
            <a:spLocks noGrp="1"/>
          </p:cNvSpPr>
          <p:nvPr>
            <p:ph idx="1"/>
          </p:nvPr>
        </p:nvSpPr>
        <p:spPr>
          <a:xfrm>
            <a:off x="437547" y="1223319"/>
            <a:ext cx="10399329" cy="5141784"/>
          </a:xfrm>
        </p:spPr>
        <p:txBody>
          <a:bodyPr>
            <a:normAutofit fontScale="92500" lnSpcReduction="10000"/>
          </a:bodyPr>
          <a:lstStyle/>
          <a:p>
            <a:pPr>
              <a:lnSpc>
                <a:spcPct val="150000"/>
              </a:lnSpc>
            </a:pPr>
            <a:r>
              <a:rPr lang="en-US" sz="2200" dirty="0">
                <a:latin typeface="Arial" panose="020B0604020202020204" pitchFamily="34" charset="0"/>
                <a:cs typeface="Arial" panose="020B0604020202020204" pitchFamily="34" charset="0"/>
              </a:rPr>
              <a:t> </a:t>
            </a:r>
            <a:r>
              <a:rPr lang="en-US" sz="2200" dirty="0">
                <a:solidFill>
                  <a:srgbClr val="0070C0"/>
                </a:solidFill>
                <a:latin typeface="Arial" panose="020B0604020202020204" pitchFamily="34" charset="0"/>
                <a:cs typeface="Arial" panose="020B0604020202020204" pitchFamily="34" charset="0"/>
              </a:rPr>
              <a:t>Traditional asset classes</a:t>
            </a:r>
            <a:r>
              <a:rPr lang="en-US" sz="2200" dirty="0">
                <a:latin typeface="Arial" panose="020B0604020202020204" pitchFamily="34" charset="0"/>
                <a:cs typeface="Arial" panose="020B0604020202020204" pitchFamily="34" charset="0"/>
              </a:rPr>
              <a:t>:</a:t>
            </a:r>
          </a:p>
          <a:p>
            <a:pPr lvl="1">
              <a:lnSpc>
                <a:spcPct val="150000"/>
              </a:lnSpc>
            </a:pPr>
            <a:r>
              <a:rPr lang="en-US" sz="2000" dirty="0">
                <a:latin typeface="Arial" panose="020B0604020202020204" pitchFamily="34" charset="0"/>
                <a:cs typeface="Arial" panose="020B0604020202020204" pitchFamily="34" charset="0"/>
              </a:rPr>
              <a:t>Equities: Domestic vs. International</a:t>
            </a:r>
          </a:p>
          <a:p>
            <a:pPr lvl="2">
              <a:lnSpc>
                <a:spcPct val="150000"/>
              </a:lnSpc>
            </a:pPr>
            <a:r>
              <a:rPr lang="en-US" sz="1600" dirty="0">
                <a:latin typeface="Arial" panose="020B0604020202020204" pitchFamily="34" charset="0"/>
                <a:cs typeface="Arial" panose="020B0604020202020204" pitchFamily="34" charset="0"/>
              </a:rPr>
              <a:t>Holders: Shareholders</a:t>
            </a:r>
          </a:p>
          <a:p>
            <a:pPr lvl="1">
              <a:lnSpc>
                <a:spcPct val="150000"/>
              </a:lnSpc>
            </a:pPr>
            <a:r>
              <a:rPr lang="en-US" sz="2000" dirty="0">
                <a:latin typeface="Arial" panose="020B0604020202020204" pitchFamily="34" charset="0"/>
                <a:cs typeface="Arial" panose="020B0604020202020204" pitchFamily="34" charset="0"/>
              </a:rPr>
              <a:t>Fixed Income (Bonds and Money Market Instruments (Cash))</a:t>
            </a:r>
          </a:p>
          <a:p>
            <a:pPr lvl="2">
              <a:lnSpc>
                <a:spcPct val="150000"/>
              </a:lnSpc>
            </a:pPr>
            <a:r>
              <a:rPr lang="en-US" sz="1600" dirty="0">
                <a:latin typeface="Arial" panose="020B0604020202020204" pitchFamily="34" charset="0"/>
                <a:cs typeface="Arial" panose="020B0604020202020204" pitchFamily="34" charset="0"/>
              </a:rPr>
              <a:t>Holders: Debt holders</a:t>
            </a:r>
          </a:p>
          <a:p>
            <a:pPr>
              <a:lnSpc>
                <a:spcPct val="150000"/>
              </a:lnSpc>
            </a:pPr>
            <a:r>
              <a:rPr lang="en-US" sz="2200" dirty="0">
                <a:latin typeface="Arial" panose="020B0604020202020204" pitchFamily="34" charset="0"/>
                <a:cs typeface="Arial" panose="020B0604020202020204" pitchFamily="34" charset="0"/>
              </a:rPr>
              <a:t> </a:t>
            </a:r>
            <a:r>
              <a:rPr lang="en-US" sz="2200" dirty="0">
                <a:solidFill>
                  <a:srgbClr val="0070C0"/>
                </a:solidFill>
                <a:latin typeface="Arial" panose="020B0604020202020204" pitchFamily="34" charset="0"/>
                <a:cs typeface="Arial" panose="020B0604020202020204" pitchFamily="34" charset="0"/>
              </a:rPr>
              <a:t>Alternative asset classes</a:t>
            </a:r>
            <a:r>
              <a:rPr lang="en-US" sz="2200" dirty="0">
                <a:latin typeface="Arial" panose="020B0604020202020204" pitchFamily="34" charset="0"/>
                <a:cs typeface="Arial" panose="020B0604020202020204" pitchFamily="34" charset="0"/>
              </a:rPr>
              <a:t>:</a:t>
            </a:r>
          </a:p>
          <a:p>
            <a:pPr lvl="1">
              <a:lnSpc>
                <a:spcPct val="150000"/>
              </a:lnSpc>
            </a:pPr>
            <a:r>
              <a:rPr lang="en-US" sz="2000" dirty="0">
                <a:latin typeface="Arial" panose="020B0604020202020204" pitchFamily="34" charset="0"/>
                <a:cs typeface="Arial" panose="020B0604020202020204" pitchFamily="34" charset="0"/>
              </a:rPr>
              <a:t>Real Estate </a:t>
            </a:r>
          </a:p>
          <a:p>
            <a:pPr lvl="1">
              <a:lnSpc>
                <a:spcPct val="150000"/>
              </a:lnSpc>
            </a:pPr>
            <a:r>
              <a:rPr lang="en-US" sz="2000" dirty="0">
                <a:latin typeface="Arial" panose="020B0604020202020204" pitchFamily="34" charset="0"/>
                <a:cs typeface="Arial" panose="020B0604020202020204" pitchFamily="34" charset="0"/>
              </a:rPr>
              <a:t>Commodities</a:t>
            </a:r>
          </a:p>
          <a:p>
            <a:pPr lvl="1">
              <a:lnSpc>
                <a:spcPct val="150000"/>
              </a:lnSpc>
            </a:pPr>
            <a:r>
              <a:rPr lang="en-US" sz="2000" dirty="0">
                <a:latin typeface="Arial" panose="020B0604020202020204" pitchFamily="34" charset="0"/>
                <a:cs typeface="Arial" panose="020B0604020202020204" pitchFamily="34" charset="0"/>
              </a:rPr>
              <a:t>Private Equity</a:t>
            </a:r>
          </a:p>
          <a:p>
            <a:pPr lvl="1">
              <a:lnSpc>
                <a:spcPct val="150000"/>
              </a:lnSpc>
            </a:pPr>
            <a:r>
              <a:rPr lang="en-US" sz="2000" dirty="0">
                <a:latin typeface="Arial" panose="020B0604020202020204" pitchFamily="34" charset="0"/>
                <a:cs typeface="Arial" panose="020B0604020202020204" pitchFamily="34" charset="0"/>
              </a:rPr>
              <a:t>Hedge Funds             </a:t>
            </a:r>
          </a:p>
          <a:p>
            <a:pPr lvl="1">
              <a:lnSpc>
                <a:spcPct val="150000"/>
              </a:lnSpc>
            </a:pPr>
            <a:r>
              <a:rPr lang="en-US" sz="2000" dirty="0">
                <a:latin typeface="Arial" panose="020B0604020202020204" pitchFamily="34" charset="0"/>
                <a:cs typeface="Arial" panose="020B0604020202020204" pitchFamily="34" charset="0"/>
              </a:rPr>
              <a:t>Infrastructure                  </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715390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a:extLst>
              <a:ext uri="{FF2B5EF4-FFF2-40B4-BE49-F238E27FC236}">
                <a16:creationId xmlns:a16="http://schemas.microsoft.com/office/drawing/2014/main" id="{5BB151FE-0603-4ACC-822F-7FF299B49B29}"/>
              </a:ext>
            </a:extLst>
          </p:cNvPr>
          <p:cNvSpPr>
            <a:spLocks noGrp="1"/>
          </p:cNvSpPr>
          <p:nvPr/>
        </p:nvSpPr>
        <p:spPr>
          <a:xfrm>
            <a:off x="476250" y="238125"/>
            <a:ext cx="11163300" cy="571500"/>
          </a:xfrm>
          <a:prstGeom prst="rect">
            <a:avLst/>
          </a:prstGeom>
          <a:noFill/>
          <a:ln w="0">
            <a:noFill/>
            <a:prstDash val="solid"/>
          </a:ln>
        </p:spPr>
        <p:txBody>
          <a:bodyPr anchor="ctr">
            <a:normAutofit fontScale="77500" lnSpcReduction="20000"/>
          </a:bodyPr>
          <a:lstStyle/>
          <a:p>
            <a:pPr>
              <a:defRPr sz="3000" b="1">
                <a:solidFill>
                  <a:srgbClr val="000000"/>
                </a:solidFill>
                <a:latin typeface="Arial"/>
                <a:ea typeface="Arial"/>
                <a:cs typeface="Arial"/>
              </a:defRPr>
            </a:pPr>
            <a:r>
              <a:rPr lang="en-GB" sz="3000" b="1" dirty="0">
                <a:solidFill>
                  <a:srgbClr val="000000"/>
                </a:solidFill>
                <a:latin typeface="Arial"/>
                <a:ea typeface="Arial"/>
                <a:cs typeface="Arial"/>
              </a:rPr>
              <a:t>Traditional assets: w</a:t>
            </a:r>
            <a:r>
              <a:rPr sz="3000" b="1" dirty="0">
                <a:solidFill>
                  <a:srgbClr val="000000"/>
                </a:solidFill>
                <a:latin typeface="Arial"/>
                <a:ea typeface="Arial"/>
                <a:cs typeface="Arial"/>
              </a:rPr>
              <a:t>ho gets paid first? Priority of investor income claims</a:t>
            </a:r>
          </a:p>
        </p:txBody>
      </p:sp>
      <p:sp>
        <p:nvSpPr>
          <p:cNvPr id="2" name="subtitle">
            <a:extLst>
              <a:ext uri="{FF2B5EF4-FFF2-40B4-BE49-F238E27FC236}">
                <a16:creationId xmlns:a16="http://schemas.microsoft.com/office/drawing/2014/main" id="{E476BE7A-AAB4-4F45-A644-97DB32AC2327}"/>
              </a:ext>
            </a:extLst>
          </p:cNvPr>
          <p:cNvSpPr>
            <a:spLocks noGrp="1"/>
          </p:cNvSpPr>
          <p:nvPr/>
        </p:nvSpPr>
        <p:spPr>
          <a:xfrm>
            <a:off x="533400" y="942975"/>
            <a:ext cx="8191500" cy="323850"/>
          </a:xfrm>
          <a:prstGeom prst="rect">
            <a:avLst/>
          </a:prstGeom>
          <a:noFill/>
          <a:ln w="0">
            <a:noFill/>
            <a:prstDash val="solid"/>
          </a:ln>
        </p:spPr>
        <p:txBody>
          <a:bodyPr anchor="ctr"/>
          <a:lstStyle/>
          <a:p>
            <a:pPr>
              <a:defRPr sz="1650">
                <a:solidFill>
                  <a:srgbClr val="4B5563"/>
                </a:solidFill>
                <a:latin typeface="Arial"/>
                <a:ea typeface="Arial"/>
                <a:cs typeface="Arial"/>
              </a:defRPr>
            </a:pPr>
            <a:r>
              <a:rPr sz="1650" dirty="0">
                <a:solidFill>
                  <a:srgbClr val="4B5563"/>
                </a:solidFill>
                <a:latin typeface="Arial"/>
                <a:ea typeface="Arial"/>
                <a:cs typeface="Arial"/>
              </a:rPr>
              <a:t>Company cash available for investors is distributed in a strict order</a:t>
            </a:r>
            <a:r>
              <a:rPr lang="en-GB" sz="1650" dirty="0">
                <a:solidFill>
                  <a:srgbClr val="4B5563"/>
                </a:solidFill>
                <a:latin typeface="Arial"/>
                <a:ea typeface="Arial"/>
                <a:cs typeface="Arial"/>
              </a:rPr>
              <a:t>:</a:t>
            </a:r>
            <a:endParaRPr sz="1650" dirty="0">
              <a:solidFill>
                <a:srgbClr val="4B5563"/>
              </a:solidFill>
              <a:latin typeface="Arial"/>
              <a:ea typeface="Arial"/>
              <a:cs typeface="Arial"/>
            </a:endParaRPr>
          </a:p>
        </p:txBody>
      </p:sp>
      <p:sp>
        <p:nvSpPr>
          <p:cNvPr id="3" name="payment-order-arrow">
            <a:extLst>
              <a:ext uri="{FF2B5EF4-FFF2-40B4-BE49-F238E27FC236}">
                <a16:creationId xmlns:a16="http://schemas.microsoft.com/office/drawing/2014/main" id="{F9F28530-D7B0-4938-805A-C8FA17C464DE}"/>
              </a:ext>
            </a:extLst>
          </p:cNvPr>
          <p:cNvSpPr>
            <a:spLocks noGrp="1"/>
          </p:cNvSpPr>
          <p:nvPr/>
        </p:nvSpPr>
        <p:spPr>
          <a:xfrm>
            <a:off x="666750" y="1504950"/>
            <a:ext cx="10858500" cy="419100"/>
          </a:xfrm>
          <a:prstGeom prst="rightArrow">
            <a:avLst/>
          </a:prstGeom>
          <a:solidFill>
            <a:srgbClr val="E8F4FC"/>
          </a:solidFill>
          <a:ln w="9525">
            <a:solidFill>
              <a:srgbClr val="B8BCC4"/>
            </a:solidFill>
            <a:prstDash val="solid"/>
          </a:ln>
        </p:spPr>
        <p:txBody>
          <a:bodyPr/>
          <a:lstStyle/>
          <a:p>
            <a:endParaRPr lang="en-US"/>
          </a:p>
        </p:txBody>
      </p:sp>
      <p:sp>
        <p:nvSpPr>
          <p:cNvPr id="4" name="risk-upside-arrow">
            <a:extLst>
              <a:ext uri="{FF2B5EF4-FFF2-40B4-BE49-F238E27FC236}">
                <a16:creationId xmlns:a16="http://schemas.microsoft.com/office/drawing/2014/main" id="{4D10A6A5-44BD-4E57-9AFB-94757C3396ED}"/>
              </a:ext>
            </a:extLst>
          </p:cNvPr>
          <p:cNvSpPr>
            <a:spLocks noGrp="1"/>
          </p:cNvSpPr>
          <p:nvPr/>
        </p:nvSpPr>
        <p:spPr>
          <a:xfrm>
            <a:off x="685800" y="5644464"/>
            <a:ext cx="10858500" cy="333375"/>
          </a:xfrm>
          <a:prstGeom prst="rightArrow">
            <a:avLst/>
          </a:prstGeom>
          <a:solidFill>
            <a:srgbClr val="EDEDED"/>
          </a:solidFill>
          <a:ln w="9525">
            <a:solidFill>
              <a:srgbClr val="B8BCC4"/>
            </a:solidFill>
            <a:prstDash val="solid"/>
          </a:ln>
        </p:spPr>
        <p:txBody>
          <a:bodyPr/>
          <a:lstStyle/>
          <a:p>
            <a:endParaRPr lang="en-US"/>
          </a:p>
        </p:txBody>
      </p:sp>
      <p:sp>
        <p:nvSpPr>
          <p:cNvPr id="5" name="payment-order-label">
            <a:extLst>
              <a:ext uri="{FF2B5EF4-FFF2-40B4-BE49-F238E27FC236}">
                <a16:creationId xmlns:a16="http://schemas.microsoft.com/office/drawing/2014/main" id="{82D19621-5650-4A2D-93F6-DF3B4092BDDB}"/>
              </a:ext>
            </a:extLst>
          </p:cNvPr>
          <p:cNvSpPr>
            <a:spLocks noGrp="1"/>
          </p:cNvSpPr>
          <p:nvPr/>
        </p:nvSpPr>
        <p:spPr>
          <a:xfrm>
            <a:off x="895350" y="1533525"/>
            <a:ext cx="10144125" cy="342900"/>
          </a:xfrm>
          <a:prstGeom prst="rect">
            <a:avLst/>
          </a:prstGeom>
          <a:noFill/>
          <a:ln w="0">
            <a:noFill/>
            <a:prstDash val="solid"/>
          </a:ln>
        </p:spPr>
        <p:txBody>
          <a:bodyPr anchor="ctr"/>
          <a:lstStyle/>
          <a:p>
            <a:pPr algn="ctr">
              <a:defRPr sz="1350" b="1">
                <a:solidFill>
                  <a:srgbClr val="1F2937"/>
                </a:solidFill>
                <a:latin typeface="Arial"/>
                <a:ea typeface="Arial"/>
                <a:cs typeface="Arial"/>
              </a:defRPr>
            </a:pPr>
            <a:r>
              <a:rPr sz="1350" b="1" dirty="0">
                <a:solidFill>
                  <a:srgbClr val="1F2937"/>
                </a:solidFill>
                <a:latin typeface="Arial"/>
                <a:ea typeface="Arial"/>
                <a:cs typeface="Arial"/>
              </a:rPr>
              <a:t>PAID FIRST                                                  PAID LAST</a:t>
            </a:r>
          </a:p>
        </p:txBody>
      </p:sp>
      <p:sp>
        <p:nvSpPr>
          <p:cNvPr id="6" name="risk-label">
            <a:extLst>
              <a:ext uri="{FF2B5EF4-FFF2-40B4-BE49-F238E27FC236}">
                <a16:creationId xmlns:a16="http://schemas.microsoft.com/office/drawing/2014/main" id="{4D078D46-FE60-4A69-B9D9-E8D356C69AF8}"/>
              </a:ext>
            </a:extLst>
          </p:cNvPr>
          <p:cNvSpPr>
            <a:spLocks noGrp="1"/>
          </p:cNvSpPr>
          <p:nvPr/>
        </p:nvSpPr>
        <p:spPr>
          <a:xfrm>
            <a:off x="938599" y="5644464"/>
            <a:ext cx="9906000" cy="333375"/>
          </a:xfrm>
          <a:prstGeom prst="rect">
            <a:avLst/>
          </a:prstGeom>
          <a:noFill/>
          <a:ln w="0">
            <a:noFill/>
            <a:prstDash val="solid"/>
          </a:ln>
        </p:spPr>
        <p:txBody>
          <a:bodyPr anchor="ctr"/>
          <a:lstStyle/>
          <a:p>
            <a:pPr algn="ctr">
              <a:defRPr sz="1350" b="1">
                <a:solidFill>
                  <a:srgbClr val="374151"/>
                </a:solidFill>
                <a:latin typeface="Arial"/>
                <a:ea typeface="Arial"/>
                <a:cs typeface="Arial"/>
              </a:defRPr>
            </a:pPr>
            <a:r>
              <a:rPr sz="1350" b="1" dirty="0">
                <a:solidFill>
                  <a:srgbClr val="374151"/>
                </a:solidFill>
                <a:latin typeface="Arial"/>
                <a:ea typeface="Arial"/>
                <a:cs typeface="Arial"/>
              </a:rPr>
              <a:t>Lower risk / limited upside                                      Higher risk / greater upside</a:t>
            </a:r>
          </a:p>
        </p:txBody>
      </p:sp>
      <p:sp>
        <p:nvSpPr>
          <p:cNvPr id="7" name="claimant-1">
            <a:extLst>
              <a:ext uri="{FF2B5EF4-FFF2-40B4-BE49-F238E27FC236}">
                <a16:creationId xmlns:a16="http://schemas.microsoft.com/office/drawing/2014/main" id="{11A5F8D1-17D2-472D-A765-0C385227DFDD}"/>
              </a:ext>
            </a:extLst>
          </p:cNvPr>
          <p:cNvSpPr>
            <a:spLocks noGrp="1"/>
          </p:cNvSpPr>
          <p:nvPr/>
        </p:nvSpPr>
        <p:spPr>
          <a:xfrm>
            <a:off x="533400" y="2190750"/>
            <a:ext cx="2647950" cy="3238500"/>
          </a:xfrm>
          <a:prstGeom prst="rect">
            <a:avLst/>
          </a:prstGeom>
          <a:solidFill>
            <a:srgbClr val="D9F0FB"/>
          </a:solidFill>
          <a:ln w="9525">
            <a:solidFill>
              <a:srgbClr val="B8BCC4"/>
            </a:solidFill>
            <a:prstDash val="solid"/>
          </a:ln>
        </p:spPr>
        <p:txBody>
          <a:bodyPr/>
          <a:lstStyle/>
          <a:p>
            <a:endParaRPr lang="en-US"/>
          </a:p>
        </p:txBody>
      </p:sp>
      <p:sp>
        <p:nvSpPr>
          <p:cNvPr id="8" name="claimant-accent-1">
            <a:extLst>
              <a:ext uri="{FF2B5EF4-FFF2-40B4-BE49-F238E27FC236}">
                <a16:creationId xmlns:a16="http://schemas.microsoft.com/office/drawing/2014/main" id="{3A1D6CB4-BC02-4AD4-9522-AA1101A294DE}"/>
              </a:ext>
            </a:extLst>
          </p:cNvPr>
          <p:cNvSpPr>
            <a:spLocks noGrp="1"/>
          </p:cNvSpPr>
          <p:nvPr/>
        </p:nvSpPr>
        <p:spPr>
          <a:xfrm>
            <a:off x="533400" y="2190750"/>
            <a:ext cx="76200" cy="3238500"/>
          </a:xfrm>
          <a:prstGeom prst="rect">
            <a:avLst/>
          </a:prstGeom>
          <a:solidFill>
            <a:srgbClr val="2F80ED"/>
          </a:solidFill>
          <a:ln w="0">
            <a:solidFill>
              <a:srgbClr val="2F80ED"/>
            </a:solidFill>
            <a:prstDash val="solid"/>
          </a:ln>
        </p:spPr>
        <p:txBody>
          <a:bodyPr/>
          <a:lstStyle/>
          <a:p>
            <a:endParaRPr lang="en-US"/>
          </a:p>
        </p:txBody>
      </p:sp>
      <p:sp>
        <p:nvSpPr>
          <p:cNvPr id="9" name="number-1">
            <a:extLst>
              <a:ext uri="{FF2B5EF4-FFF2-40B4-BE49-F238E27FC236}">
                <a16:creationId xmlns:a16="http://schemas.microsoft.com/office/drawing/2014/main" id="{C0F8883A-954D-4EF5-A2AD-52AC0FB4D8D2}"/>
              </a:ext>
            </a:extLst>
          </p:cNvPr>
          <p:cNvSpPr>
            <a:spLocks noGrp="1"/>
          </p:cNvSpPr>
          <p:nvPr/>
        </p:nvSpPr>
        <p:spPr>
          <a:xfrm>
            <a:off x="762000" y="2419350"/>
            <a:ext cx="438150" cy="438150"/>
          </a:xfrm>
          <a:prstGeom prst="rect">
            <a:avLst/>
          </a:prstGeom>
          <a:noFill/>
          <a:ln w="0">
            <a:noFill/>
            <a:prstDash val="solid"/>
          </a:ln>
        </p:spPr>
        <p:txBody>
          <a:bodyPr anchor="ctr"/>
          <a:lstStyle/>
          <a:p>
            <a:pPr algn="ctr">
              <a:defRPr sz="2250" b="1">
                <a:solidFill>
                  <a:srgbClr val="2F80ED"/>
                </a:solidFill>
                <a:latin typeface="Arial"/>
                <a:ea typeface="Arial"/>
                <a:cs typeface="Arial"/>
              </a:defRPr>
            </a:pPr>
            <a:r>
              <a:rPr sz="2250" b="1">
                <a:solidFill>
                  <a:srgbClr val="2F80ED"/>
                </a:solidFill>
                <a:latin typeface="Arial"/>
                <a:ea typeface="Arial"/>
                <a:cs typeface="Arial"/>
              </a:rPr>
              <a:t>1</a:t>
            </a:r>
          </a:p>
        </p:txBody>
      </p:sp>
      <p:sp>
        <p:nvSpPr>
          <p:cNvPr id="10" name="stage-title-1">
            <a:extLst>
              <a:ext uri="{FF2B5EF4-FFF2-40B4-BE49-F238E27FC236}">
                <a16:creationId xmlns:a16="http://schemas.microsoft.com/office/drawing/2014/main" id="{90BC5BE3-781A-4005-A426-F511529AAC1D}"/>
              </a:ext>
            </a:extLst>
          </p:cNvPr>
          <p:cNvSpPr>
            <a:spLocks noGrp="1"/>
          </p:cNvSpPr>
          <p:nvPr/>
        </p:nvSpPr>
        <p:spPr>
          <a:xfrm>
            <a:off x="762000" y="2981325"/>
            <a:ext cx="2190750" cy="647700"/>
          </a:xfrm>
          <a:prstGeom prst="rect">
            <a:avLst/>
          </a:prstGeom>
          <a:noFill/>
          <a:ln w="0">
            <a:noFill/>
            <a:prstDash val="solid"/>
          </a:ln>
        </p:spPr>
        <p:txBody>
          <a:bodyPr anchor="t">
            <a:normAutofit fontScale="97333"/>
          </a:bodyPr>
          <a:lstStyle/>
          <a:p>
            <a:pPr>
              <a:defRPr sz="1875" b="1">
                <a:solidFill>
                  <a:srgbClr val="000000"/>
                </a:solidFill>
                <a:latin typeface="Arial"/>
                <a:ea typeface="Arial"/>
                <a:cs typeface="Arial"/>
              </a:defRPr>
            </a:pPr>
            <a:r>
              <a:rPr sz="1875" b="1" dirty="0">
                <a:solidFill>
                  <a:srgbClr val="000000"/>
                </a:solidFill>
                <a:latin typeface="Arial"/>
                <a:ea typeface="Arial"/>
                <a:cs typeface="Arial"/>
              </a:rPr>
              <a:t>Senior debt</a:t>
            </a:r>
            <a:r>
              <a:rPr lang="en-GB" sz="1875" b="1" dirty="0">
                <a:solidFill>
                  <a:srgbClr val="000000"/>
                </a:solidFill>
                <a:latin typeface="Arial"/>
                <a:ea typeface="Arial"/>
                <a:cs typeface="Arial"/>
              </a:rPr>
              <a:t> (fixed income)</a:t>
            </a:r>
            <a:r>
              <a:rPr sz="1875" b="1" dirty="0">
                <a:solidFill>
                  <a:srgbClr val="000000"/>
                </a:solidFill>
                <a:latin typeface="Arial"/>
                <a:ea typeface="Arial"/>
                <a:cs typeface="Arial"/>
              </a:rPr>
              <a:t> holders</a:t>
            </a:r>
          </a:p>
        </p:txBody>
      </p:sp>
      <p:sp>
        <p:nvSpPr>
          <p:cNvPr id="11" name="stage-claim-1">
            <a:extLst>
              <a:ext uri="{FF2B5EF4-FFF2-40B4-BE49-F238E27FC236}">
                <a16:creationId xmlns:a16="http://schemas.microsoft.com/office/drawing/2014/main" id="{5BD6261B-9A62-4DD8-9FFF-7B3FABAA268F}"/>
              </a:ext>
            </a:extLst>
          </p:cNvPr>
          <p:cNvSpPr>
            <a:spLocks noGrp="1"/>
          </p:cNvSpPr>
          <p:nvPr/>
        </p:nvSpPr>
        <p:spPr>
          <a:xfrm>
            <a:off x="762000" y="3752850"/>
            <a:ext cx="2190750" cy="628650"/>
          </a:xfrm>
          <a:prstGeom prst="rect">
            <a:avLst/>
          </a:prstGeom>
          <a:noFill/>
          <a:ln w="0">
            <a:noFill/>
            <a:prstDash val="solid"/>
          </a:ln>
        </p:spPr>
        <p:txBody>
          <a:bodyPr anchor="t">
            <a:normAutofit/>
          </a:bodyPr>
          <a:lstStyle/>
          <a:p>
            <a:pPr>
              <a:defRPr sz="1575" b="1">
                <a:solidFill>
                  <a:srgbClr val="1F2937"/>
                </a:solidFill>
                <a:latin typeface="Arial"/>
                <a:ea typeface="Arial"/>
                <a:cs typeface="Arial"/>
              </a:defRPr>
            </a:pPr>
            <a:r>
              <a:rPr sz="1575" b="1">
                <a:solidFill>
                  <a:srgbClr val="1F2937"/>
                </a:solidFill>
                <a:latin typeface="Arial"/>
                <a:ea typeface="Arial"/>
                <a:cs typeface="Arial"/>
              </a:rPr>
              <a:t>Interest is a contractual claim</a:t>
            </a:r>
          </a:p>
        </p:txBody>
      </p:sp>
      <p:cxnSp>
        <p:nvCxnSpPr>
          <p:cNvPr id="47" name="divider-1"/>
          <p:cNvCxnSpPr/>
          <p:nvPr/>
        </p:nvCxnSpPr>
        <p:spPr>
          <a:xfrm>
            <a:off x="762000" y="4514850"/>
            <a:ext cx="2190750" cy="0"/>
          </a:xfrm>
          <a:prstGeom prst="straightConnector1">
            <a:avLst/>
          </a:prstGeom>
          <a:ln w="9525">
            <a:solidFill>
              <a:srgbClr val="B8BCC4"/>
            </a:solidFill>
            <a:prstDash val="solid"/>
          </a:ln>
        </p:spPr>
      </p:cxnSp>
      <p:sp>
        <p:nvSpPr>
          <p:cNvPr id="13" name="stage-detail-1">
            <a:extLst>
              <a:ext uri="{FF2B5EF4-FFF2-40B4-BE49-F238E27FC236}">
                <a16:creationId xmlns:a16="http://schemas.microsoft.com/office/drawing/2014/main" id="{DBC11D7F-4166-4E2C-9162-C3D9E69982B0}"/>
              </a:ext>
            </a:extLst>
          </p:cNvPr>
          <p:cNvSpPr>
            <a:spLocks noGrp="1"/>
          </p:cNvSpPr>
          <p:nvPr/>
        </p:nvSpPr>
        <p:spPr>
          <a:xfrm>
            <a:off x="762000" y="4657724"/>
            <a:ext cx="2286000" cy="771526"/>
          </a:xfrm>
          <a:prstGeom prst="rect">
            <a:avLst/>
          </a:prstGeom>
          <a:noFill/>
          <a:ln w="0">
            <a:noFill/>
            <a:prstDash val="solid"/>
          </a:ln>
        </p:spPr>
        <p:txBody>
          <a:bodyPr anchor="t">
            <a:normAutofit fontScale="94169"/>
          </a:bodyPr>
          <a:lstStyle/>
          <a:p>
            <a:pPr>
              <a:defRPr sz="1350">
                <a:solidFill>
                  <a:srgbClr val="374151"/>
                </a:solidFill>
                <a:latin typeface="Arial"/>
                <a:ea typeface="Arial"/>
                <a:cs typeface="Arial"/>
              </a:defRPr>
            </a:pPr>
            <a:r>
              <a:rPr sz="1350" dirty="0">
                <a:solidFill>
                  <a:srgbClr val="374151"/>
                </a:solidFill>
                <a:latin typeface="Arial"/>
                <a:ea typeface="Arial"/>
                <a:cs typeface="Arial"/>
              </a:rPr>
              <a:t>Paid before junior capital; missed payment can trigger default.</a:t>
            </a:r>
          </a:p>
        </p:txBody>
      </p:sp>
      <p:sp>
        <p:nvSpPr>
          <p:cNvPr id="14" name="claimant-2">
            <a:extLst>
              <a:ext uri="{FF2B5EF4-FFF2-40B4-BE49-F238E27FC236}">
                <a16:creationId xmlns:a16="http://schemas.microsoft.com/office/drawing/2014/main" id="{7C742C96-BEF7-40EC-BA67-E65082A9E2A2}"/>
              </a:ext>
            </a:extLst>
          </p:cNvPr>
          <p:cNvSpPr>
            <a:spLocks noGrp="1"/>
          </p:cNvSpPr>
          <p:nvPr/>
        </p:nvSpPr>
        <p:spPr>
          <a:xfrm>
            <a:off x="3352800" y="2190750"/>
            <a:ext cx="2647950" cy="3238500"/>
          </a:xfrm>
          <a:prstGeom prst="rect">
            <a:avLst/>
          </a:prstGeom>
          <a:solidFill>
            <a:srgbClr val="E8F4FC"/>
          </a:solidFill>
          <a:ln w="9525">
            <a:solidFill>
              <a:srgbClr val="B8BCC4"/>
            </a:solidFill>
            <a:prstDash val="solid"/>
          </a:ln>
        </p:spPr>
        <p:txBody>
          <a:bodyPr/>
          <a:lstStyle/>
          <a:p>
            <a:endParaRPr lang="en-US"/>
          </a:p>
        </p:txBody>
      </p:sp>
      <p:sp>
        <p:nvSpPr>
          <p:cNvPr id="15" name="claimant-accent-2">
            <a:extLst>
              <a:ext uri="{FF2B5EF4-FFF2-40B4-BE49-F238E27FC236}">
                <a16:creationId xmlns:a16="http://schemas.microsoft.com/office/drawing/2014/main" id="{9FD04F2D-ABA0-4CD6-A7AF-C0EA18FFBAB3}"/>
              </a:ext>
            </a:extLst>
          </p:cNvPr>
          <p:cNvSpPr>
            <a:spLocks noGrp="1"/>
          </p:cNvSpPr>
          <p:nvPr/>
        </p:nvSpPr>
        <p:spPr>
          <a:xfrm>
            <a:off x="3352800" y="2190750"/>
            <a:ext cx="76200" cy="3238500"/>
          </a:xfrm>
          <a:prstGeom prst="rect">
            <a:avLst/>
          </a:prstGeom>
          <a:solidFill>
            <a:srgbClr val="4A9EEB"/>
          </a:solidFill>
          <a:ln w="0">
            <a:solidFill>
              <a:srgbClr val="4A9EEB"/>
            </a:solidFill>
            <a:prstDash val="solid"/>
          </a:ln>
        </p:spPr>
        <p:txBody>
          <a:bodyPr/>
          <a:lstStyle/>
          <a:p>
            <a:endParaRPr lang="en-US"/>
          </a:p>
        </p:txBody>
      </p:sp>
      <p:sp>
        <p:nvSpPr>
          <p:cNvPr id="16" name="number-2">
            <a:extLst>
              <a:ext uri="{FF2B5EF4-FFF2-40B4-BE49-F238E27FC236}">
                <a16:creationId xmlns:a16="http://schemas.microsoft.com/office/drawing/2014/main" id="{C74F70C8-8952-4A8E-BC86-6468A419D4ED}"/>
              </a:ext>
            </a:extLst>
          </p:cNvPr>
          <p:cNvSpPr>
            <a:spLocks noGrp="1"/>
          </p:cNvSpPr>
          <p:nvPr/>
        </p:nvSpPr>
        <p:spPr>
          <a:xfrm>
            <a:off x="3581400" y="2419350"/>
            <a:ext cx="438150" cy="438150"/>
          </a:xfrm>
          <a:prstGeom prst="rect">
            <a:avLst/>
          </a:prstGeom>
          <a:noFill/>
          <a:ln w="0">
            <a:noFill/>
            <a:prstDash val="solid"/>
          </a:ln>
        </p:spPr>
        <p:txBody>
          <a:bodyPr anchor="ctr"/>
          <a:lstStyle/>
          <a:p>
            <a:pPr algn="ctr">
              <a:defRPr sz="2250" b="1">
                <a:solidFill>
                  <a:srgbClr val="4A9EEB"/>
                </a:solidFill>
                <a:latin typeface="Arial"/>
                <a:ea typeface="Arial"/>
                <a:cs typeface="Arial"/>
              </a:defRPr>
            </a:pPr>
            <a:r>
              <a:rPr sz="2250" b="1">
                <a:solidFill>
                  <a:srgbClr val="4A9EEB"/>
                </a:solidFill>
                <a:latin typeface="Arial"/>
                <a:ea typeface="Arial"/>
                <a:cs typeface="Arial"/>
              </a:rPr>
              <a:t>2</a:t>
            </a:r>
          </a:p>
        </p:txBody>
      </p:sp>
      <p:sp>
        <p:nvSpPr>
          <p:cNvPr id="17" name="stage-title-2">
            <a:extLst>
              <a:ext uri="{FF2B5EF4-FFF2-40B4-BE49-F238E27FC236}">
                <a16:creationId xmlns:a16="http://schemas.microsoft.com/office/drawing/2014/main" id="{76D773D6-DFED-4F43-BE85-94F8B4A91B1E}"/>
              </a:ext>
            </a:extLst>
          </p:cNvPr>
          <p:cNvSpPr>
            <a:spLocks noGrp="1"/>
          </p:cNvSpPr>
          <p:nvPr/>
        </p:nvSpPr>
        <p:spPr>
          <a:xfrm>
            <a:off x="3581400" y="2981325"/>
            <a:ext cx="2190750" cy="647700"/>
          </a:xfrm>
          <a:prstGeom prst="rect">
            <a:avLst/>
          </a:prstGeom>
          <a:noFill/>
          <a:ln w="0">
            <a:noFill/>
            <a:prstDash val="solid"/>
          </a:ln>
        </p:spPr>
        <p:txBody>
          <a:bodyPr anchor="t">
            <a:normAutofit fontScale="97333"/>
          </a:bodyPr>
          <a:lstStyle/>
          <a:p>
            <a:pPr>
              <a:defRPr sz="1875" b="1">
                <a:solidFill>
                  <a:srgbClr val="000000"/>
                </a:solidFill>
                <a:latin typeface="Arial"/>
                <a:ea typeface="Arial"/>
                <a:cs typeface="Arial"/>
              </a:defRPr>
            </a:pPr>
            <a:r>
              <a:rPr sz="1875" b="1" dirty="0">
                <a:solidFill>
                  <a:srgbClr val="000000"/>
                </a:solidFill>
                <a:latin typeface="Arial"/>
                <a:ea typeface="Arial"/>
                <a:cs typeface="Arial"/>
              </a:rPr>
              <a:t>Subordinated debt holders</a:t>
            </a:r>
            <a:r>
              <a:rPr lang="en-GB" sz="1875" b="1" dirty="0">
                <a:solidFill>
                  <a:srgbClr val="000000"/>
                </a:solidFill>
                <a:latin typeface="Arial"/>
                <a:ea typeface="Arial"/>
                <a:cs typeface="Arial"/>
              </a:rPr>
              <a:t> </a:t>
            </a:r>
            <a:endParaRPr sz="1875" b="1" dirty="0">
              <a:solidFill>
                <a:srgbClr val="000000"/>
              </a:solidFill>
              <a:latin typeface="Arial"/>
              <a:ea typeface="Arial"/>
              <a:cs typeface="Arial"/>
            </a:endParaRPr>
          </a:p>
        </p:txBody>
      </p:sp>
      <p:sp>
        <p:nvSpPr>
          <p:cNvPr id="18" name="stage-claim-2">
            <a:extLst>
              <a:ext uri="{FF2B5EF4-FFF2-40B4-BE49-F238E27FC236}">
                <a16:creationId xmlns:a16="http://schemas.microsoft.com/office/drawing/2014/main" id="{34E584FA-1334-4E5D-8920-FC091C635DF0}"/>
              </a:ext>
            </a:extLst>
          </p:cNvPr>
          <p:cNvSpPr>
            <a:spLocks noGrp="1"/>
          </p:cNvSpPr>
          <p:nvPr/>
        </p:nvSpPr>
        <p:spPr>
          <a:xfrm>
            <a:off x="3581400" y="3752850"/>
            <a:ext cx="2190750" cy="628650"/>
          </a:xfrm>
          <a:prstGeom prst="rect">
            <a:avLst/>
          </a:prstGeom>
          <a:noFill/>
          <a:ln w="0">
            <a:noFill/>
            <a:prstDash val="solid"/>
          </a:ln>
        </p:spPr>
        <p:txBody>
          <a:bodyPr anchor="t">
            <a:normAutofit fontScale="95459"/>
          </a:bodyPr>
          <a:lstStyle/>
          <a:p>
            <a:pPr>
              <a:defRPr sz="1575" b="1">
                <a:solidFill>
                  <a:srgbClr val="1F2937"/>
                </a:solidFill>
                <a:latin typeface="Arial"/>
                <a:ea typeface="Arial"/>
                <a:cs typeface="Arial"/>
              </a:defRPr>
            </a:pPr>
            <a:r>
              <a:rPr sz="1575" b="1">
                <a:solidFill>
                  <a:srgbClr val="1F2937"/>
                </a:solidFill>
                <a:latin typeface="Arial"/>
                <a:ea typeface="Arial"/>
                <a:cs typeface="Arial"/>
              </a:rPr>
              <a:t>Interest is contractual, but junior</a:t>
            </a:r>
          </a:p>
        </p:txBody>
      </p:sp>
      <p:cxnSp>
        <p:nvCxnSpPr>
          <p:cNvPr id="54" name="divider-2"/>
          <p:cNvCxnSpPr/>
          <p:nvPr/>
        </p:nvCxnSpPr>
        <p:spPr>
          <a:xfrm>
            <a:off x="3581400" y="4514850"/>
            <a:ext cx="2190750" cy="0"/>
          </a:xfrm>
          <a:prstGeom prst="straightConnector1">
            <a:avLst/>
          </a:prstGeom>
          <a:ln w="9525">
            <a:solidFill>
              <a:srgbClr val="B8BCC4"/>
            </a:solidFill>
            <a:prstDash val="solid"/>
          </a:ln>
        </p:spPr>
      </p:cxnSp>
      <p:sp>
        <p:nvSpPr>
          <p:cNvPr id="20" name="stage-detail-2">
            <a:extLst>
              <a:ext uri="{FF2B5EF4-FFF2-40B4-BE49-F238E27FC236}">
                <a16:creationId xmlns:a16="http://schemas.microsoft.com/office/drawing/2014/main" id="{A4159E8E-7EF5-40A5-AD14-D5761A67DED1}"/>
              </a:ext>
            </a:extLst>
          </p:cNvPr>
          <p:cNvSpPr>
            <a:spLocks noGrp="1"/>
          </p:cNvSpPr>
          <p:nvPr/>
        </p:nvSpPr>
        <p:spPr>
          <a:xfrm>
            <a:off x="3581400" y="4657725"/>
            <a:ext cx="2190750" cy="571500"/>
          </a:xfrm>
          <a:prstGeom prst="rect">
            <a:avLst/>
          </a:prstGeom>
          <a:noFill/>
          <a:ln w="0">
            <a:noFill/>
            <a:prstDash val="solid"/>
          </a:ln>
        </p:spPr>
        <p:txBody>
          <a:bodyPr anchor="t">
            <a:normAutofit/>
          </a:bodyPr>
          <a:lstStyle/>
          <a:p>
            <a:pPr>
              <a:defRPr sz="1350">
                <a:solidFill>
                  <a:srgbClr val="374151"/>
                </a:solidFill>
                <a:latin typeface="Arial"/>
                <a:ea typeface="Arial"/>
                <a:cs typeface="Arial"/>
              </a:defRPr>
            </a:pPr>
            <a:r>
              <a:rPr sz="1350" dirty="0">
                <a:solidFill>
                  <a:srgbClr val="374151"/>
                </a:solidFill>
                <a:latin typeface="Arial"/>
                <a:ea typeface="Arial"/>
                <a:cs typeface="Arial"/>
              </a:rPr>
              <a:t>Paid after senior lenders and before shareholders.</a:t>
            </a:r>
          </a:p>
        </p:txBody>
      </p:sp>
      <p:sp>
        <p:nvSpPr>
          <p:cNvPr id="21" name="claimant-3">
            <a:extLst>
              <a:ext uri="{FF2B5EF4-FFF2-40B4-BE49-F238E27FC236}">
                <a16:creationId xmlns:a16="http://schemas.microsoft.com/office/drawing/2014/main" id="{8222DA95-ACAA-4C62-A657-F3A357D06512}"/>
              </a:ext>
            </a:extLst>
          </p:cNvPr>
          <p:cNvSpPr>
            <a:spLocks noGrp="1"/>
          </p:cNvSpPr>
          <p:nvPr/>
        </p:nvSpPr>
        <p:spPr>
          <a:xfrm>
            <a:off x="6172200" y="2190750"/>
            <a:ext cx="2647950" cy="3238500"/>
          </a:xfrm>
          <a:prstGeom prst="rect">
            <a:avLst/>
          </a:prstGeom>
          <a:solidFill>
            <a:srgbClr val="F1F1F1"/>
          </a:solidFill>
          <a:ln w="9525">
            <a:solidFill>
              <a:srgbClr val="B8BCC4"/>
            </a:solidFill>
            <a:prstDash val="solid"/>
          </a:ln>
        </p:spPr>
        <p:txBody>
          <a:bodyPr/>
          <a:lstStyle/>
          <a:p>
            <a:endParaRPr lang="en-US"/>
          </a:p>
        </p:txBody>
      </p:sp>
      <p:sp>
        <p:nvSpPr>
          <p:cNvPr id="22" name="claimant-accent-3">
            <a:extLst>
              <a:ext uri="{FF2B5EF4-FFF2-40B4-BE49-F238E27FC236}">
                <a16:creationId xmlns:a16="http://schemas.microsoft.com/office/drawing/2014/main" id="{C68BFFF2-37C1-4CD7-80AE-4D9EE3060E3C}"/>
              </a:ext>
            </a:extLst>
          </p:cNvPr>
          <p:cNvSpPr>
            <a:spLocks noGrp="1"/>
          </p:cNvSpPr>
          <p:nvPr/>
        </p:nvSpPr>
        <p:spPr>
          <a:xfrm>
            <a:off x="6172200" y="2190750"/>
            <a:ext cx="76200" cy="3238500"/>
          </a:xfrm>
          <a:prstGeom prst="rect">
            <a:avLst/>
          </a:prstGeom>
          <a:solidFill>
            <a:srgbClr val="7A8A99"/>
          </a:solidFill>
          <a:ln w="0">
            <a:solidFill>
              <a:srgbClr val="7A8A99"/>
            </a:solidFill>
            <a:prstDash val="solid"/>
          </a:ln>
        </p:spPr>
        <p:txBody>
          <a:bodyPr/>
          <a:lstStyle/>
          <a:p>
            <a:endParaRPr lang="en-US"/>
          </a:p>
        </p:txBody>
      </p:sp>
      <p:sp>
        <p:nvSpPr>
          <p:cNvPr id="23" name="number-3">
            <a:extLst>
              <a:ext uri="{FF2B5EF4-FFF2-40B4-BE49-F238E27FC236}">
                <a16:creationId xmlns:a16="http://schemas.microsoft.com/office/drawing/2014/main" id="{DC5945FD-82E1-4493-8820-3C3C06947279}"/>
              </a:ext>
            </a:extLst>
          </p:cNvPr>
          <p:cNvSpPr>
            <a:spLocks noGrp="1"/>
          </p:cNvSpPr>
          <p:nvPr/>
        </p:nvSpPr>
        <p:spPr>
          <a:xfrm>
            <a:off x="6400800" y="2419350"/>
            <a:ext cx="438150" cy="438150"/>
          </a:xfrm>
          <a:prstGeom prst="rect">
            <a:avLst/>
          </a:prstGeom>
          <a:noFill/>
          <a:ln w="0">
            <a:noFill/>
            <a:prstDash val="solid"/>
          </a:ln>
        </p:spPr>
        <p:txBody>
          <a:bodyPr anchor="ctr"/>
          <a:lstStyle/>
          <a:p>
            <a:pPr algn="ctr">
              <a:defRPr sz="2250" b="1">
                <a:solidFill>
                  <a:srgbClr val="7A8A99"/>
                </a:solidFill>
                <a:latin typeface="Arial"/>
                <a:ea typeface="Arial"/>
                <a:cs typeface="Arial"/>
              </a:defRPr>
            </a:pPr>
            <a:r>
              <a:rPr sz="2250" b="1">
                <a:solidFill>
                  <a:srgbClr val="7A8A99"/>
                </a:solidFill>
                <a:latin typeface="Arial"/>
                <a:ea typeface="Arial"/>
                <a:cs typeface="Arial"/>
              </a:rPr>
              <a:t>3</a:t>
            </a:r>
          </a:p>
        </p:txBody>
      </p:sp>
      <p:sp>
        <p:nvSpPr>
          <p:cNvPr id="24" name="stage-title-3">
            <a:extLst>
              <a:ext uri="{FF2B5EF4-FFF2-40B4-BE49-F238E27FC236}">
                <a16:creationId xmlns:a16="http://schemas.microsoft.com/office/drawing/2014/main" id="{DF71E760-10D7-42C7-82AE-C1437DE50F8E}"/>
              </a:ext>
            </a:extLst>
          </p:cNvPr>
          <p:cNvSpPr>
            <a:spLocks noGrp="1"/>
          </p:cNvSpPr>
          <p:nvPr/>
        </p:nvSpPr>
        <p:spPr>
          <a:xfrm>
            <a:off x="6400800" y="2981325"/>
            <a:ext cx="2190750" cy="647700"/>
          </a:xfrm>
          <a:prstGeom prst="rect">
            <a:avLst/>
          </a:prstGeom>
          <a:noFill/>
          <a:ln w="0">
            <a:noFill/>
            <a:prstDash val="solid"/>
          </a:ln>
        </p:spPr>
        <p:txBody>
          <a:bodyPr anchor="t">
            <a:normAutofit fontScale="97333"/>
          </a:bodyPr>
          <a:lstStyle/>
          <a:p>
            <a:pPr>
              <a:defRPr sz="1875" b="1">
                <a:solidFill>
                  <a:srgbClr val="000000"/>
                </a:solidFill>
                <a:latin typeface="Arial"/>
                <a:ea typeface="Arial"/>
                <a:cs typeface="Arial"/>
              </a:defRPr>
            </a:pPr>
            <a:r>
              <a:rPr sz="1875" b="1">
                <a:solidFill>
                  <a:srgbClr val="000000"/>
                </a:solidFill>
                <a:latin typeface="Arial"/>
                <a:ea typeface="Arial"/>
                <a:cs typeface="Arial"/>
              </a:rPr>
              <a:t>Preference shareholders</a:t>
            </a:r>
          </a:p>
        </p:txBody>
      </p:sp>
      <p:sp>
        <p:nvSpPr>
          <p:cNvPr id="25" name="stage-claim-3">
            <a:extLst>
              <a:ext uri="{FF2B5EF4-FFF2-40B4-BE49-F238E27FC236}">
                <a16:creationId xmlns:a16="http://schemas.microsoft.com/office/drawing/2014/main" id="{5F79A787-E58B-4A6B-A3DD-FB2D963DE284}"/>
              </a:ext>
            </a:extLst>
          </p:cNvPr>
          <p:cNvSpPr>
            <a:spLocks noGrp="1"/>
          </p:cNvSpPr>
          <p:nvPr/>
        </p:nvSpPr>
        <p:spPr>
          <a:xfrm>
            <a:off x="6400800" y="3752850"/>
            <a:ext cx="2190750" cy="628650"/>
          </a:xfrm>
          <a:prstGeom prst="rect">
            <a:avLst/>
          </a:prstGeom>
          <a:noFill/>
          <a:ln w="0">
            <a:noFill/>
            <a:prstDash val="solid"/>
          </a:ln>
        </p:spPr>
        <p:txBody>
          <a:bodyPr anchor="t">
            <a:normAutofit fontScale="88693" lnSpcReduction="20000"/>
          </a:bodyPr>
          <a:lstStyle/>
          <a:p>
            <a:pPr>
              <a:defRPr sz="1575" b="1">
                <a:solidFill>
                  <a:srgbClr val="1F2937"/>
                </a:solidFill>
                <a:latin typeface="Arial"/>
                <a:ea typeface="Arial"/>
                <a:cs typeface="Arial"/>
              </a:defRPr>
            </a:pPr>
            <a:r>
              <a:rPr sz="1575" b="1" dirty="0">
                <a:solidFill>
                  <a:srgbClr val="1F2937"/>
                </a:solidFill>
                <a:latin typeface="Arial"/>
                <a:ea typeface="Arial"/>
                <a:cs typeface="Arial"/>
              </a:rPr>
              <a:t>Dividend</a:t>
            </a:r>
            <a:r>
              <a:rPr lang="en-GB" sz="1575" b="1" dirty="0">
                <a:solidFill>
                  <a:srgbClr val="1F2937"/>
                </a:solidFill>
                <a:latin typeface="Arial"/>
                <a:ea typeface="Arial"/>
                <a:cs typeface="Arial"/>
              </a:rPr>
              <a:t> is fixed,</a:t>
            </a:r>
            <a:r>
              <a:rPr sz="1575" b="1" dirty="0">
                <a:solidFill>
                  <a:srgbClr val="1F2937"/>
                </a:solidFill>
                <a:latin typeface="Arial"/>
                <a:ea typeface="Arial"/>
                <a:cs typeface="Arial"/>
              </a:rPr>
              <a:t> has priority over ordinary dividends</a:t>
            </a:r>
          </a:p>
        </p:txBody>
      </p:sp>
      <p:cxnSp>
        <p:nvCxnSpPr>
          <p:cNvPr id="61" name="divider-3"/>
          <p:cNvCxnSpPr/>
          <p:nvPr/>
        </p:nvCxnSpPr>
        <p:spPr>
          <a:xfrm>
            <a:off x="6400800" y="4514850"/>
            <a:ext cx="2190750" cy="0"/>
          </a:xfrm>
          <a:prstGeom prst="straightConnector1">
            <a:avLst/>
          </a:prstGeom>
          <a:ln w="9525">
            <a:solidFill>
              <a:srgbClr val="B8BCC4"/>
            </a:solidFill>
            <a:prstDash val="solid"/>
          </a:ln>
        </p:spPr>
      </p:cxnSp>
      <p:sp>
        <p:nvSpPr>
          <p:cNvPr id="27" name="stage-detail-3">
            <a:extLst>
              <a:ext uri="{FF2B5EF4-FFF2-40B4-BE49-F238E27FC236}">
                <a16:creationId xmlns:a16="http://schemas.microsoft.com/office/drawing/2014/main" id="{31940A8C-ED19-4E64-87CA-AAEC3E44BF4B}"/>
              </a:ext>
            </a:extLst>
          </p:cNvPr>
          <p:cNvSpPr>
            <a:spLocks noGrp="1"/>
          </p:cNvSpPr>
          <p:nvPr/>
        </p:nvSpPr>
        <p:spPr>
          <a:xfrm>
            <a:off x="6400800" y="4605338"/>
            <a:ext cx="2190750" cy="823909"/>
          </a:xfrm>
          <a:prstGeom prst="rect">
            <a:avLst/>
          </a:prstGeom>
          <a:noFill/>
          <a:ln w="0">
            <a:noFill/>
            <a:prstDash val="solid"/>
          </a:ln>
        </p:spPr>
        <p:txBody>
          <a:bodyPr anchor="t">
            <a:normAutofit fontScale="92778" lnSpcReduction="10000"/>
          </a:bodyPr>
          <a:lstStyle/>
          <a:p>
            <a:pPr>
              <a:defRPr sz="1350">
                <a:solidFill>
                  <a:srgbClr val="374151"/>
                </a:solidFill>
                <a:latin typeface="Arial"/>
                <a:ea typeface="Arial"/>
                <a:cs typeface="Arial"/>
              </a:defRPr>
            </a:pPr>
            <a:r>
              <a:rPr lang="en-GB" sz="1350" dirty="0">
                <a:solidFill>
                  <a:srgbClr val="374151"/>
                </a:solidFill>
                <a:latin typeface="Arial"/>
                <a:ea typeface="Arial"/>
                <a:cs typeface="Arial"/>
              </a:rPr>
              <a:t>F</a:t>
            </a:r>
            <a:r>
              <a:rPr sz="1350" dirty="0" err="1">
                <a:solidFill>
                  <a:srgbClr val="374151"/>
                </a:solidFill>
                <a:latin typeface="Arial"/>
                <a:ea typeface="Arial"/>
                <a:cs typeface="Arial"/>
              </a:rPr>
              <a:t>ixed</a:t>
            </a:r>
            <a:r>
              <a:rPr lang="en-GB" sz="1350" dirty="0">
                <a:solidFill>
                  <a:srgbClr val="374151"/>
                </a:solidFill>
                <a:latin typeface="Arial"/>
                <a:ea typeface="Arial"/>
                <a:cs typeface="Arial"/>
              </a:rPr>
              <a:t> payment</a:t>
            </a:r>
            <a:r>
              <a:rPr sz="1350" dirty="0">
                <a:solidFill>
                  <a:srgbClr val="374151"/>
                </a:solidFill>
                <a:latin typeface="Arial"/>
                <a:ea typeface="Arial"/>
                <a:cs typeface="Arial"/>
              </a:rPr>
              <a:t> but can be omitted unless contractually protected</a:t>
            </a:r>
            <a:r>
              <a:rPr lang="en-GB" sz="1350" dirty="0">
                <a:solidFill>
                  <a:srgbClr val="374151"/>
                </a:solidFill>
                <a:latin typeface="Arial"/>
                <a:ea typeface="Arial"/>
                <a:cs typeface="Arial"/>
              </a:rPr>
              <a:t>; limited or no voting rights</a:t>
            </a:r>
            <a:r>
              <a:rPr sz="1350" dirty="0">
                <a:solidFill>
                  <a:srgbClr val="374151"/>
                </a:solidFill>
                <a:latin typeface="Arial"/>
                <a:ea typeface="Arial"/>
                <a:cs typeface="Arial"/>
              </a:rPr>
              <a:t>.</a:t>
            </a:r>
          </a:p>
        </p:txBody>
      </p:sp>
      <p:sp>
        <p:nvSpPr>
          <p:cNvPr id="28" name="claimant-4">
            <a:extLst>
              <a:ext uri="{FF2B5EF4-FFF2-40B4-BE49-F238E27FC236}">
                <a16:creationId xmlns:a16="http://schemas.microsoft.com/office/drawing/2014/main" id="{0EF0AD30-9337-4D98-8A4A-498EC4EA6E8C}"/>
              </a:ext>
            </a:extLst>
          </p:cNvPr>
          <p:cNvSpPr>
            <a:spLocks noGrp="1"/>
          </p:cNvSpPr>
          <p:nvPr/>
        </p:nvSpPr>
        <p:spPr>
          <a:xfrm>
            <a:off x="8991600" y="2190750"/>
            <a:ext cx="2647950" cy="3238500"/>
          </a:xfrm>
          <a:prstGeom prst="rect">
            <a:avLst/>
          </a:prstGeom>
          <a:solidFill>
            <a:srgbClr val="E6E6E6"/>
          </a:solidFill>
          <a:ln w="9525">
            <a:solidFill>
              <a:srgbClr val="B8BCC4"/>
            </a:solidFill>
            <a:prstDash val="solid"/>
          </a:ln>
        </p:spPr>
        <p:txBody>
          <a:bodyPr/>
          <a:lstStyle/>
          <a:p>
            <a:endParaRPr lang="en-US"/>
          </a:p>
        </p:txBody>
      </p:sp>
      <p:sp>
        <p:nvSpPr>
          <p:cNvPr id="29" name="claimant-accent-4">
            <a:extLst>
              <a:ext uri="{FF2B5EF4-FFF2-40B4-BE49-F238E27FC236}">
                <a16:creationId xmlns:a16="http://schemas.microsoft.com/office/drawing/2014/main" id="{011EC704-2960-440E-B1CD-F004C40C17BE}"/>
              </a:ext>
            </a:extLst>
          </p:cNvPr>
          <p:cNvSpPr>
            <a:spLocks noGrp="1"/>
          </p:cNvSpPr>
          <p:nvPr/>
        </p:nvSpPr>
        <p:spPr>
          <a:xfrm>
            <a:off x="8991600" y="2190750"/>
            <a:ext cx="76200" cy="3238500"/>
          </a:xfrm>
          <a:prstGeom prst="rect">
            <a:avLst/>
          </a:prstGeom>
          <a:solidFill>
            <a:srgbClr val="111827"/>
          </a:solidFill>
          <a:ln w="0">
            <a:solidFill>
              <a:srgbClr val="111827"/>
            </a:solidFill>
            <a:prstDash val="solid"/>
          </a:ln>
        </p:spPr>
        <p:txBody>
          <a:bodyPr/>
          <a:lstStyle/>
          <a:p>
            <a:endParaRPr lang="en-US"/>
          </a:p>
        </p:txBody>
      </p:sp>
      <p:sp>
        <p:nvSpPr>
          <p:cNvPr id="30" name="number-4">
            <a:extLst>
              <a:ext uri="{FF2B5EF4-FFF2-40B4-BE49-F238E27FC236}">
                <a16:creationId xmlns:a16="http://schemas.microsoft.com/office/drawing/2014/main" id="{448D53B2-D090-4A8C-9E48-658BC20A3D76}"/>
              </a:ext>
            </a:extLst>
          </p:cNvPr>
          <p:cNvSpPr>
            <a:spLocks noGrp="1"/>
          </p:cNvSpPr>
          <p:nvPr/>
        </p:nvSpPr>
        <p:spPr>
          <a:xfrm>
            <a:off x="9220200" y="2419350"/>
            <a:ext cx="438150" cy="438150"/>
          </a:xfrm>
          <a:prstGeom prst="rect">
            <a:avLst/>
          </a:prstGeom>
          <a:noFill/>
          <a:ln w="0">
            <a:noFill/>
            <a:prstDash val="solid"/>
          </a:ln>
        </p:spPr>
        <p:txBody>
          <a:bodyPr anchor="ctr"/>
          <a:lstStyle/>
          <a:p>
            <a:pPr algn="ctr">
              <a:defRPr sz="2250" b="1">
                <a:solidFill>
                  <a:srgbClr val="111827"/>
                </a:solidFill>
                <a:latin typeface="Arial"/>
                <a:ea typeface="Arial"/>
                <a:cs typeface="Arial"/>
              </a:defRPr>
            </a:pPr>
            <a:r>
              <a:rPr sz="2250" b="1">
                <a:solidFill>
                  <a:srgbClr val="111827"/>
                </a:solidFill>
                <a:latin typeface="Arial"/>
                <a:ea typeface="Arial"/>
                <a:cs typeface="Arial"/>
              </a:rPr>
              <a:t>4</a:t>
            </a:r>
          </a:p>
        </p:txBody>
      </p:sp>
      <p:sp>
        <p:nvSpPr>
          <p:cNvPr id="31" name="stage-title-4">
            <a:extLst>
              <a:ext uri="{FF2B5EF4-FFF2-40B4-BE49-F238E27FC236}">
                <a16:creationId xmlns:a16="http://schemas.microsoft.com/office/drawing/2014/main" id="{BDE3875F-A2B9-4586-B1FE-176305A7CDEF}"/>
              </a:ext>
            </a:extLst>
          </p:cNvPr>
          <p:cNvSpPr>
            <a:spLocks noGrp="1"/>
          </p:cNvSpPr>
          <p:nvPr/>
        </p:nvSpPr>
        <p:spPr>
          <a:xfrm>
            <a:off x="9220200" y="2981325"/>
            <a:ext cx="2190750" cy="647700"/>
          </a:xfrm>
          <a:prstGeom prst="rect">
            <a:avLst/>
          </a:prstGeom>
          <a:noFill/>
          <a:ln w="0">
            <a:noFill/>
            <a:prstDash val="solid"/>
          </a:ln>
        </p:spPr>
        <p:txBody>
          <a:bodyPr anchor="t">
            <a:normAutofit fontScale="97333"/>
          </a:bodyPr>
          <a:lstStyle/>
          <a:p>
            <a:pPr>
              <a:defRPr sz="1875" b="1">
                <a:solidFill>
                  <a:srgbClr val="000000"/>
                </a:solidFill>
                <a:latin typeface="Arial"/>
                <a:ea typeface="Arial"/>
                <a:cs typeface="Arial"/>
              </a:defRPr>
            </a:pPr>
            <a:r>
              <a:rPr sz="1875" b="1">
                <a:solidFill>
                  <a:srgbClr val="000000"/>
                </a:solidFill>
                <a:latin typeface="Arial"/>
                <a:ea typeface="Arial"/>
                <a:cs typeface="Arial"/>
              </a:rPr>
              <a:t>Ordinary shareholders</a:t>
            </a:r>
          </a:p>
        </p:txBody>
      </p:sp>
      <p:sp>
        <p:nvSpPr>
          <p:cNvPr id="32" name="stage-claim-4">
            <a:extLst>
              <a:ext uri="{FF2B5EF4-FFF2-40B4-BE49-F238E27FC236}">
                <a16:creationId xmlns:a16="http://schemas.microsoft.com/office/drawing/2014/main" id="{2FAD0BB0-29E1-40FC-986B-478B8FBA42BD}"/>
              </a:ext>
            </a:extLst>
          </p:cNvPr>
          <p:cNvSpPr>
            <a:spLocks noGrp="1"/>
          </p:cNvSpPr>
          <p:nvPr/>
        </p:nvSpPr>
        <p:spPr>
          <a:xfrm>
            <a:off x="9220200" y="3752850"/>
            <a:ext cx="2190750" cy="628650"/>
          </a:xfrm>
          <a:prstGeom prst="rect">
            <a:avLst/>
          </a:prstGeom>
          <a:noFill/>
          <a:ln w="0">
            <a:noFill/>
            <a:prstDash val="solid"/>
          </a:ln>
        </p:spPr>
        <p:txBody>
          <a:bodyPr anchor="t">
            <a:normAutofit/>
          </a:bodyPr>
          <a:lstStyle/>
          <a:p>
            <a:pPr>
              <a:defRPr sz="1575" b="1">
                <a:solidFill>
                  <a:srgbClr val="1F2937"/>
                </a:solidFill>
                <a:latin typeface="Arial"/>
                <a:ea typeface="Arial"/>
                <a:cs typeface="Arial"/>
              </a:defRPr>
            </a:pPr>
            <a:r>
              <a:rPr sz="1575" b="1">
                <a:solidFill>
                  <a:srgbClr val="1F2937"/>
                </a:solidFill>
                <a:latin typeface="Arial"/>
                <a:ea typeface="Arial"/>
                <a:cs typeface="Arial"/>
              </a:rPr>
              <a:t>Residual claim on income</a:t>
            </a:r>
          </a:p>
        </p:txBody>
      </p:sp>
      <p:cxnSp>
        <p:nvCxnSpPr>
          <p:cNvPr id="68" name="divider-4"/>
          <p:cNvCxnSpPr/>
          <p:nvPr/>
        </p:nvCxnSpPr>
        <p:spPr>
          <a:xfrm>
            <a:off x="9220200" y="4514850"/>
            <a:ext cx="2190750" cy="0"/>
          </a:xfrm>
          <a:prstGeom prst="straightConnector1">
            <a:avLst/>
          </a:prstGeom>
          <a:ln w="9525">
            <a:solidFill>
              <a:srgbClr val="B8BCC4"/>
            </a:solidFill>
            <a:prstDash val="solid"/>
          </a:ln>
        </p:spPr>
      </p:cxnSp>
      <p:sp>
        <p:nvSpPr>
          <p:cNvPr id="34" name="stage-detail-4">
            <a:extLst>
              <a:ext uri="{FF2B5EF4-FFF2-40B4-BE49-F238E27FC236}">
                <a16:creationId xmlns:a16="http://schemas.microsoft.com/office/drawing/2014/main" id="{1252F301-1944-4567-BC31-8CD82A9BD5CA}"/>
              </a:ext>
            </a:extLst>
          </p:cNvPr>
          <p:cNvSpPr>
            <a:spLocks noGrp="1"/>
          </p:cNvSpPr>
          <p:nvPr/>
        </p:nvSpPr>
        <p:spPr>
          <a:xfrm>
            <a:off x="9220200" y="4585518"/>
            <a:ext cx="2324100" cy="843727"/>
          </a:xfrm>
          <a:prstGeom prst="rect">
            <a:avLst/>
          </a:prstGeom>
          <a:noFill/>
          <a:ln w="0">
            <a:noFill/>
            <a:prstDash val="solid"/>
          </a:ln>
        </p:spPr>
        <p:txBody>
          <a:bodyPr anchor="t">
            <a:normAutofit fontScale="92778" lnSpcReduction="10000"/>
          </a:bodyPr>
          <a:lstStyle/>
          <a:p>
            <a:pPr>
              <a:defRPr sz="1350">
                <a:solidFill>
                  <a:srgbClr val="374151"/>
                </a:solidFill>
                <a:latin typeface="Arial"/>
                <a:ea typeface="Arial"/>
                <a:cs typeface="Arial"/>
              </a:defRPr>
            </a:pPr>
            <a:r>
              <a:rPr sz="1350" dirty="0">
                <a:solidFill>
                  <a:srgbClr val="374151"/>
                </a:solidFill>
                <a:latin typeface="Arial"/>
                <a:ea typeface="Arial"/>
                <a:cs typeface="Arial"/>
              </a:rPr>
              <a:t>Dividends are discretionary; investors receive what remains and retain the upside</a:t>
            </a:r>
            <a:r>
              <a:rPr lang="en-GB" sz="1350" dirty="0">
                <a:solidFill>
                  <a:srgbClr val="374151"/>
                </a:solidFill>
                <a:latin typeface="Arial"/>
                <a:ea typeface="Arial"/>
                <a:cs typeface="Arial"/>
              </a:rPr>
              <a:t>; voting rights.</a:t>
            </a:r>
            <a:endParaRPr sz="1350" dirty="0">
              <a:solidFill>
                <a:srgbClr val="374151"/>
              </a:solidFill>
              <a:latin typeface="Arial"/>
              <a:ea typeface="Arial"/>
              <a:cs typeface="Arial"/>
            </a:endParaRPr>
          </a:p>
        </p:txBody>
      </p:sp>
      <p:sp>
        <p:nvSpPr>
          <p:cNvPr id="35" name="takeaway">
            <a:extLst>
              <a:ext uri="{FF2B5EF4-FFF2-40B4-BE49-F238E27FC236}">
                <a16:creationId xmlns:a16="http://schemas.microsoft.com/office/drawing/2014/main" id="{2FDED70A-2A46-4D50-8EA3-340A59684038}"/>
              </a:ext>
            </a:extLst>
          </p:cNvPr>
          <p:cNvSpPr>
            <a:spLocks noGrp="1"/>
          </p:cNvSpPr>
          <p:nvPr/>
        </p:nvSpPr>
        <p:spPr>
          <a:xfrm>
            <a:off x="552450" y="6267450"/>
            <a:ext cx="11125200" cy="266700"/>
          </a:xfrm>
          <a:prstGeom prst="rect">
            <a:avLst/>
          </a:prstGeom>
          <a:noFill/>
          <a:ln w="0">
            <a:noFill/>
            <a:prstDash val="solid"/>
          </a:ln>
        </p:spPr>
        <p:txBody>
          <a:bodyPr anchor="ctr"/>
          <a:lstStyle/>
          <a:p>
            <a:pPr algn="ctr">
              <a:defRPr sz="1350" b="1">
                <a:solidFill>
                  <a:srgbClr val="000000"/>
                </a:solidFill>
                <a:latin typeface="Arial"/>
                <a:ea typeface="Arial"/>
                <a:cs typeface="Arial"/>
              </a:defRPr>
            </a:pPr>
            <a:r>
              <a:rPr sz="1350" b="1" dirty="0">
                <a:solidFill>
                  <a:srgbClr val="000000"/>
                </a:solidFill>
                <a:latin typeface="Arial"/>
                <a:ea typeface="Arial"/>
                <a:cs typeface="Arial"/>
              </a:rPr>
              <a:t>If income is insufficient, lower-priority investors may receive nothing.</a:t>
            </a:r>
          </a:p>
        </p:txBody>
      </p:sp>
    </p:spTree>
    <p:extLst>
      <p:ext uri="{BB962C8B-B14F-4D97-AF65-F5344CB8AC3E}">
        <p14:creationId xmlns:p14="http://schemas.microsoft.com/office/powerpoint/2010/main" val="598700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8" name="Rectangle 4"/>
          <p:cNvSpPr>
            <a:spLocks noGrp="1" noChangeArrowheads="1"/>
          </p:cNvSpPr>
          <p:nvPr>
            <p:ph sz="half" idx="2"/>
          </p:nvPr>
        </p:nvSpPr>
        <p:spPr>
          <a:xfrm>
            <a:off x="5534526" y="1285103"/>
            <a:ext cx="4537379" cy="5166497"/>
          </a:xfrm>
        </p:spPr>
        <p:txBody>
          <a:bodyPr/>
          <a:lstStyle/>
          <a:p>
            <a:pPr>
              <a:buFontTx/>
              <a:buNone/>
              <a:defRPr/>
            </a:pPr>
            <a:r>
              <a:rPr lang="en-GB" sz="2000" b="1" dirty="0">
                <a:solidFill>
                  <a:srgbClr val="0070C0"/>
                </a:solidFill>
              </a:rPr>
              <a:t>Risks and Concerns</a:t>
            </a:r>
          </a:p>
          <a:p>
            <a:pPr>
              <a:defRPr/>
            </a:pPr>
            <a:endParaRPr lang="en-GB" sz="2000" dirty="0">
              <a:solidFill>
                <a:schemeClr val="accent2"/>
              </a:solidFill>
              <a:effectLst>
                <a:outerShdw blurRad="38100" dist="38100" dir="2700000" algn="tl">
                  <a:srgbClr val="C0C0C0"/>
                </a:outerShdw>
              </a:effectLst>
              <a:latin typeface="Arial" charset="0"/>
            </a:endParaRPr>
          </a:p>
          <a:p>
            <a:pPr>
              <a:lnSpc>
                <a:spcPct val="150000"/>
              </a:lnSpc>
              <a:defRPr/>
            </a:pPr>
            <a:r>
              <a:rPr lang="en-GB" sz="2000" dirty="0">
                <a:latin typeface="Arial" charset="0"/>
              </a:rPr>
              <a:t>Residual claim on income</a:t>
            </a:r>
          </a:p>
          <a:p>
            <a:pPr>
              <a:lnSpc>
                <a:spcPct val="150000"/>
              </a:lnSpc>
              <a:defRPr/>
            </a:pPr>
            <a:r>
              <a:rPr lang="en-GB" sz="2000" dirty="0">
                <a:latin typeface="Arial" charset="0"/>
              </a:rPr>
              <a:t>Higher risk (standard deviation) than fixed income assets</a:t>
            </a:r>
          </a:p>
          <a:p>
            <a:pPr>
              <a:lnSpc>
                <a:spcPct val="150000"/>
              </a:lnSpc>
              <a:defRPr/>
            </a:pPr>
            <a:r>
              <a:rPr lang="en-GB" sz="2000" dirty="0">
                <a:latin typeface="Arial" charset="0"/>
              </a:rPr>
              <a:t>Long term cycles</a:t>
            </a:r>
          </a:p>
        </p:txBody>
      </p:sp>
      <p:sp>
        <p:nvSpPr>
          <p:cNvPr id="26626" name="Rectangle 2"/>
          <p:cNvSpPr>
            <a:spLocks noGrp="1" noChangeArrowheads="1"/>
          </p:cNvSpPr>
          <p:nvPr>
            <p:ph type="title"/>
          </p:nvPr>
        </p:nvSpPr>
        <p:spPr/>
        <p:txBody>
          <a:bodyPr/>
          <a:lstStyle/>
          <a:p>
            <a:r>
              <a:rPr lang="en-GB" sz="3200" dirty="0">
                <a:latin typeface="Arial" charset="0"/>
              </a:rPr>
              <a:t>Domestic Market Equity</a:t>
            </a:r>
          </a:p>
        </p:txBody>
      </p:sp>
      <p:sp>
        <p:nvSpPr>
          <p:cNvPr id="26627" name="Rectangle 3"/>
          <p:cNvSpPr>
            <a:spLocks noGrp="1" noChangeArrowheads="1"/>
          </p:cNvSpPr>
          <p:nvPr>
            <p:ph idx="1"/>
          </p:nvPr>
        </p:nvSpPr>
        <p:spPr>
          <a:xfrm>
            <a:off x="437547" y="1285103"/>
            <a:ext cx="5096979" cy="5166497"/>
          </a:xfrm>
        </p:spPr>
        <p:txBody>
          <a:bodyPr/>
          <a:lstStyle/>
          <a:p>
            <a:pPr>
              <a:buFontTx/>
              <a:buNone/>
            </a:pPr>
            <a:r>
              <a:rPr lang="en-GB" sz="2000" b="1" dirty="0">
                <a:solidFill>
                  <a:srgbClr val="0070C0"/>
                </a:solidFill>
              </a:rPr>
              <a:t>Rationale for Investment</a:t>
            </a:r>
          </a:p>
          <a:p>
            <a:pPr>
              <a:buFontTx/>
              <a:buNone/>
            </a:pPr>
            <a:endParaRPr lang="en-GB" sz="2000" dirty="0">
              <a:latin typeface="Arial" charset="0"/>
            </a:endParaRPr>
          </a:p>
          <a:p>
            <a:pPr>
              <a:lnSpc>
                <a:spcPct val="150000"/>
              </a:lnSpc>
            </a:pPr>
            <a:r>
              <a:rPr lang="en-GB" sz="2000" dirty="0">
                <a:latin typeface="Arial" charset="0"/>
              </a:rPr>
              <a:t>Ownership claim</a:t>
            </a:r>
          </a:p>
          <a:p>
            <a:pPr>
              <a:lnSpc>
                <a:spcPct val="150000"/>
              </a:lnSpc>
            </a:pPr>
            <a:r>
              <a:rPr lang="en-GB" sz="2000" dirty="0">
                <a:latin typeface="Arial" charset="0"/>
              </a:rPr>
              <a:t>Higher returns than fixed income</a:t>
            </a:r>
          </a:p>
          <a:p>
            <a:pPr>
              <a:lnSpc>
                <a:spcPct val="150000"/>
              </a:lnSpc>
            </a:pPr>
            <a:r>
              <a:rPr lang="en-GB" sz="2000" dirty="0">
                <a:latin typeface="Arial" charset="0"/>
              </a:rPr>
              <a:t>If developed market  - evidence of </a:t>
            </a:r>
          </a:p>
          <a:p>
            <a:pPr marL="0" indent="0">
              <a:lnSpc>
                <a:spcPct val="150000"/>
              </a:lnSpc>
              <a:buNone/>
            </a:pPr>
            <a:r>
              <a:rPr lang="en-GB" sz="2000" dirty="0">
                <a:latin typeface="Arial" charset="0"/>
              </a:rPr>
              <a:t>rational pricing (Efficient market)</a:t>
            </a:r>
          </a:p>
          <a:p>
            <a:pPr>
              <a:lnSpc>
                <a:spcPct val="150000"/>
              </a:lnSpc>
            </a:pPr>
            <a:r>
              <a:rPr lang="en-GB" sz="2000" dirty="0">
                <a:latin typeface="Arial" charset="0"/>
              </a:rPr>
              <a:t>Sector / style potential</a:t>
            </a:r>
          </a:p>
        </p:txBody>
      </p:sp>
    </p:spTree>
    <p:extLst>
      <p:ext uri="{BB962C8B-B14F-4D97-AF65-F5344CB8AC3E}">
        <p14:creationId xmlns:p14="http://schemas.microsoft.com/office/powerpoint/2010/main" val="3159629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6" name="Rectangle 4"/>
          <p:cNvSpPr>
            <a:spLocks noGrp="1" noChangeArrowheads="1"/>
          </p:cNvSpPr>
          <p:nvPr>
            <p:ph sz="half" idx="2"/>
          </p:nvPr>
        </p:nvSpPr>
        <p:spPr/>
        <p:txBody>
          <a:bodyPr/>
          <a:lstStyle/>
          <a:p>
            <a:pPr>
              <a:lnSpc>
                <a:spcPct val="150000"/>
              </a:lnSpc>
              <a:buFontTx/>
              <a:buNone/>
              <a:defRPr/>
            </a:pPr>
            <a:r>
              <a:rPr lang="en-GB" sz="2000" b="1" dirty="0">
                <a:solidFill>
                  <a:srgbClr val="0070C0"/>
                </a:solidFill>
              </a:rPr>
              <a:t>Risks and Concerns</a:t>
            </a:r>
            <a:endParaRPr lang="en-GB" sz="2000" dirty="0">
              <a:latin typeface="Arial" charset="0"/>
            </a:endParaRPr>
          </a:p>
          <a:p>
            <a:pPr>
              <a:lnSpc>
                <a:spcPct val="150000"/>
              </a:lnSpc>
              <a:defRPr/>
            </a:pPr>
            <a:r>
              <a:rPr lang="en-GB" sz="2000" dirty="0">
                <a:latin typeface="Arial" charset="0"/>
              </a:rPr>
              <a:t>Lower returns than equity</a:t>
            </a:r>
          </a:p>
          <a:p>
            <a:pPr>
              <a:lnSpc>
                <a:spcPct val="150000"/>
              </a:lnSpc>
              <a:defRPr/>
            </a:pPr>
            <a:r>
              <a:rPr lang="en-GB" sz="2000" dirty="0">
                <a:latin typeface="Arial" charset="0"/>
              </a:rPr>
              <a:t>Interest rate risk</a:t>
            </a:r>
          </a:p>
          <a:p>
            <a:pPr>
              <a:lnSpc>
                <a:spcPct val="150000"/>
              </a:lnSpc>
              <a:defRPr/>
            </a:pPr>
            <a:r>
              <a:rPr lang="en-GB" sz="2000" dirty="0">
                <a:latin typeface="Arial" charset="0"/>
              </a:rPr>
              <a:t>Inflation risk</a:t>
            </a:r>
          </a:p>
          <a:p>
            <a:pPr>
              <a:lnSpc>
                <a:spcPct val="150000"/>
              </a:lnSpc>
              <a:defRPr/>
            </a:pPr>
            <a:r>
              <a:rPr lang="en-GB" sz="2000" dirty="0">
                <a:latin typeface="Arial" charset="0"/>
              </a:rPr>
              <a:t>Credit risk</a:t>
            </a:r>
          </a:p>
          <a:p>
            <a:pPr>
              <a:lnSpc>
                <a:spcPct val="150000"/>
              </a:lnSpc>
              <a:defRPr/>
            </a:pPr>
            <a:r>
              <a:rPr lang="en-GB" sz="2000" dirty="0">
                <a:latin typeface="Arial" charset="0"/>
              </a:rPr>
              <a:t>Reinvestment risk</a:t>
            </a:r>
          </a:p>
          <a:p>
            <a:pPr>
              <a:lnSpc>
                <a:spcPct val="150000"/>
              </a:lnSpc>
              <a:defRPr/>
            </a:pPr>
            <a:r>
              <a:rPr lang="en-GB" sz="2000" dirty="0">
                <a:latin typeface="Arial" charset="0"/>
              </a:rPr>
              <a:t>Prepayment risk (Callable)</a:t>
            </a:r>
          </a:p>
          <a:p>
            <a:pPr>
              <a:defRPr/>
            </a:pPr>
            <a:endParaRPr lang="en-GB" sz="2400" dirty="0">
              <a:latin typeface="Arial" charset="0"/>
            </a:endParaRPr>
          </a:p>
        </p:txBody>
      </p:sp>
      <p:sp>
        <p:nvSpPr>
          <p:cNvPr id="28674" name="Rectangle 2"/>
          <p:cNvSpPr>
            <a:spLocks noGrp="1" noChangeArrowheads="1"/>
          </p:cNvSpPr>
          <p:nvPr>
            <p:ph type="title"/>
          </p:nvPr>
        </p:nvSpPr>
        <p:spPr/>
        <p:txBody>
          <a:bodyPr/>
          <a:lstStyle/>
          <a:p>
            <a:r>
              <a:rPr lang="en-GB" sz="3200" dirty="0">
                <a:latin typeface="Arial" charset="0"/>
              </a:rPr>
              <a:t>Domestic Market Fixed Income</a:t>
            </a:r>
          </a:p>
        </p:txBody>
      </p:sp>
      <p:sp>
        <p:nvSpPr>
          <p:cNvPr id="960515" name="Rectangle 3"/>
          <p:cNvSpPr>
            <a:spLocks noGrp="1" noChangeArrowheads="1"/>
          </p:cNvSpPr>
          <p:nvPr>
            <p:ph idx="1"/>
          </p:nvPr>
        </p:nvSpPr>
        <p:spPr/>
        <p:txBody>
          <a:bodyPr/>
          <a:lstStyle/>
          <a:p>
            <a:pPr>
              <a:lnSpc>
                <a:spcPct val="150000"/>
              </a:lnSpc>
              <a:buFontTx/>
              <a:buNone/>
              <a:defRPr/>
            </a:pPr>
            <a:r>
              <a:rPr lang="en-GB" sz="2000" b="1" dirty="0">
                <a:solidFill>
                  <a:srgbClr val="0070C0"/>
                </a:solidFill>
              </a:rPr>
              <a:t>Rationale for Investment</a:t>
            </a:r>
          </a:p>
          <a:p>
            <a:pPr>
              <a:lnSpc>
                <a:spcPct val="150000"/>
              </a:lnSpc>
              <a:defRPr/>
            </a:pPr>
            <a:r>
              <a:rPr lang="en-GB" sz="2000" dirty="0">
                <a:latin typeface="Arial" charset="0"/>
              </a:rPr>
              <a:t>Senior claim to equity</a:t>
            </a:r>
          </a:p>
          <a:p>
            <a:pPr>
              <a:lnSpc>
                <a:spcPct val="150000"/>
              </a:lnSpc>
              <a:defRPr/>
            </a:pPr>
            <a:r>
              <a:rPr lang="en-GB" sz="2000" dirty="0">
                <a:latin typeface="Arial" charset="0"/>
              </a:rPr>
              <a:t>Lower risk than equity</a:t>
            </a:r>
          </a:p>
          <a:p>
            <a:pPr>
              <a:lnSpc>
                <a:spcPct val="150000"/>
              </a:lnSpc>
              <a:defRPr/>
            </a:pPr>
            <a:r>
              <a:rPr lang="en-GB" sz="2000" dirty="0">
                <a:latin typeface="Arial" charset="0"/>
              </a:rPr>
              <a:t>Higher return than cash</a:t>
            </a:r>
          </a:p>
          <a:p>
            <a:pPr>
              <a:lnSpc>
                <a:spcPct val="150000"/>
              </a:lnSpc>
              <a:defRPr/>
            </a:pPr>
            <a:r>
              <a:rPr lang="en-GB" sz="2000" dirty="0">
                <a:latin typeface="Arial" charset="0"/>
              </a:rPr>
              <a:t>Portfolio diversifier (Low correlation)</a:t>
            </a:r>
          </a:p>
          <a:p>
            <a:pPr>
              <a:lnSpc>
                <a:spcPct val="90000"/>
              </a:lnSpc>
              <a:defRPr/>
            </a:pPr>
            <a:endParaRPr lang="en-GB" dirty="0">
              <a:latin typeface="Arial" charset="0"/>
            </a:endParaRPr>
          </a:p>
        </p:txBody>
      </p:sp>
    </p:spTree>
    <p:extLst>
      <p:ext uri="{BB962C8B-B14F-4D97-AF65-F5344CB8AC3E}">
        <p14:creationId xmlns:p14="http://schemas.microsoft.com/office/powerpoint/2010/main" val="107591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4" name="Rectangle 4"/>
          <p:cNvSpPr>
            <a:spLocks noGrp="1" noChangeArrowheads="1"/>
          </p:cNvSpPr>
          <p:nvPr>
            <p:ph sz="half" idx="2"/>
          </p:nvPr>
        </p:nvSpPr>
        <p:spPr>
          <a:xfrm>
            <a:off x="6299497" y="1525734"/>
            <a:ext cx="4537379" cy="5166497"/>
          </a:xfrm>
        </p:spPr>
        <p:txBody>
          <a:bodyPr>
            <a:normAutofit/>
          </a:bodyPr>
          <a:lstStyle/>
          <a:p>
            <a:pPr>
              <a:lnSpc>
                <a:spcPct val="150000"/>
              </a:lnSpc>
              <a:buFontTx/>
              <a:buNone/>
              <a:defRPr/>
            </a:pPr>
            <a:r>
              <a:rPr lang="en-GB" sz="2000" b="1" dirty="0">
                <a:solidFill>
                  <a:srgbClr val="0070C0"/>
                </a:solidFill>
              </a:rPr>
              <a:t>Risks and Concerns</a:t>
            </a:r>
          </a:p>
          <a:p>
            <a:pPr>
              <a:lnSpc>
                <a:spcPct val="150000"/>
              </a:lnSpc>
              <a:defRPr/>
            </a:pPr>
            <a:r>
              <a:rPr lang="en-GB" sz="2000" dirty="0">
                <a:latin typeface="Arial" charset="0"/>
              </a:rPr>
              <a:t>Higher standard deviation than fixed income and/or domestic market equity</a:t>
            </a:r>
          </a:p>
          <a:p>
            <a:pPr>
              <a:lnSpc>
                <a:spcPct val="150000"/>
              </a:lnSpc>
              <a:defRPr/>
            </a:pPr>
            <a:r>
              <a:rPr lang="en-GB" sz="2000" dirty="0">
                <a:latin typeface="Arial" charset="0"/>
              </a:rPr>
              <a:t>Rising and unstable correlations</a:t>
            </a:r>
          </a:p>
          <a:p>
            <a:pPr>
              <a:lnSpc>
                <a:spcPct val="150000"/>
              </a:lnSpc>
              <a:defRPr/>
            </a:pPr>
            <a:r>
              <a:rPr lang="en-GB" sz="2000" dirty="0">
                <a:latin typeface="Arial" charset="0"/>
              </a:rPr>
              <a:t>Higher investment costs</a:t>
            </a:r>
          </a:p>
          <a:p>
            <a:pPr>
              <a:lnSpc>
                <a:spcPct val="150000"/>
              </a:lnSpc>
              <a:defRPr/>
            </a:pPr>
            <a:r>
              <a:rPr lang="en-GB" sz="2000" dirty="0">
                <a:latin typeface="Arial" charset="0"/>
              </a:rPr>
              <a:t>Currency risk</a:t>
            </a:r>
          </a:p>
          <a:p>
            <a:pPr>
              <a:lnSpc>
                <a:spcPct val="150000"/>
              </a:lnSpc>
              <a:defRPr/>
            </a:pPr>
            <a:r>
              <a:rPr lang="en-GB" sz="2000" dirty="0">
                <a:latin typeface="Arial" charset="0"/>
              </a:rPr>
              <a:t>Political risk</a:t>
            </a:r>
          </a:p>
          <a:p>
            <a:pPr>
              <a:lnSpc>
                <a:spcPct val="150000"/>
              </a:lnSpc>
              <a:defRPr/>
            </a:pPr>
            <a:r>
              <a:rPr lang="en-GB" sz="2000" dirty="0">
                <a:latin typeface="Arial" charset="0"/>
              </a:rPr>
              <a:t>Liquidity risk</a:t>
            </a:r>
          </a:p>
          <a:p>
            <a:pPr>
              <a:defRPr/>
            </a:pPr>
            <a:endParaRPr lang="en-GB" sz="2400" dirty="0">
              <a:latin typeface="Arial" charset="0"/>
            </a:endParaRPr>
          </a:p>
        </p:txBody>
      </p:sp>
      <p:sp>
        <p:nvSpPr>
          <p:cNvPr id="30722" name="Rectangle 2"/>
          <p:cNvSpPr>
            <a:spLocks noGrp="1" noChangeArrowheads="1"/>
          </p:cNvSpPr>
          <p:nvPr>
            <p:ph type="title"/>
          </p:nvPr>
        </p:nvSpPr>
        <p:spPr/>
        <p:txBody>
          <a:bodyPr>
            <a:normAutofit/>
          </a:bodyPr>
          <a:lstStyle/>
          <a:p>
            <a:pPr>
              <a:lnSpc>
                <a:spcPct val="100000"/>
              </a:lnSpc>
            </a:pPr>
            <a:r>
              <a:rPr lang="en-GB" sz="3200" dirty="0">
                <a:latin typeface="Arial" charset="0"/>
              </a:rPr>
              <a:t>International equity and fixed income</a:t>
            </a:r>
          </a:p>
        </p:txBody>
      </p:sp>
      <p:sp>
        <p:nvSpPr>
          <p:cNvPr id="962563" name="Rectangle 3"/>
          <p:cNvSpPr>
            <a:spLocks noGrp="1" noChangeArrowheads="1"/>
          </p:cNvSpPr>
          <p:nvPr>
            <p:ph idx="1"/>
          </p:nvPr>
        </p:nvSpPr>
        <p:spPr>
          <a:xfrm>
            <a:off x="437547" y="1525735"/>
            <a:ext cx="5658453" cy="5166497"/>
          </a:xfrm>
        </p:spPr>
        <p:txBody>
          <a:bodyPr>
            <a:normAutofit/>
          </a:bodyPr>
          <a:lstStyle/>
          <a:p>
            <a:pPr>
              <a:lnSpc>
                <a:spcPct val="150000"/>
              </a:lnSpc>
              <a:buFontTx/>
              <a:buNone/>
              <a:defRPr/>
            </a:pPr>
            <a:r>
              <a:rPr lang="en-GB" sz="2000" b="1" dirty="0">
                <a:solidFill>
                  <a:srgbClr val="0070C0"/>
                </a:solidFill>
              </a:rPr>
              <a:t>Rationale for Investment</a:t>
            </a:r>
            <a:endParaRPr lang="en-GB" sz="2000" dirty="0">
              <a:latin typeface="Arial" charset="0"/>
            </a:endParaRPr>
          </a:p>
          <a:p>
            <a:pPr>
              <a:lnSpc>
                <a:spcPct val="150000"/>
              </a:lnSpc>
              <a:defRPr/>
            </a:pPr>
            <a:r>
              <a:rPr lang="en-GB" sz="2000" dirty="0">
                <a:latin typeface="Arial" charset="0"/>
              </a:rPr>
              <a:t>Increase in opportunity set</a:t>
            </a:r>
          </a:p>
          <a:p>
            <a:pPr>
              <a:lnSpc>
                <a:spcPct val="150000"/>
              </a:lnSpc>
              <a:defRPr/>
            </a:pPr>
            <a:r>
              <a:rPr lang="en-GB" sz="2000" dirty="0">
                <a:latin typeface="Arial" charset="0"/>
              </a:rPr>
              <a:t>Higher return potential</a:t>
            </a:r>
          </a:p>
          <a:p>
            <a:pPr>
              <a:lnSpc>
                <a:spcPct val="150000"/>
              </a:lnSpc>
              <a:defRPr/>
            </a:pPr>
            <a:r>
              <a:rPr lang="en-GB" sz="2000" dirty="0">
                <a:latin typeface="Arial" charset="0"/>
              </a:rPr>
              <a:t>Portfolio diversifier (low correlation with the domestic market)</a:t>
            </a:r>
          </a:p>
          <a:p>
            <a:pPr>
              <a:lnSpc>
                <a:spcPct val="150000"/>
              </a:lnSpc>
              <a:defRPr/>
            </a:pPr>
            <a:r>
              <a:rPr lang="en-GB" sz="2000" dirty="0">
                <a:latin typeface="Arial" charset="0"/>
              </a:rPr>
              <a:t> Potential to identify irrational (inefficient) pricing: possibility to beat the market</a:t>
            </a:r>
          </a:p>
        </p:txBody>
      </p:sp>
    </p:spTree>
    <p:extLst>
      <p:ext uri="{BB962C8B-B14F-4D97-AF65-F5344CB8AC3E}">
        <p14:creationId xmlns:p14="http://schemas.microsoft.com/office/powerpoint/2010/main" val="3080110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FCBDD4-4FC7-7FAA-D993-D8F319A09AE7}"/>
              </a:ext>
            </a:extLst>
          </p:cNvPr>
          <p:cNvSpPr>
            <a:spLocks noGrp="1"/>
          </p:cNvSpPr>
          <p:nvPr>
            <p:ph type="title"/>
          </p:nvPr>
        </p:nvSpPr>
        <p:spPr/>
        <p:txBody>
          <a:bodyPr>
            <a:noAutofit/>
          </a:bodyPr>
          <a:lstStyle/>
          <a:p>
            <a:r>
              <a:rPr lang="en-US" sz="3200" dirty="0"/>
              <a:t>Developed Markets Outperform Emerging in the long-run</a:t>
            </a:r>
          </a:p>
        </p:txBody>
      </p:sp>
      <p:pic>
        <p:nvPicPr>
          <p:cNvPr id="7" name="Content Placeholder 6">
            <a:extLst>
              <a:ext uri="{FF2B5EF4-FFF2-40B4-BE49-F238E27FC236}">
                <a16:creationId xmlns:a16="http://schemas.microsoft.com/office/drawing/2014/main" id="{899D0DB5-BA70-1CEB-EDB3-FAB4134A2256}"/>
              </a:ext>
            </a:extLst>
          </p:cNvPr>
          <p:cNvPicPr>
            <a:picLocks noGrp="1" noChangeAspect="1"/>
          </p:cNvPicPr>
          <p:nvPr>
            <p:ph idx="1"/>
          </p:nvPr>
        </p:nvPicPr>
        <p:blipFill>
          <a:blip r:embed="rId2"/>
          <a:stretch>
            <a:fillRect/>
          </a:stretch>
        </p:blipFill>
        <p:spPr>
          <a:xfrm>
            <a:off x="438450" y="1558346"/>
            <a:ext cx="9323388" cy="3741308"/>
          </a:xfrm>
          <a:prstGeom prst="rect">
            <a:avLst/>
          </a:prstGeom>
        </p:spPr>
      </p:pic>
      <p:sp>
        <p:nvSpPr>
          <p:cNvPr id="8" name="TextBox 7">
            <a:extLst>
              <a:ext uri="{FF2B5EF4-FFF2-40B4-BE49-F238E27FC236}">
                <a16:creationId xmlns:a16="http://schemas.microsoft.com/office/drawing/2014/main" id="{F856EDC0-8A02-BD5F-1134-F21740E67933}"/>
              </a:ext>
            </a:extLst>
          </p:cNvPr>
          <p:cNvSpPr txBox="1"/>
          <p:nvPr/>
        </p:nvSpPr>
        <p:spPr>
          <a:xfrm>
            <a:off x="659568" y="5733442"/>
            <a:ext cx="9578714" cy="338554"/>
          </a:xfrm>
          <a:prstGeom prst="rect">
            <a:avLst/>
          </a:prstGeom>
          <a:noFill/>
        </p:spPr>
        <p:txBody>
          <a:bodyPr wrap="square" rtlCol="0">
            <a:spAutoFit/>
          </a:bodyPr>
          <a:lstStyle/>
          <a:p>
            <a:r>
              <a:rPr lang="en-US" sz="1600" dirty="0"/>
              <a:t>Source: </a:t>
            </a:r>
            <a:r>
              <a:rPr lang="en-GB" sz="1600" dirty="0"/>
              <a:t>UBS Global Investment Returns Yearbook 2026, available on Moodle</a:t>
            </a:r>
            <a:endParaRPr lang="en-US" sz="1600" dirty="0"/>
          </a:p>
        </p:txBody>
      </p:sp>
    </p:spTree>
    <p:extLst>
      <p:ext uri="{BB962C8B-B14F-4D97-AF65-F5344CB8AC3E}">
        <p14:creationId xmlns:p14="http://schemas.microsoft.com/office/powerpoint/2010/main" val="629167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60" name="Rectangle 4"/>
          <p:cNvSpPr>
            <a:spLocks noGrp="1" noChangeArrowheads="1"/>
          </p:cNvSpPr>
          <p:nvPr>
            <p:ph sz="half" idx="2"/>
          </p:nvPr>
        </p:nvSpPr>
        <p:spPr>
          <a:xfrm>
            <a:off x="6299497" y="1549797"/>
            <a:ext cx="4537379" cy="5166497"/>
          </a:xfrm>
        </p:spPr>
        <p:txBody>
          <a:bodyPr/>
          <a:lstStyle/>
          <a:p>
            <a:pPr>
              <a:lnSpc>
                <a:spcPct val="150000"/>
              </a:lnSpc>
              <a:buFontTx/>
              <a:buNone/>
              <a:defRPr/>
            </a:pPr>
            <a:r>
              <a:rPr lang="en-GB" sz="2000" b="1" dirty="0">
                <a:solidFill>
                  <a:srgbClr val="0070C0"/>
                </a:solidFill>
              </a:rPr>
              <a:t>Risks and Concerns</a:t>
            </a:r>
            <a:endParaRPr lang="en-GB" dirty="0">
              <a:latin typeface="Arial" charset="0"/>
            </a:endParaRPr>
          </a:p>
          <a:p>
            <a:pPr>
              <a:lnSpc>
                <a:spcPct val="150000"/>
              </a:lnSpc>
              <a:defRPr/>
            </a:pPr>
            <a:r>
              <a:rPr lang="en-GB" sz="2000" dirty="0">
                <a:latin typeface="Arial" charset="0"/>
              </a:rPr>
              <a:t>Ex-investment grade bonds consequently downgraded or bonds issued to finance leveraged buyouts </a:t>
            </a:r>
          </a:p>
          <a:p>
            <a:pPr>
              <a:lnSpc>
                <a:spcPct val="150000"/>
              </a:lnSpc>
              <a:defRPr/>
            </a:pPr>
            <a:r>
              <a:rPr lang="en-GB" sz="2000" dirty="0">
                <a:latin typeface="Arial" charset="0"/>
              </a:rPr>
              <a:t>Credit risk</a:t>
            </a:r>
          </a:p>
          <a:p>
            <a:pPr>
              <a:lnSpc>
                <a:spcPct val="150000"/>
              </a:lnSpc>
              <a:defRPr/>
            </a:pPr>
            <a:r>
              <a:rPr lang="en-GB" sz="2000" dirty="0">
                <a:latin typeface="Arial" charset="0"/>
              </a:rPr>
              <a:t>Liquidity risk</a:t>
            </a:r>
          </a:p>
        </p:txBody>
      </p:sp>
      <p:sp>
        <p:nvSpPr>
          <p:cNvPr id="32770" name="Rectangle 2"/>
          <p:cNvSpPr>
            <a:spLocks noGrp="1" noChangeArrowheads="1"/>
          </p:cNvSpPr>
          <p:nvPr>
            <p:ph type="title"/>
          </p:nvPr>
        </p:nvSpPr>
        <p:spPr/>
        <p:txBody>
          <a:bodyPr/>
          <a:lstStyle/>
          <a:p>
            <a:r>
              <a:rPr lang="en-GB" sz="3600" dirty="0">
                <a:latin typeface="Arial" charset="0"/>
              </a:rPr>
              <a:t>High yield fixed income</a:t>
            </a:r>
          </a:p>
        </p:txBody>
      </p:sp>
      <p:sp>
        <p:nvSpPr>
          <p:cNvPr id="966659" name="Rectangle 3"/>
          <p:cNvSpPr>
            <a:spLocks noGrp="1" noChangeArrowheads="1"/>
          </p:cNvSpPr>
          <p:nvPr>
            <p:ph idx="1"/>
          </p:nvPr>
        </p:nvSpPr>
        <p:spPr>
          <a:xfrm>
            <a:off x="437547" y="1549798"/>
            <a:ext cx="5658453" cy="5166497"/>
          </a:xfrm>
        </p:spPr>
        <p:txBody>
          <a:bodyPr/>
          <a:lstStyle/>
          <a:p>
            <a:pPr>
              <a:lnSpc>
                <a:spcPct val="150000"/>
              </a:lnSpc>
              <a:buFontTx/>
              <a:buNone/>
              <a:defRPr/>
            </a:pPr>
            <a:r>
              <a:rPr lang="en-GB" sz="2000" b="1" dirty="0">
                <a:solidFill>
                  <a:srgbClr val="0070C0"/>
                </a:solidFill>
              </a:rPr>
              <a:t>Rationale for Investment</a:t>
            </a:r>
            <a:endParaRPr lang="en-GB" sz="2000" dirty="0">
              <a:latin typeface="Arial" charset="0"/>
            </a:endParaRPr>
          </a:p>
          <a:p>
            <a:pPr>
              <a:lnSpc>
                <a:spcPct val="150000"/>
              </a:lnSpc>
              <a:defRPr/>
            </a:pPr>
            <a:r>
              <a:rPr lang="en-GB" sz="2000" dirty="0">
                <a:latin typeface="Arial" charset="0"/>
              </a:rPr>
              <a:t>High return than other fixed income</a:t>
            </a:r>
          </a:p>
          <a:p>
            <a:pPr>
              <a:lnSpc>
                <a:spcPct val="150000"/>
              </a:lnSpc>
              <a:defRPr/>
            </a:pPr>
            <a:r>
              <a:rPr lang="en-GB" sz="2000" dirty="0">
                <a:latin typeface="Arial" charset="0"/>
              </a:rPr>
              <a:t>Lower risk than equity </a:t>
            </a:r>
          </a:p>
          <a:p>
            <a:pPr>
              <a:lnSpc>
                <a:spcPct val="150000"/>
              </a:lnSpc>
              <a:defRPr/>
            </a:pPr>
            <a:r>
              <a:rPr lang="en-GB" sz="2000" dirty="0">
                <a:latin typeface="Arial" charset="0"/>
              </a:rPr>
              <a:t>Irrational (inefficient) pricing: possibility to beat the market</a:t>
            </a:r>
          </a:p>
          <a:p>
            <a:pPr>
              <a:lnSpc>
                <a:spcPct val="150000"/>
              </a:lnSpc>
              <a:defRPr/>
            </a:pPr>
            <a:r>
              <a:rPr lang="en-GB" sz="2000" dirty="0">
                <a:latin typeface="Arial" charset="0"/>
              </a:rPr>
              <a:t>Claim on income senior to equity</a:t>
            </a:r>
          </a:p>
        </p:txBody>
      </p:sp>
    </p:spTree>
    <p:extLst>
      <p:ext uri="{BB962C8B-B14F-4D97-AF65-F5344CB8AC3E}">
        <p14:creationId xmlns:p14="http://schemas.microsoft.com/office/powerpoint/2010/main" val="2485198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2" name="Rectangle 4"/>
          <p:cNvSpPr>
            <a:spLocks noGrp="1" noChangeArrowheads="1"/>
          </p:cNvSpPr>
          <p:nvPr>
            <p:ph sz="half" idx="2"/>
          </p:nvPr>
        </p:nvSpPr>
        <p:spPr>
          <a:xfrm>
            <a:off x="6311529" y="1970902"/>
            <a:ext cx="4537379" cy="5166497"/>
          </a:xfrm>
        </p:spPr>
        <p:txBody>
          <a:bodyPr/>
          <a:lstStyle/>
          <a:p>
            <a:pPr>
              <a:spcBef>
                <a:spcPts val="72"/>
              </a:spcBef>
              <a:buNone/>
              <a:defRPr/>
            </a:pPr>
            <a:r>
              <a:rPr lang="en-GB" sz="2000" b="1" dirty="0">
                <a:solidFill>
                  <a:srgbClr val="0070C0"/>
                </a:solidFill>
              </a:rPr>
              <a:t>Risks and Concerns</a:t>
            </a:r>
          </a:p>
          <a:p>
            <a:pPr>
              <a:spcBef>
                <a:spcPts val="72"/>
              </a:spcBef>
              <a:defRPr/>
            </a:pPr>
            <a:endParaRPr lang="en-GB" dirty="0">
              <a:latin typeface="Arial" charset="0"/>
            </a:endParaRPr>
          </a:p>
          <a:p>
            <a:pPr>
              <a:lnSpc>
                <a:spcPct val="150000"/>
              </a:lnSpc>
              <a:spcBef>
                <a:spcPts val="72"/>
              </a:spcBef>
              <a:defRPr/>
            </a:pPr>
            <a:r>
              <a:rPr lang="en-GB" sz="2000" dirty="0">
                <a:latin typeface="Arial" charset="0"/>
              </a:rPr>
              <a:t>Prepayment risk (Callable)</a:t>
            </a:r>
          </a:p>
          <a:p>
            <a:pPr>
              <a:lnSpc>
                <a:spcPct val="150000"/>
              </a:lnSpc>
              <a:defRPr/>
            </a:pPr>
            <a:r>
              <a:rPr lang="en-GB" sz="2000" dirty="0">
                <a:latin typeface="Arial" charset="0"/>
              </a:rPr>
              <a:t>Claim junior to bond</a:t>
            </a:r>
          </a:p>
          <a:p>
            <a:pPr>
              <a:lnSpc>
                <a:spcPct val="150000"/>
              </a:lnSpc>
              <a:defRPr/>
            </a:pPr>
            <a:r>
              <a:rPr lang="en-GB" sz="2000" dirty="0">
                <a:latin typeface="Arial" charset="0"/>
              </a:rPr>
              <a:t>Complicated valuation</a:t>
            </a:r>
          </a:p>
          <a:p>
            <a:pPr>
              <a:defRPr/>
            </a:pPr>
            <a:endParaRPr lang="en-GB" dirty="0">
              <a:latin typeface="Arial" charset="0"/>
            </a:endParaRPr>
          </a:p>
        </p:txBody>
      </p:sp>
      <p:sp>
        <p:nvSpPr>
          <p:cNvPr id="34818" name="Rectangle 2"/>
          <p:cNvSpPr>
            <a:spLocks noGrp="1" noChangeArrowheads="1"/>
          </p:cNvSpPr>
          <p:nvPr>
            <p:ph type="title"/>
          </p:nvPr>
        </p:nvSpPr>
        <p:spPr/>
        <p:txBody>
          <a:bodyPr>
            <a:normAutofit/>
          </a:bodyPr>
          <a:lstStyle/>
          <a:p>
            <a:r>
              <a:rPr lang="en-GB" sz="3200" dirty="0">
                <a:latin typeface="Arial" charset="0"/>
              </a:rPr>
              <a:t>Convertible bonds</a:t>
            </a:r>
          </a:p>
        </p:txBody>
      </p:sp>
      <p:sp>
        <p:nvSpPr>
          <p:cNvPr id="969731" name="Rectangle 3"/>
          <p:cNvSpPr>
            <a:spLocks noGrp="1" noChangeArrowheads="1"/>
          </p:cNvSpPr>
          <p:nvPr>
            <p:ph idx="1"/>
          </p:nvPr>
        </p:nvSpPr>
        <p:spPr>
          <a:xfrm>
            <a:off x="437547" y="1970903"/>
            <a:ext cx="5658453" cy="5166497"/>
          </a:xfrm>
        </p:spPr>
        <p:txBody>
          <a:bodyPr/>
          <a:lstStyle/>
          <a:p>
            <a:pPr>
              <a:buFontTx/>
              <a:buNone/>
              <a:defRPr/>
            </a:pPr>
            <a:r>
              <a:rPr lang="en-GB" sz="2000" b="1" dirty="0">
                <a:solidFill>
                  <a:srgbClr val="0070C0"/>
                </a:solidFill>
              </a:rPr>
              <a:t>Rationale for Investment</a:t>
            </a:r>
          </a:p>
          <a:p>
            <a:pPr>
              <a:defRPr/>
            </a:pPr>
            <a:endParaRPr lang="en-GB" sz="2000" dirty="0">
              <a:latin typeface="Arial" charset="0"/>
            </a:endParaRPr>
          </a:p>
          <a:p>
            <a:pPr>
              <a:lnSpc>
                <a:spcPct val="100000"/>
              </a:lnSpc>
              <a:spcBef>
                <a:spcPts val="400"/>
              </a:spcBef>
              <a:defRPr/>
            </a:pPr>
            <a:r>
              <a:rPr lang="en-GB" sz="2000" dirty="0">
                <a:latin typeface="Arial" charset="0"/>
              </a:rPr>
              <a:t>Equity-debt hybrid</a:t>
            </a:r>
          </a:p>
          <a:p>
            <a:pPr>
              <a:lnSpc>
                <a:spcPct val="150000"/>
              </a:lnSpc>
              <a:defRPr/>
            </a:pPr>
            <a:r>
              <a:rPr lang="en-GB" sz="2000" dirty="0">
                <a:latin typeface="Arial" charset="0"/>
              </a:rPr>
              <a:t>Claim senior to equity</a:t>
            </a:r>
          </a:p>
          <a:p>
            <a:pPr>
              <a:lnSpc>
                <a:spcPct val="150000"/>
              </a:lnSpc>
              <a:defRPr/>
            </a:pPr>
            <a:r>
              <a:rPr lang="en-GB" sz="2000" dirty="0">
                <a:latin typeface="Arial" charset="0"/>
              </a:rPr>
              <a:t>Portfolio diversifier</a:t>
            </a:r>
          </a:p>
        </p:txBody>
      </p:sp>
    </p:spTree>
    <p:extLst>
      <p:ext uri="{BB962C8B-B14F-4D97-AF65-F5344CB8AC3E}">
        <p14:creationId xmlns:p14="http://schemas.microsoft.com/office/powerpoint/2010/main" val="4172949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80" name="Rectangle 4"/>
          <p:cNvSpPr>
            <a:spLocks noGrp="1" noChangeArrowheads="1"/>
          </p:cNvSpPr>
          <p:nvPr>
            <p:ph sz="half" idx="2"/>
          </p:nvPr>
        </p:nvSpPr>
        <p:spPr>
          <a:xfrm>
            <a:off x="6973266" y="1318922"/>
            <a:ext cx="4537379" cy="5166497"/>
          </a:xfrm>
        </p:spPr>
        <p:txBody>
          <a:bodyPr/>
          <a:lstStyle/>
          <a:p>
            <a:pPr>
              <a:lnSpc>
                <a:spcPct val="150000"/>
              </a:lnSpc>
              <a:buFontTx/>
              <a:buNone/>
              <a:defRPr/>
            </a:pPr>
            <a:r>
              <a:rPr lang="en-GB" sz="2000" b="1" dirty="0">
                <a:solidFill>
                  <a:srgbClr val="0070C0"/>
                </a:solidFill>
              </a:rPr>
              <a:t>Risks and Concerns</a:t>
            </a:r>
            <a:endParaRPr lang="en-GB" sz="2000" dirty="0"/>
          </a:p>
          <a:p>
            <a:pPr>
              <a:lnSpc>
                <a:spcPct val="150000"/>
              </a:lnSpc>
              <a:defRPr/>
            </a:pPr>
            <a:r>
              <a:rPr lang="en-GB" sz="2000" dirty="0"/>
              <a:t>Low return</a:t>
            </a:r>
          </a:p>
          <a:p>
            <a:pPr>
              <a:lnSpc>
                <a:spcPct val="150000"/>
              </a:lnSpc>
              <a:defRPr/>
            </a:pPr>
            <a:r>
              <a:rPr lang="en-GB" sz="2000" dirty="0"/>
              <a:t>Reinvestment risk</a:t>
            </a:r>
          </a:p>
          <a:p>
            <a:pPr>
              <a:lnSpc>
                <a:spcPct val="150000"/>
              </a:lnSpc>
              <a:defRPr/>
            </a:pPr>
            <a:r>
              <a:rPr lang="en-GB" sz="2000" dirty="0"/>
              <a:t>Inflation risk</a:t>
            </a:r>
          </a:p>
          <a:p>
            <a:pPr>
              <a:lnSpc>
                <a:spcPct val="150000"/>
              </a:lnSpc>
              <a:defRPr/>
            </a:pPr>
            <a:r>
              <a:rPr lang="en-GB" sz="2000" dirty="0"/>
              <a:t>Credit exposure</a:t>
            </a:r>
          </a:p>
        </p:txBody>
      </p:sp>
      <p:sp>
        <p:nvSpPr>
          <p:cNvPr id="36866" name="Rectangle 2"/>
          <p:cNvSpPr>
            <a:spLocks noGrp="1" noChangeArrowheads="1"/>
          </p:cNvSpPr>
          <p:nvPr>
            <p:ph type="title"/>
          </p:nvPr>
        </p:nvSpPr>
        <p:spPr/>
        <p:txBody>
          <a:bodyPr/>
          <a:lstStyle/>
          <a:p>
            <a:r>
              <a:rPr lang="en-GB" sz="3200" dirty="0">
                <a:latin typeface="Arial" charset="0"/>
              </a:rPr>
              <a:t>Cash equivalents</a:t>
            </a:r>
          </a:p>
        </p:txBody>
      </p:sp>
      <p:sp>
        <p:nvSpPr>
          <p:cNvPr id="971779" name="Rectangle 3"/>
          <p:cNvSpPr>
            <a:spLocks noGrp="1" noChangeArrowheads="1"/>
          </p:cNvSpPr>
          <p:nvPr>
            <p:ph idx="1"/>
          </p:nvPr>
        </p:nvSpPr>
        <p:spPr/>
        <p:txBody>
          <a:bodyPr/>
          <a:lstStyle/>
          <a:p>
            <a:pPr>
              <a:lnSpc>
                <a:spcPct val="150000"/>
              </a:lnSpc>
              <a:buFontTx/>
              <a:buNone/>
              <a:defRPr/>
            </a:pPr>
            <a:r>
              <a:rPr lang="en-GB" sz="2000" b="1" dirty="0">
                <a:solidFill>
                  <a:srgbClr val="0070C0"/>
                </a:solidFill>
              </a:rPr>
              <a:t>Rationale for Investment</a:t>
            </a:r>
            <a:endParaRPr lang="en-GB" sz="2000" dirty="0">
              <a:latin typeface="Arial" charset="0"/>
            </a:endParaRPr>
          </a:p>
          <a:p>
            <a:pPr>
              <a:lnSpc>
                <a:spcPct val="150000"/>
              </a:lnSpc>
              <a:defRPr/>
            </a:pPr>
            <a:r>
              <a:rPr lang="en-GB" sz="2000" dirty="0">
                <a:latin typeface="Arial" charset="0"/>
              </a:rPr>
              <a:t>Safe heaven in periods of negative financial returns</a:t>
            </a:r>
          </a:p>
          <a:p>
            <a:pPr>
              <a:lnSpc>
                <a:spcPct val="150000"/>
              </a:lnSpc>
              <a:defRPr/>
            </a:pPr>
            <a:r>
              <a:rPr lang="en-GB" sz="2000" dirty="0">
                <a:latin typeface="Arial" charset="0"/>
              </a:rPr>
              <a:t>Low standard deviation </a:t>
            </a:r>
          </a:p>
          <a:p>
            <a:pPr>
              <a:lnSpc>
                <a:spcPct val="150000"/>
              </a:lnSpc>
              <a:defRPr/>
            </a:pPr>
            <a:r>
              <a:rPr lang="en-GB" sz="2000" dirty="0">
                <a:latin typeface="Arial" charset="0"/>
              </a:rPr>
              <a:t>Portfolio diversifier (Low correlation with equity)</a:t>
            </a:r>
          </a:p>
          <a:p>
            <a:pPr>
              <a:lnSpc>
                <a:spcPct val="150000"/>
              </a:lnSpc>
              <a:defRPr/>
            </a:pPr>
            <a:r>
              <a:rPr lang="en-GB" sz="2000" dirty="0">
                <a:latin typeface="Arial" charset="0"/>
              </a:rPr>
              <a:t>High liquidity</a:t>
            </a:r>
          </a:p>
        </p:txBody>
      </p:sp>
    </p:spTree>
    <p:extLst>
      <p:ext uri="{BB962C8B-B14F-4D97-AF65-F5344CB8AC3E}">
        <p14:creationId xmlns:p14="http://schemas.microsoft.com/office/powerpoint/2010/main" val="281701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sz="3200" dirty="0"/>
              <a:t>A historical look at cumulative returns from equities, bonds and cash (%): US </a:t>
            </a:r>
          </a:p>
        </p:txBody>
      </p:sp>
      <p:sp>
        <p:nvSpPr>
          <p:cNvPr id="8" name="TextBox 7"/>
          <p:cNvSpPr txBox="1"/>
          <p:nvPr/>
        </p:nvSpPr>
        <p:spPr>
          <a:xfrm>
            <a:off x="9477829" y="3429000"/>
            <a:ext cx="2221106" cy="1077218"/>
          </a:xfrm>
          <a:prstGeom prst="rect">
            <a:avLst/>
          </a:prstGeom>
          <a:noFill/>
        </p:spPr>
        <p:txBody>
          <a:bodyPr wrap="square" rtlCol="0">
            <a:spAutoFit/>
          </a:bodyPr>
          <a:lstStyle/>
          <a:p>
            <a:r>
              <a:rPr lang="en-US" sz="1600" dirty="0"/>
              <a:t>Source: </a:t>
            </a:r>
            <a:r>
              <a:rPr lang="en-GB" sz="1600" dirty="0"/>
              <a:t>UBS Global Investment Returns Yearbook 2026, available on Moodle</a:t>
            </a:r>
            <a:endParaRPr lang="en-US" sz="1600" dirty="0"/>
          </a:p>
        </p:txBody>
      </p:sp>
      <p:pic>
        <p:nvPicPr>
          <p:cNvPr id="4" name="Picture 3">
            <a:extLst>
              <a:ext uri="{FF2B5EF4-FFF2-40B4-BE49-F238E27FC236}">
                <a16:creationId xmlns:a16="http://schemas.microsoft.com/office/drawing/2014/main" id="{C9AAE6C7-2CBA-8209-0784-22ED6A0C1176}"/>
              </a:ext>
            </a:extLst>
          </p:cNvPr>
          <p:cNvPicPr>
            <a:picLocks noChangeAspect="1"/>
          </p:cNvPicPr>
          <p:nvPr/>
        </p:nvPicPr>
        <p:blipFill>
          <a:blip r:embed="rId2"/>
          <a:stretch>
            <a:fillRect/>
          </a:stretch>
        </p:blipFill>
        <p:spPr>
          <a:xfrm>
            <a:off x="804689" y="1507523"/>
            <a:ext cx="8466437" cy="4399005"/>
          </a:xfrm>
          <a:prstGeom prst="rect">
            <a:avLst/>
          </a:prstGeom>
        </p:spPr>
      </p:pic>
    </p:spTree>
    <p:extLst>
      <p:ext uri="{BB962C8B-B14F-4D97-AF65-F5344CB8AC3E}">
        <p14:creationId xmlns:p14="http://schemas.microsoft.com/office/powerpoint/2010/main" val="1499037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8" name="Rectangle 4"/>
          <p:cNvSpPr>
            <a:spLocks noGrp="1" noChangeArrowheads="1"/>
          </p:cNvSpPr>
          <p:nvPr>
            <p:ph sz="half" idx="2"/>
          </p:nvPr>
        </p:nvSpPr>
        <p:spPr/>
        <p:txBody>
          <a:bodyPr numCol="1" anchor="t"/>
          <a:lstStyle/>
          <a:p>
            <a:pPr>
              <a:lnSpc>
                <a:spcPct val="150000"/>
              </a:lnSpc>
              <a:spcBef>
                <a:spcPts val="72"/>
              </a:spcBef>
              <a:buNone/>
              <a:defRPr/>
            </a:pPr>
            <a:r>
              <a:rPr lang="en-GB" sz="2000" b="1" dirty="0">
                <a:solidFill>
                  <a:srgbClr val="0070C0"/>
                </a:solidFill>
              </a:rPr>
              <a:t>Risks and Concerns</a:t>
            </a:r>
            <a:endParaRPr lang="en-GB" sz="2000" dirty="0"/>
          </a:p>
          <a:p>
            <a:pPr>
              <a:lnSpc>
                <a:spcPct val="150000"/>
              </a:lnSpc>
              <a:spcBef>
                <a:spcPts val="72"/>
              </a:spcBef>
              <a:defRPr/>
            </a:pPr>
            <a:r>
              <a:rPr lang="en-GB" sz="2000" dirty="0"/>
              <a:t>Geopolitical risks (volatility)</a:t>
            </a:r>
          </a:p>
          <a:p>
            <a:pPr>
              <a:lnSpc>
                <a:spcPct val="150000"/>
              </a:lnSpc>
              <a:defRPr/>
            </a:pPr>
            <a:r>
              <a:rPr lang="en-GB" sz="2000" dirty="0"/>
              <a:t>Poor performance in periods of low inflation</a:t>
            </a:r>
          </a:p>
          <a:p>
            <a:pPr>
              <a:lnSpc>
                <a:spcPct val="150000"/>
              </a:lnSpc>
              <a:defRPr/>
            </a:pPr>
            <a:r>
              <a:rPr lang="en-GB" sz="2000" dirty="0"/>
              <a:t>Illiquid assets</a:t>
            </a:r>
          </a:p>
          <a:p>
            <a:pPr>
              <a:lnSpc>
                <a:spcPct val="150000"/>
              </a:lnSpc>
              <a:defRPr/>
            </a:pPr>
            <a:r>
              <a:rPr lang="en-GB" sz="2000" dirty="0">
                <a:latin typeface="Arial" charset="0"/>
              </a:rPr>
              <a:t>Concern over freezing central bank assets</a:t>
            </a:r>
          </a:p>
        </p:txBody>
      </p:sp>
      <p:sp>
        <p:nvSpPr>
          <p:cNvPr id="38914" name="Rectangle 2"/>
          <p:cNvSpPr>
            <a:spLocks noGrp="1" noChangeArrowheads="1"/>
          </p:cNvSpPr>
          <p:nvPr>
            <p:ph type="title"/>
          </p:nvPr>
        </p:nvSpPr>
        <p:spPr/>
        <p:txBody>
          <a:bodyPr>
            <a:normAutofit/>
          </a:bodyPr>
          <a:lstStyle/>
          <a:p>
            <a:pPr>
              <a:lnSpc>
                <a:spcPct val="100000"/>
              </a:lnSpc>
            </a:pPr>
            <a:r>
              <a:rPr lang="en-GB" sz="3200" dirty="0">
                <a:latin typeface="Arial" charset="0"/>
              </a:rPr>
              <a:t>Alternative investments: Commodities - Gold</a:t>
            </a:r>
          </a:p>
        </p:txBody>
      </p:sp>
      <p:sp>
        <p:nvSpPr>
          <p:cNvPr id="973827" name="Rectangle 3"/>
          <p:cNvSpPr>
            <a:spLocks noGrp="1" noChangeArrowheads="1"/>
          </p:cNvSpPr>
          <p:nvPr>
            <p:ph idx="1"/>
          </p:nvPr>
        </p:nvSpPr>
        <p:spPr/>
        <p:txBody>
          <a:bodyPr/>
          <a:lstStyle/>
          <a:p>
            <a:pPr>
              <a:lnSpc>
                <a:spcPct val="150000"/>
              </a:lnSpc>
              <a:buFontTx/>
              <a:buNone/>
              <a:defRPr/>
            </a:pPr>
            <a:r>
              <a:rPr lang="en-GB" sz="2000" b="1" dirty="0">
                <a:solidFill>
                  <a:srgbClr val="0070C0"/>
                </a:solidFill>
              </a:rPr>
              <a:t>Rationale for Investment</a:t>
            </a:r>
          </a:p>
          <a:p>
            <a:pPr>
              <a:lnSpc>
                <a:spcPct val="150000"/>
              </a:lnSpc>
              <a:defRPr/>
            </a:pPr>
            <a:r>
              <a:rPr lang="en-GB" sz="2000" dirty="0"/>
              <a:t>Portfolio diversifier (Low correlation)</a:t>
            </a:r>
          </a:p>
          <a:p>
            <a:pPr>
              <a:lnSpc>
                <a:spcPct val="150000"/>
              </a:lnSpc>
              <a:defRPr/>
            </a:pPr>
            <a:r>
              <a:rPr lang="en-GB" sz="2000" dirty="0"/>
              <a:t>Inflation hedge</a:t>
            </a:r>
          </a:p>
          <a:p>
            <a:pPr>
              <a:lnSpc>
                <a:spcPct val="150000"/>
              </a:lnSpc>
              <a:defRPr/>
            </a:pPr>
            <a:r>
              <a:rPr lang="en-GB" sz="2000" dirty="0"/>
              <a:t>Safe haven in unstable times</a:t>
            </a:r>
          </a:p>
          <a:p>
            <a:pPr>
              <a:defRPr/>
            </a:pPr>
            <a:endParaRPr lang="en-GB" dirty="0">
              <a:latin typeface="Arial" charset="0"/>
            </a:endParaRPr>
          </a:p>
        </p:txBody>
      </p:sp>
    </p:spTree>
    <p:extLst>
      <p:ext uri="{BB962C8B-B14F-4D97-AF65-F5344CB8AC3E}">
        <p14:creationId xmlns:p14="http://schemas.microsoft.com/office/powerpoint/2010/main" val="2071517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215F0C-AD95-262B-A664-31A4BF88CFA0}"/>
              </a:ext>
            </a:extLst>
          </p:cNvPr>
          <p:cNvSpPr>
            <a:spLocks noGrp="1"/>
          </p:cNvSpPr>
          <p:nvPr>
            <p:ph type="title"/>
          </p:nvPr>
        </p:nvSpPr>
        <p:spPr/>
        <p:txBody>
          <a:bodyPr/>
          <a:lstStyle/>
          <a:p>
            <a:endParaRPr lang="en-US" dirty="0"/>
          </a:p>
        </p:txBody>
      </p:sp>
      <p:pic>
        <p:nvPicPr>
          <p:cNvPr id="7" name="Content Placeholder 6">
            <a:extLst>
              <a:ext uri="{FF2B5EF4-FFF2-40B4-BE49-F238E27FC236}">
                <a16:creationId xmlns:a16="http://schemas.microsoft.com/office/drawing/2014/main" id="{D13A2AC0-6E17-4E08-C785-8B46553A6BD1}"/>
              </a:ext>
            </a:extLst>
          </p:cNvPr>
          <p:cNvPicPr>
            <a:picLocks noGrp="1" noChangeAspect="1"/>
          </p:cNvPicPr>
          <p:nvPr>
            <p:ph idx="1"/>
          </p:nvPr>
        </p:nvPicPr>
        <p:blipFill>
          <a:blip r:embed="rId2"/>
          <a:stretch>
            <a:fillRect/>
          </a:stretch>
        </p:blipFill>
        <p:spPr>
          <a:xfrm>
            <a:off x="438150" y="1603948"/>
            <a:ext cx="9323388" cy="4181539"/>
          </a:xfrm>
          <a:prstGeom prst="rect">
            <a:avLst/>
          </a:prstGeom>
        </p:spPr>
      </p:pic>
      <p:sp>
        <p:nvSpPr>
          <p:cNvPr id="8" name="TextBox 7">
            <a:extLst>
              <a:ext uri="{FF2B5EF4-FFF2-40B4-BE49-F238E27FC236}">
                <a16:creationId xmlns:a16="http://schemas.microsoft.com/office/drawing/2014/main" id="{5DAD6772-1BAE-56C3-09E5-15309B76E937}"/>
              </a:ext>
            </a:extLst>
          </p:cNvPr>
          <p:cNvSpPr txBox="1"/>
          <p:nvPr/>
        </p:nvSpPr>
        <p:spPr>
          <a:xfrm>
            <a:off x="599607" y="5874712"/>
            <a:ext cx="9578714" cy="338554"/>
          </a:xfrm>
          <a:prstGeom prst="rect">
            <a:avLst/>
          </a:prstGeom>
          <a:noFill/>
        </p:spPr>
        <p:txBody>
          <a:bodyPr wrap="square" rtlCol="0">
            <a:spAutoFit/>
          </a:bodyPr>
          <a:lstStyle/>
          <a:p>
            <a:r>
              <a:rPr lang="en-US" sz="1600" dirty="0"/>
              <a:t>Source: </a:t>
            </a:r>
            <a:r>
              <a:rPr lang="en-GB" sz="1600" dirty="0"/>
              <a:t>UBS Global Investment Returns Yearbook 2026, available on Moodle</a:t>
            </a:r>
            <a:endParaRPr lang="en-US" sz="1600" dirty="0"/>
          </a:p>
        </p:txBody>
      </p:sp>
    </p:spTree>
    <p:extLst>
      <p:ext uri="{BB962C8B-B14F-4D97-AF65-F5344CB8AC3E}">
        <p14:creationId xmlns:p14="http://schemas.microsoft.com/office/powerpoint/2010/main" val="852663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6" name="Rectangle 4"/>
          <p:cNvSpPr>
            <a:spLocks noGrp="1" noChangeArrowheads="1"/>
          </p:cNvSpPr>
          <p:nvPr>
            <p:ph sz="half" idx="2"/>
          </p:nvPr>
        </p:nvSpPr>
        <p:spPr/>
        <p:txBody>
          <a:bodyPr/>
          <a:lstStyle/>
          <a:p>
            <a:pPr>
              <a:lnSpc>
                <a:spcPct val="150000"/>
              </a:lnSpc>
              <a:buFontTx/>
              <a:buNone/>
              <a:defRPr/>
            </a:pPr>
            <a:r>
              <a:rPr lang="en-GB" sz="2000" b="1" dirty="0">
                <a:solidFill>
                  <a:srgbClr val="0070C0"/>
                </a:solidFill>
              </a:rPr>
              <a:t>Risks and Concerns</a:t>
            </a:r>
          </a:p>
          <a:p>
            <a:pPr>
              <a:lnSpc>
                <a:spcPct val="150000"/>
              </a:lnSpc>
              <a:defRPr/>
            </a:pPr>
            <a:r>
              <a:rPr lang="en-GB" sz="2000" dirty="0"/>
              <a:t>Funds collapse: </a:t>
            </a:r>
            <a:r>
              <a:rPr lang="en-GB" sz="2000" dirty="0" err="1"/>
              <a:t>e.g.LTCM</a:t>
            </a:r>
            <a:endParaRPr lang="en-GB" sz="2000" dirty="0"/>
          </a:p>
          <a:p>
            <a:pPr>
              <a:lnSpc>
                <a:spcPct val="150000"/>
              </a:lnSpc>
              <a:defRPr/>
            </a:pPr>
            <a:r>
              <a:rPr lang="en-GB" sz="2000" dirty="0"/>
              <a:t>Return measurement ambiguous</a:t>
            </a:r>
          </a:p>
          <a:p>
            <a:pPr>
              <a:lnSpc>
                <a:spcPct val="150000"/>
              </a:lnSpc>
              <a:defRPr/>
            </a:pPr>
            <a:r>
              <a:rPr lang="en-GB" sz="2000" dirty="0"/>
              <a:t>High annual and performance fees</a:t>
            </a:r>
          </a:p>
          <a:p>
            <a:pPr>
              <a:lnSpc>
                <a:spcPct val="90000"/>
              </a:lnSpc>
              <a:defRPr/>
            </a:pPr>
            <a:endParaRPr lang="en-GB" dirty="0">
              <a:latin typeface="Arial" charset="0"/>
            </a:endParaRPr>
          </a:p>
        </p:txBody>
      </p:sp>
      <p:sp>
        <p:nvSpPr>
          <p:cNvPr id="40962" name="Rectangle 2"/>
          <p:cNvSpPr>
            <a:spLocks noGrp="1" noChangeArrowheads="1"/>
          </p:cNvSpPr>
          <p:nvPr>
            <p:ph type="title"/>
          </p:nvPr>
        </p:nvSpPr>
        <p:spPr/>
        <p:txBody>
          <a:bodyPr>
            <a:normAutofit fontScale="90000"/>
          </a:bodyPr>
          <a:lstStyle/>
          <a:p>
            <a:r>
              <a:rPr lang="en-GB" sz="3600" dirty="0">
                <a:latin typeface="Arial" charset="0"/>
              </a:rPr>
              <a:t>Alternative investments:</a:t>
            </a:r>
            <a:br>
              <a:rPr lang="en-GB" sz="3600" dirty="0">
                <a:latin typeface="Arial" charset="0"/>
              </a:rPr>
            </a:br>
            <a:r>
              <a:rPr lang="en-GB" sz="3600" dirty="0">
                <a:latin typeface="Arial" charset="0"/>
              </a:rPr>
              <a:t>Hedge funds</a:t>
            </a:r>
          </a:p>
        </p:txBody>
      </p:sp>
      <p:sp>
        <p:nvSpPr>
          <p:cNvPr id="975875" name="Rectangle 3"/>
          <p:cNvSpPr>
            <a:spLocks noGrp="1" noChangeArrowheads="1"/>
          </p:cNvSpPr>
          <p:nvPr>
            <p:ph idx="1"/>
          </p:nvPr>
        </p:nvSpPr>
        <p:spPr/>
        <p:txBody>
          <a:bodyPr>
            <a:normAutofit/>
          </a:bodyPr>
          <a:lstStyle/>
          <a:p>
            <a:pPr>
              <a:lnSpc>
                <a:spcPct val="150000"/>
              </a:lnSpc>
              <a:buFontTx/>
              <a:buNone/>
              <a:defRPr/>
            </a:pPr>
            <a:r>
              <a:rPr lang="en-GB" sz="2000" b="1" dirty="0">
                <a:solidFill>
                  <a:srgbClr val="0070C0"/>
                </a:solidFill>
              </a:rPr>
              <a:t>Rationale for Investment</a:t>
            </a:r>
            <a:endParaRPr lang="en-GB" sz="2000" dirty="0">
              <a:latin typeface="Arial" charset="0"/>
            </a:endParaRPr>
          </a:p>
          <a:p>
            <a:pPr>
              <a:lnSpc>
                <a:spcPct val="150000"/>
              </a:lnSpc>
              <a:defRPr/>
            </a:pPr>
            <a:r>
              <a:rPr lang="en-GB" sz="2000" dirty="0">
                <a:latin typeface="Arial" charset="0"/>
              </a:rPr>
              <a:t>Possibility to beat the market (excess return or ‘alpha’ potential)</a:t>
            </a:r>
          </a:p>
          <a:p>
            <a:pPr>
              <a:lnSpc>
                <a:spcPct val="150000"/>
              </a:lnSpc>
              <a:defRPr/>
            </a:pPr>
            <a:r>
              <a:rPr lang="en-GB" sz="2000" dirty="0">
                <a:latin typeface="Arial" charset="0"/>
              </a:rPr>
              <a:t>Broader opportunity set (opportunity to invest in overpriced assets as well as </a:t>
            </a:r>
            <a:r>
              <a:rPr lang="en-GB" sz="2000" dirty="0" err="1">
                <a:latin typeface="Arial" charset="0"/>
              </a:rPr>
              <a:t>underpriced</a:t>
            </a:r>
            <a:r>
              <a:rPr lang="en-GB" sz="2000" dirty="0">
                <a:latin typeface="Arial" charset="0"/>
              </a:rPr>
              <a:t>)</a:t>
            </a:r>
          </a:p>
          <a:p>
            <a:pPr>
              <a:lnSpc>
                <a:spcPct val="150000"/>
              </a:lnSpc>
              <a:defRPr/>
            </a:pPr>
            <a:r>
              <a:rPr lang="en-GB" sz="2000" dirty="0">
                <a:latin typeface="Arial" charset="0"/>
              </a:rPr>
              <a:t>Portfolio diversifier (Low correlation with traditional assets)</a:t>
            </a:r>
          </a:p>
        </p:txBody>
      </p:sp>
    </p:spTree>
    <p:extLst>
      <p:ext uri="{BB962C8B-B14F-4D97-AF65-F5344CB8AC3E}">
        <p14:creationId xmlns:p14="http://schemas.microsoft.com/office/powerpoint/2010/main" val="37704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549047" y="68263"/>
            <a:ext cx="7093905" cy="6721475"/>
          </a:xfrm>
          <a:prstGeom prst="rect">
            <a:avLst/>
          </a:prstGeom>
          <a:noFill/>
        </p:spPr>
      </p:pic>
    </p:spTree>
    <p:extLst>
      <p:ext uri="{BB962C8B-B14F-4D97-AF65-F5344CB8AC3E}">
        <p14:creationId xmlns:p14="http://schemas.microsoft.com/office/powerpoint/2010/main" val="1668433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A3F2-2B26-0B1B-B8D2-F843865C02AA}"/>
              </a:ext>
            </a:extLst>
          </p:cNvPr>
          <p:cNvSpPr>
            <a:spLocks noGrp="1"/>
          </p:cNvSpPr>
          <p:nvPr>
            <p:ph type="title"/>
          </p:nvPr>
        </p:nvSpPr>
        <p:spPr/>
        <p:txBody>
          <a:bodyPr>
            <a:normAutofit/>
          </a:bodyPr>
          <a:lstStyle/>
          <a:p>
            <a:r>
              <a:rPr lang="en-US" sz="3200" dirty="0"/>
              <a:t>Historical length of recovery periods after crisis</a:t>
            </a:r>
            <a:br>
              <a:rPr lang="en-US" sz="3200" dirty="0"/>
            </a:br>
            <a:r>
              <a:rPr lang="en-US" sz="1400" dirty="0"/>
              <a:t>(source: UBS Global Investment Returns Yearbook, 2025, available on Moodle)</a:t>
            </a:r>
            <a:endParaRPr lang="en-US" sz="3200" dirty="0"/>
          </a:p>
        </p:txBody>
      </p:sp>
      <p:sp>
        <p:nvSpPr>
          <p:cNvPr id="5" name="TextBox 4">
            <a:extLst>
              <a:ext uri="{FF2B5EF4-FFF2-40B4-BE49-F238E27FC236}">
                <a16:creationId xmlns:a16="http://schemas.microsoft.com/office/drawing/2014/main" id="{2FF710B7-0BB4-FBE0-5458-6880FBDF3B56}"/>
              </a:ext>
            </a:extLst>
          </p:cNvPr>
          <p:cNvSpPr txBox="1"/>
          <p:nvPr/>
        </p:nvSpPr>
        <p:spPr>
          <a:xfrm>
            <a:off x="3050381" y="3244334"/>
            <a:ext cx="6100762" cy="369332"/>
          </a:xfrm>
          <a:prstGeom prst="rect">
            <a:avLst/>
          </a:prstGeom>
          <a:noFill/>
        </p:spPr>
        <p:txBody>
          <a:bodyPr wrap="square">
            <a:spAutoFit/>
          </a:bodyPr>
          <a:lstStyle/>
          <a:p>
            <a:endParaRPr lang="en-US" dirty="0"/>
          </a:p>
        </p:txBody>
      </p:sp>
      <p:sp>
        <p:nvSpPr>
          <p:cNvPr id="4" name="Content Placeholder 3">
            <a:extLst>
              <a:ext uri="{FF2B5EF4-FFF2-40B4-BE49-F238E27FC236}">
                <a16:creationId xmlns:a16="http://schemas.microsoft.com/office/drawing/2014/main" id="{1A24B1BA-9C25-F159-BC26-7A2A3E20E71E}"/>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C4E50E59-6A78-07C4-2FF6-D68904410C99}"/>
              </a:ext>
            </a:extLst>
          </p:cNvPr>
          <p:cNvPicPr>
            <a:picLocks noChangeAspect="1"/>
          </p:cNvPicPr>
          <p:nvPr/>
        </p:nvPicPr>
        <p:blipFill>
          <a:blip r:embed="rId2"/>
          <a:stretch>
            <a:fillRect/>
          </a:stretch>
        </p:blipFill>
        <p:spPr>
          <a:xfrm>
            <a:off x="437547" y="1351572"/>
            <a:ext cx="7692571" cy="5174170"/>
          </a:xfrm>
          <a:prstGeom prst="rect">
            <a:avLst/>
          </a:prstGeom>
        </p:spPr>
      </p:pic>
    </p:spTree>
    <p:extLst>
      <p:ext uri="{BB962C8B-B14F-4D97-AF65-F5344CB8AC3E}">
        <p14:creationId xmlns:p14="http://schemas.microsoft.com/office/powerpoint/2010/main" val="401117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4" name="Rectangle 4"/>
          <p:cNvSpPr>
            <a:spLocks noGrp="1" noChangeArrowheads="1"/>
          </p:cNvSpPr>
          <p:nvPr>
            <p:ph sz="half" idx="2"/>
          </p:nvPr>
        </p:nvSpPr>
        <p:spPr>
          <a:xfrm>
            <a:off x="6299497" y="1489640"/>
            <a:ext cx="4537379" cy="5166497"/>
          </a:xfrm>
        </p:spPr>
        <p:txBody>
          <a:bodyPr/>
          <a:lstStyle/>
          <a:p>
            <a:pPr>
              <a:lnSpc>
                <a:spcPct val="200000"/>
              </a:lnSpc>
              <a:buFontTx/>
              <a:buNone/>
              <a:defRPr/>
            </a:pPr>
            <a:r>
              <a:rPr lang="en-GB" sz="2000" b="1" dirty="0">
                <a:solidFill>
                  <a:srgbClr val="0070C0"/>
                </a:solidFill>
              </a:rPr>
              <a:t>Risks and Concerns</a:t>
            </a:r>
            <a:endParaRPr lang="en-GB" sz="2000" dirty="0">
              <a:latin typeface="Arial" charset="0"/>
            </a:endParaRPr>
          </a:p>
          <a:p>
            <a:pPr>
              <a:lnSpc>
                <a:spcPct val="200000"/>
              </a:lnSpc>
              <a:defRPr/>
            </a:pPr>
            <a:r>
              <a:rPr lang="en-GB" dirty="0">
                <a:latin typeface="Arial" charset="0"/>
              </a:rPr>
              <a:t>Irregular cash flows</a:t>
            </a:r>
          </a:p>
          <a:p>
            <a:pPr>
              <a:lnSpc>
                <a:spcPct val="200000"/>
              </a:lnSpc>
              <a:defRPr/>
            </a:pPr>
            <a:r>
              <a:rPr lang="en-GB" dirty="0">
                <a:latin typeface="Arial" charset="0"/>
              </a:rPr>
              <a:t>High standard deviation</a:t>
            </a:r>
          </a:p>
          <a:p>
            <a:pPr>
              <a:lnSpc>
                <a:spcPct val="200000"/>
              </a:lnSpc>
              <a:defRPr/>
            </a:pPr>
            <a:r>
              <a:rPr lang="en-GB" dirty="0">
                <a:latin typeface="Arial" charset="0"/>
              </a:rPr>
              <a:t>Returns measurement </a:t>
            </a:r>
          </a:p>
        </p:txBody>
      </p:sp>
      <p:sp>
        <p:nvSpPr>
          <p:cNvPr id="43010" name="Rectangle 2"/>
          <p:cNvSpPr>
            <a:spLocks noGrp="1" noChangeArrowheads="1"/>
          </p:cNvSpPr>
          <p:nvPr>
            <p:ph type="title"/>
          </p:nvPr>
        </p:nvSpPr>
        <p:spPr/>
        <p:txBody>
          <a:bodyPr>
            <a:normAutofit/>
          </a:bodyPr>
          <a:lstStyle/>
          <a:p>
            <a:r>
              <a:rPr lang="en-GB" sz="3200" dirty="0">
                <a:latin typeface="Arial" charset="0"/>
              </a:rPr>
              <a:t>Alternative investments: Private equity and credit</a:t>
            </a:r>
          </a:p>
        </p:txBody>
      </p:sp>
      <p:sp>
        <p:nvSpPr>
          <p:cNvPr id="977923" name="Rectangle 3"/>
          <p:cNvSpPr>
            <a:spLocks noGrp="1" noChangeArrowheads="1"/>
          </p:cNvSpPr>
          <p:nvPr>
            <p:ph idx="1"/>
          </p:nvPr>
        </p:nvSpPr>
        <p:spPr>
          <a:xfrm>
            <a:off x="437547" y="1597924"/>
            <a:ext cx="5658453" cy="5166497"/>
          </a:xfrm>
        </p:spPr>
        <p:txBody>
          <a:bodyPr/>
          <a:lstStyle/>
          <a:p>
            <a:pPr>
              <a:lnSpc>
                <a:spcPct val="150000"/>
              </a:lnSpc>
              <a:buFontTx/>
              <a:buNone/>
              <a:defRPr/>
            </a:pPr>
            <a:r>
              <a:rPr lang="en-GB" sz="2000" b="1" dirty="0">
                <a:solidFill>
                  <a:srgbClr val="0070C0"/>
                </a:solidFill>
              </a:rPr>
              <a:t>Rationale for Investment</a:t>
            </a:r>
          </a:p>
          <a:p>
            <a:pPr>
              <a:lnSpc>
                <a:spcPct val="150000"/>
              </a:lnSpc>
              <a:defRPr/>
            </a:pPr>
            <a:r>
              <a:rPr lang="en-GB" sz="2000" dirty="0"/>
              <a:t>High returns</a:t>
            </a:r>
          </a:p>
          <a:p>
            <a:pPr>
              <a:lnSpc>
                <a:spcPct val="150000"/>
              </a:lnSpc>
              <a:defRPr/>
            </a:pPr>
            <a:r>
              <a:rPr lang="en-GB" sz="2000" dirty="0"/>
              <a:t>Portfolio diversifier (Low correlation)</a:t>
            </a:r>
          </a:p>
          <a:p>
            <a:pPr>
              <a:lnSpc>
                <a:spcPct val="150000"/>
              </a:lnSpc>
              <a:defRPr/>
            </a:pPr>
            <a:r>
              <a:rPr lang="en-GB" sz="2000" dirty="0"/>
              <a:t>Irrational (Inefficient) pricing: Possibility to beat the market</a:t>
            </a:r>
          </a:p>
        </p:txBody>
      </p:sp>
    </p:spTree>
    <p:extLst>
      <p:ext uri="{BB962C8B-B14F-4D97-AF65-F5344CB8AC3E}">
        <p14:creationId xmlns:p14="http://schemas.microsoft.com/office/powerpoint/2010/main" val="59475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719E83-99BA-0A35-C52B-A8782EA44A4E}"/>
              </a:ext>
            </a:extLst>
          </p:cNvPr>
          <p:cNvSpPr>
            <a:spLocks noGrp="1"/>
          </p:cNvSpPr>
          <p:nvPr>
            <p:ph type="title"/>
          </p:nvPr>
        </p:nvSpPr>
        <p:spPr/>
        <p:txBody>
          <a:bodyPr>
            <a:normAutofit fontScale="90000"/>
          </a:bodyPr>
          <a:lstStyle/>
          <a:p>
            <a:r>
              <a:rPr lang="en-US" sz="3600" dirty="0"/>
              <a:t>Global PE Deal Value and Deal Count </a:t>
            </a:r>
            <a:br>
              <a:rPr lang="en-US" sz="3600" dirty="0"/>
            </a:br>
            <a:r>
              <a:rPr lang="en-US" sz="2000" dirty="0"/>
              <a:t>(Source: McKinsey Global Private Markets Report 2026, available on Moodle)</a:t>
            </a:r>
          </a:p>
        </p:txBody>
      </p:sp>
      <p:sp>
        <p:nvSpPr>
          <p:cNvPr id="4" name="Content Placeholder 3">
            <a:extLst>
              <a:ext uri="{FF2B5EF4-FFF2-40B4-BE49-F238E27FC236}">
                <a16:creationId xmlns:a16="http://schemas.microsoft.com/office/drawing/2014/main" id="{706273C7-1843-ABC5-1110-1D2E4963DBFA}"/>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21FFD1A6-F32F-4192-1F16-C701C5A0C805}"/>
              </a:ext>
            </a:extLst>
          </p:cNvPr>
          <p:cNvPicPr>
            <a:picLocks noChangeAspect="1"/>
          </p:cNvPicPr>
          <p:nvPr/>
        </p:nvPicPr>
        <p:blipFill>
          <a:blip r:embed="rId2"/>
          <a:stretch>
            <a:fillRect/>
          </a:stretch>
        </p:blipFill>
        <p:spPr>
          <a:xfrm>
            <a:off x="437546" y="1285103"/>
            <a:ext cx="9066217" cy="5362695"/>
          </a:xfrm>
          <a:prstGeom prst="rect">
            <a:avLst/>
          </a:prstGeom>
        </p:spPr>
      </p:pic>
    </p:spTree>
    <p:extLst>
      <p:ext uri="{BB962C8B-B14F-4D97-AF65-F5344CB8AC3E}">
        <p14:creationId xmlns:p14="http://schemas.microsoft.com/office/powerpoint/2010/main" val="1929317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2" name="Rectangle 4"/>
          <p:cNvSpPr>
            <a:spLocks noGrp="1" noChangeArrowheads="1"/>
          </p:cNvSpPr>
          <p:nvPr>
            <p:ph sz="half" idx="2"/>
          </p:nvPr>
        </p:nvSpPr>
        <p:spPr/>
        <p:txBody>
          <a:bodyPr>
            <a:normAutofit/>
          </a:bodyPr>
          <a:lstStyle/>
          <a:p>
            <a:pPr>
              <a:lnSpc>
                <a:spcPct val="150000"/>
              </a:lnSpc>
              <a:buFontTx/>
              <a:buNone/>
              <a:defRPr/>
            </a:pPr>
            <a:r>
              <a:rPr lang="en-GB" sz="2000" b="1" dirty="0">
                <a:solidFill>
                  <a:srgbClr val="0070C0"/>
                </a:solidFill>
              </a:rPr>
              <a:t>Risks and Concerns</a:t>
            </a:r>
            <a:endParaRPr lang="en-GB" sz="2000" dirty="0">
              <a:latin typeface="Arial" charset="0"/>
            </a:endParaRPr>
          </a:p>
          <a:p>
            <a:pPr>
              <a:lnSpc>
                <a:spcPct val="150000"/>
              </a:lnSpc>
              <a:defRPr/>
            </a:pPr>
            <a:r>
              <a:rPr lang="en-GB" dirty="0">
                <a:latin typeface="Arial" charset="0"/>
              </a:rPr>
              <a:t>Poor performance in periods of low inflation</a:t>
            </a:r>
          </a:p>
          <a:p>
            <a:pPr>
              <a:lnSpc>
                <a:spcPct val="150000"/>
              </a:lnSpc>
              <a:defRPr/>
            </a:pPr>
            <a:r>
              <a:rPr lang="en-GB" dirty="0">
                <a:latin typeface="Arial" charset="0"/>
              </a:rPr>
              <a:t>Valuation not easy - continuous and reliable data unavailable</a:t>
            </a:r>
          </a:p>
          <a:p>
            <a:pPr lvl="1">
              <a:lnSpc>
                <a:spcPct val="150000"/>
              </a:lnSpc>
              <a:defRPr/>
            </a:pPr>
            <a:r>
              <a:rPr lang="en-GB" sz="1800" dirty="0">
                <a:latin typeface="Arial" charset="0"/>
              </a:rPr>
              <a:t>Real Estate Price Indices exist as a guide</a:t>
            </a:r>
          </a:p>
          <a:p>
            <a:pPr>
              <a:lnSpc>
                <a:spcPct val="150000"/>
              </a:lnSpc>
              <a:defRPr/>
            </a:pPr>
            <a:r>
              <a:rPr lang="en-GB" dirty="0">
                <a:latin typeface="Arial" charset="0"/>
              </a:rPr>
              <a:t>Bubble price movement: (REITs share price </a:t>
            </a:r>
            <a:r>
              <a:rPr lang="en-GB" dirty="0">
                <a:latin typeface="Arial" charset="0"/>
                <a:sym typeface="Symbol" pitchFamily="18" charset="2"/>
              </a:rPr>
              <a:t></a:t>
            </a:r>
            <a:r>
              <a:rPr lang="en-GB" dirty="0">
                <a:latin typeface="Arial" charset="0"/>
              </a:rPr>
              <a:t> Net asset value)</a:t>
            </a:r>
          </a:p>
          <a:p>
            <a:pPr>
              <a:lnSpc>
                <a:spcPct val="150000"/>
              </a:lnSpc>
              <a:defRPr/>
            </a:pPr>
            <a:r>
              <a:rPr lang="en-GB" dirty="0">
                <a:latin typeface="Arial" charset="0"/>
              </a:rPr>
              <a:t>Liquidity risk</a:t>
            </a:r>
          </a:p>
          <a:p>
            <a:pPr>
              <a:lnSpc>
                <a:spcPct val="150000"/>
              </a:lnSpc>
              <a:defRPr/>
            </a:pPr>
            <a:endParaRPr lang="en-GB" sz="2000" dirty="0">
              <a:latin typeface="Arial" charset="0"/>
            </a:endParaRPr>
          </a:p>
        </p:txBody>
      </p:sp>
      <p:sp>
        <p:nvSpPr>
          <p:cNvPr id="45058" name="Rectangle 2"/>
          <p:cNvSpPr>
            <a:spLocks noGrp="1" noChangeArrowheads="1"/>
          </p:cNvSpPr>
          <p:nvPr>
            <p:ph type="title"/>
          </p:nvPr>
        </p:nvSpPr>
        <p:spPr/>
        <p:txBody>
          <a:bodyPr>
            <a:normAutofit/>
          </a:bodyPr>
          <a:lstStyle/>
          <a:p>
            <a:r>
              <a:rPr lang="en-GB" sz="3200" dirty="0">
                <a:latin typeface="Arial" charset="0"/>
              </a:rPr>
              <a:t>Alternative investments: Real estate</a:t>
            </a:r>
          </a:p>
        </p:txBody>
      </p:sp>
      <p:sp>
        <p:nvSpPr>
          <p:cNvPr id="979971" name="Rectangle 3"/>
          <p:cNvSpPr>
            <a:spLocks noGrp="1" noChangeArrowheads="1"/>
          </p:cNvSpPr>
          <p:nvPr>
            <p:ph idx="1"/>
          </p:nvPr>
        </p:nvSpPr>
        <p:spPr/>
        <p:txBody>
          <a:bodyPr>
            <a:normAutofit fontScale="70000" lnSpcReduction="20000"/>
          </a:bodyPr>
          <a:lstStyle/>
          <a:p>
            <a:pPr>
              <a:lnSpc>
                <a:spcPct val="150000"/>
              </a:lnSpc>
              <a:buFontTx/>
              <a:buNone/>
              <a:defRPr/>
            </a:pPr>
            <a:r>
              <a:rPr lang="en-GB" sz="2900" b="1" dirty="0">
                <a:solidFill>
                  <a:srgbClr val="0070C0"/>
                </a:solidFill>
              </a:rPr>
              <a:t>Rationale for Investment</a:t>
            </a:r>
            <a:endParaRPr lang="en-GB" sz="2900" dirty="0">
              <a:latin typeface="Arial" charset="0"/>
            </a:endParaRPr>
          </a:p>
          <a:p>
            <a:pPr>
              <a:lnSpc>
                <a:spcPct val="150000"/>
              </a:lnSpc>
              <a:defRPr/>
            </a:pPr>
            <a:r>
              <a:rPr lang="en-GB" dirty="0">
                <a:latin typeface="Arial" charset="0"/>
              </a:rPr>
              <a:t>Inflation hedge</a:t>
            </a:r>
          </a:p>
          <a:p>
            <a:pPr>
              <a:lnSpc>
                <a:spcPct val="150000"/>
              </a:lnSpc>
              <a:defRPr/>
            </a:pPr>
            <a:r>
              <a:rPr lang="en-GB" dirty="0">
                <a:latin typeface="Arial" charset="0"/>
              </a:rPr>
              <a:t>Higher return </a:t>
            </a:r>
          </a:p>
          <a:p>
            <a:pPr>
              <a:lnSpc>
                <a:spcPct val="150000"/>
              </a:lnSpc>
              <a:defRPr/>
            </a:pPr>
            <a:r>
              <a:rPr lang="en-GB" dirty="0">
                <a:latin typeface="Arial" charset="0"/>
              </a:rPr>
              <a:t>Low volatility</a:t>
            </a:r>
          </a:p>
          <a:p>
            <a:pPr>
              <a:lnSpc>
                <a:spcPct val="150000"/>
              </a:lnSpc>
              <a:defRPr/>
            </a:pPr>
            <a:r>
              <a:rPr lang="en-GB" dirty="0">
                <a:latin typeface="Arial" charset="0"/>
              </a:rPr>
              <a:t>High and stable income stream</a:t>
            </a:r>
          </a:p>
          <a:p>
            <a:pPr>
              <a:lnSpc>
                <a:spcPct val="150000"/>
              </a:lnSpc>
              <a:defRPr/>
            </a:pPr>
            <a:r>
              <a:rPr lang="en-GB" dirty="0">
                <a:latin typeface="Arial" charset="0"/>
              </a:rPr>
              <a:t>Portfolio diversifier (Low correlation)</a:t>
            </a:r>
          </a:p>
          <a:p>
            <a:pPr>
              <a:lnSpc>
                <a:spcPct val="150000"/>
              </a:lnSpc>
              <a:defRPr/>
            </a:pPr>
            <a:r>
              <a:rPr lang="en-GB" dirty="0">
                <a:latin typeface="Arial" charset="0"/>
              </a:rPr>
              <a:t>Direct and indirect investment (Real Estate Investment Trusts, REITs)</a:t>
            </a:r>
          </a:p>
          <a:p>
            <a:pPr>
              <a:lnSpc>
                <a:spcPct val="150000"/>
              </a:lnSpc>
              <a:defRPr/>
            </a:pPr>
            <a:r>
              <a:rPr lang="en-GB" dirty="0">
                <a:latin typeface="Arial" charset="0"/>
              </a:rPr>
              <a:t>Irrational (inefficient) pricing: possibility to beat the market</a:t>
            </a:r>
          </a:p>
          <a:p>
            <a:pPr>
              <a:defRPr/>
            </a:pPr>
            <a:endParaRPr lang="en-GB" sz="2400" dirty="0">
              <a:latin typeface="Arial" charset="0"/>
            </a:endParaRPr>
          </a:p>
        </p:txBody>
      </p:sp>
    </p:spTree>
    <p:extLst>
      <p:ext uri="{BB962C8B-B14F-4D97-AF65-F5344CB8AC3E}">
        <p14:creationId xmlns:p14="http://schemas.microsoft.com/office/powerpoint/2010/main" val="3623858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55C6C0-CB84-FD41-85B4-9BE71F314060}"/>
              </a:ext>
            </a:extLst>
          </p:cNvPr>
          <p:cNvSpPr>
            <a:spLocks noGrp="1"/>
          </p:cNvSpPr>
          <p:nvPr>
            <p:ph sz="half" idx="2"/>
          </p:nvPr>
        </p:nvSpPr>
        <p:spPr>
          <a:xfrm>
            <a:off x="6804823" y="1297135"/>
            <a:ext cx="4537379" cy="5166497"/>
          </a:xfrm>
        </p:spPr>
        <p:txBody>
          <a:bodyPr>
            <a:normAutofit/>
          </a:bodyPr>
          <a:lstStyle/>
          <a:p>
            <a:pPr marL="0" indent="0">
              <a:lnSpc>
                <a:spcPct val="150000"/>
              </a:lnSpc>
              <a:buNone/>
            </a:pPr>
            <a:r>
              <a:rPr lang="en-US" sz="2000" b="1" dirty="0">
                <a:solidFill>
                  <a:srgbClr val="0070C0"/>
                </a:solidFill>
              </a:rPr>
              <a:t>Risks and Concerns</a:t>
            </a:r>
          </a:p>
          <a:p>
            <a:pPr>
              <a:lnSpc>
                <a:spcPct val="150000"/>
              </a:lnSpc>
            </a:pPr>
            <a:r>
              <a:rPr lang="en-US" sz="2000" dirty="0"/>
              <a:t>Large up-front costs</a:t>
            </a:r>
          </a:p>
          <a:p>
            <a:pPr>
              <a:lnSpc>
                <a:spcPct val="150000"/>
              </a:lnSpc>
            </a:pPr>
            <a:r>
              <a:rPr lang="en-US" sz="2000" dirty="0"/>
              <a:t>Short history of performance (from early 2000s)</a:t>
            </a:r>
          </a:p>
          <a:p>
            <a:pPr>
              <a:lnSpc>
                <a:spcPct val="150000"/>
              </a:lnSpc>
            </a:pPr>
            <a:r>
              <a:rPr lang="en-US" sz="2000" dirty="0"/>
              <a:t>Lower expected IRR than private equity</a:t>
            </a:r>
          </a:p>
          <a:p>
            <a:pPr>
              <a:lnSpc>
                <a:spcPct val="150000"/>
              </a:lnSpc>
            </a:pPr>
            <a:r>
              <a:rPr lang="en-US" sz="2000" dirty="0"/>
              <a:t>More difficult to identify suitable performance index</a:t>
            </a:r>
          </a:p>
          <a:p>
            <a:pPr>
              <a:lnSpc>
                <a:spcPct val="150000"/>
              </a:lnSpc>
            </a:pPr>
            <a:endParaRPr lang="en-US" sz="2000" dirty="0"/>
          </a:p>
          <a:p>
            <a:endParaRPr lang="en-US" dirty="0"/>
          </a:p>
        </p:txBody>
      </p:sp>
      <p:sp>
        <p:nvSpPr>
          <p:cNvPr id="3" name="Title 2">
            <a:extLst>
              <a:ext uri="{FF2B5EF4-FFF2-40B4-BE49-F238E27FC236}">
                <a16:creationId xmlns:a16="http://schemas.microsoft.com/office/drawing/2014/main" id="{65A5F762-3783-A046-AC82-DE0A3E9CB216}"/>
              </a:ext>
            </a:extLst>
          </p:cNvPr>
          <p:cNvSpPr>
            <a:spLocks noGrp="1"/>
          </p:cNvSpPr>
          <p:nvPr>
            <p:ph type="title"/>
          </p:nvPr>
        </p:nvSpPr>
        <p:spPr/>
        <p:txBody>
          <a:bodyPr>
            <a:normAutofit/>
          </a:bodyPr>
          <a:lstStyle/>
          <a:p>
            <a:r>
              <a:rPr lang="en-US" sz="3200" dirty="0"/>
              <a:t>Alternative Investments: Infrastructure</a:t>
            </a:r>
          </a:p>
        </p:txBody>
      </p:sp>
      <p:sp>
        <p:nvSpPr>
          <p:cNvPr id="4" name="Content Placeholder 3">
            <a:extLst>
              <a:ext uri="{FF2B5EF4-FFF2-40B4-BE49-F238E27FC236}">
                <a16:creationId xmlns:a16="http://schemas.microsoft.com/office/drawing/2014/main" id="{B20D464E-E7F6-DE44-9D3F-56E85CD0FD09}"/>
              </a:ext>
            </a:extLst>
          </p:cNvPr>
          <p:cNvSpPr>
            <a:spLocks noGrp="1"/>
          </p:cNvSpPr>
          <p:nvPr>
            <p:ph idx="1"/>
          </p:nvPr>
        </p:nvSpPr>
        <p:spPr>
          <a:xfrm>
            <a:off x="437547" y="1427125"/>
            <a:ext cx="5658453" cy="5166497"/>
          </a:xfrm>
        </p:spPr>
        <p:txBody>
          <a:bodyPr>
            <a:normAutofit fontScale="92500"/>
          </a:bodyPr>
          <a:lstStyle/>
          <a:p>
            <a:pPr marL="0" indent="0">
              <a:buNone/>
            </a:pPr>
            <a:r>
              <a:rPr lang="en-US" sz="2200" b="1" dirty="0">
                <a:solidFill>
                  <a:srgbClr val="0070C0"/>
                </a:solidFill>
              </a:rPr>
              <a:t>Rationale for Investment</a:t>
            </a:r>
          </a:p>
          <a:p>
            <a:pPr>
              <a:lnSpc>
                <a:spcPct val="150000"/>
              </a:lnSpc>
            </a:pPr>
            <a:r>
              <a:rPr lang="en-US" sz="2000" dirty="0"/>
              <a:t>Aspects of commodities (long term investment) and real estate (tangible)</a:t>
            </a:r>
          </a:p>
          <a:p>
            <a:pPr>
              <a:lnSpc>
                <a:spcPct val="150000"/>
              </a:lnSpc>
            </a:pPr>
            <a:r>
              <a:rPr lang="en-US" sz="2000" dirty="0"/>
              <a:t>Greater stability of cashflows than private equity</a:t>
            </a:r>
          </a:p>
          <a:p>
            <a:pPr>
              <a:lnSpc>
                <a:spcPct val="150000"/>
              </a:lnSpc>
            </a:pPr>
            <a:r>
              <a:rPr lang="en-US" sz="2000" dirty="0"/>
              <a:t>Lower expected IRR than private equity</a:t>
            </a:r>
          </a:p>
          <a:p>
            <a:pPr>
              <a:lnSpc>
                <a:spcPct val="150000"/>
              </a:lnSpc>
            </a:pPr>
            <a:r>
              <a:rPr lang="en-US" sz="2000" dirty="0"/>
              <a:t>Longer duration than private equity</a:t>
            </a:r>
          </a:p>
          <a:p>
            <a:pPr>
              <a:lnSpc>
                <a:spcPct val="150000"/>
              </a:lnSpc>
            </a:pPr>
            <a:r>
              <a:rPr lang="en-US" sz="2000" dirty="0"/>
              <a:t>Portfolio diversifier</a:t>
            </a:r>
          </a:p>
          <a:p>
            <a:pPr>
              <a:lnSpc>
                <a:spcPct val="150000"/>
              </a:lnSpc>
            </a:pPr>
            <a:r>
              <a:rPr lang="en-US" sz="2000" dirty="0"/>
              <a:t>Economic development funds investing in their own countries; capital maximization funds look for international opportunities</a:t>
            </a:r>
          </a:p>
          <a:p>
            <a:endParaRPr lang="en-US" dirty="0"/>
          </a:p>
          <a:p>
            <a:endParaRPr lang="en-US" dirty="0"/>
          </a:p>
          <a:p>
            <a:endParaRPr lang="en-US" dirty="0"/>
          </a:p>
        </p:txBody>
      </p:sp>
    </p:spTree>
    <p:extLst>
      <p:ext uri="{BB962C8B-B14F-4D97-AF65-F5344CB8AC3E}">
        <p14:creationId xmlns:p14="http://schemas.microsoft.com/office/powerpoint/2010/main" val="2384420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02BF8C6-ABA8-3540-BAF7-76054B1A8731}"/>
              </a:ext>
            </a:extLst>
          </p:cNvPr>
          <p:cNvSpPr>
            <a:spLocks noGrp="1"/>
          </p:cNvSpPr>
          <p:nvPr>
            <p:ph type="title"/>
          </p:nvPr>
        </p:nvSpPr>
        <p:spPr>
          <a:xfrm>
            <a:off x="437547" y="263483"/>
            <a:ext cx="9200723" cy="831416"/>
          </a:xfrm>
        </p:spPr>
        <p:txBody>
          <a:bodyPr>
            <a:normAutofit fontScale="90000"/>
          </a:bodyPr>
          <a:lstStyle/>
          <a:p>
            <a:pPr>
              <a:lnSpc>
                <a:spcPct val="100000"/>
              </a:lnSpc>
            </a:pPr>
            <a:r>
              <a:rPr lang="en-US" sz="3100" dirty="0"/>
              <a:t>Invesco survey: Infrastructure considered the most attractive private market segment to invest in for SWFs </a:t>
            </a:r>
            <a:r>
              <a:rPr lang="en-US" sz="1600" dirty="0"/>
              <a:t>(</a:t>
            </a:r>
            <a:r>
              <a:rPr lang="en-US" sz="1200" dirty="0">
                <a:hlinkClick r:id="rId2"/>
              </a:rPr>
              <a:t>https://www.invesco.com/content/dam/invesco/apac/en/pdf/insights/2023/july/igsam-main-study-july-2023.pdf</a:t>
            </a:r>
            <a:r>
              <a:rPr lang="en-US" sz="1600" dirty="0"/>
              <a:t>)</a:t>
            </a:r>
          </a:p>
        </p:txBody>
      </p:sp>
      <p:sp>
        <p:nvSpPr>
          <p:cNvPr id="2" name="Content Placeholder 1">
            <a:extLst>
              <a:ext uri="{FF2B5EF4-FFF2-40B4-BE49-F238E27FC236}">
                <a16:creationId xmlns:a16="http://schemas.microsoft.com/office/drawing/2014/main" id="{7331F4FA-9AF2-A1B0-B966-73CFA1637FA2}"/>
              </a:ext>
            </a:extLst>
          </p:cNvPr>
          <p:cNvSpPr>
            <a:spLocks noGrp="1"/>
          </p:cNvSpPr>
          <p:nvPr>
            <p:ph idx="1"/>
          </p:nvPr>
        </p:nvSpPr>
        <p:spPr>
          <a:xfrm>
            <a:off x="437547" y="1410682"/>
            <a:ext cx="10399329" cy="5141784"/>
          </a:xfrm>
        </p:spPr>
        <p:txBody>
          <a:bodyPr/>
          <a:lstStyle/>
          <a:p>
            <a:endParaRPr lang="en-US" dirty="0"/>
          </a:p>
        </p:txBody>
      </p:sp>
      <p:pic>
        <p:nvPicPr>
          <p:cNvPr id="7" name="Picture 6">
            <a:extLst>
              <a:ext uri="{FF2B5EF4-FFF2-40B4-BE49-F238E27FC236}">
                <a16:creationId xmlns:a16="http://schemas.microsoft.com/office/drawing/2014/main" id="{EEE1DC11-F47E-F749-BD2F-C2AA24AA4FB0}"/>
              </a:ext>
            </a:extLst>
          </p:cNvPr>
          <p:cNvPicPr>
            <a:picLocks noChangeAspect="1"/>
          </p:cNvPicPr>
          <p:nvPr/>
        </p:nvPicPr>
        <p:blipFill>
          <a:blip r:embed="rId3"/>
          <a:stretch>
            <a:fillRect/>
          </a:stretch>
        </p:blipFill>
        <p:spPr>
          <a:xfrm>
            <a:off x="595180" y="1410682"/>
            <a:ext cx="7805870" cy="5287399"/>
          </a:xfrm>
          <a:prstGeom prst="rect">
            <a:avLst/>
          </a:prstGeom>
        </p:spPr>
      </p:pic>
    </p:spTree>
    <p:extLst>
      <p:ext uri="{BB962C8B-B14F-4D97-AF65-F5344CB8AC3E}">
        <p14:creationId xmlns:p14="http://schemas.microsoft.com/office/powerpoint/2010/main" val="4218417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0CF62-CFBB-4545-8439-BBC8092979F6}"/>
              </a:ext>
            </a:extLst>
          </p:cNvPr>
          <p:cNvSpPr>
            <a:spLocks noGrp="1"/>
          </p:cNvSpPr>
          <p:nvPr>
            <p:ph type="title"/>
          </p:nvPr>
        </p:nvSpPr>
        <p:spPr/>
        <p:txBody>
          <a:bodyPr>
            <a:noAutofit/>
          </a:bodyPr>
          <a:lstStyle/>
          <a:p>
            <a:r>
              <a:rPr lang="en-US" sz="3000" dirty="0"/>
              <a:t>Integrating Alternatives with Traditional Asset Classes</a:t>
            </a:r>
          </a:p>
        </p:txBody>
      </p:sp>
      <p:sp>
        <p:nvSpPr>
          <p:cNvPr id="3" name="Content Placeholder 2">
            <a:extLst>
              <a:ext uri="{FF2B5EF4-FFF2-40B4-BE49-F238E27FC236}">
                <a16:creationId xmlns:a16="http://schemas.microsoft.com/office/drawing/2014/main" id="{10997A60-F4A9-6E4E-9788-A567DC7FD2D3}"/>
              </a:ext>
            </a:extLst>
          </p:cNvPr>
          <p:cNvSpPr>
            <a:spLocks noGrp="1"/>
          </p:cNvSpPr>
          <p:nvPr>
            <p:ph idx="1"/>
          </p:nvPr>
        </p:nvSpPr>
        <p:spPr>
          <a:xfrm>
            <a:off x="437547" y="1383958"/>
            <a:ext cx="10399329" cy="5141784"/>
          </a:xfrm>
        </p:spPr>
        <p:txBody>
          <a:bodyPr>
            <a:normAutofit/>
          </a:bodyPr>
          <a:lstStyle/>
          <a:p>
            <a:pPr marL="0" indent="0">
              <a:lnSpc>
                <a:spcPct val="150000"/>
              </a:lnSpc>
              <a:buNone/>
            </a:pPr>
            <a:r>
              <a:rPr lang="en-US" sz="2400" dirty="0"/>
              <a:t>Common issues across alternative asset classes:</a:t>
            </a:r>
          </a:p>
          <a:p>
            <a:pPr>
              <a:lnSpc>
                <a:spcPct val="150000"/>
              </a:lnSpc>
            </a:pPr>
            <a:r>
              <a:rPr lang="en-US" sz="2000" dirty="0">
                <a:solidFill>
                  <a:srgbClr val="0070C0"/>
                </a:solidFill>
              </a:rPr>
              <a:t>Inadequate historical return data </a:t>
            </a:r>
            <a:r>
              <a:rPr lang="en-US" sz="2000" dirty="0"/>
              <a:t>– time series not long enough</a:t>
            </a:r>
          </a:p>
          <a:p>
            <a:pPr lvl="1">
              <a:lnSpc>
                <a:spcPct val="150000"/>
              </a:lnSpc>
            </a:pPr>
            <a:r>
              <a:rPr lang="en-US" sz="2000" dirty="0"/>
              <a:t>Difficult to assess return correlations between traditional and alternative asset classes</a:t>
            </a:r>
          </a:p>
          <a:p>
            <a:pPr lvl="1">
              <a:lnSpc>
                <a:spcPct val="150000"/>
              </a:lnSpc>
            </a:pPr>
            <a:r>
              <a:rPr lang="en-US" sz="2000" dirty="0"/>
              <a:t>Important for construction of mean-variance frontier</a:t>
            </a:r>
          </a:p>
          <a:p>
            <a:pPr>
              <a:lnSpc>
                <a:spcPct val="150000"/>
              </a:lnSpc>
            </a:pPr>
            <a:r>
              <a:rPr lang="en-US" sz="2000" dirty="0">
                <a:solidFill>
                  <a:srgbClr val="0070C0"/>
                </a:solidFill>
              </a:rPr>
              <a:t>Opacity</a:t>
            </a:r>
          </a:p>
          <a:p>
            <a:pPr lvl="1">
              <a:lnSpc>
                <a:spcPct val="150000"/>
              </a:lnSpc>
            </a:pPr>
            <a:r>
              <a:rPr lang="en-US" sz="2000" dirty="0"/>
              <a:t>Lack of clarity of hedge fund strategies, private equity valuation </a:t>
            </a:r>
            <a:r>
              <a:rPr lang="en-US" sz="2000" i="1" dirty="0"/>
              <a:t>is</a:t>
            </a:r>
            <a:r>
              <a:rPr lang="en-US" sz="2000" dirty="0"/>
              <a:t> private, commodity investment is via commodity futures whose returns are often at discrepancy with price changes in underlying commodities etc.</a:t>
            </a:r>
          </a:p>
          <a:p>
            <a:pPr marL="135731" lvl="1" indent="0">
              <a:buNone/>
            </a:pPr>
            <a:endParaRPr lang="en-US" sz="2000" dirty="0"/>
          </a:p>
          <a:p>
            <a:endParaRPr lang="en-US" dirty="0"/>
          </a:p>
        </p:txBody>
      </p:sp>
    </p:spTree>
    <p:extLst>
      <p:ext uri="{BB962C8B-B14F-4D97-AF65-F5344CB8AC3E}">
        <p14:creationId xmlns:p14="http://schemas.microsoft.com/office/powerpoint/2010/main" val="3076914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84885-2AA4-B74D-9CFD-6C63170B8356}"/>
              </a:ext>
            </a:extLst>
          </p:cNvPr>
          <p:cNvSpPr>
            <a:spLocks noGrp="1"/>
          </p:cNvSpPr>
          <p:nvPr>
            <p:ph type="title"/>
          </p:nvPr>
        </p:nvSpPr>
        <p:spPr/>
        <p:txBody>
          <a:bodyPr>
            <a:normAutofit/>
          </a:bodyPr>
          <a:lstStyle/>
          <a:p>
            <a:r>
              <a:rPr lang="en-US" sz="3000" dirty="0"/>
              <a:t>Integrating Alternatives with Traditional Asset Classes</a:t>
            </a:r>
          </a:p>
        </p:txBody>
      </p:sp>
      <p:sp>
        <p:nvSpPr>
          <p:cNvPr id="3" name="Content Placeholder 2">
            <a:extLst>
              <a:ext uri="{FF2B5EF4-FFF2-40B4-BE49-F238E27FC236}">
                <a16:creationId xmlns:a16="http://schemas.microsoft.com/office/drawing/2014/main" id="{FE031E2B-B2B0-F441-9AE7-B3BC7BD50C1B}"/>
              </a:ext>
            </a:extLst>
          </p:cNvPr>
          <p:cNvSpPr>
            <a:spLocks noGrp="1"/>
          </p:cNvSpPr>
          <p:nvPr>
            <p:ph idx="1"/>
          </p:nvPr>
        </p:nvSpPr>
        <p:spPr/>
        <p:txBody>
          <a:bodyPr>
            <a:normAutofit lnSpcReduction="10000"/>
          </a:bodyPr>
          <a:lstStyle/>
          <a:p>
            <a:pPr>
              <a:lnSpc>
                <a:spcPct val="150000"/>
              </a:lnSpc>
            </a:pPr>
            <a:r>
              <a:rPr lang="en-US" sz="2000" dirty="0">
                <a:solidFill>
                  <a:srgbClr val="0070C0"/>
                </a:solidFill>
              </a:rPr>
              <a:t>Illiquidity</a:t>
            </a:r>
          </a:p>
          <a:p>
            <a:pPr lvl="1">
              <a:lnSpc>
                <a:spcPct val="150000"/>
              </a:lnSpc>
            </a:pPr>
            <a:r>
              <a:rPr lang="en-US" sz="2000" dirty="0"/>
              <a:t>Main criticism of alternatives: private equity investment locked up till the term of the fund, difficult to disinvest from infrastructure or real estate projects</a:t>
            </a:r>
          </a:p>
          <a:p>
            <a:pPr lvl="1">
              <a:lnSpc>
                <a:spcPct val="150000"/>
              </a:lnSpc>
            </a:pPr>
            <a:r>
              <a:rPr lang="en-US" sz="2000" dirty="0"/>
              <a:t>Liquidity budget – proportion of the assets you can afford to have tied up for a long time</a:t>
            </a:r>
          </a:p>
          <a:p>
            <a:pPr lvl="1">
              <a:lnSpc>
                <a:spcPct val="150000"/>
              </a:lnSpc>
            </a:pPr>
            <a:r>
              <a:rPr lang="en-US" sz="2000" dirty="0"/>
              <a:t>Why invest in illiquid assets? Illiquidity premium!!</a:t>
            </a:r>
          </a:p>
          <a:p>
            <a:pPr lvl="2">
              <a:lnSpc>
                <a:spcPct val="150000"/>
              </a:lnSpc>
            </a:pPr>
            <a:r>
              <a:rPr lang="en-US" sz="2000" dirty="0"/>
              <a:t>Smaller demand for illiquid assets – purchase price is lower</a:t>
            </a:r>
          </a:p>
          <a:p>
            <a:pPr>
              <a:lnSpc>
                <a:spcPct val="150000"/>
              </a:lnSpc>
            </a:pPr>
            <a:r>
              <a:rPr lang="en-US" sz="2000" dirty="0">
                <a:solidFill>
                  <a:srgbClr val="0070C0"/>
                </a:solidFill>
              </a:rPr>
              <a:t>Higher costs</a:t>
            </a:r>
          </a:p>
          <a:p>
            <a:pPr lvl="1">
              <a:lnSpc>
                <a:spcPct val="150000"/>
              </a:lnSpc>
            </a:pPr>
            <a:r>
              <a:rPr lang="en-US" sz="2000" dirty="0"/>
              <a:t>High fees of hedge funds and private equity funds in particular</a:t>
            </a:r>
          </a:p>
          <a:p>
            <a:pPr>
              <a:lnSpc>
                <a:spcPct val="150000"/>
              </a:lnSpc>
            </a:pPr>
            <a:r>
              <a:rPr lang="en-US" sz="2000" dirty="0">
                <a:solidFill>
                  <a:srgbClr val="0070C0"/>
                </a:solidFill>
              </a:rPr>
              <a:t>Due diligence</a:t>
            </a:r>
          </a:p>
          <a:p>
            <a:pPr lvl="1">
              <a:lnSpc>
                <a:spcPct val="150000"/>
              </a:lnSpc>
            </a:pPr>
            <a:r>
              <a:rPr lang="en-US" sz="2000" dirty="0"/>
              <a:t>Understand the characteristics of alternatives you invest in well</a:t>
            </a:r>
          </a:p>
          <a:p>
            <a:endParaRPr lang="en-US" dirty="0"/>
          </a:p>
        </p:txBody>
      </p:sp>
    </p:spTree>
    <p:extLst>
      <p:ext uri="{BB962C8B-B14F-4D97-AF65-F5344CB8AC3E}">
        <p14:creationId xmlns:p14="http://schemas.microsoft.com/office/powerpoint/2010/main" val="3088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3FF00-6126-5B4C-A198-3BB4782214A2}"/>
              </a:ext>
            </a:extLst>
          </p:cNvPr>
          <p:cNvSpPr>
            <a:spLocks noGrp="1"/>
          </p:cNvSpPr>
          <p:nvPr>
            <p:ph type="title"/>
          </p:nvPr>
        </p:nvSpPr>
        <p:spPr/>
        <p:txBody>
          <a:bodyPr>
            <a:normAutofit/>
          </a:bodyPr>
          <a:lstStyle/>
          <a:p>
            <a:r>
              <a:rPr lang="en-US" sz="3000" dirty="0"/>
              <a:t>Integrating Alternatives with Traditional Asset Classes</a:t>
            </a:r>
          </a:p>
        </p:txBody>
      </p:sp>
      <p:sp>
        <p:nvSpPr>
          <p:cNvPr id="3" name="Content Placeholder 2">
            <a:extLst>
              <a:ext uri="{FF2B5EF4-FFF2-40B4-BE49-F238E27FC236}">
                <a16:creationId xmlns:a16="http://schemas.microsoft.com/office/drawing/2014/main" id="{BDF1EF5F-3F87-5046-84DD-E414F64B0E6F}"/>
              </a:ext>
            </a:extLst>
          </p:cNvPr>
          <p:cNvSpPr>
            <a:spLocks noGrp="1"/>
          </p:cNvSpPr>
          <p:nvPr>
            <p:ph idx="1"/>
          </p:nvPr>
        </p:nvSpPr>
        <p:spPr/>
        <p:txBody>
          <a:bodyPr/>
          <a:lstStyle/>
          <a:p>
            <a:pPr>
              <a:lnSpc>
                <a:spcPct val="150000"/>
              </a:lnSpc>
            </a:pPr>
            <a:r>
              <a:rPr lang="en-US" sz="2400" dirty="0">
                <a:solidFill>
                  <a:srgbClr val="0070C0"/>
                </a:solidFill>
              </a:rPr>
              <a:t>So why still use alternatives given all these issues?</a:t>
            </a:r>
          </a:p>
          <a:p>
            <a:pPr>
              <a:lnSpc>
                <a:spcPct val="150000"/>
              </a:lnSpc>
            </a:pPr>
            <a:r>
              <a:rPr lang="en-US" sz="2000" dirty="0"/>
              <a:t>When combined with traditional assets they provide portfolio </a:t>
            </a:r>
            <a:r>
              <a:rPr lang="en-US" sz="2000" b="1" dirty="0">
                <a:solidFill>
                  <a:srgbClr val="0070C0"/>
                </a:solidFill>
              </a:rPr>
              <a:t>diversification </a:t>
            </a:r>
            <a:r>
              <a:rPr lang="en-US" sz="2000" dirty="0"/>
              <a:t>(risk reduction)</a:t>
            </a:r>
          </a:p>
          <a:p>
            <a:pPr lvl="1">
              <a:lnSpc>
                <a:spcPct val="150000"/>
              </a:lnSpc>
            </a:pPr>
            <a:r>
              <a:rPr lang="en-US" sz="1850" dirty="0"/>
              <a:t>Lower overall portfolio risk and/or</a:t>
            </a:r>
          </a:p>
          <a:p>
            <a:pPr lvl="1">
              <a:lnSpc>
                <a:spcPct val="150000"/>
              </a:lnSpc>
            </a:pPr>
            <a:r>
              <a:rPr lang="en-US" sz="1850" dirty="0"/>
              <a:t>Higher overall portfolio return</a:t>
            </a:r>
          </a:p>
          <a:p>
            <a:pPr lvl="1"/>
            <a:endParaRPr lang="en-US" sz="1850" dirty="0"/>
          </a:p>
          <a:p>
            <a:endParaRPr lang="en-US" sz="2000" dirty="0"/>
          </a:p>
        </p:txBody>
      </p:sp>
      <p:pic>
        <p:nvPicPr>
          <p:cNvPr id="4" name="Picture Placeholder 8" descr="Screen Shot 2017-09-20 at 10.22.18.png">
            <a:extLst>
              <a:ext uri="{FF2B5EF4-FFF2-40B4-BE49-F238E27FC236}">
                <a16:creationId xmlns:a16="http://schemas.microsoft.com/office/drawing/2014/main" id="{E8C63AB1-1A33-2C46-A8B0-0A928AAC5B6A}"/>
              </a:ext>
            </a:extLst>
          </p:cNvPr>
          <p:cNvPicPr>
            <a:picLocks noChangeAspect="1"/>
          </p:cNvPicPr>
          <p:nvPr/>
        </p:nvPicPr>
        <p:blipFill>
          <a:blip r:embed="rId2">
            <a:extLst>
              <a:ext uri="{28A0092B-C50C-407E-A947-70E740481C1C}">
                <a14:useLocalDpi xmlns:a14="http://schemas.microsoft.com/office/drawing/2010/main" val="0"/>
              </a:ext>
            </a:extLst>
          </a:blip>
          <a:srcRect l="-724" r="-724"/>
          <a:stretch>
            <a:fillRect/>
          </a:stretch>
        </p:blipFill>
        <p:spPr bwMode="auto">
          <a:xfrm>
            <a:off x="4593711" y="2778008"/>
            <a:ext cx="6627444" cy="37477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879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4"/>
          <p:cNvSpPr>
            <a:spLocks noGrp="1" noChangeArrowheads="1"/>
          </p:cNvSpPr>
          <p:nvPr>
            <p:ph type="title"/>
          </p:nvPr>
        </p:nvSpPr>
        <p:spPr/>
        <p:txBody>
          <a:bodyPr>
            <a:normAutofit fontScale="90000"/>
          </a:bodyPr>
          <a:lstStyle/>
          <a:p>
            <a:r>
              <a:rPr lang="en-GB" dirty="0">
                <a:latin typeface="Arial" charset="0"/>
              </a:rPr>
              <a:t>Technicalities to start from: Risk, Return, Risk free asset and Risk Premium</a:t>
            </a:r>
          </a:p>
        </p:txBody>
      </p:sp>
      <p:sp>
        <p:nvSpPr>
          <p:cNvPr id="2" name="Text Placeholder 1">
            <a:extLst>
              <a:ext uri="{FF2B5EF4-FFF2-40B4-BE49-F238E27FC236}">
                <a16:creationId xmlns:a16="http://schemas.microsoft.com/office/drawing/2014/main" id="{BEB3E6C8-190C-DFA6-049C-D31802BBBA27}"/>
              </a:ext>
            </a:extLst>
          </p:cNvPr>
          <p:cNvSpPr>
            <a:spLocks noGrp="1"/>
          </p:cNvSpPr>
          <p:nvPr>
            <p:ph type="body" sz="half" idx="2"/>
          </p:nvPr>
        </p:nvSpPr>
        <p:spPr/>
        <p:txBody>
          <a:bodyPr/>
          <a:lstStyle/>
          <a:p>
            <a:endParaRPr lang="en-US"/>
          </a:p>
        </p:txBody>
      </p:sp>
      <p:sp>
        <p:nvSpPr>
          <p:cNvPr id="3" name="Text Placeholder 2">
            <a:extLst>
              <a:ext uri="{FF2B5EF4-FFF2-40B4-BE49-F238E27FC236}">
                <a16:creationId xmlns:a16="http://schemas.microsoft.com/office/drawing/2014/main" id="{8C2B8E4A-CEC7-D137-B0C0-4B86F17841A1}"/>
              </a:ext>
            </a:extLst>
          </p:cNvPr>
          <p:cNvSpPr>
            <a:spLocks noGrp="1"/>
          </p:cNvSpPr>
          <p:nvPr>
            <p:ph type="body" sz="half" idx="10"/>
          </p:nvPr>
        </p:nvSpPr>
        <p:spPr/>
        <p:txBody>
          <a:bodyPr/>
          <a:lstStyle/>
          <a:p>
            <a:endParaRPr lang="en-US"/>
          </a:p>
        </p:txBody>
      </p:sp>
      <p:sp>
        <p:nvSpPr>
          <p:cNvPr id="949249" name="Slide Number Placeholder 5"/>
          <p:cNvSpPr>
            <a:spLocks noGrp="1"/>
          </p:cNvSpPr>
          <p:nvPr>
            <p:ph type="sldNum" sz="quarter" idx="4294967295"/>
          </p:nvPr>
        </p:nvSpPr>
        <p:spPr bwMode="auto">
          <a:xfrm>
            <a:off x="102870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itchFamily="18" charset="0"/>
                <a:ea typeface="+mn-ea"/>
                <a:cs typeface="+mn-cs"/>
              </a:defRPr>
            </a:lvl1pPr>
            <a:lvl2pPr marL="457200" algn="l" rtl="0" fontAlgn="base">
              <a:spcBef>
                <a:spcPct val="0"/>
              </a:spcBef>
              <a:spcAft>
                <a:spcPct val="0"/>
              </a:spcAft>
              <a:defRPr sz="5400" kern="1200">
                <a:solidFill>
                  <a:schemeClr val="tx1"/>
                </a:solidFill>
                <a:latin typeface="Times New Roman" pitchFamily="18" charset="0"/>
                <a:ea typeface="+mn-ea"/>
                <a:cs typeface="+mn-cs"/>
              </a:defRPr>
            </a:lvl2pPr>
            <a:lvl3pPr marL="914400" algn="l" rtl="0" fontAlgn="base">
              <a:spcBef>
                <a:spcPct val="0"/>
              </a:spcBef>
              <a:spcAft>
                <a:spcPct val="0"/>
              </a:spcAft>
              <a:defRPr sz="5400" kern="1200">
                <a:solidFill>
                  <a:schemeClr val="tx1"/>
                </a:solidFill>
                <a:latin typeface="Times New Roman" pitchFamily="18" charset="0"/>
                <a:ea typeface="+mn-ea"/>
                <a:cs typeface="+mn-cs"/>
              </a:defRPr>
            </a:lvl3pPr>
            <a:lvl4pPr marL="1371600" algn="l" rtl="0" fontAlgn="base">
              <a:spcBef>
                <a:spcPct val="0"/>
              </a:spcBef>
              <a:spcAft>
                <a:spcPct val="0"/>
              </a:spcAft>
              <a:defRPr sz="5400" kern="1200">
                <a:solidFill>
                  <a:schemeClr val="tx1"/>
                </a:solidFill>
                <a:latin typeface="Times New Roman" pitchFamily="18" charset="0"/>
                <a:ea typeface="+mn-ea"/>
                <a:cs typeface="+mn-cs"/>
              </a:defRPr>
            </a:lvl4pPr>
            <a:lvl5pPr marL="1828800" algn="l" rtl="0" fontAlgn="base">
              <a:spcBef>
                <a:spcPct val="0"/>
              </a:spcBef>
              <a:spcAft>
                <a:spcPct val="0"/>
              </a:spcAft>
              <a:defRPr sz="5400" kern="1200">
                <a:solidFill>
                  <a:schemeClr val="tx1"/>
                </a:solidFill>
                <a:latin typeface="Times New Roman" pitchFamily="18" charset="0"/>
                <a:ea typeface="+mn-ea"/>
                <a:cs typeface="+mn-cs"/>
              </a:defRPr>
            </a:lvl5pPr>
            <a:lvl6pPr marL="2286000" algn="l" defTabSz="914400" rtl="0" eaLnBrk="1" latinLnBrk="0" hangingPunct="1">
              <a:defRPr sz="5400" kern="1200">
                <a:solidFill>
                  <a:schemeClr val="tx1"/>
                </a:solidFill>
                <a:latin typeface="Times New Roman" pitchFamily="18" charset="0"/>
                <a:ea typeface="+mn-ea"/>
                <a:cs typeface="+mn-cs"/>
              </a:defRPr>
            </a:lvl6pPr>
            <a:lvl7pPr marL="2743200" algn="l" defTabSz="914400" rtl="0" eaLnBrk="1" latinLnBrk="0" hangingPunct="1">
              <a:defRPr sz="5400" kern="1200">
                <a:solidFill>
                  <a:schemeClr val="tx1"/>
                </a:solidFill>
                <a:latin typeface="Times New Roman" pitchFamily="18" charset="0"/>
                <a:ea typeface="+mn-ea"/>
                <a:cs typeface="+mn-cs"/>
              </a:defRPr>
            </a:lvl7pPr>
            <a:lvl8pPr marL="3200400" algn="l" defTabSz="914400" rtl="0" eaLnBrk="1" latinLnBrk="0" hangingPunct="1">
              <a:defRPr sz="5400" kern="1200">
                <a:solidFill>
                  <a:schemeClr val="tx1"/>
                </a:solidFill>
                <a:latin typeface="Times New Roman" pitchFamily="18" charset="0"/>
                <a:ea typeface="+mn-ea"/>
                <a:cs typeface="+mn-cs"/>
              </a:defRPr>
            </a:lvl8pPr>
            <a:lvl9pPr marL="3657600" algn="l" defTabSz="914400" rtl="0" eaLnBrk="1" latinLnBrk="0" hangingPunct="1">
              <a:defRPr sz="5400" kern="1200">
                <a:solidFill>
                  <a:schemeClr val="tx1"/>
                </a:solidFill>
                <a:latin typeface="Times New Roman" pitchFamily="18" charset="0"/>
                <a:ea typeface="+mn-ea"/>
                <a:cs typeface="+mn-cs"/>
              </a:defRPr>
            </a:lvl9pPr>
          </a:lstStyle>
          <a:p>
            <a:fld id="{1261675C-63BA-49A6-B15B-C629D61D3732}" type="slidenum">
              <a:rPr lang="en-GB" smtClean="0"/>
              <a:pPr>
                <a:defRPr/>
              </a:pPr>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2"/>
          <p:cNvSpPr>
            <a:spLocks noGrp="1" noChangeArrowheads="1"/>
          </p:cNvSpPr>
          <p:nvPr>
            <p:ph type="title"/>
          </p:nvPr>
        </p:nvSpPr>
        <p:spPr/>
        <p:txBody>
          <a:bodyPr/>
          <a:lstStyle/>
          <a:p>
            <a:r>
              <a:rPr lang="en-GB" sz="3600" dirty="0">
                <a:latin typeface="Arial" charset="0"/>
              </a:rPr>
              <a:t>Facts about risk and return</a:t>
            </a:r>
            <a:r>
              <a:rPr lang="en-GB" sz="3200" dirty="0"/>
              <a:t> </a:t>
            </a:r>
          </a:p>
        </p:txBody>
      </p:sp>
      <p:sp>
        <p:nvSpPr>
          <p:cNvPr id="950275" name="Rectangle 3"/>
          <p:cNvSpPr>
            <a:spLocks noGrp="1" noChangeArrowheads="1"/>
          </p:cNvSpPr>
          <p:nvPr>
            <p:ph type="body" idx="1"/>
          </p:nvPr>
        </p:nvSpPr>
        <p:spPr>
          <a:xfrm>
            <a:off x="437548" y="1368423"/>
            <a:ext cx="9544652" cy="2441561"/>
          </a:xfrm>
        </p:spPr>
        <p:txBody>
          <a:bodyPr/>
          <a:lstStyle/>
          <a:p>
            <a:r>
              <a:rPr lang="en-GB" sz="2400" dirty="0">
                <a:latin typeface="Arial" charset="0"/>
              </a:rPr>
              <a:t>Concepts defined from the perspective of investor not issuer.  </a:t>
            </a:r>
          </a:p>
          <a:p>
            <a:r>
              <a:rPr lang="en-GB" sz="2400" dirty="0">
                <a:latin typeface="Arial" charset="0"/>
              </a:rPr>
              <a:t>Assessment of risk and return represent the central issue for investment management</a:t>
            </a:r>
          </a:p>
          <a:p>
            <a:r>
              <a:rPr lang="en-GB" sz="2400" dirty="0">
                <a:latin typeface="Arial" charset="0"/>
              </a:rPr>
              <a:t>Investors are risk averse (like returns </a:t>
            </a:r>
            <a:r>
              <a:rPr lang="en-GB" sz="2400" b="1" dirty="0">
                <a:latin typeface="Arial" charset="0"/>
              </a:rPr>
              <a:t>and </a:t>
            </a:r>
            <a:r>
              <a:rPr lang="en-GB" sz="2400" dirty="0">
                <a:latin typeface="Arial" charset="0"/>
              </a:rPr>
              <a:t>dislike risk)</a:t>
            </a:r>
            <a:endParaRPr lang="en-GB" dirty="0">
              <a:latin typeface="Arial" charset="0"/>
            </a:endParaRPr>
          </a:p>
          <a:p>
            <a:endParaRPr lang="en-GB" dirty="0">
              <a:latin typeface="Arial" charset="0"/>
            </a:endParaRPr>
          </a:p>
        </p:txBody>
      </p:sp>
      <p:sp>
        <p:nvSpPr>
          <p:cNvPr id="950276" name="Line 4"/>
          <p:cNvSpPr>
            <a:spLocks noChangeShapeType="1"/>
          </p:cNvSpPr>
          <p:nvPr/>
        </p:nvSpPr>
        <p:spPr bwMode="auto">
          <a:xfrm flipH="1" flipV="1">
            <a:off x="1944375" y="3429000"/>
            <a:ext cx="0" cy="2544580"/>
          </a:xfrm>
          <a:prstGeom prst="line">
            <a:avLst/>
          </a:prstGeom>
          <a:noFill/>
          <a:ln w="12700">
            <a:solidFill>
              <a:schemeClr val="tx1"/>
            </a:solidFill>
            <a:round/>
            <a:headEnd/>
            <a:tailEnd type="triangle" w="med" len="med"/>
          </a:ln>
        </p:spPr>
        <p:txBody>
          <a:bodyPr wrap="none" anchor="ctr"/>
          <a:lstStyle/>
          <a:p>
            <a:endParaRPr lang="en-GB"/>
          </a:p>
        </p:txBody>
      </p:sp>
      <p:sp>
        <p:nvSpPr>
          <p:cNvPr id="950277" name="Line 5"/>
          <p:cNvSpPr>
            <a:spLocks noChangeShapeType="1"/>
          </p:cNvSpPr>
          <p:nvPr/>
        </p:nvSpPr>
        <p:spPr bwMode="auto">
          <a:xfrm>
            <a:off x="1944375" y="5954842"/>
            <a:ext cx="3505200" cy="0"/>
          </a:xfrm>
          <a:prstGeom prst="line">
            <a:avLst/>
          </a:prstGeom>
          <a:noFill/>
          <a:ln w="12700">
            <a:solidFill>
              <a:schemeClr val="tx1"/>
            </a:solidFill>
            <a:round/>
            <a:headEnd/>
            <a:tailEnd type="triangle" w="med" len="med"/>
          </a:ln>
        </p:spPr>
        <p:txBody>
          <a:bodyPr wrap="none" anchor="ctr"/>
          <a:lstStyle/>
          <a:p>
            <a:endParaRPr lang="en-GB"/>
          </a:p>
        </p:txBody>
      </p:sp>
      <p:sp>
        <p:nvSpPr>
          <p:cNvPr id="950278" name="Text Box 6"/>
          <p:cNvSpPr txBox="1">
            <a:spLocks noChangeArrowheads="1"/>
          </p:cNvSpPr>
          <p:nvPr/>
        </p:nvSpPr>
        <p:spPr bwMode="auto">
          <a:xfrm>
            <a:off x="768613" y="3348319"/>
            <a:ext cx="1132041" cy="461665"/>
          </a:xfrm>
          <a:prstGeom prst="rect">
            <a:avLst/>
          </a:prstGeom>
          <a:noFill/>
          <a:ln w="9525">
            <a:noFill/>
            <a:miter lim="800000"/>
            <a:headEnd/>
            <a:tailEnd/>
          </a:ln>
        </p:spPr>
        <p:txBody>
          <a:bodyPr wrap="none">
            <a:spAutoFit/>
          </a:bodyPr>
          <a:lstStyle/>
          <a:p>
            <a:pPr eaLnBrk="0" hangingPunct="0"/>
            <a:r>
              <a:rPr lang="en-GB" sz="2400" b="1" dirty="0"/>
              <a:t>Return</a:t>
            </a:r>
          </a:p>
        </p:txBody>
      </p:sp>
      <p:sp>
        <p:nvSpPr>
          <p:cNvPr id="950279" name="Text Box 7"/>
          <p:cNvSpPr txBox="1">
            <a:spLocks noChangeArrowheads="1"/>
          </p:cNvSpPr>
          <p:nvPr/>
        </p:nvSpPr>
        <p:spPr bwMode="auto">
          <a:xfrm>
            <a:off x="5157807" y="6102776"/>
            <a:ext cx="785793" cy="461665"/>
          </a:xfrm>
          <a:prstGeom prst="rect">
            <a:avLst/>
          </a:prstGeom>
          <a:noFill/>
          <a:ln w="9525">
            <a:noFill/>
            <a:miter lim="800000"/>
            <a:headEnd/>
            <a:tailEnd/>
          </a:ln>
        </p:spPr>
        <p:txBody>
          <a:bodyPr wrap="none">
            <a:spAutoFit/>
          </a:bodyPr>
          <a:lstStyle/>
          <a:p>
            <a:pPr eaLnBrk="0" hangingPunct="0"/>
            <a:r>
              <a:rPr lang="en-GB" sz="2400" b="1" dirty="0"/>
              <a:t>Risk</a:t>
            </a:r>
          </a:p>
        </p:txBody>
      </p:sp>
      <p:sp>
        <p:nvSpPr>
          <p:cNvPr id="950280" name="Line 8"/>
          <p:cNvSpPr>
            <a:spLocks noChangeShapeType="1"/>
          </p:cNvSpPr>
          <p:nvPr/>
        </p:nvSpPr>
        <p:spPr bwMode="auto">
          <a:xfrm>
            <a:off x="3696975" y="3901190"/>
            <a:ext cx="0" cy="1600200"/>
          </a:xfrm>
          <a:prstGeom prst="line">
            <a:avLst/>
          </a:prstGeom>
          <a:noFill/>
          <a:ln w="12700" cap="rnd">
            <a:solidFill>
              <a:schemeClr val="tx1"/>
            </a:solidFill>
            <a:prstDash val="sysDot"/>
            <a:round/>
            <a:headEnd/>
            <a:tailEnd/>
          </a:ln>
        </p:spPr>
        <p:txBody>
          <a:bodyPr wrap="none" anchor="ctr"/>
          <a:lstStyle/>
          <a:p>
            <a:endParaRPr lang="en-GB"/>
          </a:p>
        </p:txBody>
      </p:sp>
      <p:sp>
        <p:nvSpPr>
          <p:cNvPr id="950281" name="Line 9"/>
          <p:cNvSpPr>
            <a:spLocks noChangeShapeType="1"/>
          </p:cNvSpPr>
          <p:nvPr/>
        </p:nvSpPr>
        <p:spPr bwMode="auto">
          <a:xfrm>
            <a:off x="2191544" y="4701290"/>
            <a:ext cx="3124200" cy="0"/>
          </a:xfrm>
          <a:prstGeom prst="line">
            <a:avLst/>
          </a:prstGeom>
          <a:noFill/>
          <a:ln w="12700" cap="rnd">
            <a:solidFill>
              <a:schemeClr val="tx1"/>
            </a:solidFill>
            <a:prstDash val="sysDot"/>
            <a:round/>
            <a:headEnd/>
            <a:tailEnd/>
          </a:ln>
        </p:spPr>
        <p:txBody>
          <a:bodyPr wrap="none" anchor="ctr"/>
          <a:lstStyle/>
          <a:p>
            <a:endParaRPr lang="en-GB"/>
          </a:p>
        </p:txBody>
      </p:sp>
      <p:sp>
        <p:nvSpPr>
          <p:cNvPr id="950282" name="Oval 10"/>
          <p:cNvSpPr>
            <a:spLocks noChangeArrowheads="1"/>
          </p:cNvSpPr>
          <p:nvPr/>
        </p:nvSpPr>
        <p:spPr bwMode="auto">
          <a:xfrm>
            <a:off x="3620775" y="4644452"/>
            <a:ext cx="152400" cy="152400"/>
          </a:xfrm>
          <a:prstGeom prst="ellipse">
            <a:avLst/>
          </a:prstGeom>
          <a:solidFill>
            <a:schemeClr val="tx1"/>
          </a:solidFill>
          <a:ln w="12700">
            <a:solidFill>
              <a:schemeClr val="tx1"/>
            </a:solidFill>
            <a:round/>
            <a:headEnd/>
            <a:tailEnd/>
          </a:ln>
        </p:spPr>
        <p:txBody>
          <a:bodyPr wrap="none" anchor="ctr"/>
          <a:lstStyle/>
          <a:p>
            <a:pPr algn="ctr" eaLnBrk="0" hangingPunct="0"/>
            <a:endParaRPr lang="en-GB"/>
          </a:p>
        </p:txBody>
      </p:sp>
      <p:sp>
        <p:nvSpPr>
          <p:cNvPr id="950283" name="Text Box 11"/>
          <p:cNvSpPr txBox="1">
            <a:spLocks noChangeArrowheads="1"/>
          </p:cNvSpPr>
          <p:nvPr/>
        </p:nvSpPr>
        <p:spPr bwMode="auto">
          <a:xfrm>
            <a:off x="4193707" y="4049843"/>
            <a:ext cx="573087" cy="457200"/>
          </a:xfrm>
          <a:prstGeom prst="rect">
            <a:avLst/>
          </a:prstGeom>
          <a:noFill/>
          <a:ln w="9525">
            <a:noFill/>
            <a:miter lim="800000"/>
            <a:headEnd/>
            <a:tailEnd/>
          </a:ln>
        </p:spPr>
        <p:txBody>
          <a:bodyPr wrap="none">
            <a:spAutoFit/>
          </a:bodyPr>
          <a:lstStyle/>
          <a:p>
            <a:pPr eaLnBrk="0" hangingPunct="0"/>
            <a:r>
              <a:rPr lang="en-GB" sz="2400" b="1" dirty="0"/>
              <a:t>Q1</a:t>
            </a:r>
          </a:p>
        </p:txBody>
      </p:sp>
      <p:sp>
        <p:nvSpPr>
          <p:cNvPr id="950284" name="Text Box 12"/>
          <p:cNvSpPr txBox="1">
            <a:spLocks noChangeArrowheads="1"/>
          </p:cNvSpPr>
          <p:nvPr/>
        </p:nvSpPr>
        <p:spPr bwMode="auto">
          <a:xfrm>
            <a:off x="4193707" y="4988047"/>
            <a:ext cx="573087" cy="457200"/>
          </a:xfrm>
          <a:prstGeom prst="rect">
            <a:avLst/>
          </a:prstGeom>
          <a:noFill/>
          <a:ln w="9525">
            <a:noFill/>
            <a:miter lim="800000"/>
            <a:headEnd/>
            <a:tailEnd/>
          </a:ln>
        </p:spPr>
        <p:txBody>
          <a:bodyPr wrap="none">
            <a:spAutoFit/>
          </a:bodyPr>
          <a:lstStyle/>
          <a:p>
            <a:pPr eaLnBrk="0" hangingPunct="0"/>
            <a:r>
              <a:rPr lang="en-GB" sz="2400" b="1" dirty="0"/>
              <a:t>Q2</a:t>
            </a:r>
          </a:p>
        </p:txBody>
      </p:sp>
      <p:sp>
        <p:nvSpPr>
          <p:cNvPr id="950285" name="Text Box 13"/>
          <p:cNvSpPr txBox="1">
            <a:spLocks noChangeArrowheads="1"/>
          </p:cNvSpPr>
          <p:nvPr/>
        </p:nvSpPr>
        <p:spPr bwMode="auto">
          <a:xfrm>
            <a:off x="2589929" y="5001147"/>
            <a:ext cx="647541" cy="457200"/>
          </a:xfrm>
          <a:prstGeom prst="rect">
            <a:avLst/>
          </a:prstGeom>
          <a:noFill/>
          <a:ln w="9525">
            <a:noFill/>
            <a:miter lim="800000"/>
            <a:headEnd/>
            <a:tailEnd/>
          </a:ln>
        </p:spPr>
        <p:txBody>
          <a:bodyPr wrap="square">
            <a:spAutoFit/>
          </a:bodyPr>
          <a:lstStyle/>
          <a:p>
            <a:pPr eaLnBrk="0" hangingPunct="0"/>
            <a:r>
              <a:rPr lang="en-GB" sz="2400" b="1" dirty="0"/>
              <a:t>Q3</a:t>
            </a:r>
          </a:p>
        </p:txBody>
      </p:sp>
      <p:sp>
        <p:nvSpPr>
          <p:cNvPr id="950286" name="Text Box 14"/>
          <p:cNvSpPr txBox="1">
            <a:spLocks noChangeArrowheads="1"/>
          </p:cNvSpPr>
          <p:nvPr/>
        </p:nvSpPr>
        <p:spPr bwMode="auto">
          <a:xfrm>
            <a:off x="2627156" y="3974892"/>
            <a:ext cx="573088" cy="457200"/>
          </a:xfrm>
          <a:prstGeom prst="rect">
            <a:avLst/>
          </a:prstGeom>
          <a:noFill/>
          <a:ln w="9525">
            <a:noFill/>
            <a:miter lim="800000"/>
            <a:headEnd/>
            <a:tailEnd/>
          </a:ln>
        </p:spPr>
        <p:txBody>
          <a:bodyPr wrap="square">
            <a:spAutoFit/>
          </a:bodyPr>
          <a:lstStyle/>
          <a:p>
            <a:pPr eaLnBrk="0" hangingPunct="0"/>
            <a:r>
              <a:rPr lang="en-GB" sz="2400" b="1" dirty="0"/>
              <a:t>Q4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3" name="Slide Number Placeholder 5"/>
          <p:cNvSpPr>
            <a:spLocks noGrp="1"/>
          </p:cNvSpPr>
          <p:nvPr>
            <p:ph type="sldNum" sz="quarter" idx="12"/>
          </p:nvPr>
        </p:nvSpPr>
        <p:spPr>
          <a:xfrm>
            <a:off x="8610600" y="6356350"/>
            <a:ext cx="2743200" cy="365125"/>
          </a:xfrm>
          <a:prstGeom prst="rect">
            <a:avLst/>
          </a:prstGeom>
          <a:noFill/>
          <a:ln>
            <a:miter lim="800000"/>
            <a:headEnd/>
            <a:tailEnd/>
          </a:ln>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9E8932-FF03-624E-B54D-7E141950C704}" type="slidenum">
              <a:rPr lang="en-US" smtClean="0"/>
              <a:pPr/>
              <a:t>33</a:t>
            </a:fld>
            <a:endParaRPr lang="en-GB"/>
          </a:p>
        </p:txBody>
      </p:sp>
      <p:sp>
        <p:nvSpPr>
          <p:cNvPr id="1006594" name="Rectangle 2"/>
          <p:cNvSpPr>
            <a:spLocks noGrp="1" noChangeArrowheads="1"/>
          </p:cNvSpPr>
          <p:nvPr>
            <p:ph type="title"/>
          </p:nvPr>
        </p:nvSpPr>
        <p:spPr>
          <a:xfrm>
            <a:off x="273205" y="136525"/>
            <a:ext cx="9023195" cy="1081088"/>
          </a:xfrm>
        </p:spPr>
        <p:txBody>
          <a:bodyPr/>
          <a:lstStyle/>
          <a:p>
            <a:r>
              <a:rPr lang="en-US" sz="3200" dirty="0"/>
              <a:t>Converting Prices into Rate of Returns</a:t>
            </a:r>
          </a:p>
        </p:txBody>
      </p:sp>
      <mc:AlternateContent xmlns:mc="http://schemas.openxmlformats.org/markup-compatibility/2006" xmlns:a14="http://schemas.microsoft.com/office/drawing/2010/main">
        <mc:Choice Requires="a14">
          <p:sp>
            <p:nvSpPr>
              <p:cNvPr id="1006595" name="Rectangle 3"/>
              <p:cNvSpPr>
                <a:spLocks noGrp="1" noChangeArrowheads="1"/>
              </p:cNvSpPr>
              <p:nvPr>
                <p:ph type="body" idx="1"/>
              </p:nvPr>
            </p:nvSpPr>
            <p:spPr>
              <a:xfrm>
                <a:off x="273205" y="1420813"/>
                <a:ext cx="11168225" cy="5300662"/>
              </a:xfrm>
            </p:spPr>
            <p:txBody>
              <a:bodyPr anchor="t">
                <a:noAutofit/>
              </a:bodyPr>
              <a:lstStyle/>
              <a:p>
                <a:pPr>
                  <a:lnSpc>
                    <a:spcPct val="120000"/>
                  </a:lnSpc>
                </a:pPr>
                <a:r>
                  <a:rPr lang="en-US" sz="2000" dirty="0"/>
                  <a:t>Financial data is usually reported as prices (Bloomberg, Eikon….) </a:t>
                </a:r>
              </a:p>
              <a:p>
                <a:pPr>
                  <a:lnSpc>
                    <a:spcPct val="120000"/>
                  </a:lnSpc>
                </a:pPr>
                <a:r>
                  <a:rPr lang="en-US" sz="2000" dirty="0"/>
                  <a:t>For statistical analysis and comparison of different investments - convert prices into returns </a:t>
                </a:r>
              </a:p>
              <a:p>
                <a:pPr>
                  <a:lnSpc>
                    <a:spcPct val="120000"/>
                  </a:lnSpc>
                </a:pPr>
                <a:r>
                  <a:rPr lang="en-US" sz="2000" dirty="0"/>
                  <a:t>Compare two shares with the following share prices: </a:t>
                </a:r>
              </a:p>
              <a:p>
                <a:pPr lvl="2">
                  <a:lnSpc>
                    <a:spcPct val="120000"/>
                  </a:lnSpc>
                </a:pPr>
                <a:r>
                  <a:rPr lang="en-US" sz="1600" dirty="0"/>
                  <a:t>ABC share price P = £1.10</a:t>
                </a:r>
              </a:p>
              <a:p>
                <a:pPr lvl="2">
                  <a:lnSpc>
                    <a:spcPct val="120000"/>
                  </a:lnSpc>
                </a:pPr>
                <a:r>
                  <a:rPr lang="en-US" sz="1600" dirty="0"/>
                  <a:t>XYZ share price P = £4.35</a:t>
                </a:r>
              </a:p>
              <a:p>
                <a:pPr lvl="2">
                  <a:lnSpc>
                    <a:spcPct val="120000"/>
                  </a:lnSpc>
                </a:pPr>
                <a:r>
                  <a:rPr lang="en-US" sz="1600" dirty="0"/>
                  <a:t>Difficult to compare as they are measured in different ‘units’ (different base) </a:t>
                </a:r>
                <a:r>
                  <a:rPr lang="en-US" sz="2000" dirty="0"/>
                  <a:t> </a:t>
                </a:r>
              </a:p>
              <a:p>
                <a:pPr>
                  <a:lnSpc>
                    <a:spcPct val="120000"/>
                  </a:lnSpc>
                </a:pPr>
                <a:r>
                  <a:rPr lang="en-US" sz="2000" dirty="0"/>
                  <a:t>So, we convert prices into </a:t>
                </a:r>
                <a:r>
                  <a:rPr lang="en-US" sz="2000" dirty="0">
                    <a:sym typeface="Symbol" pitchFamily="18" charset="2"/>
                  </a:rPr>
                  <a:t>returns by using one of these:</a:t>
                </a:r>
                <a:endParaRPr lang="en-US" sz="2000" dirty="0">
                  <a:solidFill>
                    <a:srgbClr val="0070C0"/>
                  </a:solidFill>
                  <a:sym typeface="Symbol" pitchFamily="18" charset="2"/>
                </a:endParaRPr>
              </a:p>
              <a:p>
                <a:pPr marL="0" indent="0">
                  <a:lnSpc>
                    <a:spcPct val="100000"/>
                  </a:lnSpc>
                  <a:buNone/>
                </a:pPr>
                <a:r>
                  <a:rPr lang="en-US" sz="2000" dirty="0">
                    <a:solidFill>
                      <a:srgbClr val="0070C0"/>
                    </a:solidFill>
                  </a:rPr>
                  <a:t>Arithmetic (Simple) Rate of Return:	</a:t>
                </a:r>
                <a14:m>
                  <m:oMath xmlns:m="http://schemas.openxmlformats.org/officeDocument/2006/math">
                    <m:r>
                      <a:rPr lang="en-US" sz="2400" i="1" dirty="0">
                        <a:latin typeface="Cambria Math" panose="02040503050406030204" pitchFamily="18" charset="0"/>
                      </a:rPr>
                      <m:t>𝑅</m:t>
                    </m:r>
                    <m:r>
                      <a:rPr lang="en-US" sz="2400" i="1" baseline="-25000" dirty="0" smtClean="0">
                        <a:latin typeface="Cambria Math" panose="02040503050406030204" pitchFamily="18" charset="0"/>
                      </a:rPr>
                      <m:t>𝑡</m:t>
                    </m:r>
                    <m:r>
                      <a:rPr lang="en-US" sz="2400" i="1" dirty="0" smtClean="0">
                        <a:latin typeface="Cambria Math" panose="02040503050406030204" pitchFamily="18" charset="0"/>
                      </a:rPr>
                      <m:t> </m:t>
                    </m:r>
                    <m:r>
                      <a:rPr lang="en-US" sz="2400" i="1" dirty="0">
                        <a:latin typeface="Cambria Math" panose="02040503050406030204" pitchFamily="18" charset="0"/>
                      </a:rPr>
                      <m:t>= </m:t>
                    </m:r>
                    <m:f>
                      <m:fPr>
                        <m:ctrlPr>
                          <a:rPr lang="en-US" sz="2400" i="1" dirty="0">
                            <a:latin typeface="Cambria Math" panose="02040503050406030204" pitchFamily="18" charset="0"/>
                          </a:rPr>
                        </m:ctrlPr>
                      </m:fPr>
                      <m:num>
                        <m:r>
                          <a:rPr lang="en-US" sz="2400" i="1" dirty="0">
                            <a:latin typeface="Cambria Math" panose="02040503050406030204" pitchFamily="18" charset="0"/>
                          </a:rPr>
                          <m:t>𝑃</m:t>
                        </m:r>
                        <m:r>
                          <a:rPr lang="en-US" sz="2400" i="1" baseline="-25000" dirty="0">
                            <a:latin typeface="Cambria Math" panose="02040503050406030204" pitchFamily="18" charset="0"/>
                          </a:rPr>
                          <m:t>𝑡</m:t>
                        </m:r>
                        <m:r>
                          <a:rPr lang="en-US" sz="2400" i="1" dirty="0">
                            <a:latin typeface="Cambria Math" panose="02040503050406030204" pitchFamily="18" charset="0"/>
                          </a:rPr>
                          <m:t> + </m:t>
                        </m:r>
                        <m:sSub>
                          <m:sSubPr>
                            <m:ctrlPr>
                              <a:rPr lang="en-GB" sz="2400" i="1" dirty="0">
                                <a:latin typeface="Cambria Math" panose="02040503050406030204" pitchFamily="18" charset="0"/>
                              </a:rPr>
                            </m:ctrlPr>
                          </m:sSubPr>
                          <m:e>
                            <m:r>
                              <a:rPr lang="en-GB" sz="2400" i="1" dirty="0">
                                <a:latin typeface="Cambria Math" panose="02040503050406030204" pitchFamily="18" charset="0"/>
                              </a:rPr>
                              <m:t>𝐷</m:t>
                            </m:r>
                          </m:e>
                          <m:sub>
                            <m:r>
                              <a:rPr lang="en-GB" sz="2400" i="1" dirty="0">
                                <a:latin typeface="Cambria Math" panose="02040503050406030204" pitchFamily="18" charset="0"/>
                              </a:rPr>
                              <m:t>𝑡</m:t>
                            </m:r>
                          </m:sub>
                        </m:sSub>
                        <m:r>
                          <a:rPr lang="en-GB" sz="2400" i="1" dirty="0">
                            <a:latin typeface="Cambria Math" panose="02040503050406030204" pitchFamily="18" charset="0"/>
                          </a:rPr>
                          <m:t>−</m:t>
                        </m:r>
                        <m:sSub>
                          <m:sSubPr>
                            <m:ctrlPr>
                              <a:rPr lang="en-GB" sz="2400" i="1" dirty="0">
                                <a:latin typeface="Cambria Math" panose="02040503050406030204" pitchFamily="18" charset="0"/>
                              </a:rPr>
                            </m:ctrlPr>
                          </m:sSubPr>
                          <m:e>
                            <m:r>
                              <a:rPr lang="en-GB" sz="2400" i="1" dirty="0">
                                <a:latin typeface="Cambria Math" panose="02040503050406030204" pitchFamily="18" charset="0"/>
                              </a:rPr>
                              <m:t>𝑃</m:t>
                            </m:r>
                          </m:e>
                          <m:sub>
                            <m:r>
                              <a:rPr lang="en-GB" sz="2400" i="1" dirty="0">
                                <a:latin typeface="Cambria Math" panose="02040503050406030204" pitchFamily="18" charset="0"/>
                              </a:rPr>
                              <m:t>𝑡</m:t>
                            </m:r>
                            <m:r>
                              <a:rPr lang="en-GB" sz="2400" i="1" dirty="0">
                                <a:latin typeface="Cambria Math" panose="02040503050406030204" pitchFamily="18" charset="0"/>
                              </a:rPr>
                              <m:t>−1</m:t>
                            </m:r>
                          </m:sub>
                        </m:sSub>
                      </m:num>
                      <m:den>
                        <m:sSub>
                          <m:sSubPr>
                            <m:ctrlPr>
                              <a:rPr lang="en-GB" sz="2400" i="1" dirty="0">
                                <a:latin typeface="Cambria Math" panose="02040503050406030204" pitchFamily="18" charset="0"/>
                              </a:rPr>
                            </m:ctrlPr>
                          </m:sSubPr>
                          <m:e>
                            <m:r>
                              <a:rPr lang="en-GB" sz="2400" i="1" dirty="0">
                                <a:latin typeface="Cambria Math" panose="02040503050406030204" pitchFamily="18" charset="0"/>
                              </a:rPr>
                              <m:t>𝑃</m:t>
                            </m:r>
                          </m:e>
                          <m:sub>
                            <m:r>
                              <a:rPr lang="en-GB" sz="2400" i="1" dirty="0">
                                <a:latin typeface="Cambria Math" panose="02040503050406030204" pitchFamily="18" charset="0"/>
                              </a:rPr>
                              <m:t>𝑡</m:t>
                            </m:r>
                            <m:r>
                              <a:rPr lang="en-GB" sz="2400" i="1" dirty="0">
                                <a:latin typeface="Cambria Math" panose="02040503050406030204" pitchFamily="18" charset="0"/>
                              </a:rPr>
                              <m:t>−1</m:t>
                            </m:r>
                          </m:sub>
                        </m:sSub>
                      </m:den>
                    </m:f>
                    <m:r>
                      <a:rPr lang="en-US" sz="2400" i="1" baseline="-25000" dirty="0">
                        <a:latin typeface="Cambria Math" panose="02040503050406030204" pitchFamily="18" charset="0"/>
                      </a:rPr>
                      <m:t>	</m:t>
                    </m:r>
                  </m:oMath>
                </a14:m>
                <a:r>
                  <a:rPr lang="en-US" sz="2400" baseline="-25000" dirty="0"/>
                  <a:t>	</a:t>
                </a:r>
                <a:endParaRPr lang="en-US" sz="2000" dirty="0">
                  <a:solidFill>
                    <a:srgbClr val="0070C0"/>
                  </a:solidFill>
                </a:endParaRPr>
              </a:p>
              <a:p>
                <a:pPr marL="0" indent="0">
                  <a:lnSpc>
                    <a:spcPct val="100000"/>
                  </a:lnSpc>
                  <a:buNone/>
                </a:pPr>
                <a:r>
                  <a:rPr lang="en-US" sz="2000" dirty="0">
                    <a:solidFill>
                      <a:srgbClr val="0070C0"/>
                    </a:solidFill>
                  </a:rPr>
                  <a:t>Geometric (Continuously Compounded) Rate of Return</a:t>
                </a:r>
                <a:r>
                  <a:rPr lang="en-US" sz="2000" dirty="0"/>
                  <a:t>:    </a:t>
                </a:r>
                <a14:m>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𝑅</m:t>
                        </m:r>
                      </m:e>
                      <m:sub>
                        <m:r>
                          <a:rPr lang="en-GB" sz="2400" b="0" i="1" dirty="0" smtClean="0">
                            <a:latin typeface="Cambria Math" panose="02040503050406030204" pitchFamily="18" charset="0"/>
                          </a:rPr>
                          <m:t>𝑡</m:t>
                        </m:r>
                      </m:sub>
                    </m:sSub>
                    <m:r>
                      <a:rPr lang="en-US" sz="2400" i="1" dirty="0">
                        <a:latin typeface="Cambria Math" panose="02040503050406030204" pitchFamily="18" charset="0"/>
                      </a:rPr>
                      <m:t>= </m:t>
                    </m:r>
                    <m:f>
                      <m:fPr>
                        <m:ctrlPr>
                          <a:rPr lang="en-GB" sz="2400" b="0" i="1" dirty="0" smtClean="0">
                            <a:latin typeface="Cambria Math" panose="02040503050406030204" pitchFamily="18" charset="0"/>
                          </a:rPr>
                        </m:ctrlPr>
                      </m:fPr>
                      <m:num>
                        <m:r>
                          <m:rPr>
                            <m:sty m:val="p"/>
                          </m:rPr>
                          <a:rPr lang="en-GB" sz="2400" b="0" i="0" dirty="0" smtClean="0">
                            <a:latin typeface="Cambria Math" panose="02040503050406030204" pitchFamily="18" charset="0"/>
                          </a:rPr>
                          <m:t>ln</m:t>
                        </m:r>
                        <m:r>
                          <a:rPr lang="en-GB" sz="2400" b="0" i="1" dirty="0" smtClean="0">
                            <a:latin typeface="Cambria Math" panose="02040503050406030204" pitchFamily="18" charset="0"/>
                          </a:rPr>
                          <m:t>⁡(</m:t>
                        </m:r>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𝑃</m:t>
                            </m:r>
                          </m:e>
                          <m:sub>
                            <m:r>
                              <a:rPr lang="en-GB" sz="2400" b="0" i="1" dirty="0" smtClean="0">
                                <a:latin typeface="Cambria Math" panose="02040503050406030204" pitchFamily="18" charset="0"/>
                              </a:rPr>
                              <m:t>𝑡</m:t>
                            </m:r>
                          </m:sub>
                        </m:sSub>
                        <m:r>
                          <a:rPr lang="en-US" sz="2400" i="1" dirty="0">
                            <a:latin typeface="Cambria Math" panose="02040503050406030204" pitchFamily="18" charset="0"/>
                          </a:rPr>
                          <m:t>+ </m:t>
                        </m:r>
                        <m:sSub>
                          <m:sSubPr>
                            <m:ctrlPr>
                              <a:rPr lang="en-GB" sz="2400" i="1" dirty="0">
                                <a:latin typeface="Cambria Math" panose="02040503050406030204" pitchFamily="18" charset="0"/>
                              </a:rPr>
                            </m:ctrlPr>
                          </m:sSubPr>
                          <m:e>
                            <m:r>
                              <a:rPr lang="en-GB" sz="2400" i="1" dirty="0">
                                <a:latin typeface="Cambria Math" panose="02040503050406030204" pitchFamily="18" charset="0"/>
                              </a:rPr>
                              <m:t>𝐷</m:t>
                            </m:r>
                          </m:e>
                          <m:sub>
                            <m:r>
                              <a:rPr lang="en-GB" sz="2400" i="1" dirty="0">
                                <a:latin typeface="Cambria Math" panose="02040503050406030204" pitchFamily="18" charset="0"/>
                              </a:rPr>
                              <m:t>𝑡</m:t>
                            </m:r>
                          </m:sub>
                        </m:sSub>
                        <m:r>
                          <a:rPr lang="en-GB" sz="2400" b="0" i="1" dirty="0" smtClean="0">
                            <a:latin typeface="Cambria Math" panose="02040503050406030204" pitchFamily="18" charset="0"/>
                          </a:rPr>
                          <m:t>)</m:t>
                        </m:r>
                      </m:num>
                      <m:den>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𝑃</m:t>
                            </m:r>
                          </m:e>
                          <m:sub>
                            <m:r>
                              <a:rPr lang="en-GB" sz="2400" b="0" i="1" dirty="0" smtClean="0">
                                <a:latin typeface="Cambria Math" panose="02040503050406030204" pitchFamily="18" charset="0"/>
                              </a:rPr>
                              <m:t>𝑡</m:t>
                            </m:r>
                            <m:r>
                              <a:rPr lang="en-GB" sz="2400" b="0" i="1" dirty="0" smtClean="0">
                                <a:latin typeface="Cambria Math" panose="02040503050406030204" pitchFamily="18" charset="0"/>
                              </a:rPr>
                              <m:t>−1</m:t>
                            </m:r>
                          </m:sub>
                        </m:sSub>
                      </m:den>
                    </m:f>
                  </m:oMath>
                </a14:m>
                <a:r>
                  <a:rPr lang="en-US" sz="2000" dirty="0"/>
                  <a:t>						</a:t>
                </a:r>
              </a:p>
            </p:txBody>
          </p:sp>
        </mc:Choice>
        <mc:Fallback xmlns="">
          <p:sp>
            <p:nvSpPr>
              <p:cNvPr id="1006595" name="Rectangle 3"/>
              <p:cNvSpPr>
                <a:spLocks noGrp="1" noRot="1" noChangeAspect="1" noMove="1" noResize="1" noEditPoints="1" noAdjustHandles="1" noChangeArrowheads="1" noChangeShapeType="1" noTextEdit="1"/>
              </p:cNvSpPr>
              <p:nvPr>
                <p:ph type="body" idx="1"/>
              </p:nvPr>
            </p:nvSpPr>
            <p:spPr>
              <a:xfrm>
                <a:off x="273205" y="1420813"/>
                <a:ext cx="11168225" cy="5300662"/>
              </a:xfrm>
              <a:blipFill>
                <a:blip r:embed="rId3"/>
                <a:stretch>
                  <a:fillRect l="-568"/>
                </a:stretch>
              </a:blipFill>
            </p:spPr>
            <p:txBody>
              <a:bodyPr/>
              <a:lstStyle/>
              <a:p>
                <a:r>
                  <a:rPr lang="en-US">
                    <a:noFill/>
                  </a:rPr>
                  <a:t> </a:t>
                </a:r>
              </a:p>
            </p:txBody>
          </p:sp>
        </mc:Fallback>
      </mc:AlternateContent>
    </p:spTree>
    <p:extLst>
      <p:ext uri="{BB962C8B-B14F-4D97-AF65-F5344CB8AC3E}">
        <p14:creationId xmlns:p14="http://schemas.microsoft.com/office/powerpoint/2010/main" val="116033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1" name="Slide Number Placeholder 5"/>
          <p:cNvSpPr>
            <a:spLocks noGrp="1"/>
          </p:cNvSpPr>
          <p:nvPr>
            <p:ph type="sldNum" sz="quarter" idx="12"/>
          </p:nvPr>
        </p:nvSpPr>
        <p:spPr>
          <a:xfrm>
            <a:off x="8610600" y="6356350"/>
            <a:ext cx="2743200" cy="365125"/>
          </a:xfrm>
          <a:prstGeom prst="rect">
            <a:avLst/>
          </a:prstGeom>
          <a:noFill/>
          <a:ln>
            <a:miter lim="800000"/>
            <a:headEnd/>
            <a:tailEnd/>
          </a:ln>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9E8932-FF03-624E-B54D-7E141950C704}" type="slidenum">
              <a:rPr lang="en-US" smtClean="0"/>
              <a:pPr/>
              <a:t>34</a:t>
            </a:fld>
            <a:endParaRPr lang="en-GB"/>
          </a:p>
        </p:txBody>
      </p:sp>
      <p:sp>
        <p:nvSpPr>
          <p:cNvPr id="1008642" name="Rectangle 2"/>
          <p:cNvSpPr>
            <a:spLocks noGrp="1" noChangeArrowheads="1"/>
          </p:cNvSpPr>
          <p:nvPr>
            <p:ph type="title"/>
          </p:nvPr>
        </p:nvSpPr>
        <p:spPr>
          <a:xfrm>
            <a:off x="437548" y="-34925"/>
            <a:ext cx="9000893" cy="1419225"/>
          </a:xfrm>
        </p:spPr>
        <p:txBody>
          <a:bodyPr/>
          <a:lstStyle/>
          <a:p>
            <a:r>
              <a:rPr lang="en-GB" sz="3600" dirty="0"/>
              <a:t>Converting Prices into Returns - Example</a:t>
            </a:r>
          </a:p>
        </p:txBody>
      </p:sp>
      <p:sp>
        <p:nvSpPr>
          <p:cNvPr id="1008643" name="Rectangle 3"/>
          <p:cNvSpPr>
            <a:spLocks noGrp="1" noChangeArrowheads="1"/>
          </p:cNvSpPr>
          <p:nvPr>
            <p:ph type="body" idx="1"/>
          </p:nvPr>
        </p:nvSpPr>
        <p:spPr>
          <a:xfrm>
            <a:off x="437548" y="1214566"/>
            <a:ext cx="9324290" cy="5141784"/>
          </a:xfrm>
        </p:spPr>
        <p:txBody>
          <a:bodyPr/>
          <a:lstStyle/>
          <a:p>
            <a:pPr algn="just">
              <a:lnSpc>
                <a:spcPct val="150000"/>
              </a:lnSpc>
            </a:pPr>
            <a:r>
              <a:rPr lang="en-GB" sz="2000" dirty="0"/>
              <a:t>Suppose that stock ABC had the following end-of-month prices:</a:t>
            </a:r>
          </a:p>
          <a:p>
            <a:pPr algn="just">
              <a:lnSpc>
                <a:spcPct val="150000"/>
              </a:lnSpc>
              <a:buFontTx/>
              <a:buNone/>
            </a:pPr>
            <a:r>
              <a:rPr lang="en-GB" sz="2000" dirty="0"/>
              <a:t>	245p on 31st August </a:t>
            </a:r>
          </a:p>
          <a:p>
            <a:pPr algn="just">
              <a:lnSpc>
                <a:spcPct val="150000"/>
              </a:lnSpc>
              <a:buFontTx/>
              <a:buNone/>
            </a:pPr>
            <a:r>
              <a:rPr lang="en-GB" sz="2000" dirty="0"/>
              <a:t>	256p on 30</a:t>
            </a:r>
            <a:r>
              <a:rPr lang="en-GB" sz="2000" baseline="30000" dirty="0"/>
              <a:t>th</a:t>
            </a:r>
            <a:r>
              <a:rPr lang="en-GB" sz="2000" dirty="0"/>
              <a:t> September </a:t>
            </a:r>
          </a:p>
          <a:p>
            <a:pPr algn="just">
              <a:lnSpc>
                <a:spcPct val="150000"/>
              </a:lnSpc>
              <a:buFontTx/>
              <a:buNone/>
            </a:pPr>
            <a:r>
              <a:rPr lang="en-GB" sz="2000" dirty="0"/>
              <a:t>	Anticipated dividend for the year is 10p, therefore on a monthly basis it will be 10p/12=0.83333p</a:t>
            </a:r>
          </a:p>
          <a:p>
            <a:pPr algn="just">
              <a:lnSpc>
                <a:spcPct val="150000"/>
              </a:lnSpc>
            </a:pPr>
            <a:r>
              <a:rPr lang="en-GB" sz="2000" dirty="0"/>
              <a:t>The arithmetic monthly rate of return of this stock is:</a:t>
            </a:r>
          </a:p>
          <a:p>
            <a:pPr algn="just">
              <a:lnSpc>
                <a:spcPct val="150000"/>
              </a:lnSpc>
              <a:buFontTx/>
              <a:buNone/>
            </a:pPr>
            <a:r>
              <a:rPr lang="en-GB" sz="2000" dirty="0"/>
              <a:t>	 </a:t>
            </a:r>
            <a:r>
              <a:rPr lang="en-US" sz="2000" dirty="0" err="1"/>
              <a:t>R</a:t>
            </a:r>
            <a:r>
              <a:rPr lang="en-US" sz="2000" baseline="-25000" dirty="0" err="1"/>
              <a:t>t</a:t>
            </a:r>
            <a:r>
              <a:rPr lang="en-US" sz="2000" dirty="0"/>
              <a:t> = (256 + 0.833 – 245)/245 = 0.048 = 4.8%</a:t>
            </a:r>
          </a:p>
          <a:p>
            <a:pPr algn="just">
              <a:lnSpc>
                <a:spcPct val="150000"/>
              </a:lnSpc>
            </a:pPr>
            <a:r>
              <a:rPr lang="en-GB" sz="2000" dirty="0"/>
              <a:t>The geometric monthly rate of return of this stock is:</a:t>
            </a:r>
          </a:p>
          <a:p>
            <a:pPr algn="just">
              <a:lnSpc>
                <a:spcPct val="150000"/>
              </a:lnSpc>
              <a:buFontTx/>
              <a:buNone/>
            </a:pPr>
            <a:r>
              <a:rPr lang="en-GB" sz="2000" dirty="0"/>
              <a:t>	 </a:t>
            </a:r>
            <a:r>
              <a:rPr lang="en-US" sz="2000" dirty="0" err="1"/>
              <a:t>R</a:t>
            </a:r>
            <a:r>
              <a:rPr lang="en-US" sz="2000" baseline="-25000" dirty="0" err="1"/>
              <a:t>t</a:t>
            </a:r>
            <a:r>
              <a:rPr lang="en-US" sz="2000" dirty="0"/>
              <a:t> = </a:t>
            </a:r>
            <a:r>
              <a:rPr lang="en-US" sz="2000" dirty="0" err="1"/>
              <a:t>ln</a:t>
            </a:r>
            <a:r>
              <a:rPr lang="en-US" sz="2000" dirty="0"/>
              <a:t> [(256 + 0.833)/ 245] =0.047 = 4.7%</a:t>
            </a:r>
            <a:endParaRPr lang="en-GB" sz="2000" dirty="0"/>
          </a:p>
        </p:txBody>
      </p:sp>
    </p:spTree>
    <p:extLst>
      <p:ext uri="{BB962C8B-B14F-4D97-AF65-F5344CB8AC3E}">
        <p14:creationId xmlns:p14="http://schemas.microsoft.com/office/powerpoint/2010/main" val="5721224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5" name="Slide Number Placeholder 5"/>
          <p:cNvSpPr>
            <a:spLocks noGrp="1"/>
          </p:cNvSpPr>
          <p:nvPr>
            <p:ph type="sldNum" sz="quarter" idx="12"/>
          </p:nvPr>
        </p:nvSpPr>
        <p:spPr>
          <a:xfrm>
            <a:off x="8610600" y="6356350"/>
            <a:ext cx="2743200" cy="365125"/>
          </a:xfrm>
          <a:prstGeom prst="rect">
            <a:avLst/>
          </a:prstGeom>
          <a:noFill/>
          <a:ln>
            <a:miter lim="800000"/>
            <a:headEnd/>
            <a:tailEnd/>
          </a:ln>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9E8932-FF03-624E-B54D-7E141950C704}" type="slidenum">
              <a:rPr lang="en-US" smtClean="0"/>
              <a:pPr/>
              <a:t>35</a:t>
            </a:fld>
            <a:endParaRPr lang="en-GB"/>
          </a:p>
        </p:txBody>
      </p:sp>
      <p:sp>
        <p:nvSpPr>
          <p:cNvPr id="1009666" name="Rectangle 2"/>
          <p:cNvSpPr>
            <a:spLocks noGrp="1" noChangeArrowheads="1"/>
          </p:cNvSpPr>
          <p:nvPr>
            <p:ph type="title"/>
          </p:nvPr>
        </p:nvSpPr>
        <p:spPr>
          <a:xfrm>
            <a:off x="508645" y="422186"/>
            <a:ext cx="11315248" cy="785542"/>
          </a:xfrm>
        </p:spPr>
        <p:txBody>
          <a:bodyPr>
            <a:normAutofit/>
          </a:bodyPr>
          <a:lstStyle/>
          <a:p>
            <a:r>
              <a:rPr lang="en-US" sz="3200" dirty="0">
                <a:latin typeface="+mn-lt"/>
              </a:rPr>
              <a:t> </a:t>
            </a:r>
            <a:r>
              <a:rPr lang="en-US" sz="3200" dirty="0"/>
              <a:t>Which rate of return to use?</a:t>
            </a:r>
          </a:p>
        </p:txBody>
      </p:sp>
      <p:sp>
        <p:nvSpPr>
          <p:cNvPr id="1009667" name="Rectangle 3"/>
          <p:cNvSpPr>
            <a:spLocks noGrp="1" noChangeArrowheads="1"/>
          </p:cNvSpPr>
          <p:nvPr>
            <p:ph type="body" idx="1"/>
          </p:nvPr>
        </p:nvSpPr>
        <p:spPr>
          <a:xfrm>
            <a:off x="438376" y="1450734"/>
            <a:ext cx="9530083" cy="4985079"/>
          </a:xfrm>
        </p:spPr>
        <p:txBody>
          <a:bodyPr>
            <a:normAutofit/>
          </a:bodyPr>
          <a:lstStyle/>
          <a:p>
            <a:pPr marL="1587" lvl="1" indent="0">
              <a:buNone/>
            </a:pPr>
            <a:endParaRPr lang="en-US" sz="2000" dirty="0"/>
          </a:p>
          <a:p>
            <a:pPr marL="374650" lvl="1" indent="-373063" algn="just">
              <a:lnSpc>
                <a:spcPct val="150000"/>
              </a:lnSpc>
            </a:pPr>
            <a:r>
              <a:rPr lang="en-US" sz="2000" dirty="0"/>
              <a:t>Differences of calculating the arithmetic or continuously compounded rate of return are small, especially for daily, weekly or even monthly data</a:t>
            </a:r>
          </a:p>
          <a:p>
            <a:pPr marL="374650" lvl="1" indent="-373063" algn="just">
              <a:lnSpc>
                <a:spcPct val="150000"/>
              </a:lnSpc>
            </a:pPr>
            <a:r>
              <a:rPr lang="en-US" sz="2000" dirty="0"/>
              <a:t>Geometric return has nice features. e.g. adding it you will obtain cumulative return of an asset/portfolio</a:t>
            </a:r>
          </a:p>
          <a:p>
            <a:pPr marL="374650" lvl="1" indent="-373063" algn="just">
              <a:lnSpc>
                <a:spcPct val="150000"/>
              </a:lnSpc>
            </a:pPr>
            <a:r>
              <a:rPr lang="en-US" sz="2000" dirty="0"/>
              <a:t>However, approaches we will use in investments to construct the efficient frontier (all portfolios that provide investors with minimum risk and maximum return) and select investor’s optimal portfolio are based on simple returns</a:t>
            </a:r>
          </a:p>
        </p:txBody>
      </p:sp>
    </p:spTree>
    <p:extLst>
      <p:ext uri="{BB962C8B-B14F-4D97-AF65-F5344CB8AC3E}">
        <p14:creationId xmlns:p14="http://schemas.microsoft.com/office/powerpoint/2010/main" val="2381961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548" y="200357"/>
            <a:ext cx="9324290" cy="785542"/>
          </a:xfrm>
        </p:spPr>
        <p:txBody>
          <a:bodyPr/>
          <a:lstStyle/>
          <a:p>
            <a:r>
              <a:rPr lang="en-GB" sz="2800" dirty="0"/>
              <a:t>Quantifying the Risk of an Investment</a:t>
            </a:r>
          </a:p>
        </p:txBody>
      </p:sp>
      <p:sp>
        <p:nvSpPr>
          <p:cNvPr id="3" name="Content Placeholder 2"/>
          <p:cNvSpPr>
            <a:spLocks noGrp="1"/>
          </p:cNvSpPr>
          <p:nvPr>
            <p:ph idx="1"/>
          </p:nvPr>
        </p:nvSpPr>
        <p:spPr>
          <a:xfrm>
            <a:off x="437548" y="1120810"/>
            <a:ext cx="9620852" cy="5279991"/>
          </a:xfrm>
        </p:spPr>
        <p:txBody>
          <a:bodyPr>
            <a:normAutofit fontScale="92500" lnSpcReduction="20000"/>
          </a:bodyPr>
          <a:lstStyle/>
          <a:p>
            <a:pPr lvl="1">
              <a:lnSpc>
                <a:spcPct val="150000"/>
              </a:lnSpc>
            </a:pPr>
            <a:r>
              <a:rPr lang="en-GB" dirty="0"/>
              <a:t>Every investment involves some degree of uncertainty</a:t>
            </a:r>
          </a:p>
          <a:p>
            <a:pPr lvl="2">
              <a:lnSpc>
                <a:spcPct val="150000"/>
              </a:lnSpc>
            </a:pPr>
            <a:r>
              <a:rPr lang="en-GB" dirty="0"/>
              <a:t>future selling price is unknown, future dividends are unknown, unknown future cash flows, …</a:t>
            </a:r>
          </a:p>
          <a:p>
            <a:pPr lvl="2">
              <a:lnSpc>
                <a:spcPct val="150000"/>
              </a:lnSpc>
            </a:pPr>
            <a:r>
              <a:rPr lang="en-GB" dirty="0"/>
              <a:t>might have to sell assets due to emergency</a:t>
            </a:r>
          </a:p>
          <a:p>
            <a:pPr lvl="2">
              <a:lnSpc>
                <a:spcPct val="150000"/>
              </a:lnSpc>
            </a:pPr>
            <a:r>
              <a:rPr lang="en-GB" dirty="0"/>
              <a:t>reinvestment rate might change (fall)</a:t>
            </a:r>
          </a:p>
          <a:p>
            <a:pPr lvl="2">
              <a:lnSpc>
                <a:spcPct val="150000"/>
              </a:lnSpc>
            </a:pPr>
            <a:r>
              <a:rPr lang="en-GB" dirty="0"/>
              <a:t>increase in inflation changes the purchasing power of money </a:t>
            </a:r>
          </a:p>
          <a:p>
            <a:pPr lvl="1">
              <a:lnSpc>
                <a:spcPct val="150000"/>
              </a:lnSpc>
            </a:pPr>
            <a:r>
              <a:rPr lang="en-GB" dirty="0"/>
              <a:t>Expected return (t = 0) is therefore uncertain and differs from the actual return (t = 1)</a:t>
            </a:r>
          </a:p>
          <a:p>
            <a:pPr lvl="1">
              <a:lnSpc>
                <a:spcPct val="150000"/>
              </a:lnSpc>
            </a:pPr>
            <a:r>
              <a:rPr lang="en-GB" dirty="0"/>
              <a:t>To </a:t>
            </a:r>
            <a:r>
              <a:rPr lang="en-GB" dirty="0">
                <a:solidFill>
                  <a:srgbClr val="0070C0"/>
                </a:solidFill>
              </a:rPr>
              <a:t>measure the risk </a:t>
            </a:r>
            <a:r>
              <a:rPr lang="en-GB" dirty="0"/>
              <a:t>of an investment, one needs to </a:t>
            </a:r>
            <a:r>
              <a:rPr lang="en-GB" dirty="0">
                <a:solidFill>
                  <a:srgbClr val="0070C0"/>
                </a:solidFill>
              </a:rPr>
              <a:t>quantify the ‘uncertainty’</a:t>
            </a:r>
            <a:r>
              <a:rPr lang="en-GB" dirty="0"/>
              <a:t>, i.e. the difference between the actual and expected return:</a:t>
            </a:r>
          </a:p>
          <a:p>
            <a:pPr lvl="2">
              <a:buNone/>
            </a:pPr>
            <a:endParaRPr lang="en-US" sz="2400" dirty="0"/>
          </a:p>
          <a:p>
            <a:pPr lvl="2">
              <a:buNone/>
            </a:pPr>
            <a:r>
              <a:rPr lang="en-US" sz="2400" dirty="0"/>
              <a:t>	</a:t>
            </a:r>
            <a:r>
              <a:rPr lang="en-US" sz="2400" dirty="0">
                <a:solidFill>
                  <a:srgbClr val="0070C0"/>
                </a:solidFill>
              </a:rPr>
              <a:t>‘Uncertainty’ = Actual Return - Expected Return</a:t>
            </a:r>
            <a:endParaRPr lang="en-GB" sz="2400" dirty="0">
              <a:solidFill>
                <a:srgbClr val="0070C0"/>
              </a:solidFill>
            </a:endParaRPr>
          </a:p>
          <a:p>
            <a:endParaRPr lang="en-GB" sz="1800" dirty="0"/>
          </a:p>
        </p:txBody>
      </p:sp>
    </p:spTree>
    <p:extLst>
      <p:ext uri="{BB962C8B-B14F-4D97-AF65-F5344CB8AC3E}">
        <p14:creationId xmlns:p14="http://schemas.microsoft.com/office/powerpoint/2010/main" val="3549249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p:txBody>
          <a:bodyPr/>
          <a:lstStyle/>
          <a:p>
            <a:r>
              <a:rPr lang="en-GB" sz="3200" dirty="0">
                <a:latin typeface="Arial" charset="0"/>
              </a:rPr>
              <a:t>Scenario Analysis and Probability Distribution</a:t>
            </a:r>
          </a:p>
        </p:txBody>
      </p:sp>
      <p:sp>
        <p:nvSpPr>
          <p:cNvPr id="953347" name="Rectangle 3"/>
          <p:cNvSpPr>
            <a:spLocks noGrp="1" noChangeArrowheads="1"/>
          </p:cNvSpPr>
          <p:nvPr>
            <p:ph type="body" idx="1"/>
          </p:nvPr>
        </p:nvSpPr>
        <p:spPr>
          <a:xfrm>
            <a:off x="437548" y="1309816"/>
            <a:ext cx="9324290" cy="5212916"/>
          </a:xfrm>
        </p:spPr>
        <p:txBody>
          <a:bodyPr/>
          <a:lstStyle/>
          <a:p>
            <a:pPr marL="374650" lvl="1" indent="-373063">
              <a:lnSpc>
                <a:spcPct val="150000"/>
              </a:lnSpc>
            </a:pPr>
            <a:r>
              <a:rPr lang="en-GB" dirty="0">
                <a:latin typeface="Arial" charset="0"/>
              </a:rPr>
              <a:t>To quantify risk, address two questions : </a:t>
            </a:r>
          </a:p>
          <a:p>
            <a:pPr marL="758825" lvl="2" indent="-382588">
              <a:lnSpc>
                <a:spcPct val="150000"/>
              </a:lnSpc>
            </a:pPr>
            <a:r>
              <a:rPr lang="en-GB" dirty="0">
                <a:solidFill>
                  <a:srgbClr val="0070C0"/>
                </a:solidFill>
                <a:latin typeface="Arial" charset="0"/>
              </a:rPr>
              <a:t>What Holding period return is possible ?</a:t>
            </a:r>
          </a:p>
          <a:p>
            <a:pPr marL="758825" lvl="2" indent="-382588">
              <a:lnSpc>
                <a:spcPct val="150000"/>
              </a:lnSpc>
            </a:pPr>
            <a:r>
              <a:rPr lang="en-GB" dirty="0">
                <a:solidFill>
                  <a:srgbClr val="0070C0"/>
                </a:solidFill>
                <a:latin typeface="Arial" charset="0"/>
              </a:rPr>
              <a:t>How likely is it ? </a:t>
            </a:r>
          </a:p>
          <a:p>
            <a:pPr marL="374650" lvl="1" indent="-373063">
              <a:lnSpc>
                <a:spcPct val="150000"/>
              </a:lnSpc>
            </a:pPr>
            <a:r>
              <a:rPr lang="en-GB" dirty="0">
                <a:latin typeface="Arial" charset="0"/>
              </a:rPr>
              <a:t>Scenario Analysis</a:t>
            </a:r>
          </a:p>
          <a:p>
            <a:pPr marL="758825" lvl="2" indent="-382588">
              <a:lnSpc>
                <a:spcPct val="150000"/>
              </a:lnSpc>
            </a:pPr>
            <a:r>
              <a:rPr lang="en-GB" dirty="0">
                <a:latin typeface="Arial" charset="0"/>
              </a:rPr>
              <a:t>Assess different economic scenarios (outcomes)</a:t>
            </a:r>
          </a:p>
          <a:p>
            <a:pPr marL="374650" lvl="1" indent="-373063">
              <a:lnSpc>
                <a:spcPct val="150000"/>
              </a:lnSpc>
            </a:pPr>
            <a:r>
              <a:rPr lang="en-GB" dirty="0">
                <a:latin typeface="Arial" charset="0"/>
              </a:rPr>
              <a:t>Probability Distribution</a:t>
            </a:r>
          </a:p>
          <a:p>
            <a:pPr marL="758825" lvl="2" indent="-382588">
              <a:lnSpc>
                <a:spcPct val="150000"/>
              </a:lnSpc>
            </a:pPr>
            <a:r>
              <a:rPr lang="en-GB" dirty="0">
                <a:latin typeface="Arial" charset="0"/>
              </a:rPr>
              <a:t>Assign probabilities to possible outcomes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6" name="Rectangle 2"/>
          <p:cNvSpPr>
            <a:spLocks noGrp="1" noChangeArrowheads="1"/>
          </p:cNvSpPr>
          <p:nvPr>
            <p:ph type="title"/>
          </p:nvPr>
        </p:nvSpPr>
        <p:spPr>
          <a:xfrm>
            <a:off x="632420" y="335268"/>
            <a:ext cx="9324290" cy="785542"/>
          </a:xfrm>
        </p:spPr>
        <p:txBody>
          <a:bodyPr/>
          <a:lstStyle/>
          <a:p>
            <a:r>
              <a:rPr lang="en-GB" sz="3200" dirty="0">
                <a:latin typeface="Arial" charset="0"/>
              </a:rPr>
              <a:t>Example : Scenario Analysis</a:t>
            </a:r>
          </a:p>
        </p:txBody>
      </p:sp>
      <p:graphicFrame>
        <p:nvGraphicFramePr>
          <p:cNvPr id="1003534" name="Object 14"/>
          <p:cNvGraphicFramePr>
            <a:graphicFrameLocks noGrp="1" noChangeAspect="1"/>
          </p:cNvGraphicFramePr>
          <p:nvPr>
            <p:ph idx="1"/>
            <p:extLst>
              <p:ext uri="{D42A27DB-BD31-4B8C-83A1-F6EECF244321}">
                <p14:modId xmlns:p14="http://schemas.microsoft.com/office/powerpoint/2010/main" val="3979863513"/>
              </p:ext>
            </p:extLst>
          </p:nvPr>
        </p:nvGraphicFramePr>
        <p:xfrm>
          <a:off x="632420" y="1606550"/>
          <a:ext cx="7924800" cy="3644900"/>
        </p:xfrm>
        <a:graphic>
          <a:graphicData uri="http://schemas.openxmlformats.org/presentationml/2006/ole">
            <mc:AlternateContent xmlns:mc="http://schemas.openxmlformats.org/markup-compatibility/2006">
              <mc:Choice xmlns:v="urn:schemas-microsoft-com:vml" Requires="v">
                <p:oleObj name="Document" r:id="rId2" imgW="7924800" imgH="3644900" progId="Word.Document.8">
                  <p:embed/>
                </p:oleObj>
              </mc:Choice>
              <mc:Fallback>
                <p:oleObj name="Document" r:id="rId2" imgW="7924800" imgH="3644900" progId="Word.Document.8">
                  <p:embed/>
                  <p:pic>
                    <p:nvPicPr>
                      <p:cNvPr id="1003534" name="Object 14"/>
                      <p:cNvPicPr>
                        <a:picLocks noGrp="1" noChangeAspect="1" noChangeArrowheads="1"/>
                      </p:cNvPicPr>
                      <p:nvPr/>
                    </p:nvPicPr>
                    <p:blipFill>
                      <a:blip r:embed="rId3"/>
                      <a:srcRect/>
                      <a:stretch>
                        <a:fillRect/>
                      </a:stretch>
                    </p:blipFill>
                    <p:spPr bwMode="auto">
                      <a:xfrm>
                        <a:off x="632420" y="1606550"/>
                        <a:ext cx="7924800" cy="36449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200" dirty="0"/>
              <a:t>Standard Deviation (</a:t>
            </a:r>
            <a:r>
              <a:rPr lang="el-GR" sz="3200" dirty="0"/>
              <a:t>σ</a:t>
            </a:r>
            <a:r>
              <a:rPr lang="en-GB" sz="3200" dirty="0"/>
              <a:t>) and Variance (</a:t>
            </a:r>
            <a:r>
              <a:rPr lang="el-GR" sz="3200" dirty="0"/>
              <a:t>σ</a:t>
            </a:r>
            <a:r>
              <a:rPr lang="en-GB" sz="3200" baseline="30000" dirty="0"/>
              <a:t>2</a:t>
            </a:r>
            <a:r>
              <a:rPr lang="en-GB" sz="3200" dirty="0"/>
              <a:t>)</a:t>
            </a:r>
            <a:br>
              <a:rPr lang="en-GB" sz="3200" dirty="0"/>
            </a:br>
            <a:endParaRPr lang="en-GB" sz="3200" dirty="0"/>
          </a:p>
        </p:txBody>
      </p:sp>
      <p:sp>
        <p:nvSpPr>
          <p:cNvPr id="5" name="Content Placeholder 4"/>
          <p:cNvSpPr>
            <a:spLocks noGrp="1"/>
          </p:cNvSpPr>
          <p:nvPr>
            <p:ph idx="1"/>
          </p:nvPr>
        </p:nvSpPr>
        <p:spPr>
          <a:xfrm>
            <a:off x="437547" y="1117800"/>
            <a:ext cx="6502898" cy="5507221"/>
          </a:xfrm>
        </p:spPr>
        <p:txBody>
          <a:bodyPr>
            <a:normAutofit lnSpcReduction="10000"/>
          </a:bodyPr>
          <a:lstStyle/>
          <a:p>
            <a:pPr lvl="1">
              <a:lnSpc>
                <a:spcPct val="150000"/>
              </a:lnSpc>
            </a:pPr>
            <a:r>
              <a:rPr lang="en-US" sz="2000" dirty="0">
                <a:solidFill>
                  <a:srgbClr val="0070C0"/>
                </a:solidFill>
              </a:rPr>
              <a:t>Measures of dispersion of actual return from expected return</a:t>
            </a:r>
            <a:r>
              <a:rPr lang="en-US" sz="2000" dirty="0"/>
              <a:t>: variance is defined as average square ‘uncertainties’; standard deviation is the square root of variance</a:t>
            </a:r>
          </a:p>
          <a:p>
            <a:pPr lvl="1">
              <a:lnSpc>
                <a:spcPct val="150000"/>
              </a:lnSpc>
            </a:pPr>
            <a:r>
              <a:rPr lang="en-US" sz="2000" dirty="0"/>
              <a:t>Considered as </a:t>
            </a:r>
            <a:r>
              <a:rPr lang="en-US" sz="2000" dirty="0">
                <a:solidFill>
                  <a:srgbClr val="0070C0"/>
                </a:solidFill>
              </a:rPr>
              <a:t>measures of the total risk</a:t>
            </a:r>
            <a:r>
              <a:rPr lang="en-US" sz="2000" dirty="0"/>
              <a:t>:  </a:t>
            </a:r>
          </a:p>
          <a:p>
            <a:pPr marL="135731" lvl="1" indent="0">
              <a:lnSpc>
                <a:spcPct val="150000"/>
              </a:lnSpc>
              <a:buNone/>
            </a:pPr>
            <a:r>
              <a:rPr lang="en-US" sz="2000" dirty="0">
                <a:solidFill>
                  <a:srgbClr val="0070C0"/>
                </a:solidFill>
              </a:rPr>
              <a:t>Total Risk = Market (or systematic) + Company Specific (or unsystematic)</a:t>
            </a:r>
          </a:p>
          <a:p>
            <a:pPr lvl="1">
              <a:lnSpc>
                <a:spcPct val="150000"/>
              </a:lnSpc>
            </a:pPr>
            <a:r>
              <a:rPr lang="en-US" sz="2000" b="1" dirty="0">
                <a:solidFill>
                  <a:srgbClr val="0070C0"/>
                </a:solidFill>
              </a:rPr>
              <a:t>Expected return (mean) and standard deviation are used as return and risk measures </a:t>
            </a:r>
            <a:r>
              <a:rPr lang="en-US" sz="2000" dirty="0"/>
              <a:t>in investment decision making process </a:t>
            </a:r>
            <a:r>
              <a:rPr lang="en-US" sz="2000" b="1" dirty="0"/>
              <a:t>because it is assumed that past asset returns follow normal distribution</a:t>
            </a:r>
            <a:endParaRPr lang="en-GB" sz="2000" b="1" dirty="0"/>
          </a:p>
          <a:p>
            <a:endParaRPr lang="en-GB" sz="1600" dirty="0"/>
          </a:p>
        </p:txBody>
      </p:sp>
      <p:pic>
        <p:nvPicPr>
          <p:cNvPr id="6" name="Picture 4" descr="bellcurve"/>
          <p:cNvPicPr>
            <a:picLocks noChangeAspect="1" noChangeArrowheads="1"/>
          </p:cNvPicPr>
          <p:nvPr/>
        </p:nvPicPr>
        <p:blipFill>
          <a:blip r:embed="rId2" cstate="print"/>
          <a:srcRect/>
          <a:stretch>
            <a:fillRect/>
          </a:stretch>
        </p:blipFill>
        <p:spPr bwMode="auto">
          <a:xfrm>
            <a:off x="6535710" y="1484026"/>
            <a:ext cx="5531371" cy="3975437"/>
          </a:xfrm>
          <a:prstGeom prst="rect">
            <a:avLst/>
          </a:prstGeom>
          <a:noFill/>
        </p:spPr>
      </p:pic>
    </p:spTree>
    <p:extLst>
      <p:ext uri="{BB962C8B-B14F-4D97-AF65-F5344CB8AC3E}">
        <p14:creationId xmlns:p14="http://schemas.microsoft.com/office/powerpoint/2010/main" val="1043017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442" y="337868"/>
            <a:ext cx="7772400" cy="659160"/>
          </a:xfrm>
        </p:spPr>
        <p:txBody>
          <a:bodyPr/>
          <a:lstStyle/>
          <a:p>
            <a:r>
              <a:rPr lang="en-GB" sz="3600" dirty="0" err="1"/>
              <a:t>Skewness</a:t>
            </a:r>
            <a:r>
              <a:rPr lang="en-GB" sz="3600" dirty="0"/>
              <a:t> and Kurtosis</a:t>
            </a:r>
          </a:p>
        </p:txBody>
      </p:sp>
      <p:pic>
        <p:nvPicPr>
          <p:cNvPr id="5" name="Chart Placeholder 19" descr="Skewness_PosNegPict.jpg"/>
          <p:cNvPicPr>
            <a:picLocks noGrp="1" noChangeAspect="1"/>
          </p:cNvPicPr>
          <p:nvPr>
            <p:ph idx="1"/>
          </p:nvPr>
        </p:nvPicPr>
        <p:blipFill>
          <a:blip r:embed="rId2" cstate="print"/>
          <a:stretch>
            <a:fillRect/>
          </a:stretch>
        </p:blipFill>
        <p:spPr>
          <a:xfrm>
            <a:off x="879606" y="1916833"/>
            <a:ext cx="2752725" cy="2339723"/>
          </a:xfrm>
        </p:spPr>
      </p:pic>
      <p:pic>
        <p:nvPicPr>
          <p:cNvPr id="6" name="Chart Placeholder 20" descr="KurtosisPict.jpg"/>
          <p:cNvPicPr>
            <a:picLocks noChangeAspect="1"/>
          </p:cNvPicPr>
          <p:nvPr/>
        </p:nvPicPr>
        <p:blipFill>
          <a:blip r:embed="rId3" cstate="print"/>
          <a:stretch>
            <a:fillRect/>
          </a:stretch>
        </p:blipFill>
        <p:spPr>
          <a:xfrm>
            <a:off x="5487565" y="1698201"/>
            <a:ext cx="4175126" cy="2627755"/>
          </a:xfrm>
          <a:prstGeom prst="rect">
            <a:avLst/>
          </a:prstGeom>
        </p:spPr>
      </p:pic>
      <p:sp>
        <p:nvSpPr>
          <p:cNvPr id="7" name="Content Placeholder 14"/>
          <p:cNvSpPr txBox="1">
            <a:spLocks/>
          </p:cNvSpPr>
          <p:nvPr/>
        </p:nvSpPr>
        <p:spPr>
          <a:xfrm>
            <a:off x="712442" y="1215658"/>
            <a:ext cx="4041648" cy="48254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a:buNone/>
            </a:pPr>
            <a:r>
              <a:rPr lang="en-GB" sz="2000" b="1" u="sng" kern="0" dirty="0" err="1">
                <a:latin typeface="Arial" panose="020B0604020202020204" pitchFamily="34" charset="0"/>
                <a:cs typeface="Arial" panose="020B0604020202020204" pitchFamily="34" charset="0"/>
              </a:rPr>
              <a:t>Skewness</a:t>
            </a:r>
            <a:endParaRPr lang="en-GB" sz="2000" b="1" u="sng" kern="0" dirty="0">
              <a:latin typeface="Arial" panose="020B0604020202020204" pitchFamily="34" charset="0"/>
              <a:cs typeface="Arial" panose="020B0604020202020204" pitchFamily="34" charset="0"/>
            </a:endParaRPr>
          </a:p>
          <a:p>
            <a:endParaRPr lang="en-GB" u="sng" kern="0" dirty="0"/>
          </a:p>
        </p:txBody>
      </p:sp>
      <p:sp>
        <p:nvSpPr>
          <p:cNvPr id="8" name="Rectangle 7"/>
          <p:cNvSpPr/>
          <p:nvPr/>
        </p:nvSpPr>
        <p:spPr>
          <a:xfrm>
            <a:off x="6456040" y="1074249"/>
            <a:ext cx="1574796" cy="400110"/>
          </a:xfrm>
          <a:prstGeom prst="rect">
            <a:avLst/>
          </a:prstGeom>
        </p:spPr>
        <p:txBody>
          <a:bodyPr wrap="square">
            <a:spAutoFit/>
          </a:bodyPr>
          <a:lstStyle/>
          <a:p>
            <a:pPr>
              <a:defRPr/>
            </a:pPr>
            <a:r>
              <a:rPr lang="en-GB" sz="2000" b="1" u="sng" spc="-10" dirty="0">
                <a:latin typeface="Arial" panose="020B0604020202020204" pitchFamily="34" charset="0"/>
                <a:cs typeface="Arial" panose="020B0604020202020204" pitchFamily="34" charset="0"/>
              </a:rPr>
              <a:t>Kurtosis</a:t>
            </a:r>
          </a:p>
        </p:txBody>
      </p:sp>
      <p:sp>
        <p:nvSpPr>
          <p:cNvPr id="9" name="Text Placeholder 16"/>
          <p:cNvSpPr txBox="1">
            <a:spLocks/>
          </p:cNvSpPr>
          <p:nvPr/>
        </p:nvSpPr>
        <p:spPr>
          <a:xfrm rot="5400000">
            <a:off x="1710794" y="3410042"/>
            <a:ext cx="2044945" cy="4041646"/>
          </a:xfrm>
          <a:prstGeom prst="rect">
            <a:avLst/>
          </a:prstGeom>
        </p:spPr>
        <p:txBody>
          <a:bodyPr vert="vert27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en-GB" sz="1800" kern="0" dirty="0">
                <a:latin typeface="Arial" panose="020B0604020202020204" pitchFamily="34" charset="0"/>
                <a:cs typeface="Arial" panose="020B0604020202020204" pitchFamily="34" charset="0"/>
              </a:rPr>
              <a:t>Measures asymmetry of distribution. </a:t>
            </a:r>
          </a:p>
          <a:p>
            <a:r>
              <a:rPr lang="en-GB" sz="1800" kern="0" dirty="0">
                <a:latin typeface="Arial" panose="020B0604020202020204" pitchFamily="34" charset="0"/>
                <a:cs typeface="Arial" panose="020B0604020202020204" pitchFamily="34" charset="0"/>
              </a:rPr>
              <a:t>Risk averse investor dislikes negative skew. </a:t>
            </a:r>
          </a:p>
          <a:p>
            <a:r>
              <a:rPr lang="en-GB" sz="1800" kern="0" dirty="0">
                <a:latin typeface="Arial" panose="020B0604020202020204" pitchFamily="34" charset="0"/>
                <a:cs typeface="Arial" panose="020B0604020202020204" pitchFamily="34" charset="0"/>
              </a:rPr>
              <a:t>Normal distribution skewness is 0</a:t>
            </a:r>
          </a:p>
        </p:txBody>
      </p:sp>
      <p:sp>
        <p:nvSpPr>
          <p:cNvPr id="10" name="Text Placeholder 15"/>
          <p:cNvSpPr txBox="1">
            <a:spLocks/>
          </p:cNvSpPr>
          <p:nvPr/>
        </p:nvSpPr>
        <p:spPr>
          <a:xfrm rot="16200000">
            <a:off x="6552655" y="3499227"/>
            <a:ext cx="2044946" cy="3863276"/>
          </a:xfrm>
          <a:prstGeom prst="rect">
            <a:avLst/>
          </a:prstGeom>
        </p:spPr>
        <p:txBody>
          <a:bodyPr vert="vert"/>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spcBef>
                <a:spcPts val="336"/>
              </a:spcBef>
            </a:pPr>
            <a:r>
              <a:rPr lang="en-GB" sz="1800" kern="0" dirty="0">
                <a:latin typeface="Arial" panose="020B0604020202020204" pitchFamily="34" charset="0"/>
                <a:cs typeface="Arial" panose="020B0604020202020204" pitchFamily="34" charset="0"/>
              </a:rPr>
              <a:t>Kurtosis measures the degree of ‘fat-tails’ in a distribution.</a:t>
            </a:r>
          </a:p>
          <a:p>
            <a:pPr>
              <a:spcBef>
                <a:spcPts val="336"/>
              </a:spcBef>
            </a:pPr>
            <a:r>
              <a:rPr lang="en-GB" sz="1800" kern="0" dirty="0">
                <a:latin typeface="Arial" panose="020B0604020202020204" pitchFamily="34" charset="0"/>
                <a:cs typeface="Arial" panose="020B0604020202020204" pitchFamily="34" charset="0"/>
              </a:rPr>
              <a:t>Risk averse investor prefers low kurtosis.</a:t>
            </a:r>
          </a:p>
          <a:p>
            <a:pPr>
              <a:spcBef>
                <a:spcPts val="336"/>
              </a:spcBef>
            </a:pPr>
            <a:r>
              <a:rPr lang="en-GB" sz="1800" kern="0" dirty="0">
                <a:latin typeface="Arial" panose="020B0604020202020204" pitchFamily="34" charset="0"/>
                <a:cs typeface="Arial" panose="020B0604020202020204" pitchFamily="34" charset="0"/>
              </a:rPr>
              <a:t>Normal distribution kurtosis is 3</a:t>
            </a:r>
          </a:p>
        </p:txBody>
      </p:sp>
    </p:spTree>
    <p:extLst>
      <p:ext uri="{BB962C8B-B14F-4D97-AF65-F5344CB8AC3E}">
        <p14:creationId xmlns:p14="http://schemas.microsoft.com/office/powerpoint/2010/main" val="1450284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073" y="241322"/>
            <a:ext cx="7772400" cy="955430"/>
          </a:xfrm>
        </p:spPr>
        <p:txBody>
          <a:bodyPr>
            <a:normAutofit fontScale="90000"/>
          </a:bodyPr>
          <a:lstStyle/>
          <a:p>
            <a:r>
              <a:rPr lang="en-US" sz="3600" dirty="0"/>
              <a:t>Tail Risk</a:t>
            </a:r>
            <a:br>
              <a:rPr lang="en-US" dirty="0"/>
            </a:br>
            <a:endParaRPr lang="en-GB" dirty="0"/>
          </a:p>
        </p:txBody>
      </p:sp>
      <p:sp>
        <p:nvSpPr>
          <p:cNvPr id="3" name="Content Placeholder 2"/>
          <p:cNvSpPr>
            <a:spLocks noGrp="1"/>
          </p:cNvSpPr>
          <p:nvPr>
            <p:ph idx="1"/>
          </p:nvPr>
        </p:nvSpPr>
        <p:spPr>
          <a:xfrm>
            <a:off x="515073" y="1196752"/>
            <a:ext cx="9467127" cy="4899248"/>
          </a:xfrm>
        </p:spPr>
        <p:txBody>
          <a:bodyPr>
            <a:normAutofit/>
          </a:bodyPr>
          <a:lstStyle/>
          <a:p>
            <a:pPr>
              <a:lnSpc>
                <a:spcPct val="110000"/>
              </a:lnSpc>
            </a:pPr>
            <a:r>
              <a:rPr lang="en-GB" sz="1600" dirty="0"/>
              <a:t>‘</a:t>
            </a:r>
            <a:r>
              <a:rPr lang="en-GB" sz="2000" dirty="0"/>
              <a:t>Fat-tailed’ distribution: tendency of asset’s prices and return distributions to have more observations in the tails and to be thinner in the midrange than a normal (bell shaped curve) distribution</a:t>
            </a:r>
          </a:p>
          <a:p>
            <a:pPr lvl="2">
              <a:lnSpc>
                <a:spcPct val="110000"/>
              </a:lnSpc>
              <a:buFont typeface="Arial" pitchFamily="34" charset="0"/>
              <a:buChar char="•"/>
            </a:pPr>
            <a:r>
              <a:rPr lang="en-GB" dirty="0"/>
              <a:t>The term ‘fat-tail’ refers to the unexpectedly high likelihood of an extreme event </a:t>
            </a:r>
          </a:p>
          <a:p>
            <a:pPr>
              <a:lnSpc>
                <a:spcPct val="110000"/>
              </a:lnSpc>
              <a:buFont typeface="Arial" pitchFamily="34" charset="0"/>
              <a:buChar char="•"/>
            </a:pPr>
            <a:r>
              <a:rPr lang="en-US" sz="2000" dirty="0"/>
              <a:t>Assets prone to price-jumps exhibit ‘fat-tailed’ distributions</a:t>
            </a:r>
          </a:p>
          <a:p>
            <a:pPr>
              <a:lnSpc>
                <a:spcPct val="110000"/>
              </a:lnSpc>
              <a:buFont typeface="Arial" pitchFamily="34" charset="0"/>
              <a:buChar char="•"/>
            </a:pPr>
            <a:r>
              <a:rPr lang="en-US" sz="2000" dirty="0"/>
              <a:t>Tail risk: asset (portfolio) price moving more than three standard deviations from its current price, i.e. in the area of ‘fat-tail’</a:t>
            </a:r>
          </a:p>
          <a:p>
            <a:pPr lvl="2">
              <a:lnSpc>
                <a:spcPct val="110000"/>
              </a:lnSpc>
            </a:pPr>
            <a:r>
              <a:rPr lang="en-US" dirty="0"/>
              <a:t>Also known as a ‘kurtosis risk’ as ‘fat-tailed ‘distribution has extremely large kurtosis</a:t>
            </a:r>
          </a:p>
          <a:p>
            <a:pPr>
              <a:lnSpc>
                <a:spcPct val="110000"/>
              </a:lnSpc>
            </a:pPr>
            <a:r>
              <a:rPr lang="en-US" sz="2000" dirty="0"/>
              <a:t>Most portfolio managers are interested in the downside movement</a:t>
            </a:r>
          </a:p>
          <a:p>
            <a:pPr>
              <a:lnSpc>
                <a:spcPct val="110000"/>
              </a:lnSpc>
            </a:pPr>
            <a:r>
              <a:rPr lang="en-US" sz="2000" dirty="0"/>
              <a:t>‘Black swan’ (extreme) events awareness</a:t>
            </a:r>
          </a:p>
          <a:p>
            <a:pPr>
              <a:lnSpc>
                <a:spcPct val="110000"/>
              </a:lnSpc>
            </a:pPr>
            <a:r>
              <a:rPr lang="en-US" sz="2000" dirty="0"/>
              <a:t>Critical to understand causes of fat tails and probability of recurrence</a:t>
            </a:r>
          </a:p>
          <a:p>
            <a:endParaRPr lang="en-GB" sz="1400" dirty="0"/>
          </a:p>
        </p:txBody>
      </p:sp>
    </p:spTree>
    <p:extLst>
      <p:ext uri="{BB962C8B-B14F-4D97-AF65-F5344CB8AC3E}">
        <p14:creationId xmlns:p14="http://schemas.microsoft.com/office/powerpoint/2010/main" val="5983026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61" y="270274"/>
            <a:ext cx="9324290" cy="785542"/>
          </a:xfrm>
        </p:spPr>
        <p:txBody>
          <a:bodyPr>
            <a:normAutofit fontScale="90000"/>
          </a:bodyPr>
          <a:lstStyle/>
          <a:p>
            <a:r>
              <a:rPr lang="en-GB" sz="2800" dirty="0"/>
              <a:t>Semi-Deviation (</a:t>
            </a:r>
            <a:r>
              <a:rPr lang="el-GR" sz="2800" dirty="0"/>
              <a:t>σ</a:t>
            </a:r>
            <a:r>
              <a:rPr lang="en-GB" sz="2800" baseline="-25000" dirty="0"/>
              <a:t>D</a:t>
            </a:r>
            <a:r>
              <a:rPr lang="en-GB" sz="2800" dirty="0"/>
              <a:t>) and Semi-Variance (</a:t>
            </a:r>
            <a:r>
              <a:rPr lang="el-GR" sz="2800" dirty="0"/>
              <a:t>σ</a:t>
            </a:r>
            <a:r>
              <a:rPr lang="en-GB" sz="2800" baseline="-25000" dirty="0"/>
              <a:t>D</a:t>
            </a:r>
            <a:r>
              <a:rPr lang="en-GB" sz="2800" baseline="30000" dirty="0"/>
              <a:t>2</a:t>
            </a:r>
            <a:r>
              <a:rPr lang="en-GB" sz="2800" dirty="0"/>
              <a:t>)</a:t>
            </a:r>
            <a:br>
              <a:rPr lang="en-GB" sz="2800" dirty="0"/>
            </a:br>
            <a:endParaRPr lang="en-GB" sz="2800" dirty="0"/>
          </a:p>
        </p:txBody>
      </p:sp>
      <p:sp>
        <p:nvSpPr>
          <p:cNvPr id="3" name="Content Placeholder 2"/>
          <p:cNvSpPr>
            <a:spLocks noGrp="1"/>
          </p:cNvSpPr>
          <p:nvPr>
            <p:ph idx="1"/>
          </p:nvPr>
        </p:nvSpPr>
        <p:spPr>
          <a:xfrm>
            <a:off x="722361" y="1335216"/>
            <a:ext cx="9324290" cy="5141784"/>
          </a:xfrm>
        </p:spPr>
        <p:txBody>
          <a:bodyPr/>
          <a:lstStyle/>
          <a:p>
            <a:pPr marL="0" lvl="1" indent="0">
              <a:lnSpc>
                <a:spcPct val="110000"/>
              </a:lnSpc>
            </a:pPr>
            <a:r>
              <a:rPr lang="en-US" sz="2000" dirty="0"/>
              <a:t>Used by investors who are interested in downside deviation only</a:t>
            </a:r>
          </a:p>
          <a:p>
            <a:pPr marL="0" lvl="1" indent="0">
              <a:lnSpc>
                <a:spcPct val="110000"/>
              </a:lnSpc>
            </a:pPr>
            <a:endParaRPr lang="en-US" sz="2000" dirty="0"/>
          </a:p>
          <a:p>
            <a:pPr marL="0" lvl="1" indent="0">
              <a:lnSpc>
                <a:spcPct val="110000"/>
              </a:lnSpc>
            </a:pPr>
            <a:r>
              <a:rPr lang="en-GB" sz="2000" dirty="0"/>
              <a:t>A measure of the dispersion of all observations that fall below the mean (expected return) or target value of a data set (i.e. some investors may replace mean return with minimum target return for which zero or T-bill return are commonly used). </a:t>
            </a:r>
          </a:p>
          <a:p>
            <a:pPr marL="0" lvl="1" indent="0">
              <a:lnSpc>
                <a:spcPct val="110000"/>
              </a:lnSpc>
            </a:pPr>
            <a:endParaRPr lang="en-GB" sz="2000" dirty="0"/>
          </a:p>
          <a:p>
            <a:pPr marL="0" lvl="1" indent="0">
              <a:lnSpc>
                <a:spcPct val="110000"/>
              </a:lnSpc>
            </a:pPr>
            <a:r>
              <a:rPr lang="en-GB" sz="2000" dirty="0"/>
              <a:t>Semi-variance is an average of the squared deviations of values that are less than the mean return or target value.</a:t>
            </a:r>
          </a:p>
          <a:p>
            <a:pPr marL="0" lvl="1" indent="0">
              <a:lnSpc>
                <a:spcPct val="110000"/>
              </a:lnSpc>
            </a:pPr>
            <a:endParaRPr lang="en-GB" sz="2000" dirty="0"/>
          </a:p>
          <a:p>
            <a:pPr marL="0" lvl="1" indent="0">
              <a:lnSpc>
                <a:spcPct val="110000"/>
              </a:lnSpc>
            </a:pPr>
            <a:r>
              <a:rPr lang="en-GB" sz="2000" dirty="0"/>
              <a:t>Semi-deviation is a square root of semi-variance.</a:t>
            </a:r>
          </a:p>
          <a:p>
            <a:pPr marL="0" indent="0">
              <a:buNone/>
            </a:pPr>
            <a:endParaRPr lang="en-GB" dirty="0"/>
          </a:p>
        </p:txBody>
      </p:sp>
    </p:spTree>
    <p:extLst>
      <p:ext uri="{BB962C8B-B14F-4D97-AF65-F5344CB8AC3E}">
        <p14:creationId xmlns:p14="http://schemas.microsoft.com/office/powerpoint/2010/main" val="3542575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E5F16-7619-7D4B-A14C-B49D2C2ECECB}"/>
              </a:ext>
            </a:extLst>
          </p:cNvPr>
          <p:cNvSpPr>
            <a:spLocks noGrp="1"/>
          </p:cNvSpPr>
          <p:nvPr>
            <p:ph type="title"/>
          </p:nvPr>
        </p:nvSpPr>
        <p:spPr>
          <a:xfrm>
            <a:off x="800725" y="229444"/>
            <a:ext cx="7772400" cy="1143000"/>
          </a:xfrm>
        </p:spPr>
        <p:txBody>
          <a:bodyPr/>
          <a:lstStyle/>
          <a:p>
            <a:r>
              <a:rPr lang="en-US" altLang="en-US" sz="3600" dirty="0"/>
              <a:t>Risk Free Rate</a:t>
            </a:r>
            <a:endParaRPr lang="en-US" sz="3600" dirty="0"/>
          </a:p>
        </p:txBody>
      </p:sp>
      <p:sp>
        <p:nvSpPr>
          <p:cNvPr id="3" name="Content Placeholder 2">
            <a:extLst>
              <a:ext uri="{FF2B5EF4-FFF2-40B4-BE49-F238E27FC236}">
                <a16:creationId xmlns:a16="http://schemas.microsoft.com/office/drawing/2014/main" id="{CDD55691-7AC4-5847-86BA-CAFA8AB07D28}"/>
              </a:ext>
            </a:extLst>
          </p:cNvPr>
          <p:cNvSpPr>
            <a:spLocks noGrp="1"/>
          </p:cNvSpPr>
          <p:nvPr>
            <p:ph idx="1"/>
          </p:nvPr>
        </p:nvSpPr>
        <p:spPr>
          <a:xfrm>
            <a:off x="800724" y="1474417"/>
            <a:ext cx="9077793" cy="4628728"/>
          </a:xfrm>
        </p:spPr>
        <p:txBody>
          <a:bodyPr>
            <a:normAutofit fontScale="92500" lnSpcReduction="20000"/>
          </a:bodyPr>
          <a:lstStyle/>
          <a:p>
            <a:pPr>
              <a:lnSpc>
                <a:spcPct val="120000"/>
              </a:lnSpc>
            </a:pPr>
            <a:r>
              <a:rPr lang="en-US" altLang="en-US" dirty="0">
                <a:latin typeface="Arial" panose="020B0604020202020204" pitchFamily="34" charset="0"/>
                <a:cs typeface="Arial" panose="020B0604020202020204" pitchFamily="34" charset="0"/>
              </a:rPr>
              <a:t>Default free bond/bill issued by the government</a:t>
            </a:r>
          </a:p>
          <a:p>
            <a:pPr marL="0" indent="0">
              <a:lnSpc>
                <a:spcPct val="120000"/>
              </a:lnSpc>
              <a:buNone/>
            </a:pPr>
            <a:endParaRPr lang="en-US" altLang="en-US" dirty="0">
              <a:latin typeface="Arial" panose="020B0604020202020204" pitchFamily="34" charset="0"/>
              <a:cs typeface="Arial" panose="020B0604020202020204" pitchFamily="34" charset="0"/>
            </a:endParaRPr>
          </a:p>
          <a:p>
            <a:pPr>
              <a:lnSpc>
                <a:spcPct val="120000"/>
              </a:lnSpc>
            </a:pPr>
            <a:r>
              <a:rPr lang="en-US" altLang="en-US" dirty="0">
                <a:latin typeface="Arial" panose="020B0604020202020204" pitchFamily="34" charset="0"/>
                <a:cs typeface="Arial" panose="020B0604020202020204" pitchFamily="34" charset="0"/>
              </a:rPr>
              <a:t>In theoretical models assumed variance and standard deviation to be zero.  </a:t>
            </a:r>
          </a:p>
          <a:p>
            <a:pPr lvl="1">
              <a:lnSpc>
                <a:spcPct val="120000"/>
              </a:lnSpc>
              <a:buFontTx/>
              <a:buNone/>
            </a:pPr>
            <a:r>
              <a:rPr lang="en-US" altLang="en-US" dirty="0">
                <a:latin typeface="Arial" panose="020B0604020202020204" pitchFamily="34" charset="0"/>
                <a:cs typeface="Arial" panose="020B0604020202020204" pitchFamily="34" charset="0"/>
              </a:rPr>
              <a:t>(Not the case in the real world !) </a:t>
            </a:r>
          </a:p>
          <a:p>
            <a:pPr lvl="1">
              <a:lnSpc>
                <a:spcPct val="120000"/>
              </a:lnSpc>
              <a:buFontTx/>
              <a:buNone/>
            </a:pPr>
            <a:endParaRPr lang="en-US" altLang="en-US" dirty="0">
              <a:latin typeface="Arial" panose="020B0604020202020204" pitchFamily="34" charset="0"/>
              <a:cs typeface="Arial" panose="020B0604020202020204" pitchFamily="34" charset="0"/>
            </a:endParaRPr>
          </a:p>
          <a:p>
            <a:pPr>
              <a:lnSpc>
                <a:spcPct val="120000"/>
              </a:lnSpc>
            </a:pPr>
            <a:r>
              <a:rPr lang="en-US" altLang="en-US" dirty="0">
                <a:latin typeface="Arial" panose="020B0604020202020204" pitchFamily="34" charset="0"/>
                <a:cs typeface="Arial" panose="020B0604020202020204" pitchFamily="34" charset="0"/>
              </a:rPr>
              <a:t>Money market instrument such as UK 1 month Treasury Bill</a:t>
            </a:r>
          </a:p>
          <a:p>
            <a:pPr lvl="1">
              <a:lnSpc>
                <a:spcPct val="120000"/>
              </a:lnSpc>
            </a:pPr>
            <a:r>
              <a:rPr lang="en-US" altLang="en-US" dirty="0">
                <a:latin typeface="Arial" panose="020B0604020202020204" pitchFamily="34" charset="0"/>
                <a:cs typeface="Arial" panose="020B0604020202020204" pitchFamily="34" charset="0"/>
              </a:rPr>
              <a:t>Short term instrument</a:t>
            </a:r>
          </a:p>
          <a:p>
            <a:pPr lvl="1">
              <a:lnSpc>
                <a:spcPct val="120000"/>
              </a:lnSpc>
            </a:pPr>
            <a:r>
              <a:rPr lang="en-US" altLang="en-US" dirty="0">
                <a:latin typeface="Arial" panose="020B0604020202020204" pitchFamily="34" charset="0"/>
                <a:cs typeface="Arial" panose="020B0604020202020204" pitchFamily="34" charset="0"/>
              </a:rPr>
              <a:t>Liquid</a:t>
            </a:r>
          </a:p>
          <a:p>
            <a:pPr lvl="1">
              <a:lnSpc>
                <a:spcPct val="120000"/>
              </a:lnSpc>
            </a:pPr>
            <a:r>
              <a:rPr lang="en-US" altLang="en-US" dirty="0">
                <a:latin typeface="Arial" panose="020B0604020202020204" pitchFamily="34" charset="0"/>
                <a:cs typeface="Arial" panose="020B0604020202020204" pitchFamily="34" charset="0"/>
              </a:rPr>
              <a:t>One cashflow at the end of time to maturity</a:t>
            </a:r>
          </a:p>
          <a:p>
            <a:endParaRPr lang="en-US" dirty="0"/>
          </a:p>
        </p:txBody>
      </p:sp>
    </p:spTree>
    <p:extLst>
      <p:ext uri="{BB962C8B-B14F-4D97-AF65-F5344CB8AC3E}">
        <p14:creationId xmlns:p14="http://schemas.microsoft.com/office/powerpoint/2010/main" val="4004473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1052AFE-6707-9645-95AD-D6CCC973C33D}"/>
              </a:ext>
            </a:extLst>
          </p:cNvPr>
          <p:cNvSpPr>
            <a:spLocks noGrp="1" noChangeArrowheads="1"/>
          </p:cNvSpPr>
          <p:nvPr>
            <p:ph type="title"/>
          </p:nvPr>
        </p:nvSpPr>
        <p:spPr>
          <a:xfrm>
            <a:off x="768676" y="387394"/>
            <a:ext cx="7479660" cy="857250"/>
          </a:xfrm>
        </p:spPr>
        <p:txBody>
          <a:bodyPr/>
          <a:lstStyle/>
          <a:p>
            <a:r>
              <a:rPr lang="en-GB" altLang="en-US" sz="3600" dirty="0"/>
              <a:t>Risk Premium and Risk Aversion</a:t>
            </a:r>
          </a:p>
        </p:txBody>
      </p:sp>
      <p:sp>
        <p:nvSpPr>
          <p:cNvPr id="18435" name="Rectangle 3">
            <a:extLst>
              <a:ext uri="{FF2B5EF4-FFF2-40B4-BE49-F238E27FC236}">
                <a16:creationId xmlns:a16="http://schemas.microsoft.com/office/drawing/2014/main" id="{2B37795F-90B6-B542-81D9-6A28BA4827DC}"/>
              </a:ext>
            </a:extLst>
          </p:cNvPr>
          <p:cNvSpPr>
            <a:spLocks noGrp="1" noChangeArrowheads="1"/>
          </p:cNvSpPr>
          <p:nvPr>
            <p:ph type="body" idx="1"/>
          </p:nvPr>
        </p:nvSpPr>
        <p:spPr>
          <a:xfrm>
            <a:off x="768676" y="1548884"/>
            <a:ext cx="9199781" cy="4064472"/>
          </a:xfrm>
        </p:spPr>
        <p:txBody>
          <a:bodyPr>
            <a:normAutofit fontScale="77500" lnSpcReduction="20000"/>
          </a:bodyPr>
          <a:lstStyle/>
          <a:p>
            <a:pPr>
              <a:lnSpc>
                <a:spcPct val="120000"/>
              </a:lnSpc>
            </a:pPr>
            <a:r>
              <a:rPr lang="en-GB" altLang="en-US" dirty="0">
                <a:latin typeface="Arial" panose="020B0604020202020204" pitchFamily="34" charset="0"/>
                <a:cs typeface="Arial" panose="020B0604020202020204" pitchFamily="34" charset="0"/>
              </a:rPr>
              <a:t>Risk free rate of return : rate of return which can be earned with certainty.  </a:t>
            </a:r>
          </a:p>
          <a:p>
            <a:pPr>
              <a:lnSpc>
                <a:spcPct val="120000"/>
              </a:lnSpc>
            </a:pPr>
            <a:endParaRPr lang="en-GB" altLang="en-US" dirty="0">
              <a:latin typeface="Arial" panose="020B0604020202020204" pitchFamily="34" charset="0"/>
              <a:cs typeface="Arial" panose="020B0604020202020204" pitchFamily="34" charset="0"/>
            </a:endParaRPr>
          </a:p>
          <a:p>
            <a:pPr>
              <a:lnSpc>
                <a:spcPct val="120000"/>
              </a:lnSpc>
            </a:pPr>
            <a:r>
              <a:rPr lang="en-GB" altLang="en-US" dirty="0">
                <a:latin typeface="Arial" panose="020B0604020202020204" pitchFamily="34" charset="0"/>
                <a:cs typeface="Arial" panose="020B0604020202020204" pitchFamily="34" charset="0"/>
              </a:rPr>
              <a:t>Risk premium : an expected return in excess of that on risk free securities</a:t>
            </a:r>
          </a:p>
          <a:p>
            <a:pPr>
              <a:lnSpc>
                <a:spcPct val="120000"/>
              </a:lnSpc>
            </a:pPr>
            <a:endParaRPr lang="en-GB" altLang="en-US" dirty="0">
              <a:latin typeface="Arial" panose="020B0604020202020204" pitchFamily="34" charset="0"/>
              <a:cs typeface="Arial" panose="020B0604020202020204" pitchFamily="34" charset="0"/>
            </a:endParaRPr>
          </a:p>
          <a:p>
            <a:pPr>
              <a:lnSpc>
                <a:spcPct val="120000"/>
              </a:lnSpc>
            </a:pPr>
            <a:r>
              <a:rPr lang="en-GB" altLang="en-US" dirty="0">
                <a:latin typeface="Arial" panose="020B0604020202020204" pitchFamily="34" charset="0"/>
                <a:cs typeface="Arial" panose="020B0604020202020204" pitchFamily="34" charset="0"/>
              </a:rPr>
              <a:t>Risk Aversion: reluctance to accept risk</a:t>
            </a:r>
          </a:p>
          <a:p>
            <a:pPr lvl="1">
              <a:lnSpc>
                <a:spcPct val="120000"/>
              </a:lnSpc>
            </a:pPr>
            <a:r>
              <a:rPr lang="en-GB" altLang="en-US" dirty="0">
                <a:latin typeface="Arial" panose="020B0604020202020204" pitchFamily="34" charset="0"/>
                <a:cs typeface="Arial" panose="020B0604020202020204" pitchFamily="34" charset="0"/>
              </a:rPr>
              <a:t>Finance theory assumes that the only rational investors’ behaviour is risk-averse: for any extra unit of risk taken, investors require extra compensation (extra return). </a:t>
            </a:r>
          </a:p>
          <a:p>
            <a:pPr>
              <a:lnSpc>
                <a:spcPct val="90000"/>
              </a:lnSpc>
            </a:pPr>
            <a:endParaRPr lang="en-GB" altLang="en-US" sz="1800" dirty="0"/>
          </a:p>
          <a:p>
            <a:pPr>
              <a:lnSpc>
                <a:spcPct val="90000"/>
              </a:lnSpc>
            </a:pPr>
            <a:endParaRPr lang="en-GB" altLang="en-US" sz="1500" dirty="0"/>
          </a:p>
        </p:txBody>
      </p:sp>
    </p:spTree>
    <p:extLst>
      <p:ext uri="{BB962C8B-B14F-4D97-AF65-F5344CB8AC3E}">
        <p14:creationId xmlns:p14="http://schemas.microsoft.com/office/powerpoint/2010/main" val="1925518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p:txBody>
          <a:bodyPr/>
          <a:lstStyle/>
          <a:p>
            <a:r>
              <a:rPr lang="en-GB" sz="3600" dirty="0">
                <a:latin typeface="Arial" charset="0"/>
              </a:rPr>
              <a:t>References</a:t>
            </a:r>
          </a:p>
        </p:txBody>
      </p:sp>
      <p:sp>
        <p:nvSpPr>
          <p:cNvPr id="1011715" name="Rectangle 3"/>
          <p:cNvSpPr>
            <a:spLocks noGrp="1" noChangeArrowheads="1"/>
          </p:cNvSpPr>
          <p:nvPr>
            <p:ph idx="1"/>
          </p:nvPr>
        </p:nvSpPr>
        <p:spPr/>
        <p:txBody>
          <a:bodyPr>
            <a:normAutofit/>
          </a:bodyPr>
          <a:lstStyle/>
          <a:p>
            <a:pPr>
              <a:lnSpc>
                <a:spcPct val="150000"/>
              </a:lnSpc>
            </a:pPr>
            <a:r>
              <a:rPr lang="en-GB" sz="2000" dirty="0">
                <a:latin typeface="Arial" charset="0"/>
              </a:rPr>
              <a:t>Bodie, Kane and Marcus (BKM), “Investments” , Chapter 2 ‘Asset Classes and Financial Instruments’ </a:t>
            </a:r>
          </a:p>
          <a:p>
            <a:pPr>
              <a:lnSpc>
                <a:spcPct val="150000"/>
              </a:lnSpc>
            </a:pPr>
            <a:r>
              <a:rPr lang="en-GB" sz="2000" dirty="0">
                <a:latin typeface="Arial" charset="0"/>
              </a:rPr>
              <a:t>Additional reports and papers used to produce these lecture notes are available on Moodle</a:t>
            </a:r>
          </a:p>
        </p:txBody>
      </p:sp>
    </p:spTree>
    <p:extLst>
      <p:ext uri="{BB962C8B-B14F-4D97-AF65-F5344CB8AC3E}">
        <p14:creationId xmlns:p14="http://schemas.microsoft.com/office/powerpoint/2010/main" val="7076512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04B69EF-BA4E-184F-97D7-A3645CFD8A8B}"/>
              </a:ext>
            </a:extLst>
          </p:cNvPr>
          <p:cNvSpPr>
            <a:spLocks noGrp="1"/>
          </p:cNvSpPr>
          <p:nvPr>
            <p:ph type="body" sz="half" idx="2"/>
          </p:nvPr>
        </p:nvSpPr>
        <p:spPr/>
        <p:txBody>
          <a:bodyPr>
            <a:normAutofit fontScale="85000" lnSpcReduction="10000"/>
          </a:bodyPr>
          <a:lstStyle/>
          <a:p>
            <a:pPr lvl="0">
              <a:lnSpc>
                <a:spcPct val="150000"/>
              </a:lnSpc>
            </a:pPr>
            <a:r>
              <a:rPr lang="en-US" sz="1800" dirty="0"/>
              <a:t>Contact: </a:t>
            </a:r>
            <a:r>
              <a:rPr lang="en-US" sz="1800" dirty="0">
                <a:hlinkClick r:id="rId2"/>
              </a:rPr>
              <a:t>natasha.todorovic.1@city.ac.uk</a:t>
            </a:r>
            <a:endParaRPr lang="en-US" sz="1800" dirty="0"/>
          </a:p>
          <a:p>
            <a:pPr lvl="0">
              <a:lnSpc>
                <a:spcPct val="150000"/>
              </a:lnSpc>
            </a:pPr>
            <a:r>
              <a:rPr lang="en-US" sz="1800" dirty="0"/>
              <a:t>Room 4031 </a:t>
            </a:r>
          </a:p>
          <a:p>
            <a:pPr lvl="0">
              <a:lnSpc>
                <a:spcPct val="150000"/>
              </a:lnSpc>
            </a:pPr>
            <a:r>
              <a:rPr lang="en-US" sz="1800" dirty="0"/>
              <a:t>Bayes Business School, Bunhill Row, Level 4</a:t>
            </a:r>
          </a:p>
          <a:p>
            <a:pPr lvl="0">
              <a:lnSpc>
                <a:spcPct val="150000"/>
              </a:lnSpc>
            </a:pPr>
            <a:r>
              <a:rPr lang="en-US" sz="1800" dirty="0">
                <a:solidFill>
                  <a:srgbClr val="0070C0"/>
                </a:solidFill>
              </a:rPr>
              <a:t>Office hours: Tuesdays after the lecture</a:t>
            </a:r>
          </a:p>
          <a:p>
            <a:pPr lvl="0"/>
            <a:endParaRPr lang="en-US" sz="1800" dirty="0"/>
          </a:p>
        </p:txBody>
      </p:sp>
    </p:spTree>
    <p:extLst>
      <p:ext uri="{BB962C8B-B14F-4D97-AF65-F5344CB8AC3E}">
        <p14:creationId xmlns:p14="http://schemas.microsoft.com/office/powerpoint/2010/main" val="1731285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werpoint  -  Read-Only" id="{EE55E3D0-0BAF-6A49-AA8E-8F263B90EDBA}" vid="{0CF5F349-2021-3A4E-9242-40A9D19500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5bd5d15-c8c7-4a08-a581-ad858f9537bc" xsi:nil="true"/>
    <lcf76f155ced4ddcb4097134ff3c332f xmlns="51947a9a-b379-44ec-ba92-0b580fcd88c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D636429A6E36D4181F2717D9C82FA19" ma:contentTypeVersion="18" ma:contentTypeDescription="Create a new document." ma:contentTypeScope="" ma:versionID="3495257934bf8a2aadcd26b39434f447">
  <xsd:schema xmlns:xsd="http://www.w3.org/2001/XMLSchema" xmlns:xs="http://www.w3.org/2001/XMLSchema" xmlns:p="http://schemas.microsoft.com/office/2006/metadata/properties" xmlns:ns2="51947a9a-b379-44ec-ba92-0b580fcd88c6" xmlns:ns3="35bd5d15-c8c7-4a08-a581-ad858f9537bc" targetNamespace="http://schemas.microsoft.com/office/2006/metadata/properties" ma:root="true" ma:fieldsID="df7ca6b90c74802e8c59c9d6e21929b2" ns2:_="" ns3:_="">
    <xsd:import namespace="51947a9a-b379-44ec-ba92-0b580fcd88c6"/>
    <xsd:import namespace="35bd5d15-c8c7-4a08-a581-ad858f9537b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GenerationTime" minOccurs="0"/>
                <xsd:element ref="ns2:MediaServiceEventHashCode" minOccurs="0"/>
                <xsd:element ref="ns2:MediaServiceOCR"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47a9a-b379-44ec-ba92-0b580fcd88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60370ab-239c-4f69-b9f9-a829e5a5e9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bd5d15-c8c7-4a08-a581-ad858f9537b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5f2df4c-31ca-49d4-a813-e4ccb5e76347}" ma:internalName="TaxCatchAll" ma:showField="CatchAllData" ma:web="35bd5d15-c8c7-4a08-a581-ad858f953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59FC1F-AC2E-46FB-8A96-03F812DE5545}">
  <ds:schemaRefs>
    <ds:schemaRef ds:uri="http://schemas.microsoft.com/office/2006/metadata/properties"/>
    <ds:schemaRef ds:uri="http://schemas.microsoft.com/office/infopath/2007/PartnerControls"/>
    <ds:schemaRef ds:uri="35bd5d15-c8c7-4a08-a581-ad858f9537bc"/>
    <ds:schemaRef ds:uri="51947a9a-b379-44ec-ba92-0b580fcd88c6"/>
  </ds:schemaRefs>
</ds:datastoreItem>
</file>

<file path=customXml/itemProps2.xml><?xml version="1.0" encoding="utf-8"?>
<ds:datastoreItem xmlns:ds="http://schemas.openxmlformats.org/officeDocument/2006/customXml" ds:itemID="{D20FFB76-CCE5-4D43-89A2-3DA16FC4EBE1}">
  <ds:schemaRefs>
    <ds:schemaRef ds:uri="http://schemas.microsoft.com/sharepoint/v3/contenttype/forms"/>
  </ds:schemaRefs>
</ds:datastoreItem>
</file>

<file path=customXml/itemProps3.xml><?xml version="1.0" encoding="utf-8"?>
<ds:datastoreItem xmlns:ds="http://schemas.openxmlformats.org/officeDocument/2006/customXml" ds:itemID="{87C0D5ED-1E5F-47F0-9FE5-043EE27563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947a9a-b379-44ec-ba92-0b580fcd88c6"/>
    <ds:schemaRef ds:uri="35bd5d15-c8c7-4a08-a581-ad858f9537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5449</TotalTime>
  <Words>2758</Words>
  <Application>Microsoft Macintosh PowerPoint</Application>
  <PresentationFormat>Widescreen</PresentationFormat>
  <Paragraphs>381</Paragraphs>
  <Slides>46</Slides>
  <Notes>16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4" baseType="lpstr">
      <vt:lpstr>Aptos</vt:lpstr>
      <vt:lpstr>Arial</vt:lpstr>
      <vt:lpstr>Cambria Math</vt:lpstr>
      <vt:lpstr>Lucida Grande</vt:lpstr>
      <vt:lpstr>Symbol</vt:lpstr>
      <vt:lpstr>Wingdings</vt:lpstr>
      <vt:lpstr>Office Theme</vt:lpstr>
      <vt:lpstr>Document</vt:lpstr>
      <vt:lpstr>Introduction to Investments, Asset Classes, Risk and Return </vt:lpstr>
      <vt:lpstr>SMM148 Securities &amp; Investments Course…</vt:lpstr>
      <vt:lpstr>Investment and Investment Process</vt:lpstr>
      <vt:lpstr>What is an investment?</vt:lpstr>
      <vt:lpstr>Why do we invest?</vt:lpstr>
      <vt:lpstr>Investment process</vt:lpstr>
      <vt:lpstr>Asset classes as part of investment portfolio</vt:lpstr>
      <vt:lpstr>Traditional vs. alternative asset classes</vt:lpstr>
      <vt:lpstr>PowerPoint Presentation</vt:lpstr>
      <vt:lpstr>Domestic Market Equity</vt:lpstr>
      <vt:lpstr>Domestic Market Fixed Income</vt:lpstr>
      <vt:lpstr>International equity and fixed income</vt:lpstr>
      <vt:lpstr>Developed Markets Outperform Emerging in the long-run</vt:lpstr>
      <vt:lpstr>High yield fixed income</vt:lpstr>
      <vt:lpstr>Convertible bonds</vt:lpstr>
      <vt:lpstr>Cash equivalents</vt:lpstr>
      <vt:lpstr>A historical look at cumulative returns from equities, bonds and cash (%): US </vt:lpstr>
      <vt:lpstr>Alternative investments: Commodities - Gold</vt:lpstr>
      <vt:lpstr>PowerPoint Presentation</vt:lpstr>
      <vt:lpstr>Alternative investments: Hedge funds</vt:lpstr>
      <vt:lpstr>PowerPoint Presentation</vt:lpstr>
      <vt:lpstr>Historical length of recovery periods after crisis (source: UBS Global Investment Returns Yearbook, 2025, available on Moodle)</vt:lpstr>
      <vt:lpstr>Alternative investments: Private equity and credit</vt:lpstr>
      <vt:lpstr>Global PE Deal Value and Deal Count  (Source: McKinsey Global Private Markets Report 2026, available on Moodle)</vt:lpstr>
      <vt:lpstr>Alternative investments: Real estate</vt:lpstr>
      <vt:lpstr>Alternative Investments: Infrastructure</vt:lpstr>
      <vt:lpstr>Invesco survey: Infrastructure considered the most attractive private market segment to invest in for SWFs (https://www.invesco.com/content/dam/invesco/apac/en/pdf/insights/2023/july/igsam-main-study-july-2023.pdf)</vt:lpstr>
      <vt:lpstr>Integrating Alternatives with Traditional Asset Classes</vt:lpstr>
      <vt:lpstr>Integrating Alternatives with Traditional Asset Classes</vt:lpstr>
      <vt:lpstr>Integrating Alternatives with Traditional Asset Classes</vt:lpstr>
      <vt:lpstr>Technicalities to start from: Risk, Return, Risk free asset and Risk Premium</vt:lpstr>
      <vt:lpstr>Facts about risk and return </vt:lpstr>
      <vt:lpstr>Converting Prices into Rate of Returns</vt:lpstr>
      <vt:lpstr>Converting Prices into Returns - Example</vt:lpstr>
      <vt:lpstr> Which rate of return to use?</vt:lpstr>
      <vt:lpstr>Quantifying the Risk of an Investment</vt:lpstr>
      <vt:lpstr>Scenario Analysis and Probability Distribution</vt:lpstr>
      <vt:lpstr>Example : Scenario Analysis</vt:lpstr>
      <vt:lpstr>Standard Deviation (σ) and Variance (σ2) </vt:lpstr>
      <vt:lpstr>Skewness and Kurtosis</vt:lpstr>
      <vt:lpstr>Tail Risk </vt:lpstr>
      <vt:lpstr>Semi-Deviation (σD) and Semi-Variance (σD2) </vt:lpstr>
      <vt:lpstr>Risk Free Rate</vt:lpstr>
      <vt:lpstr>Risk Premium and Risk Aversion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(Public) Asset Management</dc:title>
  <dc:creator>Owen, Zoe</dc:creator>
  <cp:lastModifiedBy>PG-Zhong, Yuguang</cp:lastModifiedBy>
  <cp:revision>25</cp:revision>
  <dcterms:created xsi:type="dcterms:W3CDTF">2024-07-17T12:41:19Z</dcterms:created>
  <dcterms:modified xsi:type="dcterms:W3CDTF">2026-10-16T11:38:09Z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6c24981-b6df-48f8-949b-0896357b9b03_Enabled">
    <vt:lpwstr>true</vt:lpwstr>
  </property>
  <property fmtid="{D5CDD505-2E9C-101B-9397-08002B2CF9AE}" pid="3" name="MSIP_Label_06c24981-b6df-48f8-949b-0896357b9b03_SetDate">
    <vt:lpwstr>2024-07-09T13:37:50Z</vt:lpwstr>
  </property>
  <property fmtid="{D5CDD505-2E9C-101B-9397-08002B2CF9AE}" pid="4" name="MSIP_Label_06c24981-b6df-48f8-949b-0896357b9b03_Method">
    <vt:lpwstr>Standard</vt:lpwstr>
  </property>
  <property fmtid="{D5CDD505-2E9C-101B-9397-08002B2CF9AE}" pid="5" name="MSIP_Label_06c24981-b6df-48f8-949b-0896357b9b03_Name">
    <vt:lpwstr>Official</vt:lpwstr>
  </property>
  <property fmtid="{D5CDD505-2E9C-101B-9397-08002B2CF9AE}" pid="6" name="MSIP_Label_06c24981-b6df-48f8-949b-0896357b9b03_SiteId">
    <vt:lpwstr>dd615949-5bd0-4da0-ac52-28ef8d336373</vt:lpwstr>
  </property>
  <property fmtid="{D5CDD505-2E9C-101B-9397-08002B2CF9AE}" pid="7" name="MSIP_Label_06c24981-b6df-48f8-949b-0896357b9b03_ActionId">
    <vt:lpwstr>31af5868-b9af-4160-8bf7-e70a2e425d89</vt:lpwstr>
  </property>
  <property fmtid="{D5CDD505-2E9C-101B-9397-08002B2CF9AE}" pid="8" name="MSIP_Label_06c24981-b6df-48f8-949b-0896357b9b03_ContentBits">
    <vt:lpwstr>0</vt:lpwstr>
  </property>
  <property fmtid="{D5CDD505-2E9C-101B-9397-08002B2CF9AE}" pid="9" name="ContentTypeId">
    <vt:lpwstr>0x010100FD636429A6E36D4181F2717D9C82FA19</vt:lpwstr>
  </property>
</Properties>
</file>