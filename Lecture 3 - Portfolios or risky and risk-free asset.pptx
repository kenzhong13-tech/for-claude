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0" r:id="rId5"/>
    <p:sldId id="289" r:id="rId6"/>
    <p:sldId id="290" r:id="rId7"/>
    <p:sldId id="302" r:id="rId8"/>
    <p:sldId id="303" r:id="rId9"/>
    <p:sldId id="29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275" r:id="rId20"/>
    <p:sldId id="277" r:id="rId21"/>
    <p:sldId id="278" r:id="rId22"/>
    <p:sldId id="291" r:id="rId23"/>
    <p:sldId id="281" r:id="rId24"/>
    <p:sldId id="313" r:id="rId25"/>
    <p:sldId id="292" r:id="rId26"/>
    <p:sldId id="359" r:id="rId27"/>
    <p:sldId id="283" r:id="rId28"/>
    <p:sldId id="284" r:id="rId29"/>
    <p:sldId id="285" r:id="rId30"/>
    <p:sldId id="286" r:id="rId31"/>
    <p:sldId id="287" r:id="rId32"/>
    <p:sldId id="288" r:id="rId33"/>
    <p:sldId id="2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Sheet1!$C$7</c:f>
              <c:strCache>
                <c:ptCount val="1"/>
                <c:pt idx="0">
                  <c:v>Std. Deviation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1698883778065356E-2"/>
                  <c:y val="1.686840712425509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dirty="0"/>
                      <a:t>rf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19442565627433E-2"/>
                      <c:h val="5.939137912664273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57DF-DE4E-B37A-E4BE90AA348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DF-DE4E-B37A-E4BE90AA3485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800" dirty="0"/>
                      <a:t>AC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57DF-DE4E-B37A-E4BE90AA348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DF-DE4E-B37A-E4BE90AA34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Sheet1!$C$8:$C$11</c:f>
              <c:numCache>
                <c:formatCode>0.00%</c:formatCode>
                <c:ptCount val="4"/>
                <c:pt idx="0" formatCode="General">
                  <c:v>0</c:v>
                </c:pt>
                <c:pt idx="1">
                  <c:v>3.0800000000000001E-2</c:v>
                </c:pt>
                <c:pt idx="2">
                  <c:v>0.123</c:v>
                </c:pt>
                <c:pt idx="3">
                  <c:v>0.15379999999999999</c:v>
                </c:pt>
              </c:numCache>
            </c:numRef>
          </c:xVal>
          <c:yVal>
            <c:numRef>
              <c:f>Sheet1!$B$8:$B$11</c:f>
              <c:numCache>
                <c:formatCode>0.00%</c:formatCode>
                <c:ptCount val="4"/>
                <c:pt idx="0" formatCode="0%">
                  <c:v>0.04</c:v>
                </c:pt>
                <c:pt idx="1">
                  <c:v>7.3800000000000004E-2</c:v>
                </c:pt>
                <c:pt idx="2">
                  <c:v>0.17519999999999999</c:v>
                </c:pt>
                <c:pt idx="3">
                  <c:v>0.20899999999999999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57DF-DE4E-B37A-E4BE90AA3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1622239"/>
        <c:axId val="1081433487"/>
      </c:scatterChart>
      <c:valAx>
        <c:axId val="1081622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St. Deviation </a:t>
                </a:r>
              </a:p>
            </c:rich>
          </c:tx>
          <c:layout>
            <c:manualLayout>
              <c:xMode val="edge"/>
              <c:yMode val="edge"/>
              <c:x val="0.36903163644252734"/>
              <c:y val="0.9247067834019946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433487"/>
        <c:crosses val="autoZero"/>
        <c:crossBetween val="midCat"/>
      </c:valAx>
      <c:valAx>
        <c:axId val="108143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Exp. Return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6222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0.67412</cdr:x>
      <cdr:y>0.16469</cdr:y>
    </cdr:from>
    <cdr:to>
      <cdr:x>0.83099</cdr:x>
      <cdr:y>0.21211</cdr:y>
    </cdr:to>
    <cdr:sp macro="" textlink="">
      <cdr:nvSpPr>
        <cdr:cNvPr id="2" name="Right Brace 1">
          <a:extLst xmlns:a="http://schemas.openxmlformats.org/drawingml/2006/main">
            <a:ext uri="{FF2B5EF4-FFF2-40B4-BE49-F238E27FC236}">
              <a16:creationId xmlns:a16="http://schemas.microsoft.com/office/drawing/2014/main" id="{E9BF16F5-CEB2-1E45-BD6B-06E7F6DDF7D4}"/>
            </a:ext>
          </a:extLst>
        </cdr:cNvPr>
        <cdr:cNvSpPr/>
      </cdr:nvSpPr>
      <cdr:spPr>
        <a:xfrm xmlns:a="http://schemas.openxmlformats.org/drawingml/2006/main" rot="14715164">
          <a:off x="5790564" y="230602"/>
          <a:ext cx="212736" cy="1229201"/>
        </a:xfrm>
        <a:prstGeom xmlns:a="http://schemas.openxmlformats.org/drawingml/2006/main" prst="rightBrace">
          <a:avLst>
            <a:gd name="adj1" fmla="val 7789"/>
            <a:gd name="adj2" fmla="val 48267"/>
          </a:avLst>
        </a:prstGeom>
        <a:ln xmlns:a="http://schemas.openxmlformats.org/drawingml/2006/main">
          <a:solidFill>
            <a:srgbClr val="0070C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0.29971</cdr:x>
      <cdr:y>0.38015</cdr:y>
    </cdr:from>
    <cdr:to>
      <cdr:x>0.41778</cdr:x>
      <cdr:y>0.46248</cdr:y>
    </cdr:to>
    <cdr:sp macro="" textlink="">
      <cdr:nvSpPr>
        <cdr:cNvPr id="3" name="TextBox 8">
          <a:extLst xmlns:a="http://schemas.openxmlformats.org/drawingml/2006/main">
            <a:ext uri="{FF2B5EF4-FFF2-40B4-BE49-F238E27FC236}">
              <a16:creationId xmlns:a16="http://schemas.microsoft.com/office/drawing/2014/main" id="{232CE160-79A9-864B-B617-7864B1AE0E64}"/>
            </a:ext>
          </a:extLst>
        </cdr:cNvPr>
        <cdr:cNvSpPr txBox="1"/>
      </cdr:nvSpPr>
      <cdr:spPr>
        <a:xfrm xmlns:a="http://schemas.openxmlformats.org/drawingml/2006/main" rot="20197994">
          <a:off x="2348523" y="1705458"/>
          <a:ext cx="925185" cy="36935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>
              <a:solidFill>
                <a:srgbClr val="FF0000"/>
              </a:solidFill>
            </a:rPr>
            <a:t>Lending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2205" y="2331889"/>
            <a:ext cx="4707924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1)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41393" y="3988073"/>
            <a:ext cx="4707924" cy="485073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6313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61" y="2331889"/>
            <a:ext cx="4707924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5749" y="3988073"/>
            <a:ext cx="4707924" cy="485073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494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DDA1CF-CC3B-52BE-93DB-F49F04C335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1415" y="428948"/>
            <a:ext cx="9156358" cy="1296144"/>
          </a:xfrm>
        </p:spPr>
        <p:txBody>
          <a:bodyPr/>
          <a:lstStyle>
            <a:lvl1pPr algn="l">
              <a:defRPr sz="40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(Cover option 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37063-BEEF-7D62-9408-D095FAB104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0603" y="2085132"/>
            <a:ext cx="9156358" cy="4343920"/>
          </a:xfrm>
        </p:spPr>
        <p:txBody>
          <a:bodyPr/>
          <a:lstStyle>
            <a:lvl1pPr marL="0" indent="0" algn="l">
              <a:buClr>
                <a:srgbClr val="C9122B"/>
              </a:buClr>
              <a:buFont typeface="Lucida Grande"/>
              <a:buNone/>
              <a:defRPr sz="2800">
                <a:solidFill>
                  <a:schemeClr val="bg1"/>
                </a:solidFill>
              </a:defRPr>
            </a:lvl1pPr>
            <a:lvl2pPr marL="347659" indent="-166686">
              <a:buClr>
                <a:srgbClr val="C9122B"/>
              </a:buClr>
              <a:buFont typeface="Lucida Grande"/>
              <a:buChar char="■"/>
              <a:defRPr/>
            </a:lvl2pPr>
            <a:lvl3pPr marL="538158" indent="-188911">
              <a:buClr>
                <a:srgbClr val="C9122B"/>
              </a:buClr>
              <a:buFont typeface="Lucida Grande"/>
              <a:buChar char="■"/>
              <a:defRPr/>
            </a:lvl3pPr>
            <a:lvl4pPr marL="712781" indent="-173037">
              <a:buClr>
                <a:srgbClr val="C9122B"/>
              </a:buClr>
              <a:buFont typeface="Lucida Grande"/>
              <a:buChar char="■"/>
              <a:defRPr sz="1800"/>
            </a:lvl4pPr>
            <a:lvl5pPr marL="898516" indent="-184148">
              <a:buClr>
                <a:srgbClr val="C9122B"/>
              </a:buClr>
              <a:buFont typeface="Lucida Grande"/>
              <a:buChar char="■"/>
              <a:defRPr sz="1800"/>
            </a:lvl5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253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8" y="335268"/>
            <a:ext cx="9324290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8" y="1309816"/>
            <a:ext cx="9324290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31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47" y="332258"/>
            <a:ext cx="9200723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47" y="1309817"/>
            <a:ext cx="10399329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2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1154" y="1458097"/>
            <a:ext cx="3831387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344415"/>
            <a:ext cx="9088683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58097"/>
            <a:ext cx="5658453" cy="5141784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70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7379">
          <p15:clr>
            <a:srgbClr val="FBAE40"/>
          </p15:clr>
        </p15:guide>
        <p15:guide id="3" pos="3719">
          <p15:clr>
            <a:srgbClr val="FBAE40"/>
          </p15:clr>
        </p15:guide>
        <p15:guide id="4" pos="3961">
          <p15:clr>
            <a:srgbClr val="FBAE40"/>
          </p15:clr>
        </p15:guide>
        <p15:guide id="5" orient="horz" pos="324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F6B355-92FE-8F40-AFC6-7F97430F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497" y="1285103"/>
            <a:ext cx="4537379" cy="5166497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 sz="1800"/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 sz="1650"/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 sz="1500"/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/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37A479-2A14-1544-9DFD-0E49B60F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298197"/>
            <a:ext cx="9250149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17C1E-EE6F-E246-8DCE-66C8D904C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285103"/>
            <a:ext cx="5658453" cy="5166497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8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  <p15:guide id="2" pos="7379">
          <p15:clr>
            <a:srgbClr val="FBAE40"/>
          </p15:clr>
        </p15:guide>
        <p15:guide id="3" pos="3719">
          <p15:clr>
            <a:srgbClr val="FBAE40"/>
          </p15:clr>
        </p15:guide>
        <p15:guide id="4" pos="3961">
          <p15:clr>
            <a:srgbClr val="FBAE40"/>
          </p15:clr>
        </p15:guide>
        <p15:guide id="5" orient="horz" pos="324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1334530"/>
            <a:ext cx="3462341" cy="511706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319903"/>
            <a:ext cx="9323462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334530"/>
            <a:ext cx="5658453" cy="5117070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0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8345D86-D420-FF49-8849-9F3A0AD28E5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99497" y="1322173"/>
            <a:ext cx="4549735" cy="51294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496A52-D758-0B4A-89BF-3CD4F599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310554"/>
            <a:ext cx="9237794" cy="785542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D1ADA29-50F7-A347-969E-20006A64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322174"/>
            <a:ext cx="5658453" cy="5129426"/>
          </a:xfrm>
        </p:spPr>
        <p:txBody>
          <a:bodyPr/>
          <a:lstStyle>
            <a:lvl1pPr marL="134541" indent="-134541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1pPr>
            <a:lvl2pPr marL="260747" indent="-125016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2pPr>
            <a:lvl3pPr marL="403622" indent="-141685">
              <a:buClr>
                <a:srgbClr val="C9122B"/>
              </a:buClr>
              <a:buFont typeface="Lucida Grande"/>
              <a:buChar char="■"/>
              <a:defRPr>
                <a:solidFill>
                  <a:schemeClr val="tx1"/>
                </a:solidFill>
              </a:defRPr>
            </a:lvl3pPr>
            <a:lvl4pPr marL="534591" indent="-129779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4pPr>
            <a:lvl5pPr marL="673894" indent="-138113">
              <a:buClr>
                <a:srgbClr val="C9122B"/>
              </a:buClr>
              <a:buFont typeface="Lucida Grande"/>
              <a:buChar char="■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73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  <p15:guide id="2" pos="301">
          <p15:clr>
            <a:srgbClr val="FBAE40"/>
          </p15:clr>
        </p15:guide>
        <p15:guide id="3" pos="73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9B93E9-946F-6845-8402-931426E9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9064798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B72CCB6-2CD4-EF46-AEC6-D480E2696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441470"/>
            <a:ext cx="9064799" cy="447053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E0B6D0F-76A7-FD4E-9B91-21EA5661F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9064798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51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23D9-ECCD-2741-5F1F-90F7C7A3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107276"/>
            <a:ext cx="9126582" cy="51521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B10B7-EAC8-B183-F77B-44B41CA23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547" y="441470"/>
            <a:ext cx="9126583" cy="447053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A1F4D-EF2D-BC5D-CB36-AFC71E0EC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7547" y="5684838"/>
            <a:ext cx="9126582" cy="73169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7048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4C9520-5175-3E3C-D440-C1C59A067B82}"/>
              </a:ext>
            </a:extLst>
          </p:cNvPr>
          <p:cNvSpPr txBox="1"/>
          <p:nvPr userDrawn="1"/>
        </p:nvSpPr>
        <p:spPr>
          <a:xfrm>
            <a:off x="491182" y="4961405"/>
            <a:ext cx="2981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Bayes Business School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106 Bunhill Row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London EC1Y 8TZ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Tel + 44 (0)20 7040 8600</a:t>
            </a: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bayes.city.ac.uk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60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4C9520-5175-3E3C-D440-C1C59A067B82}"/>
              </a:ext>
            </a:extLst>
          </p:cNvPr>
          <p:cNvSpPr txBox="1"/>
          <p:nvPr userDrawn="1"/>
        </p:nvSpPr>
        <p:spPr>
          <a:xfrm>
            <a:off x="491182" y="4961405"/>
            <a:ext cx="2981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Bayes Business School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33 Finsbury Square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London EC2A 1AG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Tel + 44 (0)20 7040 8600</a:t>
            </a: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bayes.city.ac.uk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17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79">
          <p15:clr>
            <a:srgbClr val="FBAE40"/>
          </p15:clr>
        </p15:guide>
        <p15:guide id="3" pos="3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89DF3B3-CB51-0841-9988-2C74B62B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4398154"/>
            <a:ext cx="5758543" cy="48315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AA18C7-22AE-6F47-9EF7-4EA3DA141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307814"/>
            <a:ext cx="5758543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1693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ivider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2870EF4-331B-1641-B431-890653011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20888"/>
            <a:ext cx="5769429" cy="1008112"/>
          </a:xfrm>
          <a:noFill/>
        </p:spPr>
        <p:txBody>
          <a:bodyPr anchor="ctr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889D59F-9699-EC45-9CCC-C83B922D8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556049"/>
            <a:ext cx="5769429" cy="881062"/>
          </a:xfrm>
          <a:noFill/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D951E-9554-8F4A-A8DB-C0A96A57E94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0" y="6381549"/>
            <a:ext cx="5769430" cy="311082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rgbClr val="999999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 dirty="0"/>
              <a:t>Bayes Business School (formerly Cass)</a:t>
            </a:r>
          </a:p>
        </p:txBody>
      </p:sp>
    </p:spTree>
    <p:extLst>
      <p:ext uri="{BB962C8B-B14F-4D97-AF65-F5344CB8AC3E}">
        <p14:creationId xmlns:p14="http://schemas.microsoft.com/office/powerpoint/2010/main" val="2397058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4">
          <p15:clr>
            <a:srgbClr val="FBAE40"/>
          </p15:clr>
        </p15:guide>
        <p15:guide id="3" pos="7076">
          <p15:clr>
            <a:srgbClr val="FBAE40"/>
          </p15:clr>
        </p15:guide>
        <p15:guide id="4" pos="907">
          <p15:clr>
            <a:srgbClr val="FBAE40"/>
          </p15:clr>
        </p15:guide>
        <p15:guide id="5" pos="677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Final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909458" y="2547717"/>
            <a:ext cx="6498772" cy="1762566"/>
          </a:xfrm>
        </p:spPr>
        <p:txBody>
          <a:bodyPr anchor="ctr" anchorCtr="0"/>
          <a:lstStyle>
            <a:lvl1pPr marL="0" indent="0" algn="ctr">
              <a:buNone/>
              <a:defRPr lang="en-US" sz="2000" smtClean="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Bayes Business School</a:t>
            </a:r>
          </a:p>
          <a:p>
            <a:pPr lvl="0"/>
            <a:r>
              <a:rPr lang="en-US" dirty="0"/>
              <a:t>(formerly Cass)</a:t>
            </a:r>
          </a:p>
          <a:p>
            <a:pPr lvl="0"/>
            <a:r>
              <a:rPr lang="en-US" dirty="0"/>
              <a:t>106 </a:t>
            </a:r>
            <a:r>
              <a:rPr lang="en-US" dirty="0" err="1"/>
              <a:t>Bunhill</a:t>
            </a:r>
            <a:r>
              <a:rPr lang="en-US" dirty="0"/>
              <a:t> Row</a:t>
            </a:r>
          </a:p>
          <a:p>
            <a:pPr lvl="0"/>
            <a:r>
              <a:rPr lang="en-US" dirty="0"/>
              <a:t>London EC1Y 8TZ</a:t>
            </a:r>
          </a:p>
          <a:p>
            <a:pPr lvl="0"/>
            <a:r>
              <a:rPr lang="en-US" dirty="0"/>
              <a:t>Tel + 44 (0)20 7040 8600</a:t>
            </a:r>
          </a:p>
          <a:p>
            <a:pPr lvl="0"/>
            <a:r>
              <a:rPr lang="en-US" dirty="0" err="1"/>
              <a:t>bayes.city.ac.uk</a:t>
            </a:r>
            <a:endParaRPr lang="en-US" dirty="0"/>
          </a:p>
        </p:txBody>
      </p:sp>
      <p:sp>
        <p:nvSpPr>
          <p:cNvPr id="25" name="AutoShape 3"/>
          <p:cNvSpPr>
            <a:spLocks noChangeAspect="1" noChangeArrowheads="1" noTextEdit="1"/>
          </p:cNvSpPr>
          <p:nvPr/>
        </p:nvSpPr>
        <p:spPr bwMode="auto">
          <a:xfrm>
            <a:off x="4271798" y="3249095"/>
            <a:ext cx="3936572" cy="2215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10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3E482-9D17-6A0D-5713-3FD61DD3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7EB61-A9F0-7F83-B9F8-7B0A40604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B5F4-4E75-D9CC-24E0-8FE2595AF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11DD3-7A43-854F-A3AE-657852C1518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900EE-6D9D-CB75-733D-D6D88B811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D2BF-2CD7-399E-1E2B-243F98A29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7B854-0E4A-2F4C-B2C1-C1C4D37D9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6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61726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61726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3.tif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natasha.todorovic.1@city.ac.uk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FEEFD1-578A-4646-AA49-E14796A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Portfolio Theory II: Characteristics of </a:t>
            </a:r>
            <a:r>
              <a:rPr lang="en-GB" sz="3200" dirty="0">
                <a:latin typeface="Arial" panose="020B0604020202020204" pitchFamily="34" charset="0"/>
                <a:ea typeface="Times New Roman" panose="02020603050405020304" pitchFamily="18" charset="0"/>
              </a:rPr>
              <a:t>P</a:t>
            </a:r>
            <a:r>
              <a:rPr lang="en-GB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ortfolios of </a:t>
            </a:r>
            <a:r>
              <a:rPr lang="en-GB" sz="3200" dirty="0"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lang="en-GB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isky and Risk-free </a:t>
            </a:r>
            <a:r>
              <a:rPr lang="en-GB" sz="3200" dirty="0"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n-GB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ssets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</a:br>
            <a:endParaRPr lang="en-US" sz="3200" dirty="0"/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296561" y="4397147"/>
            <a:ext cx="4707924" cy="485073"/>
          </a:xfrm>
        </p:spPr>
        <p:txBody>
          <a:bodyPr/>
          <a:lstStyle/>
          <a:p>
            <a:r>
              <a:rPr lang="en-US" dirty="0"/>
              <a:t>Dr. Natasha </a:t>
            </a:r>
            <a:r>
              <a:rPr lang="en-US" dirty="0" err="1"/>
              <a:t>Todorovic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93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F364BF-3217-A544-A9F9-9A3699BB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4" y="2420888"/>
            <a:ext cx="5042919" cy="100811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Risk-free asset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risk-free investing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9A521-BBF2-4C4E-9788-1E509838FF61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DE23967-DB0C-DD4F-AE82-E67128852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376" y="433658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Definition of a risk-free asset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55ED5E0E-1E36-1042-99C3-0C9E0860D388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8376" y="1379220"/>
                <a:ext cx="9497367" cy="441960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Provides investors with a certain return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return of the risk –free asset = Actual return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 deviation of zero (in theory, but this is what we will assume throughout these </a:t>
                </a:r>
                <a:r>
                  <a:rPr lang="en-US" alt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lectrues)</a:t>
                </a:r>
                <a:endParaRPr lang="en-US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Covariance between returns of a risky asset and risk-free asset is zero: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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ij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 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ij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 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i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 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j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If 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j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0, then 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ij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0</a:t>
                </a:r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55ED5E0E-1E36-1042-99C3-0C9E0860D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376" y="1379220"/>
                <a:ext cx="9497367" cy="4419600"/>
              </a:xfrm>
              <a:blipFill>
                <a:blip r:embed="rId2"/>
                <a:stretch>
                  <a:fillRect l="-801" b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93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9845-1BD0-1D45-BCC0-415445EB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62323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Risk-free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ED3E-A161-2247-A712-A4D955191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631950"/>
            <a:ext cx="9497367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a default free fixed income security without interest rate and re-investment risk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Hence, in theory, it should be a default-free fixed income security with maturity/duration matching investors investment horizon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application of the efficient frontier construction, we assume that risk-free asset is short term money market instrument such as T-bill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49AD-DDB8-494F-9E28-97C6A7B2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50893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Investing in the risk-free 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F2FD-5113-754F-92CE-BF46BE117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47" y="1494789"/>
            <a:ext cx="9497367" cy="499023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Risk free lending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buying risk-free asset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Risk free borrowing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borrowing a risk-free asset in order to short sell and use the money for investment in risky assets (borrowing at a risk-free rate)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Assumptions for risk-free borrowing: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Borrowing rate is equal to the lending rate</a:t>
            </a:r>
            <a:endParaRPr lang="en-US" altLang="en-US" sz="2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Interest rate for borrowing is known and there is no uncertainty about repaying the loan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Negative weights assigned to borrowed funds and weight greater than one is assigned to the risky asset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sum of weights still has to be equal to 1.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1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F364BF-3217-A544-A9F9-9A3699BB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420888"/>
            <a:ext cx="5661764" cy="100811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Portfolios of one risky and one risk-free asset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731B0-CEEF-D348-B992-0BD940BAF18D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2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3AE7-4110-2E48-BEFD-0DF8F5BCA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47" y="574956"/>
            <a:ext cx="11315248" cy="785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Risk and return of portfolio of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risky and a risk-free asset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616C22-1DF6-BF43-94DB-C877190E14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7" y="1769110"/>
                <a:ext cx="9497367" cy="44196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us assume that investor can place part of his funds in a risky asset, let’s denote it by 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of a risky asset is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Further, they engage in either risk-free lending or borrowing, let’s denote risk free investment by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of risk-free asset is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proportion of investment assigned to asset 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the proportion of investment in risk-free asset with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so that: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=1.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616C22-1DF6-BF43-94DB-C877190E1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769110"/>
                <a:ext cx="9497367" cy="4419600"/>
              </a:xfrm>
              <a:blipFill>
                <a:blip r:embed="rId2"/>
                <a:stretch>
                  <a:fillRect l="-534" r="-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20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A4DB-BA1A-0040-8B35-5B15D14B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9" y="423579"/>
            <a:ext cx="10515600" cy="6321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Expected return of portfolio of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risky and a risk-free asset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5EB82-52F0-8E4F-ADB4-1E79A8C87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243" y="1458228"/>
                <a:ext cx="10515600" cy="4808281"/>
              </a:xfrm>
            </p:spPr>
            <p:txBody>
              <a:bodyPr>
                <a:normAutofit fontScale="475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sz="4200" dirty="0"/>
                  <a:t>If the expected return of risky asset is </a:t>
                </a:r>
                <a14:m>
                  <m:oMath xmlns:m="http://schemas.openxmlformats.org/officeDocument/2006/math">
                    <m:r>
                      <a:rPr lang="en-US" sz="42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4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4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sz="4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4200" dirty="0"/>
                  <a:t> then the expected return of a portfolio of 1 risky and 1 risk-free asset is:</a:t>
                </a:r>
              </a:p>
              <a:p>
                <a:pPr>
                  <a:lnSpc>
                    <a:spcPct val="12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en-US" sz="4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0" dirty="0"/>
                  <a:t>	</a:t>
                </a:r>
                <a14:m>
                  <m:oMath xmlns:m="http://schemas.openxmlformats.org/officeDocument/2006/math"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5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5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5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1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eq. (1)</a:t>
                </a:r>
              </a:p>
              <a:p>
                <a:endParaRPr lang="en-US" sz="51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5EB82-52F0-8E4F-ADB4-1E79A8C87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243" y="1458228"/>
                <a:ext cx="10515600" cy="4808281"/>
              </a:xfrm>
              <a:blipFill>
                <a:blip r:embed="rId2"/>
                <a:stretch>
                  <a:fillRect l="-603" b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4FB66450-EAF8-AB49-BFC5-92772C7D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761" y="2404016"/>
            <a:ext cx="211857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3328C95-D5DA-8F49-A021-000088DD8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964547"/>
              </p:ext>
            </p:extLst>
          </p:nvPr>
        </p:nvGraphicFramePr>
        <p:xfrm>
          <a:off x="1387441" y="2404016"/>
          <a:ext cx="3498860" cy="2789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6100" imgH="1447800" progId="Equation.3">
                  <p:embed/>
                </p:oleObj>
              </mc:Choice>
              <mc:Fallback>
                <p:oleObj r:id="rId3" imgW="1816100" imgH="1447800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3328C95-D5DA-8F49-A021-000088DD8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41" y="2404016"/>
                        <a:ext cx="3498860" cy="2789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0FA4B53-3300-AC4D-9868-DB91C0A0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7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4023-4910-3E45-83BF-6C5D1CA3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438129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Risk of portfolio of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risky and a risk-free asset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EB832-A600-B34F-AAE0-AC427D830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376" y="1287171"/>
                <a:ext cx="9497367" cy="4419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variance of such a portfolio is: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know that for the risk-free asset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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f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0 and 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E,f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0, so the equation becomes: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eq(2)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we replace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the equation for expected return of this  2-asset portfolio (eq. 1) , we obtain the </a:t>
                </a:r>
                <a:r>
                  <a:rPr lang="en-US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equation of a straight line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4EB832-A600-B34F-AAE0-AC427D830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376" y="1287171"/>
                <a:ext cx="9497367" cy="4419600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4717FC5-B40B-A549-B653-717F3FA4A0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51" y="1923463"/>
          <a:ext cx="6292957" cy="57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94000" imgH="254000" progId="Equation.3">
                  <p:embed/>
                </p:oleObj>
              </mc:Choice>
              <mc:Fallback>
                <p:oleObj r:id="rId3" imgW="2794000" imgH="2540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4717FC5-B40B-A549-B653-717F3FA4A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51" y="1923463"/>
                        <a:ext cx="6292957" cy="572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>
            <a:extLst>
              <a:ext uri="{FF2B5EF4-FFF2-40B4-BE49-F238E27FC236}">
                <a16:creationId xmlns:a16="http://schemas.microsoft.com/office/drawing/2014/main" id="{78E23CAF-EF9E-9A4A-8AA9-146872296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361" y="5372100"/>
            <a:ext cx="14963699" cy="5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A606153-1E1E-3547-9966-40572CEB5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334759"/>
              </p:ext>
            </p:extLst>
          </p:nvPr>
        </p:nvGraphicFramePr>
        <p:xfrm>
          <a:off x="679844" y="4997170"/>
          <a:ext cx="6302377" cy="88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63900" imgH="457200" progId="Equation.3">
                  <p:embed/>
                </p:oleObj>
              </mc:Choice>
              <mc:Fallback>
                <p:oleObj r:id="rId5" imgW="3263900" imgH="457200" progId="Equation.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A606153-1E1E-3547-9966-40572CEB5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44" y="4997170"/>
                        <a:ext cx="6302377" cy="886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7A8AD06-671C-344D-BC60-2F130EA5E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859" y="6050963"/>
            <a:ext cx="3454400" cy="5842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2496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6E340F-3C8D-FC4E-9489-A1BCDF40F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547" y="550893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Investing in risk-free asset and </a:t>
            </a:r>
            <a:r>
              <a:rPr lang="en-US" alt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risky asset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738B614-3554-3447-969C-40BE52D9B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7547" y="1336435"/>
            <a:ext cx="9497367" cy="44196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stocks A,B and C with the following characteristics: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Exp. return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Covariance matrix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          B           C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              16.2              146               146       187        145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               24.6              854               187       854        104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               22.8              289               145       104        289</a:t>
            </a:r>
          </a:p>
          <a:p>
            <a:pPr>
              <a:buFont typeface="Monotype Sorts" pitchFamily="2" charset="2"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a risk-free asset with a rate of return of 4% and variance of zero.</a:t>
            </a:r>
          </a:p>
        </p:txBody>
      </p:sp>
    </p:spTree>
    <p:extLst>
      <p:ext uri="{BB962C8B-B14F-4D97-AF65-F5344CB8AC3E}">
        <p14:creationId xmlns:p14="http://schemas.microsoft.com/office/powerpoint/2010/main" val="254617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D33B89C-B810-4342-ACDB-CD7CC3977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641" y="287165"/>
            <a:ext cx="11315248" cy="785542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Investing in risk-free asset and one risky asset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1A5F6D8-4C7D-E04A-9E49-B3ADF7394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0481" y="1287247"/>
            <a:ext cx="11211037" cy="5283588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Assume 9 portfolios, where we assign the following weights to </a:t>
            </a:r>
            <a:r>
              <a:rPr lang="en-US" altLang="en-US" sz="2000" u="sng" dirty="0"/>
              <a:t>asset A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en-US" sz="2000" dirty="0"/>
              <a:t>and a </a:t>
            </a:r>
            <a:r>
              <a:rPr lang="en-US" altLang="en-US" sz="2000" u="sng" dirty="0"/>
              <a:t>risk-free asset</a:t>
            </a:r>
            <a:r>
              <a:rPr lang="en-US" altLang="en-US" sz="2000" dirty="0"/>
              <a:t>:</a:t>
            </a: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							    </a:t>
            </a:r>
            <a:r>
              <a:rPr lang="en-US" altLang="en-US" sz="2000" dirty="0"/>
              <a:t>exp. return and std. dev. from  								     </a:t>
            </a:r>
            <a:r>
              <a:rPr lang="en-US" altLang="en-US" sz="2000" dirty="0">
                <a:solidFill>
                  <a:srgbClr val="0070C0"/>
                </a:solidFill>
              </a:rPr>
              <a:t>eq. (1) </a:t>
            </a:r>
            <a:r>
              <a:rPr lang="en-US" altLang="en-US" sz="2000" dirty="0"/>
              <a:t>and </a:t>
            </a:r>
            <a:r>
              <a:rPr lang="en-US" altLang="en-US" sz="2000" dirty="0">
                <a:solidFill>
                  <a:srgbClr val="0070C0"/>
                </a:solidFill>
              </a:rPr>
              <a:t>eq. 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126206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                                           </a:t>
            </a:r>
          </a:p>
          <a:p>
            <a:pPr marL="126206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                                                                                               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Lending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                                                                                                                 				  			  	   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B050"/>
                </a:solidFill>
              </a:rPr>
              <a:t>                                                                                                              Risky asset A only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B050"/>
                </a:solidFill>
              </a:rPr>
              <a:t>                                                                                                              </a:t>
            </a:r>
            <a:r>
              <a:rPr lang="en-US" altLang="en-US" sz="2000" dirty="0">
                <a:solidFill>
                  <a:srgbClr val="0070C0"/>
                </a:solidFill>
              </a:rPr>
              <a:t>Borrowing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A5F6C2-45DD-C24D-8502-1658BACED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09789"/>
              </p:ext>
            </p:extLst>
          </p:nvPr>
        </p:nvGraphicFramePr>
        <p:xfrm>
          <a:off x="634860" y="2263459"/>
          <a:ext cx="6780930" cy="4220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3600">
                  <a:extLst>
                    <a:ext uri="{9D8B030D-6E8A-4147-A177-3AD203B41FA5}">
                      <a16:colId xmlns:a16="http://schemas.microsoft.com/office/drawing/2014/main" val="3648440006"/>
                    </a:ext>
                  </a:extLst>
                </a:gridCol>
                <a:gridCol w="2240920">
                  <a:extLst>
                    <a:ext uri="{9D8B030D-6E8A-4147-A177-3AD203B41FA5}">
                      <a16:colId xmlns:a16="http://schemas.microsoft.com/office/drawing/2014/main" val="1003759323"/>
                    </a:ext>
                  </a:extLst>
                </a:gridCol>
                <a:gridCol w="1241955">
                  <a:extLst>
                    <a:ext uri="{9D8B030D-6E8A-4147-A177-3AD203B41FA5}">
                      <a16:colId xmlns:a16="http://schemas.microsoft.com/office/drawing/2014/main" val="1249801404"/>
                    </a:ext>
                  </a:extLst>
                </a:gridCol>
                <a:gridCol w="1784455">
                  <a:extLst>
                    <a:ext uri="{9D8B030D-6E8A-4147-A177-3AD203B41FA5}">
                      <a16:colId xmlns:a16="http://schemas.microsoft.com/office/drawing/2014/main" val="333522394"/>
                    </a:ext>
                  </a:extLst>
                </a:gridCol>
              </a:tblGrid>
              <a:tr h="502418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Weight assigned to: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Expected return (%)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Standard 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deviation (%)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535068"/>
                  </a:ext>
                </a:extLst>
              </a:tr>
              <a:tr h="3905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Asset A (</a:t>
                      </a:r>
                      <a:r>
                        <a:rPr lang="en-US" altLang="en-US" sz="1800" dirty="0" err="1"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en-US" altLang="en-US" sz="1800" baseline="-25000" dirty="0" err="1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en-US" sz="1800" baseline="0" dirty="0">
                          <a:latin typeface="Times New Roman" panose="02020603050405020304" pitchFamily="18" charset="0"/>
                        </a:rPr>
                        <a:t>)</a:t>
                      </a:r>
                      <a:endParaRPr lang="en-GB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Risk-free asset (</a:t>
                      </a:r>
                      <a:r>
                        <a:rPr lang="en-US" altLang="en-US" sz="1800" dirty="0" err="1"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en-US" altLang="en-US" sz="1800" baseline="-25000" dirty="0" err="1">
                          <a:latin typeface="Times New Roman" panose="02020603050405020304" pitchFamily="18" charset="0"/>
                        </a:rPr>
                        <a:t>f</a:t>
                      </a:r>
                      <a:r>
                        <a:rPr lang="en-US" altLang="en-US" sz="1800" baseline="0" dirty="0">
                          <a:latin typeface="Times New Roman" panose="02020603050405020304" pitchFamily="18" charset="0"/>
                        </a:rPr>
                        <a:t>)</a:t>
                      </a:r>
                      <a:endParaRPr lang="en-GB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045383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0.00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0380394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0.25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0.75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7.05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3.02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411104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0.50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FF0000"/>
                          </a:solidFill>
                          <a:effectLst/>
                        </a:rPr>
                        <a:t>0.50</a:t>
                      </a:r>
                      <a:endParaRPr lang="en-GB" sz="18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10.10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6.04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8628779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0.75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0.25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13.15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FF0000"/>
                          </a:solidFill>
                          <a:effectLst/>
                        </a:rPr>
                        <a:t>9.06</a:t>
                      </a:r>
                      <a:endParaRPr lang="en-GB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5501670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n-GB" sz="18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n-GB" sz="18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B050"/>
                          </a:solidFill>
                          <a:effectLst/>
                        </a:rPr>
                        <a:t>16.20</a:t>
                      </a:r>
                      <a:endParaRPr lang="en-GB" sz="18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B050"/>
                          </a:solidFill>
                          <a:effectLst/>
                        </a:rPr>
                        <a:t>12.08</a:t>
                      </a:r>
                      <a:endParaRPr lang="en-GB" sz="18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8441510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1.25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-0.25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19.25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15.10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9974640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1.50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-0.50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22.30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18.12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626591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1.75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-0.75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70C0"/>
                          </a:solidFill>
                          <a:effectLst/>
                        </a:rPr>
                        <a:t>25.35</a:t>
                      </a:r>
                      <a:endParaRPr lang="en-GB" sz="180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21.14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2666899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2.00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-1.00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28.40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</a:rPr>
                        <a:t>24.16</a:t>
                      </a:r>
                      <a:endParaRPr lang="en-GB" sz="1800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322091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C2577738-3919-3E46-812F-8DDC73961A23}"/>
              </a:ext>
            </a:extLst>
          </p:cNvPr>
          <p:cNvSpPr/>
          <p:nvPr/>
        </p:nvSpPr>
        <p:spPr>
          <a:xfrm>
            <a:off x="7553886" y="3202438"/>
            <a:ext cx="213560" cy="1389729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8930F73-BC0F-6F42-B4B2-7E4E3452B805}"/>
              </a:ext>
            </a:extLst>
          </p:cNvPr>
          <p:cNvSpPr/>
          <p:nvPr/>
        </p:nvSpPr>
        <p:spPr>
          <a:xfrm>
            <a:off x="7561444" y="5094542"/>
            <a:ext cx="254000" cy="1324969"/>
          </a:xfrm>
          <a:prstGeom prst="rightBrace">
            <a:avLst>
              <a:gd name="adj1" fmla="val 8333"/>
              <a:gd name="adj2" fmla="val 51942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2E18B6A-C6DC-3345-AEED-6B065F0879A3}"/>
              </a:ext>
            </a:extLst>
          </p:cNvPr>
          <p:cNvSpPr/>
          <p:nvPr/>
        </p:nvSpPr>
        <p:spPr>
          <a:xfrm>
            <a:off x="7592625" y="2414166"/>
            <a:ext cx="203200" cy="647700"/>
          </a:xfrm>
          <a:prstGeom prst="righ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F57C2959-87A9-604D-B11C-DF18CC64EDFB}"/>
              </a:ext>
            </a:extLst>
          </p:cNvPr>
          <p:cNvSpPr/>
          <p:nvPr/>
        </p:nvSpPr>
        <p:spPr>
          <a:xfrm>
            <a:off x="7465625" y="4760928"/>
            <a:ext cx="254000" cy="11480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2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953A-2D61-614D-8954-3923D95F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0" y="534342"/>
            <a:ext cx="11315248" cy="785542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Investment in one risky and one risk-free asset: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1F6E7-54A9-D742-9C62-D00B80CEC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70" y="133036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portfolios plot on the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straight line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is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the efficient frontier when we have one risky and one risk-free asset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CB00A-0704-AC44-A711-5EBBE3D34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308539"/>
            <a:ext cx="6063453" cy="419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15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F364BF-3217-A544-A9F9-9A3699BB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Portfolios of two (or more) risky and one risk-free asset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23F8F-6C89-B940-ABFD-720687D37CF9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4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5119-F011-7040-84A9-07E9BE1E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288868"/>
            <a:ext cx="11315248" cy="78554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Expected return and risk of portfolios of </a:t>
            </a:r>
            <a:r>
              <a:rPr lang="en-US" sz="3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number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risky assets and one risk-free asset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5C22C-2223-A349-BEF5-30ED737F5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376" y="1404442"/>
                <a:ext cx="10515600" cy="4930063"/>
              </a:xfrm>
              <a:noFill/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we have two risky assets, E1 and E2 in the risky portfolio 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Then, the return of the risky part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portfolio can be given as:</a:t>
                </a: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return of the portfolio composed of (any number of) risky (R)and a risk-free asset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is: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400" b="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Then, the expected return of such a portfolio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GB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GB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) </a:t>
                </a:r>
                <a:r>
                  <a:rPr lang="en-US" sz="220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Similarly, the risk of such portfolio (R and rf) will be given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GB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5C22C-2223-A349-BEF5-30ED737F5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376" y="1404442"/>
                <a:ext cx="10515600" cy="4930063"/>
              </a:xfr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4F1252AC-F7A2-CE4F-9EC5-B4AEF8197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399" y="2412999"/>
            <a:ext cx="168766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0D18135-27C6-2C4D-ACDE-6239286C0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579" y="2438273"/>
          <a:ext cx="5793152" cy="97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78100" imgH="431800" progId="Equation.3">
                  <p:embed/>
                </p:oleObj>
              </mc:Choice>
              <mc:Fallback>
                <p:oleObj r:id="rId3" imgW="2578100" imgH="4318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0D18135-27C6-2C4D-ACDE-6239286C02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79" y="2438273"/>
                        <a:ext cx="5793152" cy="9702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eft Brace 6">
            <a:extLst>
              <a:ext uri="{FF2B5EF4-FFF2-40B4-BE49-F238E27FC236}">
                <a16:creationId xmlns:a16="http://schemas.microsoft.com/office/drawing/2014/main" id="{D19307F8-4D69-CF4F-9BD2-1815C168B70A}"/>
              </a:ext>
            </a:extLst>
          </p:cNvPr>
          <p:cNvSpPr/>
          <p:nvPr/>
        </p:nvSpPr>
        <p:spPr>
          <a:xfrm rot="16200000">
            <a:off x="2518431" y="3714314"/>
            <a:ext cx="233357" cy="18765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0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4FDAC6CB-7184-6043-AC78-21B6EFB81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547" y="600684"/>
            <a:ext cx="11315248" cy="78554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Investing in a risk-free asset and a risky portfolio: </a:t>
            </a:r>
            <a:b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risk free lending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Rectangle 2">
                <a:extLst>
                  <a:ext uri="{FF2B5EF4-FFF2-40B4-BE49-F238E27FC236}">
                    <a16:creationId xmlns:a16="http://schemas.microsoft.com/office/drawing/2014/main" id="{62A892E3-7903-794A-912A-DE74FC17516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7547" y="1837716"/>
                <a:ext cx="9497367" cy="44196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 an investor that wants to invest 75% in the risk-free rate (</a:t>
                </a:r>
                <a:r>
                  <a:rPr lang="en-US" alt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0.75) and 25% in the risky portfolio AC (</a:t>
                </a:r>
                <a:r>
                  <a:rPr lang="en-US" alt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0.25)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Portfolio AC consists of assets A and C from our earlier example, in proportions 0.80 and 0.20 respectively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return of two-asset risky portfolio AC is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𝐴𝐶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=(0.80x16.2%) + (0.20x22.8%) = 17.52%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standard deviation of that 2-asset </a:t>
                </a:r>
                <a:r>
                  <a:rPr lang="en-US" alt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risky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portfolio AC is: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𝐴𝐶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=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[(0.80</a:t>
                </a:r>
                <a:r>
                  <a:rPr lang="en-US" alt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x146) + (0.20</a:t>
                </a:r>
                <a:r>
                  <a:rPr lang="en-US" alt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x289) + (2x0.80x0.20x145)] = 12.30%</a:t>
                </a:r>
              </a:p>
            </p:txBody>
          </p:sp>
        </mc:Choice>
        <mc:Fallback xmlns="">
          <p:sp>
            <p:nvSpPr>
              <p:cNvPr id="17410" name="Rectangle 2">
                <a:extLst>
                  <a:ext uri="{FF2B5EF4-FFF2-40B4-BE49-F238E27FC236}">
                    <a16:creationId xmlns:a16="http://schemas.microsoft.com/office/drawing/2014/main" id="{62A892E3-7903-794A-912A-DE74FC175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837716"/>
                <a:ext cx="9497367" cy="4419600"/>
              </a:xfrm>
              <a:blipFill>
                <a:blip r:embed="rId2"/>
                <a:stretch>
                  <a:fillRect l="-1861" t="-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127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C037684B-A6F0-3C46-A0A1-7FA7A3A48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547" y="588158"/>
            <a:ext cx="11315248" cy="78554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Investing in a risk-free asset and a risky portfolio R: </a:t>
            </a:r>
            <a:b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risk-free lending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Rectangle 2">
                <a:extLst>
                  <a:ext uri="{FF2B5EF4-FFF2-40B4-BE49-F238E27FC236}">
                    <a16:creationId xmlns:a16="http://schemas.microsoft.com/office/drawing/2014/main" id="{6B635D2E-39D6-A040-B6DB-247E7C8D66B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7547" y="2032000"/>
                <a:ext cx="9946530" cy="44196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return of the portfolio that has part of the funds invested in AC and part in risk-free asset is: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sSub>
                      <m:sSubPr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(</a:t>
                </a:r>
                <a:r>
                  <a:rPr lang="en-US" alt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x17.52%) + (</a:t>
                </a:r>
                <a:r>
                  <a:rPr lang="en-US" alt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2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x4%) = (0.25x17.52)+(0.75x4%) = 7.38%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standard deviation of the portfolio that has part of the funds invested in AC and part in risk-free asset is: </a:t>
                </a:r>
              </a:p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 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p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w</a:t>
                </a:r>
                <a:r>
                  <a:rPr lang="en-US" alt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AC </a:t>
                </a: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x12.30% = 0.25x12.30% = 3.08%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This portfolio lies on the straight line connecting the risk-free asset and portfolio AC</a:t>
                </a:r>
              </a:p>
            </p:txBody>
          </p:sp>
        </mc:Choice>
        <mc:Fallback xmlns="">
          <p:sp>
            <p:nvSpPr>
              <p:cNvPr id="20482" name="Rectangle 2">
                <a:extLst>
                  <a:ext uri="{FF2B5EF4-FFF2-40B4-BE49-F238E27FC236}">
                    <a16:creationId xmlns:a16="http://schemas.microsoft.com/office/drawing/2014/main" id="{6B635D2E-39D6-A040-B6DB-247E7C8D6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2032000"/>
                <a:ext cx="9946530" cy="4419600"/>
              </a:xfrm>
              <a:blipFill>
                <a:blip r:embed="rId2"/>
                <a:stretch>
                  <a:fillRect l="-1531" r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666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24A187-183E-154D-A348-7BEE3501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02840"/>
            <a:ext cx="11315248" cy="78554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Investing in a risk-free asset and a risky portfolio R: </a:t>
            </a:r>
            <a:b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risk-free borrowing example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EE24131-0712-0F4B-BF8D-98469AFFE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47" y="1794006"/>
                <a:ext cx="10034212" cy="4168383"/>
              </a:xfrm>
            </p:spPr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GB" sz="8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If investor from this example was involved in a risk-free borrowing, s/he may have chosen to borrow e.g. 25% at the risk-free rate and invest 125% in the risky portfolio AC 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return of the portfolio that has part of the funds invested in AC and part in risk-free asset is: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GB" sz="8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GB" sz="8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sz="8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8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8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GB" sz="8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8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en-US" sz="8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8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</a:t>
                </a:r>
                <a:r>
                  <a:rPr lang="en-US" altLang="en-US" sz="8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x17.52%) + (</a:t>
                </a:r>
                <a:r>
                  <a:rPr lang="en-US" altLang="en-US" sz="8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8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altLang="en-US" sz="8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x4%) = (1.25x17.52%)+(-0.25x4%) = 20.90%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standard deviation of the portfolio that has part of the funds invested in AC and part in risk-free asset is: </a:t>
                </a:r>
              </a:p>
              <a:p>
                <a:pPr>
                  <a:lnSpc>
                    <a:spcPct val="170000"/>
                  </a:lnSpc>
                  <a:buFont typeface="Monotype Sorts" pitchFamily="2" charset="2"/>
                  <a:buNone/>
                </a:pP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</a:t>
                </a:r>
                <a:r>
                  <a:rPr lang="en-US" altLang="en-US" sz="80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p</a:t>
                </a: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  <a:sym typeface="Symbol" pitchFamily="2" charset="2"/>
                  </a:rPr>
                  <a:t> = </a:t>
                </a:r>
                <a:r>
                  <a:rPr lang="en-US" altLang="en-US" sz="8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80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</a:t>
                </a:r>
                <a:r>
                  <a:rPr lang="en-US" altLang="en-US" sz="8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x12.30% = 1.25x12.30% =15.38%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EE24131-0712-0F4B-BF8D-98469AFFE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47" y="1794006"/>
                <a:ext cx="10034212" cy="4168383"/>
              </a:xfrm>
              <a:blipFill>
                <a:blip r:embed="rId2"/>
                <a:stretch>
                  <a:fillRect l="-1517" r="-1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474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3C9A-016A-C645-885A-6299B12E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81" y="560888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/>
              <a:t>Investing in a risky portfolio and a risky asset: Graph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C1753D3-02D1-904F-9F4B-598B3431E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296119"/>
              </p:ext>
            </p:extLst>
          </p:nvPr>
        </p:nvGraphicFramePr>
        <p:xfrm>
          <a:off x="1778000" y="1690689"/>
          <a:ext cx="7835900" cy="4486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ight Brace 5">
            <a:extLst>
              <a:ext uri="{FF2B5EF4-FFF2-40B4-BE49-F238E27FC236}">
                <a16:creationId xmlns:a16="http://schemas.microsoft.com/office/drawing/2014/main" id="{DB59B3D9-1935-C249-A71A-9EE95DC9BA7E}"/>
              </a:ext>
            </a:extLst>
          </p:cNvPr>
          <p:cNvSpPr/>
          <p:nvPr/>
        </p:nvSpPr>
        <p:spPr>
          <a:xfrm rot="14779822">
            <a:off x="4573784" y="1320820"/>
            <a:ext cx="309594" cy="5053584"/>
          </a:xfrm>
          <a:prstGeom prst="rightBrace">
            <a:avLst>
              <a:gd name="adj1" fmla="val 8333"/>
              <a:gd name="adj2" fmla="val 50882"/>
            </a:avLst>
          </a:prstGeom>
          <a:noFill/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CCA8A-0A65-B541-B513-5650140FDC37}"/>
              </a:ext>
            </a:extLst>
          </p:cNvPr>
          <p:cNvSpPr txBox="1"/>
          <p:nvPr/>
        </p:nvSpPr>
        <p:spPr>
          <a:xfrm rot="20097508">
            <a:off x="6973481" y="2183610"/>
            <a:ext cx="115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Borrowing</a:t>
            </a:r>
          </a:p>
        </p:txBody>
      </p:sp>
    </p:spTree>
    <p:extLst>
      <p:ext uri="{BB962C8B-B14F-4D97-AF65-F5344CB8AC3E}">
        <p14:creationId xmlns:p14="http://schemas.microsoft.com/office/powerpoint/2010/main" val="4086677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588E0D-8B9F-9149-A29C-C5DEB736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Efficient frontiers of N assets with risk-free borrowing and lending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21C35-6E35-BD43-9C90-DE434A5D89DB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71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399FF-2A19-C94A-974D-F5183482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2643" y="1624380"/>
            <a:ext cx="4936351" cy="4419600"/>
          </a:xfrm>
        </p:spPr>
        <p:txBody>
          <a:bodyPr wrap="square" anchor="t">
            <a:normAutofit fontScale="85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000" dirty="0"/>
              <a:t>Also called </a:t>
            </a:r>
            <a:r>
              <a:rPr lang="en-GB" sz="2000" b="1" dirty="0">
                <a:solidFill>
                  <a:srgbClr val="0070C0"/>
                </a:solidFill>
              </a:rPr>
              <a:t>Capital Allocation Line (CAL)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000" dirty="0"/>
              <a:t>Short-selling the risk-free asset and investing proceeds in the risky portfolio T results in a portfolio lying on the extension of the line connecting the risk-free rate (rf) and T, i.e. to the right from T.</a:t>
            </a:r>
            <a:r>
              <a:rPr lang="en-GB" sz="2000" dirty="0">
                <a:effectLst/>
              </a:rPr>
              <a:t>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000" dirty="0"/>
              <a:t>When risk free borrowing is added, the efficient frontier becomes a straight line, </a:t>
            </a:r>
            <a:r>
              <a:rPr lang="en-GB" sz="2000" u="sng" dirty="0"/>
              <a:t>tangent to the concave efficient frontier of risky assets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2000" dirty="0">
                <a:effectLst/>
              </a:rPr>
              <a:t>T is the only portfolio of risky assets </a:t>
            </a:r>
            <a:r>
              <a:rPr lang="en-GB" sz="2000" dirty="0"/>
              <a:t>investor can hold</a:t>
            </a:r>
            <a:r>
              <a:rPr lang="en-GB" sz="2000" dirty="0">
                <a:effectLst/>
              </a:rPr>
              <a:t> on this frontier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E962A-3581-3848-90A3-50273EB7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7" y="525528"/>
            <a:ext cx="11315248" cy="785542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Efficient frontier: risk-free lending and borrowing </a:t>
            </a:r>
            <a:br>
              <a:rPr lang="en-US" sz="3200" dirty="0"/>
            </a:br>
            <a:r>
              <a:rPr lang="en-US" sz="3200" dirty="0"/>
              <a:t>at the same rate</a:t>
            </a:r>
          </a:p>
        </p:txBody>
      </p:sp>
      <p:pic>
        <p:nvPicPr>
          <p:cNvPr id="9" name="Picture 8" descr="Line chart&#10;&#10;Description automatically generated with medium confidence">
            <a:extLst>
              <a:ext uri="{FF2B5EF4-FFF2-40B4-BE49-F238E27FC236}">
                <a16:creationId xmlns:a16="http://schemas.microsoft.com/office/drawing/2014/main" id="{284866C8-B2C6-B940-8C44-B01C48EC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7" y="2254268"/>
            <a:ext cx="5658453" cy="397506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C47616-BF59-1595-EE6E-DA4F1CA915F5}"/>
              </a:ext>
            </a:extLst>
          </p:cNvPr>
          <p:cNvSpPr txBox="1"/>
          <p:nvPr/>
        </p:nvSpPr>
        <p:spPr>
          <a:xfrm>
            <a:off x="4007709" y="3059668"/>
            <a:ext cx="21813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Capital Allocation Line</a:t>
            </a:r>
          </a:p>
        </p:txBody>
      </p:sp>
    </p:spTree>
    <p:extLst>
      <p:ext uri="{BB962C8B-B14F-4D97-AF65-F5344CB8AC3E}">
        <p14:creationId xmlns:p14="http://schemas.microsoft.com/office/powerpoint/2010/main" val="724015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63DC5-2868-A945-9B77-B8371F7CB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362" y="1714687"/>
            <a:ext cx="5453299" cy="4419600"/>
          </a:xfrm>
        </p:spPr>
        <p:txBody>
          <a:bodyPr wrap="square" anchor="t">
            <a:normAutofit fontScale="925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Why not invest in portfolio M or N, which are also portfolios on the original efficient frontier of risky assets, thus having one of the dotted lines as new efficient frontiers?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For the level of risk, say X, we  identify portfolio 1 on rf-T and portfolio 2 on the rf-N. Portfolio 1 has higher return than portfolio 2 for the same level of risk X, which makes it more efficient.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ALL portfolios on the tangency line rf-T and onwards from T are superior to portfolios below that line so they must represent the efficient frontier.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186F6-A377-184F-91A9-11F7166B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48" y="457103"/>
            <a:ext cx="11315248" cy="785542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Why the linear efficient frontier (CAL) must be a tangent </a:t>
            </a:r>
            <a:br>
              <a:rPr lang="en-US" sz="2800" dirty="0"/>
            </a:br>
            <a:r>
              <a:rPr lang="en-US" sz="2800" dirty="0"/>
              <a:t>to the concave one?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24CE7-7EE2-6C40-95B8-41BFB88E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8" y="1864999"/>
            <a:ext cx="5466814" cy="441960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986B1B-D2D0-46B9-AD5F-2F2C968BA097}"/>
              </a:ext>
            </a:extLst>
          </p:cNvPr>
          <p:cNvSpPr txBox="1"/>
          <p:nvPr/>
        </p:nvSpPr>
        <p:spPr>
          <a:xfrm>
            <a:off x="3772930" y="2836109"/>
            <a:ext cx="1936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Capital Allocation Line</a:t>
            </a:r>
          </a:p>
        </p:txBody>
      </p:sp>
    </p:spTree>
    <p:extLst>
      <p:ext uri="{BB962C8B-B14F-4D97-AF65-F5344CB8AC3E}">
        <p14:creationId xmlns:p14="http://schemas.microsoft.com/office/powerpoint/2010/main" val="4094025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6437-CA03-8046-8D9B-9B08CC6B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58" y="216569"/>
            <a:ext cx="10515600" cy="74595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Weights of risky assets in the optimal tangency portfolio 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D74233-53C4-F84D-B186-4900D128B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302" y="1256958"/>
                <a:ext cx="9153425" cy="498743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/>
                  <a:t>The equation of the linear efficient frontier that connects </a:t>
                </a:r>
                <a:r>
                  <a:rPr lang="en-US" sz="2000" i="1" dirty="0"/>
                  <a:t>r</a:t>
                </a:r>
                <a:r>
                  <a:rPr lang="en-US" sz="2000" i="1" baseline="-25000" dirty="0"/>
                  <a:t>f</a:t>
                </a:r>
                <a:r>
                  <a:rPr lang="en-US" sz="2000" baseline="-25000" dirty="0"/>
                  <a:t> </a:t>
                </a:r>
                <a:r>
                  <a:rPr lang="en-US" sz="2000" dirty="0"/>
                  <a:t>and tangency </a:t>
                </a:r>
                <a:r>
                  <a:rPr lang="en-US" sz="2000" i="1" dirty="0"/>
                  <a:t>T</a:t>
                </a:r>
                <a:r>
                  <a:rPr lang="en-US" sz="2000" dirty="0"/>
                  <a:t> (see slide) is given by: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Portfolio T will be the portfolio that maximizes the slope in the above equation (the slope is Sharpe ratio)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If portfolio T has two risky assets, D and E, the weights of each asset that will maximize the slope of the efficient frontier are: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))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n-GB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(NOT IN EXAM)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If T has more than two assets, we can use excel (or other package) to solve for optimal combination of weights of risky assets that </a:t>
                </a:r>
                <a:r>
                  <a:rPr lang="en-US" sz="2000" dirty="0" err="1"/>
                  <a:t>maximise</a:t>
                </a:r>
                <a:r>
                  <a:rPr lang="en-US" sz="2000" dirty="0"/>
                  <a:t> the slope of the efficient frontier – see video on Moodle for demonstration.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5D74233-53C4-F84D-B186-4900D128B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302" y="1256958"/>
                <a:ext cx="9153425" cy="4987432"/>
              </a:xfrm>
              <a:blipFill>
                <a:blip r:embed="rId2"/>
                <a:stretch>
                  <a:fillRect l="-832" t="-508" r="-1387" b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125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E11C76-F154-524F-BAA7-0AA250167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frontiers in reality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7788A86-C256-1D4D-9F3E-B32CA46A1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4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32AA-70C5-D848-BF5B-B41CB7F3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all investors facing the same efficient frontier?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EEEC37-4EA7-5142-BC8A-A427FBB68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investors will face different set of risky assets available to them 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they may face completely different efficient frontier of risky assets (concave efficient frontier): small cap stocks only, value stocks only, global frontier etc.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we have assumed for simplicity that the risk-free asset in the analysis is Treasury bill, say 3 months Treasury bill.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reality, the 3 months Treasury bill may not be a risk-free asset for every investor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 investors have different assets they consider risk-free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927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2C65-BC9C-F247-8897-8E18F524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all investors facing the same efficient frontier (CAL)?</a:t>
            </a:r>
            <a:endParaRPr lang="en-US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7D2797-5D90-3144-A263-44563648B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500" y="2484104"/>
            <a:ext cx="5149850" cy="381985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D166E-4BD1-D945-94ED-349D0B42FF7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44500" y="1690688"/>
            <a:ext cx="11264900" cy="46132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investors face different efficient frontiers</a:t>
            </a:r>
          </a:p>
        </p:txBody>
      </p:sp>
    </p:spTree>
    <p:extLst>
      <p:ext uri="{BB962C8B-B14F-4D97-AF65-F5344CB8AC3E}">
        <p14:creationId xmlns:p14="http://schemas.microsoft.com/office/powerpoint/2010/main" val="2578595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1F0B-2D87-B948-947A-74319270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 with different borrowing and lending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16ED-0CD5-3842-B660-13BAD6483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Unlikely that in reality an investor would be allowed to lend and borrow at the same rate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 rate will be higher than the lending rate 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(investor) is assumed to be less credit worthy than the government (i.e. the issuer of the Treasury bill or any other Government bond that investor uses as a risk-free asset in the risk-free lending process) 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that affect the efficient frontier?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715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79FA-0545-4F4B-BB13-65E7C9F0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 with different borrowing and lending rates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F1C0BA-F8EB-1A49-893F-FDDD7DE90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3700" y="1690688"/>
            <a:ext cx="5181600" cy="4351338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 that takes into account higher borrowing than lending rates is constructed by applying: </a:t>
            </a:r>
          </a:p>
          <a:p>
            <a:pPr marL="514350" indent="-514350" algn="just">
              <a:buAutoNum type="romanLcParenR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lending line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which we are not allowed to borrow) and </a:t>
            </a:r>
          </a:p>
          <a:p>
            <a:pPr marL="514350" indent="-514350" algn="just">
              <a:buAutoNum type="romanLcParenR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borrowing line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which we are not allowed to lend) to the original concave efficient set of risky assets</a:t>
            </a: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tangency portfolios T</a:t>
            </a:r>
            <a:r>
              <a:rPr lang="en-GB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</a:t>
            </a:r>
            <a:r>
              <a:rPr lang="en-GB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BFAA6-6EBE-454E-9E3C-A8AB3C9AA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1860550"/>
            <a:ext cx="39624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66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AC0B-BAF4-EE4C-A9F0-FD01C569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 with different borrowing and lending rates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674BD-AD1C-B147-AB1E-5F2F90240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0400" y="1812924"/>
            <a:ext cx="4889500" cy="447357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frontier: the straight line between the lending rate (R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tangency portfolio T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concave segment between T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straight line from T2 onwards. </a:t>
            </a:r>
          </a:p>
          <a:p>
            <a:pPr algn="just">
              <a:lnSpc>
                <a:spcPct val="10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R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</a:t>
            </a:r>
            <a:r>
              <a:rPr lang="en-GB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GB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lending only </a:t>
            </a:r>
          </a:p>
          <a:p>
            <a:pPr algn="just">
              <a:lnSpc>
                <a:spcPct val="10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to the right of T2: </a:t>
            </a:r>
            <a:r>
              <a:rPr lang="en-GB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borrowing only </a:t>
            </a:r>
          </a:p>
          <a:p>
            <a:pPr algn="just">
              <a:lnSpc>
                <a:spcPct val="10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Concave segment between and inclusive of the two tangency portfolios T1 and T2: investor invests in risky assets only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718C3-E61F-E948-BF2C-45C0C856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076450"/>
            <a:ext cx="4889500" cy="328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6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C23C-E5C2-AF47-B257-043D7CDA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76" y="588158"/>
            <a:ext cx="11315248" cy="7855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D41F08-F3BC-674F-B4AD-D67764A8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76" y="1518433"/>
            <a:ext cx="9497367" cy="441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Relevant parts of Chapter 5 “Delineating Efficient Portfolios”, and Chapter 11 “How to select among portfolios on opportunity set” in Elton, Gruber, Miles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Goetzmann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“ Modern Portfolio Theory and Investment Analysis”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Relevant parts of Chapter 6 “Capital Allocation in Risky Assets’ and Chapter 7 “Optimal Risky Portfolios”, in Bodie, Kane and Marcus “Investments”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947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B69EF-BA4E-184F-97D7-A3645CFD8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1800" dirty="0"/>
              <a:t>Contact: </a:t>
            </a:r>
            <a:r>
              <a:rPr lang="en-US" sz="1800" dirty="0">
                <a:hlinkClick r:id="rId2"/>
              </a:rPr>
              <a:t>natasha.todorovic.1@city.ac.uk</a:t>
            </a:r>
            <a:endParaRPr lang="en-US" sz="1800" dirty="0"/>
          </a:p>
          <a:p>
            <a:pPr lvl="0">
              <a:lnSpc>
                <a:spcPct val="150000"/>
              </a:lnSpc>
            </a:pPr>
            <a:r>
              <a:rPr lang="en-US" sz="1800" dirty="0"/>
              <a:t>Room 4031 </a:t>
            </a:r>
          </a:p>
          <a:p>
            <a:pPr lvl="0">
              <a:lnSpc>
                <a:spcPct val="150000"/>
              </a:lnSpc>
            </a:pPr>
            <a:r>
              <a:rPr lang="en-US" sz="1800" dirty="0"/>
              <a:t>Bayes Business School, Bunhill Row, Level 4</a:t>
            </a:r>
          </a:p>
          <a:p>
            <a:pPr lvl="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134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yes_PP_Template" id="{ACDB4250-AEAB-3845-99F8-305C0D54AF46}" vid="{BF418155-9E7F-8A43-95E0-3E210703B47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636429A6E36D4181F2717D9C82FA19" ma:contentTypeVersion="18" ma:contentTypeDescription="Create a new document." ma:contentTypeScope="" ma:versionID="3495257934bf8a2aadcd26b39434f447">
  <xsd:schema xmlns:xsd="http://www.w3.org/2001/XMLSchema" xmlns:xs="http://www.w3.org/2001/XMLSchema" xmlns:p="http://schemas.microsoft.com/office/2006/metadata/properties" xmlns:ns2="51947a9a-b379-44ec-ba92-0b580fcd88c6" xmlns:ns3="35bd5d15-c8c7-4a08-a581-ad858f9537bc" targetNamespace="http://schemas.microsoft.com/office/2006/metadata/properties" ma:root="true" ma:fieldsID="df7ca6b90c74802e8c59c9d6e21929b2" ns2:_="" ns3:_="">
    <xsd:import namespace="51947a9a-b379-44ec-ba92-0b580fcd88c6"/>
    <xsd:import namespace="35bd5d15-c8c7-4a08-a581-ad858f9537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47a9a-b379-44ec-ba92-0b580fcd88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60370ab-239c-4f69-b9f9-a829e5a5e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d5d15-c8c7-4a08-a581-ad858f9537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5f2df4c-31ca-49d4-a813-e4ccb5e76347}" ma:internalName="TaxCatchAll" ma:showField="CatchAllData" ma:web="35bd5d15-c8c7-4a08-a581-ad858f9537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bd5d15-c8c7-4a08-a581-ad858f9537bc" xsi:nil="true"/>
    <lcf76f155ced4ddcb4097134ff3c332f xmlns="51947a9a-b379-44ec-ba92-0b580fcd88c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C0D5ED-1E5F-47F0-9FE5-043EE27563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47a9a-b379-44ec-ba92-0b580fcd88c6"/>
    <ds:schemaRef ds:uri="35bd5d15-c8c7-4a08-a581-ad858f9537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59FC1F-AC2E-46FB-8A96-03F812DE5545}">
  <ds:schemaRefs>
    <ds:schemaRef ds:uri="http://schemas.microsoft.com/office/2006/metadata/properties"/>
    <ds:schemaRef ds:uri="http://schemas.microsoft.com/office/infopath/2007/PartnerControls"/>
    <ds:schemaRef ds:uri="35bd5d15-c8c7-4a08-a581-ad858f9537bc"/>
    <ds:schemaRef ds:uri="51947a9a-b379-44ec-ba92-0b580fcd88c6"/>
  </ds:schemaRefs>
</ds:datastoreItem>
</file>

<file path=customXml/itemProps3.xml><?xml version="1.0" encoding="utf-8"?>
<ds:datastoreItem xmlns:ds="http://schemas.openxmlformats.org/officeDocument/2006/customXml" ds:itemID="{D20FFB76-CCE5-4D43-89A2-3DA16FC4EB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City-St-Georges-Bayes-powerpoint-template_2024</Template>
  <TotalTime>6298</TotalTime>
  <Words>2119</Words>
  <Application>Microsoft Macintosh PowerPoint</Application>
  <PresentationFormat>Widescreen</PresentationFormat>
  <Paragraphs>210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Aptos</vt:lpstr>
      <vt:lpstr>Arial</vt:lpstr>
      <vt:lpstr>Cambria Math</vt:lpstr>
      <vt:lpstr>Lucida Grande</vt:lpstr>
      <vt:lpstr>Monotype Sorts</vt:lpstr>
      <vt:lpstr>Times New Roman</vt:lpstr>
      <vt:lpstr>Wingdings</vt:lpstr>
      <vt:lpstr>Office Theme</vt:lpstr>
      <vt:lpstr>Equation.3</vt:lpstr>
      <vt:lpstr>Portfolio Theory II: Characteristics of Portfolios of Risky and Risk-free Assets </vt:lpstr>
      <vt:lpstr>Risk-free asset and  risk-free investing</vt:lpstr>
      <vt:lpstr>Definition of a risk-free asset</vt:lpstr>
      <vt:lpstr>Risk-free asset</vt:lpstr>
      <vt:lpstr>Investing in the risk-free asset</vt:lpstr>
      <vt:lpstr>Portfolios of one risky and one risk-free asset</vt:lpstr>
      <vt:lpstr>Risk and return of portfolio of one risky and a risk-free asset</vt:lpstr>
      <vt:lpstr>Expected return of portfolio of one risky and a risk-free asset</vt:lpstr>
      <vt:lpstr>Risk of portfolio of one risky and a risk-free asset</vt:lpstr>
      <vt:lpstr>Investing in risk-free asset and one risky asset</vt:lpstr>
      <vt:lpstr>Investing in risk-free asset and one risky asset</vt:lpstr>
      <vt:lpstr>Investment in one risky and one risk-free asset: graph</vt:lpstr>
      <vt:lpstr>Portfolios of two (or more) risky and one risk-free asset</vt:lpstr>
      <vt:lpstr>Expected return and risk of portfolios of any number of  risky assets and one risk-free asset</vt:lpstr>
      <vt:lpstr>Investing in a risk-free asset and a risky portfolio:  risk free lending example</vt:lpstr>
      <vt:lpstr>Investing in a risk-free asset and a risky portfolio R:  risk-free lending example</vt:lpstr>
      <vt:lpstr>Investing in a risk-free asset and a risky portfolio R:  risk-free borrowing example</vt:lpstr>
      <vt:lpstr>Investing in a risky portfolio and a risky asset: Graph</vt:lpstr>
      <vt:lpstr>Efficient frontiers of N assets with risk-free borrowing and lending</vt:lpstr>
      <vt:lpstr>Efficient frontier: risk-free lending and borrowing  at the same rate</vt:lpstr>
      <vt:lpstr>Why the linear efficient frontier (CAL) must be a tangent  to the concave one?</vt:lpstr>
      <vt:lpstr>Weights of risky assets in the optimal tangency portfolio T</vt:lpstr>
      <vt:lpstr>Efficient frontiers in reality</vt:lpstr>
      <vt:lpstr>Are all investors facing the same efficient frontier?</vt:lpstr>
      <vt:lpstr>Are all investors facing the same efficient frontier (CAL)?</vt:lpstr>
      <vt:lpstr>Efficient frontier with different borrowing and lending rates</vt:lpstr>
      <vt:lpstr>Efficient frontier with different borrowing and lending rates</vt:lpstr>
      <vt:lpstr>Efficient frontier with different borrowing and lending rates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Owen, Zoe</dc:creator>
  <cp:lastModifiedBy>PG-Zhong, Yuguang</cp:lastModifiedBy>
  <cp:revision>15</cp:revision>
  <dcterms:created xsi:type="dcterms:W3CDTF">2024-07-17T12:41:19Z</dcterms:created>
  <dcterms:modified xsi:type="dcterms:W3CDTF">2026-10-16T11:39:06Z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24981-b6df-48f8-949b-0896357b9b03_Enabled">
    <vt:lpwstr>true</vt:lpwstr>
  </property>
  <property fmtid="{D5CDD505-2E9C-101B-9397-08002B2CF9AE}" pid="3" name="MSIP_Label_06c24981-b6df-48f8-949b-0896357b9b03_SetDate">
    <vt:lpwstr>2024-07-09T13:37:50Z</vt:lpwstr>
  </property>
  <property fmtid="{D5CDD505-2E9C-101B-9397-08002B2CF9AE}" pid="4" name="MSIP_Label_06c24981-b6df-48f8-949b-0896357b9b03_Method">
    <vt:lpwstr>Standard</vt:lpwstr>
  </property>
  <property fmtid="{D5CDD505-2E9C-101B-9397-08002B2CF9AE}" pid="5" name="MSIP_Label_06c24981-b6df-48f8-949b-0896357b9b03_Name">
    <vt:lpwstr>Official</vt:lpwstr>
  </property>
  <property fmtid="{D5CDD505-2E9C-101B-9397-08002B2CF9AE}" pid="6" name="MSIP_Label_06c24981-b6df-48f8-949b-0896357b9b03_SiteId">
    <vt:lpwstr>dd615949-5bd0-4da0-ac52-28ef8d336373</vt:lpwstr>
  </property>
  <property fmtid="{D5CDD505-2E9C-101B-9397-08002B2CF9AE}" pid="7" name="MSIP_Label_06c24981-b6df-48f8-949b-0896357b9b03_ActionId">
    <vt:lpwstr>31af5868-b9af-4160-8bf7-e70a2e425d89</vt:lpwstr>
  </property>
  <property fmtid="{D5CDD505-2E9C-101B-9397-08002B2CF9AE}" pid="8" name="MSIP_Label_06c24981-b6df-48f8-949b-0896357b9b03_ContentBits">
    <vt:lpwstr>0</vt:lpwstr>
  </property>
  <property fmtid="{D5CDD505-2E9C-101B-9397-08002B2CF9AE}" pid="9" name="ContentTypeId">
    <vt:lpwstr>0x010100FD636429A6E36D4181F2717D9C82FA19</vt:lpwstr>
  </property>
</Properties>
</file>